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arrive with the Pre-Lab done: container cssskl342 running, VS Code attached, hello.cpp compiled. Part 0 makes sure they understand that setup; then three rounds of short lecture, hands-on exercise, and solution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Break 4:10-4:20. 5:05-5:15 is catch-up and wrap-up: finish exercises, build the submission zip, takeaways. Each exercise ends with a self-check: students confirm for themselves that their code runs correctly. One submission at the end (Exercises 1-3; nothing for Part 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CSS 342 programs are compiled and graded with g++ on Linux, and a program that builds and runs on your laptop's compiler can fail or behave differently there. A container gives everyone the same Linux, the same compiler, and the same tools (`make`, `gdb`, `valgrind`) on any computer. The one thing to get straight is where each file lives: on your computer, inside the container, or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minutes, guided, before Exercise 0; the Lab 1 page has the full sequence with two checkpoints and expected output. The full reference is its own page, linked from every lab page's left menu (reference/linux.html, built from assets/commands.js).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answers and expected output: Lab 1 page and the private solutions, Lab1/part0-answers.txt.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picture: the image (template) -&gt; docker run -&gt; container. The green folders are the same folder (the -v option). notes.txt lives only in the container. The VS Code window is on the student's computer, but attached to a VS Code Server in Linux: files, terminal, g++ all run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file doesn't appear on the other side: Refresh in VS Code's Explorer, F5 in File Explorer. Answers: the private solutions, Lab1/part0-answers.txt.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'No such file or directory' is almost always the wrong current folder: pwd, then ls. The same idea applies to #include "convert.h" in Part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Optional, not submitted. Full list and verified outputs on the Lab 1 page and in part0-answers.txt.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Redo steps 3-5 live with both windows side by side. If time allows, the case-sensitivity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Java, `javac` finds your other classes for you. In C++, you tell the compiler which files to compile and the linker which pieces to join, and every multi-file CSS 342 assignment depends on getting this right. Most confusing build errors (`undefined reference`, `multiple definition`, `redefinition`) make sense once you know which stage is complaining.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pipeline on the board. Emphasize: each .cpp is compiled ALONE. The only thing main.cpp knows about convert.cpp is what convert.h tells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1 uses both: report.h already has #pragma once; convert.h has no protection yet (students add a guard). The guard name must be unique per header. Guards are per translation unit: they don't stop two different .cpp files from each getting a copy of a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Classes come in Lab 2. Until then, everything students write is global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Exercise 1's main.cpp has these comments and mixes std::cout with cout. Many CSS 342 instructors prefer the explicit std:: form; both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read real messages. The first error is usually the real one; later ones cascade.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CSS 342 instructors ask students to run cppcheck before asking for help (Lagesse syllabus).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Planted: missing include guard in convert.h (compile: redefinition), function body in header (link: multiple definition), misspelled definition fahrenheitToCelcius (link: undefined reference), sign-compare warning in main.cpp. report.h already has #pragma once and does not help: convert.h is the file pasted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the original live. After touch report.cpp, make reruns only report.o and the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 (or unlock) Lab 1 Exercise 1 Quiz in Canvas now; give the class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type tells the compiler how many bytes a value takes and which operations make sense on it, so mistakes like multiplying a string are caught before the program ever runs. C++ types sit close to the hardware: their sizes can differ between machines, and an `int` that overflows silently wraps around instead of throwing. Real programs also mix types all the time (an average is a `double` computed from `int` totals; an index is compared with a size), so you need to know when C++ converts for you, when a conversion loses information, and how to convert on purpose with a 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limits live on the lab image to show the real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Strictly, numeric_limits&lt;int&gt; is a type (a class), not a namespace; Lab 2 explains classes, Lab 4 templates. The comment at the top of limits.cpp says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binary-search midpoint (low + high) / 2 overflow shows up in the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Bonus answer: 0.49999999999999994 + 0.5 rounds to 1.0 in double, so myRound gives 1; round gives 0. Also: values beyond INT_MAX make the cast undefined.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 (or unlock) Lab 1 Exercise 2 Quiz in Canvas now; give the class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function call has to settle one question: does the function work on the caller's variable, or on a copy of it? Java decides for you (primitives are copied, objects are shared); C++ lets you choose for every parameter of every type. The choice affects correctness (can the function change my variable?) and speed (copying a large object on every call is costly), and `const &amp;` gives you the speed without the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original ReferenceDemo.cpp. Exercise 3 Part A has students run exactly this and print the addresses. &amp; in a declaration means reference; &amp;x in an expression means address-of.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expected output and answers: the private solutions, Lab1/ex3-references/answers.txt.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 (or unlock) Lab 1 Exercise 3 Quiz in Canvas now; give the class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1097280"/>
            <a:ext cx="4754880" cy="4754880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5B4E3"/>
                </a:solidFill>
                <a:latin typeface="Calibri"/>
              </a:rPr>
              <a:t>CSS SKL 342 · LAB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Toolchain and C++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86200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5B4E3"/>
                </a:solidFill>
                <a:latin typeface="Calibri"/>
              </a:rPr>
              <a:t>Your Linux environment · building multi-file programs · numbers · references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Today's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2567863" cy="4800600"/>
          </a:xfrm>
          <a:prstGeom prst="roundRect">
            <a:avLst>
              <a:gd name="adj" fmla="val 5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211066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2330"/>
                </a:solidFill>
                <a:latin typeface="Calibri"/>
              </a:rPr>
              <a:t>Your Linux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375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HANDS-ON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319272"/>
            <a:ext cx="9219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1:15 · 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850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330"/>
                </a:solidFill>
                <a:latin typeface="Calibri"/>
              </a:rPr>
              <a:t>Linux warm-up and practice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519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233672"/>
            <a:ext cx="9219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1:40 · 10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994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330"/>
                </a:solidFill>
                <a:latin typeface="Calibri"/>
              </a:rPr>
              <a:t>One folder, two names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66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HANDS-ON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148072"/>
            <a:ext cx="9219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1:50 · 25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138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330"/>
                </a:solidFill>
                <a:latin typeface="Calibri"/>
              </a:rPr>
              <a:t>Files on both sides; walkthrough 2:10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823" y="1325880"/>
            <a:ext cx="2567863" cy="4800600"/>
          </a:xfrm>
          <a:prstGeom prst="roundRect">
            <a:avLst>
              <a:gd name="adj" fmla="val 5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19423" y="1554480"/>
            <a:ext cx="548640" cy="548640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423" y="2240280"/>
            <a:ext cx="211066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2330"/>
                </a:solidFill>
                <a:latin typeface="Calibri"/>
              </a:rPr>
              <a:t>How C++ programs are built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9423" y="33375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3863" y="3319272"/>
            <a:ext cx="9219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2:15 · 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9423" y="36850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330"/>
                </a:solidFill>
                <a:latin typeface="Calibri"/>
              </a:rPr>
              <a:t>The build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9423" y="42519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HANDS-ON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3863" y="4233672"/>
            <a:ext cx="9219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2:35 · 35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9423" y="45994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330"/>
                </a:solidFill>
                <a:latin typeface="Calibri"/>
              </a:rPr>
              <a:t>Fix a broken build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9423" y="5166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SOLUTIONS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3863" y="5148072"/>
            <a:ext cx="9219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3:10 · 10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9423" y="55138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330"/>
                </a:solidFill>
                <a:latin typeface="Calibri"/>
              </a:rPr>
              <a:t>Walkthrough + self-test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1325880"/>
            <a:ext cx="2567863" cy="4800600"/>
          </a:xfrm>
          <a:prstGeom prst="roundRect">
            <a:avLst>
              <a:gd name="adj" fmla="val 5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61607" y="1554480"/>
            <a:ext cx="548640" cy="548640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1607" y="2240280"/>
            <a:ext cx="211066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2330"/>
                </a:solidFill>
                <a:latin typeface="Calibri"/>
              </a:rPr>
              <a:t>Types, conversions, limits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61607" y="33375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6047" y="3319272"/>
            <a:ext cx="9219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3:20 · 15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1607" y="36850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330"/>
                </a:solidFill>
                <a:latin typeface="Calibri"/>
              </a:rPr>
              <a:t>Numbers in C++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61607" y="42519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HANDS-ON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6047" y="4233672"/>
            <a:ext cx="9219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3:35 · 30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1607" y="45994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330"/>
                </a:solidFill>
                <a:latin typeface="Calibri"/>
              </a:rPr>
              <a:t>Rounding and limits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61607" y="5166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SOLUTIONS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6047" y="5148072"/>
            <a:ext cx="9219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4:05 · 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1607" y="55138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330"/>
                </a:solidFill>
                <a:latin typeface="Calibri"/>
              </a:rPr>
              <a:t>Walkthrough + self-test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75191" y="1325880"/>
            <a:ext cx="2567863" cy="4800600"/>
          </a:xfrm>
          <a:prstGeom prst="roundRect">
            <a:avLst>
              <a:gd name="adj" fmla="val 5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03791" y="1554480"/>
            <a:ext cx="548640" cy="548640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3791" y="2240280"/>
            <a:ext cx="211066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2330"/>
                </a:solidFill>
                <a:latin typeface="Calibri"/>
              </a:rPr>
              <a:t>References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03791" y="33375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38231" y="3319272"/>
            <a:ext cx="9219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4:20 · 15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3791" y="36850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330"/>
                </a:solidFill>
                <a:latin typeface="Calibri"/>
              </a:rPr>
              <a:t>Value, &amp;, const &amp;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03791" y="42519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HANDS-ON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38231" y="4233672"/>
            <a:ext cx="9219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4:35 · 25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03791" y="45994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330"/>
                </a:solidFill>
                <a:latin typeface="Calibri"/>
              </a:rPr>
              <a:t>Reference functions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03791" y="516636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SOLUTIONS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38231" y="5148072"/>
            <a:ext cx="92194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5:00 · 5 min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03791" y="5513832"/>
            <a:ext cx="21106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330"/>
                </a:solidFill>
                <a:latin typeface="Calibri"/>
              </a:rPr>
              <a:t>Walkthrough; catch-up 5:05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1005840" cy="1005840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Your Linux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C5B4E3"/>
                </a:solidFill>
                <a:latin typeface="Calibri"/>
              </a:rPr>
              <a:t>CSS 342 grades your code with g++ on Linux; the container gives everyone that same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5B4E3"/>
                </a:solidFill>
                <a:latin typeface="Calibri"/>
              </a:rPr>
              <a:t>AFTER THIS PART YOU 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Explain the difference between the image and your container</a:t>
            </a:r>
          </a:p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Say where every file lives: in Linux, on your computer, or both</a:t>
            </a:r>
          </a:p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Use the everyday Linux commands: </a:t>
            </a:r>
            <a:r>
              <a:rPr sz="2000" b="0">
                <a:solidFill>
                  <a:srgbClr val="C5B4E3"/>
                </a:solidFill>
                <a:latin typeface="Consolas"/>
              </a:rPr>
              <a:t>pwd</a:t>
            </a:r>
            <a:r>
              <a:rPr sz="2000" b="0">
                <a:solidFill>
                  <a:srgbClr val="FFFFFF"/>
                </a:solidFill>
                <a:latin typeface="Calibri"/>
              </a:rPr>
              <a:t>, </a:t>
            </a:r>
            <a:r>
              <a:rPr sz="2000" b="0">
                <a:solidFill>
                  <a:srgbClr val="C5B4E3"/>
                </a:solidFill>
                <a:latin typeface="Consolas"/>
              </a:rPr>
              <a:t>ls</a:t>
            </a:r>
            <a:r>
              <a:rPr sz="2000" b="0">
                <a:solidFill>
                  <a:srgbClr val="FFFFFF"/>
                </a:solidFill>
                <a:latin typeface="Calibri"/>
              </a:rPr>
              <a:t>, </a:t>
            </a:r>
            <a:r>
              <a:rPr sz="2000" b="0">
                <a:solidFill>
                  <a:srgbClr val="C5B4E3"/>
                </a:solidFill>
                <a:latin typeface="Consolas"/>
              </a:rPr>
              <a:t>cd</a:t>
            </a:r>
            <a:r>
              <a:rPr sz="2000" b="0">
                <a:solidFill>
                  <a:srgbClr val="FFFFFF"/>
                </a:solidFill>
                <a:latin typeface="Calibri"/>
              </a:rPr>
              <a:t>, </a:t>
            </a:r>
            <a:r>
              <a:rPr sz="2000" b="0">
                <a:solidFill>
                  <a:srgbClr val="C5B4E3"/>
                </a:solidFill>
                <a:latin typeface="Consolas"/>
              </a:rPr>
              <a:t>mkdir</a:t>
            </a:r>
            <a:r>
              <a:rPr sz="2000" b="0">
                <a:solidFill>
                  <a:srgbClr val="FFFFFF"/>
                </a:solidFill>
                <a:latin typeface="Calibri"/>
              </a:rPr>
              <a:t>, </a:t>
            </a:r>
            <a:r>
              <a:rPr sz="2000" b="0">
                <a:solidFill>
                  <a:srgbClr val="C5B4E3"/>
                </a:solidFill>
                <a:latin typeface="Consolas"/>
              </a:rPr>
              <a:t>cp</a:t>
            </a:r>
            <a:r>
              <a:rPr sz="2000" b="0">
                <a:solidFill>
                  <a:srgbClr val="FFFFFF"/>
                </a:solidFill>
                <a:latin typeface="Calibri"/>
              </a:rPr>
              <a:t>, </a:t>
            </a:r>
            <a:r>
              <a:rPr sz="2000" b="0">
                <a:solidFill>
                  <a:srgbClr val="C5B4E3"/>
                </a:solidFill>
                <a:latin typeface="Consolas"/>
              </a:rPr>
              <a:t>mv</a:t>
            </a:r>
            <a:r>
              <a:rPr sz="2000" b="0">
                <a:solidFill>
                  <a:srgbClr val="FFFFFF"/>
                </a:solidFill>
                <a:latin typeface="Calibri"/>
              </a:rPr>
              <a:t>, </a:t>
            </a:r>
            <a:r>
              <a:rPr sz="2000" b="0">
                <a:solidFill>
                  <a:srgbClr val="C5B4E3"/>
                </a:solidFill>
                <a:latin typeface="Consolas"/>
              </a:rPr>
              <a:t>rm</a:t>
            </a:r>
            <a:r>
              <a:rPr sz="2000" b="0">
                <a:solidFill>
                  <a:srgbClr val="FFFFFF"/>
                </a:solidFill>
                <a:latin typeface="Calibri"/>
              </a:rPr>
              <a:t>, ...</a:t>
            </a:r>
          </a:p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Move between VS Code and File Explorer (Finder) on the same files</a:t>
            </a:r>
          </a:p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Read and write file names, relative paths, and full paths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Warm-up: Linux command essentials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547207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Where am I? </a:t>
            </a:r>
            <a:r>
              <a:rPr sz="1800" b="0">
                <a:solidFill>
                  <a:srgbClr val="4B2E83"/>
                </a:solidFill>
                <a:latin typeface="Consolas"/>
              </a:rPr>
              <a:t>pwd</a:t>
            </a:r>
            <a:r>
              <a:rPr sz="1800" b="0">
                <a:solidFill>
                  <a:srgbClr val="1D2330"/>
                </a:solidFill>
                <a:latin typeface="Calibri"/>
              </a:rPr>
              <a:t> · </a:t>
            </a:r>
            <a:r>
              <a:rPr sz="1800" b="0">
                <a:solidFill>
                  <a:srgbClr val="4B2E83"/>
                </a:solidFill>
                <a:latin typeface="Consolas"/>
              </a:rPr>
              <a:t>ls</a:t>
            </a:r>
            <a:r>
              <a:rPr sz="1800" b="0">
                <a:solidFill>
                  <a:srgbClr val="1D2330"/>
                </a:solidFill>
                <a:latin typeface="Calibri"/>
              </a:rPr>
              <a:t> (</a:t>
            </a:r>
            <a:r>
              <a:rPr sz="1800" b="0">
                <a:solidFill>
                  <a:srgbClr val="4B2E83"/>
                </a:solidFill>
                <a:latin typeface="Consolas"/>
              </a:rPr>
              <a:t>-l</a:t>
            </a:r>
            <a:r>
              <a:rPr sz="1800" b="0">
                <a:solidFill>
                  <a:srgbClr val="1D2330"/>
                </a:solidFill>
                <a:latin typeface="Calibri"/>
              </a:rPr>
              <a:t>, </a:t>
            </a:r>
            <a:r>
              <a:rPr sz="1800" b="0">
                <a:solidFill>
                  <a:srgbClr val="4B2E83"/>
                </a:solidFill>
                <a:latin typeface="Consolas"/>
              </a:rPr>
              <a:t>-a</a:t>
            </a:r>
            <a:r>
              <a:rPr sz="1800" b="0">
                <a:solidFill>
                  <a:srgbClr val="1D2330"/>
                </a:solidFill>
                <a:latin typeface="Calibri"/>
              </a:rPr>
              <a:t>, </a:t>
            </a:r>
            <a:r>
              <a:rPr sz="1800" b="0">
                <a:solidFill>
                  <a:srgbClr val="4B2E83"/>
                </a:solidFill>
                <a:latin typeface="Consolas"/>
              </a:rPr>
              <a:t>-R</a:t>
            </a:r>
            <a:r>
              <a:rPr sz="1800" b="0">
                <a:solidFill>
                  <a:srgbClr val="1D2330"/>
                </a:solidFill>
                <a:latin typeface="Calibri"/>
              </a:rPr>
              <a:t>) · </a:t>
            </a:r>
            <a:r>
              <a:rPr sz="1800" b="0">
                <a:solidFill>
                  <a:srgbClr val="4B2E83"/>
                </a:solidFill>
                <a:latin typeface="Consolas"/>
              </a:rPr>
              <a:t>cd</a:t>
            </a:r>
            <a:r>
              <a:rPr sz="1800" b="0">
                <a:solidFill>
                  <a:srgbClr val="1D2330"/>
                </a:solidFill>
                <a:latin typeface="Calibri"/>
              </a:rPr>
              <a:t> (</a:t>
            </a:r>
            <a:r>
              <a:rPr sz="1800" b="0">
                <a:solidFill>
                  <a:srgbClr val="4B2E83"/>
                </a:solidFill>
                <a:latin typeface="Consolas"/>
              </a:rPr>
              <a:t>..</a:t>
            </a:r>
            <a:r>
              <a:rPr sz="1800" b="0">
                <a:solidFill>
                  <a:srgbClr val="1D2330"/>
                </a:solidFill>
                <a:latin typeface="Calibri"/>
              </a:rPr>
              <a:t> up, </a:t>
            </a:r>
            <a:r>
              <a:rPr sz="1800" b="0">
                <a:solidFill>
                  <a:srgbClr val="4B2E83"/>
                </a:solidFill>
                <a:latin typeface="Consolas"/>
              </a:rPr>
              <a:t>~</a:t>
            </a:r>
            <a:r>
              <a:rPr sz="1800" b="0">
                <a:solidFill>
                  <a:srgbClr val="1D2330"/>
                </a:solidFill>
                <a:latin typeface="Calibri"/>
              </a:rPr>
              <a:t> home)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Files and folders: </a:t>
            </a:r>
            <a:r>
              <a:rPr sz="1800" b="0">
                <a:solidFill>
                  <a:srgbClr val="4B2E83"/>
                </a:solidFill>
                <a:latin typeface="Consolas"/>
              </a:rPr>
              <a:t>mkdir</a:t>
            </a:r>
            <a:r>
              <a:rPr sz="1800" b="0">
                <a:solidFill>
                  <a:srgbClr val="1D2330"/>
                </a:solidFill>
                <a:latin typeface="Calibri"/>
              </a:rPr>
              <a:t> (</a:t>
            </a:r>
            <a:r>
              <a:rPr sz="1800" b="0">
                <a:solidFill>
                  <a:srgbClr val="4B2E83"/>
                </a:solidFill>
                <a:latin typeface="Consolas"/>
              </a:rPr>
              <a:t>-p</a:t>
            </a:r>
            <a:r>
              <a:rPr sz="1800" b="0">
                <a:solidFill>
                  <a:srgbClr val="1D2330"/>
                </a:solidFill>
                <a:latin typeface="Calibri"/>
              </a:rPr>
              <a:t>) · </a:t>
            </a:r>
            <a:r>
              <a:rPr sz="1800" b="0">
                <a:solidFill>
                  <a:srgbClr val="4B2E83"/>
                </a:solidFill>
                <a:latin typeface="Consolas"/>
              </a:rPr>
              <a:t>touch</a:t>
            </a:r>
            <a:r>
              <a:rPr sz="1800" b="0">
                <a:solidFill>
                  <a:srgbClr val="1D2330"/>
                </a:solidFill>
                <a:latin typeface="Calibri"/>
              </a:rPr>
              <a:t> · </a:t>
            </a:r>
            <a:r>
              <a:rPr sz="1800" b="0">
                <a:solidFill>
                  <a:srgbClr val="4B2E83"/>
                </a:solidFill>
                <a:latin typeface="Consolas"/>
              </a:rPr>
              <a:t>cp</a:t>
            </a:r>
            <a:r>
              <a:rPr sz="1800" b="0">
                <a:solidFill>
                  <a:srgbClr val="1D2330"/>
                </a:solidFill>
                <a:latin typeface="Calibri"/>
              </a:rPr>
              <a:t> (</a:t>
            </a:r>
            <a:r>
              <a:rPr sz="1800" b="0">
                <a:solidFill>
                  <a:srgbClr val="4B2E83"/>
                </a:solidFill>
                <a:latin typeface="Consolas"/>
              </a:rPr>
              <a:t>-r</a:t>
            </a:r>
            <a:r>
              <a:rPr sz="1800" b="0">
                <a:solidFill>
                  <a:srgbClr val="1D2330"/>
                </a:solidFill>
                <a:latin typeface="Calibri"/>
              </a:rPr>
              <a:t>) · </a:t>
            </a:r>
            <a:r>
              <a:rPr sz="1800" b="0">
                <a:solidFill>
                  <a:srgbClr val="4B2E83"/>
                </a:solidFill>
                <a:latin typeface="Consolas"/>
              </a:rPr>
              <a:t>mv</a:t>
            </a:r>
            <a:r>
              <a:rPr sz="1800" b="0">
                <a:solidFill>
                  <a:srgbClr val="1D2330"/>
                </a:solidFill>
                <a:latin typeface="Calibri"/>
              </a:rPr>
              <a:t> (move or rename) · </a:t>
            </a:r>
            <a:r>
              <a:rPr sz="1800" b="0">
                <a:solidFill>
                  <a:srgbClr val="4B2E83"/>
                </a:solidFill>
                <a:latin typeface="Consolas"/>
              </a:rPr>
              <a:t>rm</a:t>
            </a:r>
            <a:r>
              <a:rPr sz="1800" b="0">
                <a:solidFill>
                  <a:srgbClr val="1D2330"/>
                </a:solidFill>
                <a:latin typeface="Calibri"/>
              </a:rPr>
              <a:t> (</a:t>
            </a:r>
            <a:r>
              <a:rPr sz="1800" b="0">
                <a:solidFill>
                  <a:srgbClr val="4B2E83"/>
                </a:solidFill>
                <a:latin typeface="Consolas"/>
              </a:rPr>
              <a:t>-r</a:t>
            </a:r>
            <a:r>
              <a:rPr sz="1800" b="0">
                <a:solidFill>
                  <a:srgbClr val="1D2330"/>
                </a:solidFill>
                <a:latin typeface="Calibri"/>
              </a:rPr>
              <a:t>; forever) · </a:t>
            </a:r>
            <a:r>
              <a:rPr sz="1800" b="0">
                <a:solidFill>
                  <a:srgbClr val="4B2E83"/>
                </a:solidFill>
                <a:latin typeface="Consolas"/>
              </a:rPr>
              <a:t>rmdir</a:t>
            </a:r>
            <a:r>
              <a:rPr sz="1800" b="0">
                <a:solidFill>
                  <a:srgbClr val="1D2330"/>
                </a:solidFill>
                <a:latin typeface="Calibri"/>
              </a:rPr>
              <a:t> (empty folders only)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Text: </a:t>
            </a:r>
            <a:r>
              <a:rPr sz="1800" b="0">
                <a:solidFill>
                  <a:srgbClr val="4B2E83"/>
                </a:solidFill>
                <a:latin typeface="Consolas"/>
              </a:rPr>
              <a:t>cat</a:t>
            </a:r>
            <a:r>
              <a:rPr sz="1800" b="0">
                <a:solidFill>
                  <a:srgbClr val="1D2330"/>
                </a:solidFill>
                <a:latin typeface="Calibri"/>
              </a:rPr>
              <a:t> · </a:t>
            </a:r>
            <a:r>
              <a:rPr sz="1800" b="0">
                <a:solidFill>
                  <a:srgbClr val="4B2E83"/>
                </a:solidFill>
                <a:latin typeface="Consolas"/>
              </a:rPr>
              <a:t>less</a:t>
            </a:r>
            <a:r>
              <a:rPr sz="1800" b="0">
                <a:solidFill>
                  <a:srgbClr val="1D2330"/>
                </a:solidFill>
                <a:latin typeface="Calibri"/>
              </a:rPr>
              <a:t> (</a:t>
            </a:r>
            <a:r>
              <a:rPr sz="1800" b="0">
                <a:solidFill>
                  <a:srgbClr val="4B2E83"/>
                </a:solidFill>
                <a:latin typeface="Consolas"/>
              </a:rPr>
              <a:t>q</a:t>
            </a:r>
            <a:r>
              <a:rPr sz="1800" b="0">
                <a:solidFill>
                  <a:srgbClr val="1D2330"/>
                </a:solidFill>
                <a:latin typeface="Calibri"/>
              </a:rPr>
              <a:t> quits) · </a:t>
            </a:r>
            <a:r>
              <a:rPr sz="1800" b="0">
                <a:solidFill>
                  <a:srgbClr val="4B2E83"/>
                </a:solidFill>
                <a:latin typeface="Consolas"/>
              </a:rPr>
              <a:t>echo</a:t>
            </a:r>
            <a:r>
              <a:rPr sz="1800" b="0">
                <a:solidFill>
                  <a:srgbClr val="1D2330"/>
                </a:solidFill>
                <a:latin typeface="Calibri"/>
              </a:rPr>
              <a:t> with </a:t>
            </a:r>
            <a:r>
              <a:rPr sz="1800" b="0">
                <a:solidFill>
                  <a:srgbClr val="4B2E83"/>
                </a:solidFill>
                <a:latin typeface="Consolas"/>
              </a:rPr>
              <a:t>&gt;</a:t>
            </a:r>
            <a:r>
              <a:rPr sz="1800" b="0">
                <a:solidFill>
                  <a:srgbClr val="1D2330"/>
                </a:solidFill>
                <a:latin typeface="Calibri"/>
              </a:rPr>
              <a:t> (write) and </a:t>
            </a:r>
            <a:r>
              <a:rPr sz="1800" b="0">
                <a:solidFill>
                  <a:srgbClr val="4B2E83"/>
                </a:solidFill>
                <a:latin typeface="Consolas"/>
              </a:rPr>
              <a:t>&gt;&gt;</a:t>
            </a:r>
            <a:r>
              <a:rPr sz="1800" b="0">
                <a:solidFill>
                  <a:srgbClr val="1D2330"/>
                </a:solidFill>
                <a:latin typeface="Calibri"/>
              </a:rPr>
              <a:t> (add)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Help: </a:t>
            </a:r>
            <a:r>
              <a:rPr sz="1800" b="0">
                <a:solidFill>
                  <a:srgbClr val="4B2E83"/>
                </a:solidFill>
                <a:latin typeface="Consolas"/>
              </a:rPr>
              <a:t>ls --help</a:t>
            </a:r>
            <a:r>
              <a:rPr sz="1800" b="0">
                <a:solidFill>
                  <a:srgbClr val="1D2330"/>
                </a:solidFill>
                <a:latin typeface="Calibri"/>
              </a:rPr>
              <a:t> (no man pages in the image) · </a:t>
            </a:r>
            <a:r>
              <a:rPr sz="1800" b="0">
                <a:solidFill>
                  <a:srgbClr val="4B2E83"/>
                </a:solidFill>
                <a:latin typeface="Consolas"/>
              </a:rPr>
              <a:t>clear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Keys: </a:t>
            </a:r>
            <a:r>
              <a:rPr sz="1800" b="0">
                <a:solidFill>
                  <a:srgbClr val="4B2E83"/>
                </a:solidFill>
                <a:latin typeface="Consolas"/>
              </a:rPr>
              <a:t>Tab</a:t>
            </a:r>
            <a:r>
              <a:rPr sz="1800" b="0">
                <a:solidFill>
                  <a:srgbClr val="1D2330"/>
                </a:solidFill>
                <a:latin typeface="Calibri"/>
              </a:rPr>
              <a:t> finishes names · ↑ repeats · </a:t>
            </a:r>
            <a:r>
              <a:rPr sz="1800" b="0">
                <a:solidFill>
                  <a:srgbClr val="4B2E83"/>
                </a:solidFill>
                <a:latin typeface="Consolas"/>
              </a:rPr>
              <a:t>Ctrl+C</a:t>
            </a:r>
            <a:r>
              <a:rPr sz="1800" b="0">
                <a:solidFill>
                  <a:srgbClr val="1D2330"/>
                </a:solidFill>
                <a:latin typeface="Calibri"/>
              </a:rPr>
              <a:t> stops a program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Full reference: every lab page's left menu, Reference, Linux commands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5887" y="1325880"/>
            <a:ext cx="5227167" cy="361188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4487" y="1508760"/>
            <a:ext cx="4769967" cy="3246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cd ~/CSSSKL342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mkdir -p part0/warmup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cd part0/warmup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touch empty.txt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echo "first line" &gt; notes.txt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echo "second line" &gt;&gt; notes.txt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cat notes.txt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cp notes.txt copy.txt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mkdir backup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mv copy.txt backup/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mv empty.txt blank.txt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ls -R              # checkpoint 1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rmdir backup       # Directory not empty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cd ..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rm -r warmup       # no Recycle Bin!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Practice: Linux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Build a tree in </a:t>
            </a:r>
            <a:r>
              <a:rPr sz="2000" b="0">
                <a:solidFill>
                  <a:srgbClr val="4B2E83"/>
                </a:solidFill>
                <a:latin typeface="Consolas"/>
              </a:rPr>
              <a:t>part0</a:t>
            </a:r>
            <a:r>
              <a:rPr sz="2000" b="0">
                <a:solidFill>
                  <a:srgbClr val="1D2330"/>
                </a:solidFill>
                <a:latin typeface="Calibri"/>
              </a:rPr>
              <a:t>: </a:t>
            </a:r>
            <a:r>
              <a:rPr sz="2000" b="0">
                <a:solidFill>
                  <a:srgbClr val="4B2E83"/>
                </a:solidFill>
                <a:latin typeface="Consolas"/>
              </a:rPr>
              <a:t>practice/src/main.cpp</a:t>
            </a:r>
            <a:r>
              <a:rPr sz="2000" b="0">
                <a:solidFill>
                  <a:srgbClr val="1D2330"/>
                </a:solidFill>
                <a:latin typeface="Calibri"/>
              </a:rPr>
              <a:t>, </a:t>
            </a:r>
            <a:r>
              <a:rPr sz="2000" b="0">
                <a:solidFill>
                  <a:srgbClr val="4B2E83"/>
                </a:solidFill>
                <a:latin typeface="Consolas"/>
              </a:rPr>
              <a:t>practice/src/util.h</a:t>
            </a:r>
            <a:r>
              <a:rPr sz="2000" b="0">
                <a:solidFill>
                  <a:srgbClr val="1D2330"/>
                </a:solidFill>
                <a:latin typeface="Calibri"/>
              </a:rPr>
              <a:t>, and </a:t>
            </a:r>
            <a:r>
              <a:rPr sz="2000" b="0">
                <a:solidFill>
                  <a:srgbClr val="4B2E83"/>
                </a:solidFill>
                <a:latin typeface="Consolas"/>
              </a:rPr>
              <a:t>practice/docs/readme.txt</a:t>
            </a:r>
            <a:r>
              <a:rPr sz="2000" b="0">
                <a:solidFill>
                  <a:srgbClr val="1D2330"/>
                </a:solidFill>
                <a:latin typeface="Calibri"/>
              </a:rPr>
              <a:t> with two lines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Reorganize: rename </a:t>
            </a:r>
            <a:r>
              <a:rPr sz="2000" b="0">
                <a:solidFill>
                  <a:srgbClr val="4B2E83"/>
                </a:solidFill>
                <a:latin typeface="Consolas"/>
              </a:rPr>
              <a:t>util.h</a:t>
            </a:r>
            <a:r>
              <a:rPr sz="2000" b="0">
                <a:solidFill>
                  <a:srgbClr val="1D2330"/>
                </a:solidFill>
                <a:latin typeface="Calibri"/>
              </a:rPr>
              <a:t> to </a:t>
            </a:r>
            <a:r>
              <a:rPr sz="2000" b="0">
                <a:solidFill>
                  <a:srgbClr val="4B2E83"/>
                </a:solidFill>
                <a:latin typeface="Consolas"/>
              </a:rPr>
              <a:t>convert.h</a:t>
            </a:r>
            <a:r>
              <a:rPr sz="2000" b="0">
                <a:solidFill>
                  <a:srgbClr val="1D2330"/>
                </a:solidFill>
                <a:latin typeface="Calibri"/>
              </a:rPr>
              <a:t>, copy </a:t>
            </a:r>
            <a:r>
              <a:rPr sz="2000" b="0">
                <a:solidFill>
                  <a:srgbClr val="4B2E83"/>
                </a:solidFill>
                <a:latin typeface="Consolas"/>
              </a:rPr>
              <a:t>readme.txt</a:t>
            </a:r>
            <a:r>
              <a:rPr sz="2000" b="0">
                <a:solidFill>
                  <a:srgbClr val="1D2330"/>
                </a:solidFill>
                <a:latin typeface="Calibri"/>
              </a:rPr>
              <a:t> into </a:t>
            </a:r>
            <a:r>
              <a:rPr sz="2000" b="0">
                <a:solidFill>
                  <a:srgbClr val="4B2E83"/>
                </a:solidFill>
                <a:latin typeface="Consolas"/>
              </a:rPr>
              <a:t>src</a:t>
            </a:r>
            <a:r>
              <a:rPr sz="2000" b="0">
                <a:solidFill>
                  <a:srgbClr val="1D2330"/>
                </a:solidFill>
                <a:latin typeface="Calibri"/>
              </a:rPr>
              <a:t> as </a:t>
            </a:r>
            <a:r>
              <a:rPr sz="2000" b="0">
                <a:solidFill>
                  <a:srgbClr val="4B2E83"/>
                </a:solidFill>
                <a:latin typeface="Consolas"/>
              </a:rPr>
              <a:t>notes.txt</a:t>
            </a:r>
            <a:r>
              <a:rPr sz="2000" b="0">
                <a:solidFill>
                  <a:srgbClr val="1D2330"/>
                </a:solidFill>
                <a:latin typeface="Calibri"/>
              </a:rPr>
              <a:t>, move </a:t>
            </a:r>
            <a:r>
              <a:rPr sz="2000" b="0">
                <a:solidFill>
                  <a:srgbClr val="4B2E83"/>
                </a:solidFill>
                <a:latin typeface="Consolas"/>
              </a:rPr>
              <a:t>readme.txt</a:t>
            </a:r>
            <a:r>
              <a:rPr sz="2000" b="0">
                <a:solidFill>
                  <a:srgbClr val="1D2330"/>
                </a:solidFill>
                <a:latin typeface="Calibri"/>
              </a:rPr>
              <a:t> up, delete the empty </a:t>
            </a:r>
            <a:r>
              <a:rPr sz="2000" b="0">
                <a:solidFill>
                  <a:srgbClr val="4B2E83"/>
                </a:solidFill>
                <a:latin typeface="Consolas"/>
              </a:rPr>
              <a:t>docs</a:t>
            </a:r>
            <a:r>
              <a:rPr sz="2000" b="0">
                <a:solidFill>
                  <a:srgbClr val="1D2330"/>
                </a:solidFill>
                <a:latin typeface="Calibri"/>
              </a:rPr>
              <a:t> with </a:t>
            </a:r>
            <a:r>
              <a:rPr sz="2000" b="0">
                <a:solidFill>
                  <a:srgbClr val="4B2E83"/>
                </a:solidFill>
                <a:latin typeface="Consolas"/>
              </a:rPr>
              <a:t>rmdir</a:t>
            </a:r>
            <a:r>
              <a:rPr sz="2000" b="0">
                <a:solidFill>
                  <a:srgbClr val="1D2330"/>
                </a:solidFill>
                <a:latin typeface="Calibri"/>
              </a:rPr>
              <a:t> (then see why </a:t>
            </a:r>
            <a:r>
              <a:rPr sz="2000" b="0">
                <a:solidFill>
                  <a:srgbClr val="4B2E83"/>
                </a:solidFill>
                <a:latin typeface="Consolas"/>
              </a:rPr>
              <a:t>rmdir src</a:t>
            </a:r>
            <a:r>
              <a:rPr sz="2000" b="0">
                <a:solidFill>
                  <a:srgbClr val="1D2330"/>
                </a:solidFill>
                <a:latin typeface="Calibri"/>
              </a:rPr>
              <a:t> refuses)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Relative paths: from inside </a:t>
            </a:r>
            <a:r>
              <a:rPr sz="2000" b="0">
                <a:solidFill>
                  <a:srgbClr val="4B2E83"/>
                </a:solidFill>
                <a:latin typeface="Consolas"/>
              </a:rPr>
              <a:t>src</a:t>
            </a:r>
            <a:r>
              <a:rPr sz="2000" b="0">
                <a:solidFill>
                  <a:srgbClr val="1D2330"/>
                </a:solidFill>
                <a:latin typeface="Calibri"/>
              </a:rPr>
              <a:t>, use </a:t>
            </a:r>
            <a:r>
              <a:rPr sz="2000" b="0">
                <a:solidFill>
                  <a:srgbClr val="4B2E83"/>
                </a:solidFill>
                <a:latin typeface="Consolas"/>
              </a:rPr>
              <a:t>..</a:t>
            </a:r>
            <a:r>
              <a:rPr sz="2000" b="0">
                <a:solidFill>
                  <a:srgbClr val="1D2330"/>
                </a:solidFill>
                <a:latin typeface="Calibri"/>
              </a:rPr>
              <a:t> to print, copy, and list; then go back and </a:t>
            </a:r>
            <a:r>
              <a:rPr sz="2000" b="0">
                <a:solidFill>
                  <a:srgbClr val="4B2E83"/>
                </a:solidFill>
                <a:latin typeface="Consolas"/>
              </a:rPr>
              <a:t>rm -r practice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Each step has a self-check with exact </a:t>
            </a:r>
            <a:r>
              <a:rPr sz="2000" b="0">
                <a:solidFill>
                  <a:srgbClr val="4B2E83"/>
                </a:solidFill>
                <a:latin typeface="Consolas"/>
              </a:rPr>
              <a:t>ls -R</a:t>
            </a:r>
            <a:r>
              <a:rPr sz="2000" b="0">
                <a:solidFill>
                  <a:srgbClr val="1D2330"/>
                </a:solidFill>
                <a:latin typeface="Calibri"/>
              </a:rPr>
              <a:t> output on the lab page; model answers are hidden until you 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4B2E83"/>
                </a:solidFill>
                <a:latin typeface="Calibri"/>
              </a:rPr>
              <a:t>10 minutes, no step-by-step commands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1D2330"/>
                </a:solidFill>
                <a:latin typeface="Calibri"/>
              </a:rPr>
              <a:t>Use the warm-up and the Linux command reference (left menu, Reference).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One folder, two names</a:t>
            </a:r>
          </a:p>
        </p:txBody>
      </p:sp>
      <p:pic>
        <p:nvPicPr>
          <p:cNvPr id="6" name="Picture 5" descr="docker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279" y="1188720"/>
            <a:ext cx="7291136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7959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B6475"/>
                </a:solidFill>
                <a:latin typeface="Calibri"/>
              </a:rPr>
              <a:t>Your setup from the Pre-Lab: hello.cpp is ONE file, with a Linux name and a Windows/Mac name.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What runs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Image vs. container: the image </a:t>
            </a:r>
            <a:r>
              <a:rPr sz="2000" b="0">
                <a:solidFill>
                  <a:srgbClr val="4B2E83"/>
                </a:solidFill>
                <a:latin typeface="Consolas"/>
              </a:rPr>
              <a:t>cssimages/linuxlab</a:t>
            </a:r>
            <a:r>
              <a:rPr sz="2000" b="0">
                <a:solidFill>
                  <a:srgbClr val="1D2330"/>
                </a:solidFill>
                <a:latin typeface="Calibri"/>
              </a:rPr>
              <a:t> is a read-only template; your container </a:t>
            </a:r>
            <a:r>
              <a:rPr sz="2000" b="0">
                <a:solidFill>
                  <a:srgbClr val="4B2E83"/>
                </a:solidFill>
                <a:latin typeface="Consolas"/>
              </a:rPr>
              <a:t>cssskl342</a:t>
            </a:r>
            <a:r>
              <a:rPr sz="2000" b="0">
                <a:solidFill>
                  <a:srgbClr val="1D2330"/>
                </a:solidFill>
                <a:latin typeface="Calibri"/>
              </a:rPr>
              <a:t> is a running Linux machine made from it, once, by </a:t>
            </a:r>
            <a:r>
              <a:rPr sz="2000" b="0">
                <a:solidFill>
                  <a:srgbClr val="4B2E83"/>
                </a:solidFill>
                <a:latin typeface="Consolas"/>
              </a:rPr>
              <a:t>docker run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One folder, two names: </a:t>
            </a:r>
            <a:r>
              <a:rPr sz="2000" b="0">
                <a:solidFill>
                  <a:srgbClr val="4B2E83"/>
                </a:solidFill>
                <a:latin typeface="Consolas"/>
              </a:rPr>
              <a:t>/home/cssuwbstudent/CSSSKL342</a:t>
            </a:r>
            <a:r>
              <a:rPr sz="2000" b="0">
                <a:solidFill>
                  <a:srgbClr val="1D2330"/>
                </a:solidFill>
                <a:latin typeface="Calibri"/>
              </a:rPr>
              <a:t> in Linux is </a:t>
            </a:r>
            <a:r>
              <a:rPr sz="2000" b="0">
                <a:solidFill>
                  <a:srgbClr val="4B2E83"/>
                </a:solidFill>
                <a:latin typeface="Consolas"/>
              </a:rPr>
              <a:t>C:\Users\you\CSSSKL342</a:t>
            </a:r>
            <a:r>
              <a:rPr sz="2000" b="0">
                <a:solidFill>
                  <a:srgbClr val="1D2330"/>
                </a:solidFill>
                <a:latin typeface="Calibri"/>
              </a:rPr>
              <a:t> (Mac: </a:t>
            </a:r>
            <a:r>
              <a:rPr sz="2000" b="0">
                <a:solidFill>
                  <a:srgbClr val="4B2E83"/>
                </a:solidFill>
                <a:latin typeface="Consolas"/>
              </a:rPr>
              <a:t>/Users/you/CSSSKL342</a:t>
            </a:r>
            <a:r>
              <a:rPr sz="2000" b="0">
                <a:solidFill>
                  <a:srgbClr val="1D2330"/>
                </a:solidFill>
                <a:latin typeface="Calibri"/>
              </a:rPr>
              <a:t>); everything else in Linux lives only in the container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The VS Code window is on your computer, but its files, terminal, and </a:t>
            </a:r>
            <a:r>
              <a:rPr sz="2000" b="0">
                <a:solidFill>
                  <a:srgbClr val="4B2E83"/>
                </a:solidFill>
                <a:latin typeface="Consolas"/>
              </a:rPr>
              <a:t>g++</a:t>
            </a:r>
            <a:r>
              <a:rPr sz="2000" b="0">
                <a:solidFill>
                  <a:srgbClr val="1D2330"/>
                </a:solidFill>
                <a:latin typeface="Calibri"/>
              </a:rPr>
              <a:t> are in Linux: check the bottom-left label, Container ... (cssskl342)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Linux rules apply inside: programs compiled there run only in Linux, </a:t>
            </a:r>
            <a:r>
              <a:rPr sz="2000" b="0">
                <a:solidFill>
                  <a:srgbClr val="4B2E83"/>
                </a:solidFill>
                <a:latin typeface="Consolas"/>
              </a:rPr>
              <a:t>rm</a:t>
            </a:r>
            <a:r>
              <a:rPr sz="2000" b="0">
                <a:solidFill>
                  <a:srgbClr val="1D2330"/>
                </a:solidFill>
                <a:latin typeface="Calibri"/>
              </a:rPr>
              <a:t> deletes for good (no Recycle Bin), and file names are case-sensitive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4B2E83"/>
                </a:solidFill>
                <a:latin typeface="Calibri"/>
              </a:rPr>
              <a:t>Keep all your course work in CSSSKL342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1D2330"/>
                </a:solidFill>
                <a:latin typeface="Calibri"/>
              </a:rPr>
              <a:t>It is on your own disk: backed up, and safe even if the container is deleted.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Exercise 0: Files on both sides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108960" cy="4800600"/>
          </a:xfrm>
          <a:prstGeom prst="roundRect">
            <a:avLst>
              <a:gd name="adj" fmla="val 5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5"/>
                </a:solidFill>
                <a:latin typeface="Calibri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9D55"/>
                </a:solidFill>
                <a:latin typeface="Calibri"/>
              </a:rPr>
              <a:t>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5"/>
                </a:solidFill>
                <a:latin typeface="Calibri"/>
              </a:rPr>
              <a:t>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B2E83"/>
                </a:solidFill>
                <a:latin typeface="Consolas"/>
              </a:rPr>
              <a:t>~/CSSSKL342/part0/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5"/>
                </a:solidFill>
                <a:latin typeface="Calibri"/>
              </a:rPr>
              <a:t>SELF-CHECK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2560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D2330"/>
                </a:solidFill>
                <a:latin typeface="Calibri"/>
              </a:rPr>
              <a:t>In </a:t>
            </a:r>
            <a:r>
              <a:rPr sz="1500" b="0">
                <a:solidFill>
                  <a:srgbClr val="4B2E83"/>
                </a:solidFill>
                <a:latin typeface="Consolas"/>
              </a:rPr>
              <a:t>part0</a:t>
            </a:r>
            <a:r>
              <a:rPr sz="1500" b="0">
                <a:solidFill>
                  <a:srgbClr val="1D2330"/>
                </a:solidFill>
                <a:latin typeface="Calibri"/>
              </a:rPr>
              <a:t>, </a:t>
            </a:r>
            <a:r>
              <a:rPr sz="1500" b="0">
                <a:solidFill>
                  <a:srgbClr val="4B2E83"/>
                </a:solidFill>
                <a:latin typeface="Consolas"/>
              </a:rPr>
              <a:t>ls -R</a:t>
            </a:r>
            <a:r>
              <a:rPr sz="1500" b="0">
                <a:solidFill>
                  <a:srgbClr val="1D2330"/>
                </a:solidFill>
                <a:latin typeface="Calibri"/>
              </a:rPr>
              <a:t> shows only </a:t>
            </a:r>
            <a:r>
              <a:rPr sz="1500" b="0">
                <a:solidFill>
                  <a:srgbClr val="4B2E83"/>
                </a:solidFill>
                <a:latin typeface="Consolas"/>
              </a:rPr>
              <a:t>made-on-my-computer</a:t>
            </a:r>
            <a:r>
              <a:rPr sz="1500" b="0">
                <a:solidFill>
                  <a:srgbClr val="1D2330"/>
                </a:solidFill>
                <a:latin typeface="Calibri"/>
              </a:rPr>
              <a:t>, containing only </a:t>
            </a:r>
            <a:r>
              <a:rPr sz="1500" b="0">
                <a:solidFill>
                  <a:srgbClr val="4B2E83"/>
                </a:solidFill>
                <a:latin typeface="Consolas"/>
              </a:rPr>
              <a:t>sum.cpp</a:t>
            </a:r>
            <a:r>
              <a:rPr sz="1500" b="0">
                <a:solidFill>
                  <a:srgbClr val="1D2330"/>
                </a:solidFill>
                <a:latin typeface="Calibri"/>
              </a:rPr>
              <a:t>. Nothing to submit.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0" y="138988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37160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VS Code → computer: in the </a:t>
            </a:r>
            <a:r>
              <a:rPr sz="1700" b="0">
                <a:solidFill>
                  <a:srgbClr val="4B2E83"/>
                </a:solidFill>
                <a:latin typeface="Consolas"/>
              </a:rPr>
              <a:t>part0</a:t>
            </a:r>
            <a:r>
              <a:rPr sz="1700" b="0">
                <a:solidFill>
                  <a:srgbClr val="1D2330"/>
                </a:solidFill>
                <a:latin typeface="Calibri"/>
              </a:rPr>
              <a:t> folder from the warm-up, create </a:t>
            </a:r>
            <a:r>
              <a:rPr sz="1700" b="0">
                <a:solidFill>
                  <a:srgbClr val="4B2E83"/>
                </a:solidFill>
                <a:latin typeface="Consolas"/>
              </a:rPr>
              <a:t>from-vscode.txt</a:t>
            </a:r>
            <a:r>
              <a:rPr sz="1700" b="0">
                <a:solidFill>
                  <a:srgbClr val="1D2330"/>
                </a:solidFill>
                <a:latin typeface="Calibri"/>
              </a:rPr>
              <a:t> in VS Code; add a line in Notepad (TextEdit)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0" y="225856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4028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Computer → VS Code: make folder </a:t>
            </a:r>
            <a:r>
              <a:rPr sz="1700" b="0">
                <a:solidFill>
                  <a:srgbClr val="4B2E83"/>
                </a:solidFill>
                <a:latin typeface="Consolas"/>
              </a:rPr>
              <a:t>made-on-my-computer</a:t>
            </a:r>
            <a:r>
              <a:rPr sz="1700" b="0">
                <a:solidFill>
                  <a:srgbClr val="1D2330"/>
                </a:solidFill>
                <a:latin typeface="Calibri"/>
              </a:rPr>
              <a:t> in File Explorer; write, compile, run </a:t>
            </a:r>
            <a:r>
              <a:rPr sz="1700" b="0">
                <a:solidFill>
                  <a:srgbClr val="4B2E83"/>
                </a:solidFill>
                <a:latin typeface="Consolas"/>
              </a:rPr>
              <a:t>sum.cpp</a:t>
            </a:r>
            <a:r>
              <a:rPr sz="1700" b="0">
                <a:solidFill>
                  <a:srgbClr val="1D2330"/>
                </a:solidFill>
                <a:latin typeface="Calibri"/>
              </a:rPr>
              <a:t> in VS Code</a:t>
            </a:r>
          </a:p>
        </p:txBody>
      </p:sp>
      <p:sp>
        <p:nvSpPr>
          <p:cNvPr id="17" name="Oval 16"/>
          <p:cNvSpPr/>
          <p:nvPr/>
        </p:nvSpPr>
        <p:spPr>
          <a:xfrm>
            <a:off x="4023360" y="312724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0896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Rename in File Explorer, then move with </a:t>
            </a:r>
            <a:r>
              <a:rPr sz="1700" b="0">
                <a:solidFill>
                  <a:srgbClr val="4B2E83"/>
                </a:solidFill>
                <a:latin typeface="Consolas"/>
              </a:rPr>
              <a:t>mv</a:t>
            </a:r>
            <a:r>
              <a:rPr sz="1700" b="0">
                <a:solidFill>
                  <a:srgbClr val="1D2330"/>
                </a:solidFill>
                <a:latin typeface="Calibri"/>
              </a:rPr>
              <a:t> in the terminal</a:t>
            </a:r>
          </a:p>
        </p:txBody>
      </p:sp>
      <p:sp>
        <p:nvSpPr>
          <p:cNvPr id="19" name="Oval 18"/>
          <p:cNvSpPr/>
          <p:nvPr/>
        </p:nvSpPr>
        <p:spPr>
          <a:xfrm>
            <a:off x="4023360" y="399592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7764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Delete </a:t>
            </a:r>
            <a:r>
              <a:rPr sz="1700" b="0">
                <a:solidFill>
                  <a:srgbClr val="4B2E83"/>
                </a:solidFill>
                <a:latin typeface="Consolas"/>
              </a:rPr>
              <a:t>sum</a:t>
            </a:r>
            <a:r>
              <a:rPr sz="1700" b="0">
                <a:solidFill>
                  <a:srgbClr val="1D2330"/>
                </a:solidFill>
                <a:latin typeface="Calibri"/>
              </a:rPr>
              <a:t> in File Explorer, then </a:t>
            </a:r>
            <a:r>
              <a:rPr sz="1700" b="0">
                <a:solidFill>
                  <a:srgbClr val="4B2E83"/>
                </a:solidFill>
                <a:latin typeface="Consolas"/>
              </a:rPr>
              <a:t>rm</a:t>
            </a:r>
            <a:r>
              <a:rPr sz="1700" b="0">
                <a:solidFill>
                  <a:srgbClr val="1D2330"/>
                </a:solidFill>
                <a:latin typeface="Calibri"/>
              </a:rPr>
              <a:t> a file in Linux: check the Recycle Bin</a:t>
            </a:r>
          </a:p>
        </p:txBody>
      </p:sp>
      <p:sp>
        <p:nvSpPr>
          <p:cNvPr id="21" name="Oval 20"/>
          <p:cNvSpPr/>
          <p:nvPr/>
        </p:nvSpPr>
        <p:spPr>
          <a:xfrm>
            <a:off x="4023360" y="486460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4632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Make </a:t>
            </a:r>
            <a:r>
              <a:rPr sz="1700" b="0">
                <a:solidFill>
                  <a:srgbClr val="4B2E83"/>
                </a:solidFill>
                <a:latin typeface="Consolas"/>
              </a:rPr>
              <a:t>~/outside.txt</a:t>
            </a:r>
            <a:r>
              <a:rPr sz="1700" b="0">
                <a:solidFill>
                  <a:srgbClr val="1D2330"/>
                </a:solidFill>
                <a:latin typeface="Calibri"/>
              </a:rPr>
              <a:t> in the terminal; look for it in File Explorer, then remove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File names and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881542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File name: </a:t>
            </a:r>
            <a:r>
              <a:rPr sz="1800" b="0">
                <a:solidFill>
                  <a:srgbClr val="4B2E83"/>
                </a:solidFill>
                <a:latin typeface="Consolas"/>
              </a:rPr>
              <a:t>sum.cpp</a:t>
            </a:r>
            <a:r>
              <a:rPr sz="1800" b="0">
                <a:solidFill>
                  <a:srgbClr val="1D2330"/>
                </a:solidFill>
                <a:latin typeface="Calibri"/>
              </a:rPr>
              <a:t> (</a:t>
            </a:r>
            <a:r>
              <a:rPr sz="1800" b="0">
                <a:solidFill>
                  <a:srgbClr val="4B2E83"/>
                </a:solidFill>
                <a:latin typeface="Consolas"/>
              </a:rPr>
              <a:t>.cpp</a:t>
            </a:r>
            <a:r>
              <a:rPr sz="1800" b="0">
                <a:solidFill>
                  <a:srgbClr val="1D2330"/>
                </a:solidFill>
                <a:latin typeface="Calibri"/>
              </a:rPr>
              <a:t> is the extension)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Full path: from the root </a:t>
            </a:r>
            <a:r>
              <a:rPr sz="1800" b="0">
                <a:solidFill>
                  <a:srgbClr val="4B2E83"/>
                </a:solidFill>
                <a:latin typeface="Consolas"/>
              </a:rPr>
              <a:t>/</a:t>
            </a:r>
            <a:r>
              <a:rPr sz="1800" b="0">
                <a:solidFill>
                  <a:srgbClr val="1D2330"/>
                </a:solidFill>
                <a:latin typeface="Calibri"/>
              </a:rPr>
              <a:t> down: same meaning anywhere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Current folder: where the terminal is; </a:t>
            </a:r>
            <a:r>
              <a:rPr sz="1800" b="0">
                <a:solidFill>
                  <a:srgbClr val="4B2E83"/>
                </a:solidFill>
                <a:latin typeface="Consolas"/>
              </a:rPr>
              <a:t>pwd</a:t>
            </a:r>
            <a:r>
              <a:rPr sz="1800" b="0">
                <a:solidFill>
                  <a:srgbClr val="1D2330"/>
                </a:solidFill>
                <a:latin typeface="Calibri"/>
              </a:rPr>
              <a:t> prints it, </a:t>
            </a:r>
            <a:r>
              <a:rPr sz="1800" b="0">
                <a:solidFill>
                  <a:srgbClr val="4B2E83"/>
                </a:solidFill>
                <a:latin typeface="Consolas"/>
              </a:rPr>
              <a:t>cd</a:t>
            </a:r>
            <a:r>
              <a:rPr sz="1800" b="0">
                <a:solidFill>
                  <a:srgbClr val="1D2330"/>
                </a:solidFill>
                <a:latin typeface="Calibri"/>
              </a:rPr>
              <a:t> changes it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Relative path: starts from the current folder, so no leading </a:t>
            </a:r>
            <a:r>
              <a:rPr sz="1800" b="0">
                <a:solidFill>
                  <a:srgbClr val="4B2E83"/>
                </a:solidFill>
                <a:latin typeface="Consolas"/>
              </a:rPr>
              <a:t>/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~</a:t>
            </a:r>
            <a:r>
              <a:rPr sz="1800" b="0">
                <a:solidFill>
                  <a:srgbClr val="1D2330"/>
                </a:solidFill>
                <a:latin typeface="Calibri"/>
              </a:rPr>
              <a:t> home, </a:t>
            </a:r>
            <a:r>
              <a:rPr sz="1800" b="0">
                <a:solidFill>
                  <a:srgbClr val="4B2E83"/>
                </a:solidFill>
                <a:latin typeface="Consolas"/>
              </a:rPr>
              <a:t>.</a:t>
            </a:r>
            <a:r>
              <a:rPr sz="1800" b="0">
                <a:solidFill>
                  <a:srgbClr val="1D2330"/>
                </a:solidFill>
                <a:latin typeface="Calibri"/>
              </a:rPr>
              <a:t> this folder (</a:t>
            </a:r>
            <a:r>
              <a:rPr sz="1800" b="0">
                <a:solidFill>
                  <a:srgbClr val="4B2E83"/>
                </a:solidFill>
                <a:latin typeface="Consolas"/>
              </a:rPr>
              <a:t>./hello</a:t>
            </a:r>
            <a:r>
              <a:rPr sz="1800" b="0">
                <a:solidFill>
                  <a:srgbClr val="1D2330"/>
                </a:solidFill>
                <a:latin typeface="Calibri"/>
              </a:rPr>
              <a:t>), </a:t>
            </a:r>
            <a:r>
              <a:rPr sz="1800" b="0">
                <a:solidFill>
                  <a:srgbClr val="4B2E83"/>
                </a:solidFill>
                <a:latin typeface="Consolas"/>
              </a:rPr>
              <a:t>..</a:t>
            </a:r>
            <a:r>
              <a:rPr sz="1800" b="0">
                <a:solidFill>
                  <a:srgbClr val="1D2330"/>
                </a:solidFill>
                <a:latin typeface="Calibri"/>
              </a:rPr>
              <a:t> one level up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Linux uses </a:t>
            </a:r>
            <a:r>
              <a:rPr sz="1800" b="0">
                <a:solidFill>
                  <a:srgbClr val="4B2E83"/>
                </a:solidFill>
                <a:latin typeface="Consolas"/>
              </a:rPr>
              <a:t>/</a:t>
            </a:r>
            <a:r>
              <a:rPr sz="1800" b="0">
                <a:solidFill>
                  <a:srgbClr val="1D2330"/>
                </a:solidFill>
                <a:latin typeface="Calibri"/>
              </a:rPr>
              <a:t> and is case-sensitive; quote names with spaces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50222" y="1325880"/>
            <a:ext cx="5892832" cy="338328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78822" y="1508760"/>
            <a:ext cx="5435632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cd ~/CSSSKL342/part0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pwd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# /home/cssuwbstudent/CSSSKL342/part0</a:t>
            </a:r>
          </a:p>
          <a:p>
            <a:pPr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# full path of sum.cpp: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#   /home/cssuwbstudent/CSSSKL342/part0/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#       made-on-my-computer/sum.cpp</a:t>
            </a:r>
          </a:p>
          <a:p>
            <a:pPr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# all three list that same file: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ls made-on-my-computer/sum.cpp         # relative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ls ~/CSSSKL342/part0/made-on-my-computer/sum.cpp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cd made-on-my-computer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ls ../made-on-my-computer/sum.cpp      # via ..</a:t>
            </a:r>
          </a:p>
          <a:p>
            <a:pPr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ls "my notes.txt"    # quotes: one name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Done early? Challenges while others finish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Case-sensitivity trap: </a:t>
            </a:r>
            <a:r>
              <a:rPr sz="2000" b="0">
                <a:solidFill>
                  <a:srgbClr val="4B2E83"/>
                </a:solidFill>
                <a:latin typeface="Consolas"/>
              </a:rPr>
              <a:t>#include "Stack.h"</a:t>
            </a:r>
            <a:r>
              <a:rPr sz="2000" b="0">
                <a:solidFill>
                  <a:srgbClr val="1D2330"/>
                </a:solidFill>
                <a:latin typeface="Calibri"/>
              </a:rPr>
              <a:t> finds </a:t>
            </a:r>
            <a:r>
              <a:rPr sz="2000" b="0">
                <a:solidFill>
                  <a:srgbClr val="4B2E83"/>
                </a:solidFill>
                <a:latin typeface="Consolas"/>
              </a:rPr>
              <a:t>stack.h</a:t>
            </a:r>
            <a:r>
              <a:rPr sz="2000" b="0">
                <a:solidFill>
                  <a:srgbClr val="1D2330"/>
                </a:solidFill>
                <a:latin typeface="Calibri"/>
              </a:rPr>
              <a:t> in the shared folder, but not in </a:t>
            </a:r>
            <a:r>
              <a:rPr sz="2000" b="0">
                <a:solidFill>
                  <a:srgbClr val="4B2E83"/>
                </a:solidFill>
                <a:latin typeface="Consolas"/>
              </a:rPr>
              <a:t>/tmp</a:t>
            </a:r>
            <a:r>
              <a:rPr sz="2000" b="0">
                <a:solidFill>
                  <a:srgbClr val="1D2330"/>
                </a:solidFill>
                <a:latin typeface="Calibri"/>
              </a:rPr>
              <a:t> (or on the Linux grader)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Line endings (Windows): </a:t>
            </a:r>
            <a:r>
              <a:rPr sz="2000" b="0">
                <a:solidFill>
                  <a:srgbClr val="4B2E83"/>
                </a:solidFill>
                <a:latin typeface="Consolas"/>
              </a:rPr>
              <a:t>cat -A</a:t>
            </a:r>
            <a:r>
              <a:rPr sz="2000" b="0">
                <a:solidFill>
                  <a:srgbClr val="1D2330"/>
                </a:solidFill>
                <a:latin typeface="Calibri"/>
              </a:rPr>
              <a:t> shows </a:t>
            </a:r>
            <a:r>
              <a:rPr sz="2000" b="0">
                <a:solidFill>
                  <a:srgbClr val="4B2E83"/>
                </a:solidFill>
                <a:latin typeface="Consolas"/>
              </a:rPr>
              <a:t>^M$</a:t>
            </a:r>
            <a:r>
              <a:rPr sz="2000" b="0">
                <a:solidFill>
                  <a:srgbClr val="1D2330"/>
                </a:solidFill>
                <a:latin typeface="Calibri"/>
              </a:rPr>
              <a:t> on a Notepad file; switch VS Code's CRLF to LF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4B2E83"/>
                </a:solidFill>
                <a:latin typeface="Consolas"/>
              </a:rPr>
              <a:t>file hello</a:t>
            </a:r>
            <a:r>
              <a:rPr sz="2000" b="0">
                <a:solidFill>
                  <a:srgbClr val="1D2330"/>
                </a:solidFill>
                <a:latin typeface="Calibri"/>
              </a:rPr>
              <a:t>: an ELF program, for GNU/Linux only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4B2E83"/>
                </a:solidFill>
                <a:latin typeface="Consolas"/>
              </a:rPr>
              <a:t>docker stop</a:t>
            </a:r>
            <a:r>
              <a:rPr sz="2000" b="0">
                <a:solidFill>
                  <a:srgbClr val="1D2330"/>
                </a:solidFill>
                <a:latin typeface="Calibri"/>
              </a:rPr>
              <a:t> / </a:t>
            </a:r>
            <a:r>
              <a:rPr sz="2000" b="0">
                <a:solidFill>
                  <a:srgbClr val="4B2E83"/>
                </a:solidFill>
                <a:latin typeface="Consolas"/>
              </a:rPr>
              <a:t>docker start cssskl342</a:t>
            </a:r>
            <a:r>
              <a:rPr sz="2000" b="0">
                <a:solidFill>
                  <a:srgbClr val="1D2330"/>
                </a:solidFill>
                <a:latin typeface="Calibri"/>
              </a:rPr>
              <a:t>, then Reload Window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A throwaway </a:t>
            </a:r>
            <a:r>
              <a:rPr sz="2000" b="0">
                <a:solidFill>
                  <a:srgbClr val="4B2E83"/>
                </a:solidFill>
                <a:latin typeface="Consolas"/>
              </a:rPr>
              <a:t>docker run --rm -it cssimages/linuxlab bash</a:t>
            </a:r>
            <a:r>
              <a:rPr sz="2000" b="0">
                <a:solidFill>
                  <a:srgbClr val="1D2330"/>
                </a:solidFill>
                <a:latin typeface="Calibri"/>
              </a:rPr>
              <a:t>: where did your file go?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Terminal only: </a:t>
            </a:r>
            <a:r>
              <a:rPr sz="2000" b="0">
                <a:solidFill>
                  <a:srgbClr val="4B2E83"/>
                </a:solidFill>
                <a:latin typeface="Consolas"/>
              </a:rPr>
              <a:t>mkdir -p</a:t>
            </a:r>
            <a:r>
              <a:rPr sz="2000" b="0">
                <a:solidFill>
                  <a:srgbClr val="1D2330"/>
                </a:solidFill>
                <a:latin typeface="Calibri"/>
              </a:rPr>
              <a:t>, </a:t>
            </a:r>
            <a:r>
              <a:rPr sz="2000" b="0">
                <a:solidFill>
                  <a:srgbClr val="4B2E83"/>
                </a:solidFill>
                <a:latin typeface="Consolas"/>
              </a:rPr>
              <a:t>cp</a:t>
            </a:r>
            <a:r>
              <a:rPr sz="2000" b="0">
                <a:solidFill>
                  <a:srgbClr val="1D2330"/>
                </a:solidFill>
                <a:latin typeface="Calibri"/>
              </a:rPr>
              <a:t>, </a:t>
            </a:r>
            <a:r>
              <a:rPr sz="2000" b="0">
                <a:solidFill>
                  <a:srgbClr val="4B2E83"/>
                </a:solidFill>
                <a:latin typeface="Consolas"/>
              </a:rPr>
              <a:t>ls -R</a:t>
            </a:r>
            <a:r>
              <a:rPr sz="2000" b="0">
                <a:solidFill>
                  <a:srgbClr val="1D2330"/>
                </a:solidFill>
                <a:latin typeface="Calibri"/>
              </a:rPr>
              <a:t>, </a:t>
            </a:r>
            <a:r>
              <a:rPr sz="2000" b="0">
                <a:solidFill>
                  <a:srgbClr val="4B2E83"/>
                </a:solidFill>
                <a:latin typeface="Consolas"/>
              </a:rPr>
              <a:t>rm -r</a:t>
            </a:r>
            <a:r>
              <a:rPr sz="2000" b="0">
                <a:solidFill>
                  <a:srgbClr val="1D2330"/>
                </a:solidFill>
                <a:latin typeface="Calibri"/>
              </a:rPr>
              <a:t>; and </a:t>
            </a:r>
            <a:r>
              <a:rPr sz="2000" b="0">
                <a:solidFill>
                  <a:srgbClr val="4B2E83"/>
                </a:solidFill>
                <a:latin typeface="Consolas"/>
              </a:rPr>
              <a:t>Shift+Alt+F</a:t>
            </a:r>
            <a:r>
              <a:rPr sz="2000" b="0">
                <a:solidFill>
                  <a:srgbClr val="1D2330"/>
                </a:solidFill>
                <a:latin typeface="Calibri"/>
              </a:rPr>
              <a:t> formats your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Walkthrough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4B2E83"/>
                </a:solidFill>
                <a:latin typeface="Consolas"/>
              </a:rPr>
              <a:t>sum.cpp</a:t>
            </a:r>
            <a:r>
              <a:rPr sz="2000" b="0">
                <a:solidFill>
                  <a:srgbClr val="1D2330"/>
                </a:solidFill>
                <a:latin typeface="Calibri"/>
              </a:rPr>
              <a:t> is </a:t>
            </a:r>
            <a:r>
              <a:rPr sz="2000" b="0">
                <a:solidFill>
                  <a:srgbClr val="4B2E83"/>
                </a:solidFill>
                <a:latin typeface="Consolas"/>
              </a:rPr>
              <a:t>/home/cssuwbstudent/CSSSKL342/part0/made-on-my-computer/sum.cpp</a:t>
            </a:r>
            <a:r>
              <a:rPr sz="2000" b="0">
                <a:solidFill>
                  <a:srgbClr val="1D2330"/>
                </a:solidFill>
                <a:latin typeface="Calibri"/>
              </a:rPr>
              <a:t> in Linux and </a:t>
            </a:r>
            <a:r>
              <a:rPr sz="2000" b="0">
                <a:solidFill>
                  <a:srgbClr val="4B2E83"/>
                </a:solidFill>
                <a:latin typeface="Consolas"/>
              </a:rPr>
              <a:t>C:\Users\you\CSSSKL342\part0\...\sum.cpp</a:t>
            </a:r>
            <a:r>
              <a:rPr sz="2000" b="0">
                <a:solidFill>
                  <a:srgbClr val="1D2330"/>
                </a:solidFill>
                <a:latin typeface="Calibri"/>
              </a:rPr>
              <a:t> on Windows: one file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4B2E83"/>
                </a:solidFill>
                <a:latin typeface="Consolas"/>
              </a:rPr>
              <a:t>rm</a:t>
            </a:r>
            <a:r>
              <a:rPr sz="2000" b="0">
                <a:solidFill>
                  <a:srgbClr val="1D2330"/>
                </a:solidFill>
                <a:latin typeface="Calibri"/>
              </a:rPr>
              <a:t> never uses the Recycle Bin, even in the shared folder; deleting in File Explorer does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4B2E83"/>
                </a:solidFill>
                <a:latin typeface="Consolas"/>
              </a:rPr>
              <a:t>~/outside.txt</a:t>
            </a:r>
            <a:r>
              <a:rPr sz="2000" b="0">
                <a:solidFill>
                  <a:srgbClr val="1D2330"/>
                </a:solidFill>
                <a:latin typeface="Calibri"/>
              </a:rPr>
              <a:t> lived only in the container: invisible to Windows, gone if the container is removed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Linux's </a:t>
            </a:r>
            <a:r>
              <a:rPr sz="2000" b="0">
                <a:solidFill>
                  <a:srgbClr val="4B2E83"/>
                </a:solidFill>
                <a:latin typeface="Consolas"/>
              </a:rPr>
              <a:t>g++</a:t>
            </a:r>
            <a:r>
              <a:rPr sz="2000" b="0">
                <a:solidFill>
                  <a:srgbClr val="1D2330"/>
                </a:solidFill>
                <a:latin typeface="Calibri"/>
              </a:rPr>
              <a:t> built </a:t>
            </a:r>
            <a:r>
              <a:rPr sz="2000" b="0">
                <a:solidFill>
                  <a:srgbClr val="4B2E83"/>
                </a:solidFill>
                <a:latin typeface="Consolas"/>
              </a:rPr>
              <a:t>sum</a:t>
            </a:r>
            <a:r>
              <a:rPr sz="2000" b="0">
                <a:solidFill>
                  <a:srgbClr val="1D2330"/>
                </a:solidFill>
                <a:latin typeface="Calibri"/>
              </a:rPr>
              <a:t>: a Linux program, stored on your disk, runnable only in Linux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Self-test: Part 0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D2330"/>
                </a:solidFill>
                <a:latin typeface="Calibri"/>
              </a:rPr>
              <a:t>Your container is deleted and re-created. Which of your files survive?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6032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D2330"/>
                </a:solidFill>
                <a:latin typeface="Calibri"/>
              </a:rPr>
              <a:t>You edit </a:t>
            </a:r>
            <a:r>
              <a:rPr sz="1800" b="0">
                <a:solidFill>
                  <a:srgbClr val="4B2E83"/>
                </a:solidFill>
                <a:latin typeface="Consolas"/>
              </a:rPr>
              <a:t>main.cpp</a:t>
            </a:r>
            <a:r>
              <a:rPr sz="1800" b="0">
                <a:solidFill>
                  <a:srgbClr val="1D2330"/>
                </a:solidFill>
                <a:latin typeface="Calibri"/>
              </a:rPr>
              <a:t> in Notepad, then compile in VS Code's terminal. Does </a:t>
            </a:r>
            <a:r>
              <a:rPr sz="1800" b="0">
                <a:solidFill>
                  <a:srgbClr val="4B2E83"/>
                </a:solidFill>
                <a:latin typeface="Consolas"/>
              </a:rPr>
              <a:t>g++</a:t>
            </a:r>
            <a:r>
              <a:rPr sz="1800" b="0">
                <a:solidFill>
                  <a:srgbClr val="1D2330"/>
                </a:solidFill>
                <a:latin typeface="Calibri"/>
              </a:rPr>
              <a:t> see the edits?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74904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B2E83"/>
                </a:solidFill>
                <a:latin typeface="Consolas"/>
              </a:rPr>
              <a:t>#include "Node.h"</a:t>
            </a:r>
            <a:r>
              <a:rPr sz="1800" b="0">
                <a:solidFill>
                  <a:srgbClr val="1D2330"/>
                </a:solidFill>
                <a:latin typeface="Calibri"/>
              </a:rPr>
              <a:t> with a file named </a:t>
            </a:r>
            <a:r>
              <a:rPr sz="1800" b="0">
                <a:solidFill>
                  <a:srgbClr val="4B2E83"/>
                </a:solidFill>
                <a:latin typeface="Consolas"/>
              </a:rPr>
              <a:t>node.h</a:t>
            </a:r>
            <a:r>
              <a:rPr sz="1800" b="0">
                <a:solidFill>
                  <a:srgbClr val="1D2330"/>
                </a:solidFill>
                <a:latin typeface="Calibri"/>
              </a:rPr>
              <a:t> compiles in your shared folder. What happens on the Linux grader?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93776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D2330"/>
                </a:solidFill>
                <a:latin typeface="Calibri"/>
              </a:rPr>
              <a:t>You run </a:t>
            </a:r>
            <a:r>
              <a:rPr sz="1800" b="0">
                <a:solidFill>
                  <a:srgbClr val="4B2E83"/>
                </a:solidFill>
                <a:latin typeface="Consolas"/>
              </a:rPr>
              <a:t>rm *.cpp</a:t>
            </a:r>
            <a:r>
              <a:rPr sz="1800" b="0">
                <a:solidFill>
                  <a:srgbClr val="1D2330"/>
                </a:solidFill>
                <a:latin typeface="Calibri"/>
              </a:rPr>
              <a:t> in the wrong folder. Can you get the files back from the Recycle Bin?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Answers are on the lab page: click “Show answer” under each question.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1005840" cy="1005840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How C++ programs are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C5B4E3"/>
                </a:solidFill>
                <a:latin typeface="Calibri"/>
              </a:rPr>
              <a:t>In C++ you drive the build yourself; knowing the stages makes build errors easy to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5B4E3"/>
                </a:solidFill>
                <a:latin typeface="Calibri"/>
              </a:rPr>
              <a:t>AFTER THIS PART YOU 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Split a program into </a:t>
            </a:r>
            <a:r>
              <a:rPr sz="2000" b="0">
                <a:solidFill>
                  <a:srgbClr val="C5B4E3"/>
                </a:solidFill>
                <a:latin typeface="Consolas"/>
              </a:rPr>
              <a:t>.h</a:t>
            </a:r>
            <a:r>
              <a:rPr sz="2000" b="0">
                <a:solidFill>
                  <a:srgbClr val="FFFFFF"/>
                </a:solidFill>
                <a:latin typeface="Calibri"/>
              </a:rPr>
              <a:t> and </a:t>
            </a:r>
            <a:r>
              <a:rPr sz="2000" b="0">
                <a:solidFill>
                  <a:srgbClr val="C5B4E3"/>
                </a:solidFill>
                <a:latin typeface="Consolas"/>
              </a:rPr>
              <a:t>.cpp</a:t>
            </a:r>
            <a:r>
              <a:rPr sz="2000" b="0">
                <a:solidFill>
                  <a:srgbClr val="FFFFFF"/>
                </a:solidFill>
                <a:latin typeface="Calibri"/>
              </a:rPr>
              <a:t> files correctly</a:t>
            </a:r>
          </a:p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Tell a compiler error from a linker error, and know where to look</a:t>
            </a:r>
          </a:p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Build with </a:t>
            </a:r>
            <a:r>
              <a:rPr sz="2000" b="0">
                <a:solidFill>
                  <a:srgbClr val="C5B4E3"/>
                </a:solidFill>
                <a:latin typeface="Consolas"/>
              </a:rPr>
              <a:t>make</a:t>
            </a:r>
            <a:r>
              <a:rPr sz="2000" b="0">
                <a:solidFill>
                  <a:srgbClr val="FFFFFF"/>
                </a:solidFill>
                <a:latin typeface="Calibri"/>
              </a:rPr>
              <a:t>, and check code with </a:t>
            </a:r>
            <a:r>
              <a:rPr sz="2000" b="0">
                <a:solidFill>
                  <a:srgbClr val="C5B4E3"/>
                </a:solidFill>
                <a:latin typeface="Consolas"/>
              </a:rPr>
              <a:t>cppcheck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Three stages: preprocess, compile,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437766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The preprocessor pastes each </a:t>
            </a:r>
            <a:r>
              <a:rPr sz="1800" b="0">
                <a:solidFill>
                  <a:srgbClr val="4B2E83"/>
                </a:solidFill>
                <a:latin typeface="Consolas"/>
              </a:rPr>
              <a:t>#include</a:t>
            </a:r>
            <a:r>
              <a:rPr sz="1800" b="0">
                <a:solidFill>
                  <a:srgbClr val="1D2330"/>
                </a:solidFill>
                <a:latin typeface="Calibri"/>
              </a:rPr>
              <a:t> in as text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The compiler turns each </a:t>
            </a:r>
            <a:r>
              <a:rPr sz="1800" b="0">
                <a:solidFill>
                  <a:srgbClr val="4B2E83"/>
                </a:solidFill>
                <a:latin typeface="Consolas"/>
              </a:rPr>
              <a:t>.cpp</a:t>
            </a:r>
            <a:r>
              <a:rPr sz="1800" b="0">
                <a:solidFill>
                  <a:srgbClr val="1D2330"/>
                </a:solidFill>
                <a:latin typeface="Calibri"/>
              </a:rPr>
              <a:t> into an object file </a:t>
            </a:r>
            <a:r>
              <a:rPr sz="1800" b="0">
                <a:solidFill>
                  <a:srgbClr val="4B2E83"/>
                </a:solidFill>
                <a:latin typeface="Consolas"/>
              </a:rPr>
              <a:t>.o</a:t>
            </a:r>
            <a:r>
              <a:rPr sz="1800" b="0">
                <a:solidFill>
                  <a:srgbClr val="1D2330"/>
                </a:solidFill>
                <a:latin typeface="Calibri"/>
              </a:rPr>
              <a:t>, one at a time, without seeing the others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The linker joins the </a:t>
            </a:r>
            <a:r>
              <a:rPr sz="1800" b="0">
                <a:solidFill>
                  <a:srgbClr val="4B2E83"/>
                </a:solidFill>
                <a:latin typeface="Consolas"/>
              </a:rPr>
              <a:t>.o</a:t>
            </a:r>
            <a:r>
              <a:rPr sz="1800" b="0">
                <a:solidFill>
                  <a:srgbClr val="1D2330"/>
                </a:solidFill>
                <a:latin typeface="Calibri"/>
              </a:rPr>
              <a:t> files and matches every call to exactly one definition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Java has no separate link step and no headers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6446" y="1325880"/>
            <a:ext cx="6336609" cy="19964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5046" y="1508760"/>
            <a:ext cx="5879409" cy="163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main.cpp    + convert.h ──compile──▶ main.o    ┐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convert.cpp + convert.h ──compile──▶ convert.o ├─link─▶ temps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report.cpp  + convert.h ──compile──▶ report.o  ┘</a:t>
            </a:r>
          </a:p>
          <a:p>
            <a:pPr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g++ -std=c++17 -Wall -Wextra -g -c main.cpp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g++ -std=c++17 -Wall -Wextra -g -c convert.cpp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g++ -std=c++17 -Wall -Wextra -g -c report.cpp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g++ -o temps main.o convert.o report.o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Declarations in headers, definitions in .cpp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0343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Declaration: "this function exists, with this signature"; definition: the body, written once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The compiler needs only the declaration; the linker needs the definition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An include guard stops a header being pasted twice into one </a:t>
            </a:r>
            <a:r>
              <a:rPr sz="1800" b="0">
                <a:solidFill>
                  <a:srgbClr val="4B2E83"/>
                </a:solidFill>
                <a:latin typeface="Consolas"/>
              </a:rPr>
              <a:t>.cpp</a:t>
            </a:r>
            <a:r>
              <a:rPr sz="1800" b="0">
                <a:solidFill>
                  <a:srgbClr val="1D2330"/>
                </a:solidFill>
                <a:latin typeface="Calibri"/>
              </a:rPr>
              <a:t>: the second time, </a:t>
            </a:r>
            <a:r>
              <a:rPr sz="1800" b="0">
                <a:solidFill>
                  <a:srgbClr val="4B2E83"/>
                </a:solidFill>
                <a:latin typeface="Consolas"/>
              </a:rPr>
              <a:t>#ifndef</a:t>
            </a:r>
            <a:r>
              <a:rPr sz="1800" b="0">
                <a:solidFill>
                  <a:srgbClr val="1D2330"/>
                </a:solidFill>
                <a:latin typeface="Calibri"/>
              </a:rPr>
              <a:t> is false and the whole file is skipped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#pragma once</a:t>
            </a:r>
            <a:r>
              <a:rPr sz="1800" b="0">
                <a:solidFill>
                  <a:srgbClr val="1D2330"/>
                </a:solidFill>
                <a:latin typeface="Calibri"/>
              </a:rPr>
              <a:t> does the same job in one line, with no macro name to invent; not in the standard, but g++, clang, and Visual C++ support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2110" y="1325880"/>
            <a:ext cx="5670944" cy="361188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710" y="1508760"/>
            <a:ext cx="5213744" cy="3246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9AA4B5"/>
                </a:solidFill>
                <a:latin typeface="Consolas"/>
              </a:rPr>
              <a:t>// convert.h: include guard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#ifndef CONVERT_H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#define CONVERT_H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double celsiusToFahrenheit(double celsius);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#endif</a:t>
            </a:r>
          </a:p>
          <a:p>
            <a:pPr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9AA4B5"/>
                </a:solidFill>
                <a:latin typeface="Consolas"/>
              </a:rPr>
              <a:t>// report.h: the same job, one line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#pragma once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void printRow(double celsius);</a:t>
            </a:r>
          </a:p>
          <a:p>
            <a:pPr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9AA4B5"/>
                </a:solidFill>
                <a:latin typeface="Consolas"/>
              </a:rPr>
              <a:t>// convert.cpp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#include "convert.h"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double celsiusToFahrenheit(double c)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return c * 9.0 / 5.0 + 32.0;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Global (free)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0343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In C++ a function does not have to belong to a class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celsiusToFahrenheit</a:t>
            </a:r>
            <a:r>
              <a:rPr sz="1800" b="0">
                <a:solidFill>
                  <a:srgbClr val="1D2330"/>
                </a:solidFill>
                <a:latin typeface="Calibri"/>
              </a:rPr>
              <a:t> is declared in </a:t>
            </a:r>
            <a:r>
              <a:rPr sz="1800" b="0">
                <a:solidFill>
                  <a:srgbClr val="4B2E83"/>
                </a:solidFill>
                <a:latin typeface="Consolas"/>
              </a:rPr>
              <a:t>convert.h</a:t>
            </a:r>
            <a:r>
              <a:rPr sz="1800" b="0">
                <a:solidFill>
                  <a:srgbClr val="1D2330"/>
                </a:solidFill>
                <a:latin typeface="Calibri"/>
              </a:rPr>
              <a:t>, defined in </a:t>
            </a:r>
            <a:r>
              <a:rPr sz="1800" b="0">
                <a:solidFill>
                  <a:srgbClr val="4B2E83"/>
                </a:solidFill>
                <a:latin typeface="Consolas"/>
              </a:rPr>
              <a:t>convert.cpp</a:t>
            </a:r>
            <a:r>
              <a:rPr sz="1800" b="0">
                <a:solidFill>
                  <a:srgbClr val="1D2330"/>
                </a:solidFill>
                <a:latin typeface="Calibri"/>
              </a:rPr>
              <a:t>, and called by name from any file that includes the header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No object and no class name in front; </a:t>
            </a:r>
            <a:r>
              <a:rPr sz="1800" b="0">
                <a:solidFill>
                  <a:srgbClr val="4B2E83"/>
                </a:solidFill>
                <a:latin typeface="Consolas"/>
              </a:rPr>
              <a:t>main</a:t>
            </a:r>
            <a:r>
              <a:rPr sz="1800" b="0">
                <a:solidFill>
                  <a:srgbClr val="1D2330"/>
                </a:solidFill>
                <a:latin typeface="Calibri"/>
              </a:rPr>
              <a:t> is a global function too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Java has nothing like this: the nearest equivalent is a </a:t>
            </a:r>
            <a:r>
              <a:rPr sz="1800" b="0">
                <a:solidFill>
                  <a:srgbClr val="4B2E83"/>
                </a:solidFill>
                <a:latin typeface="Consolas"/>
              </a:rPr>
              <a:t>static</a:t>
            </a:r>
            <a:r>
              <a:rPr sz="1800" b="0">
                <a:solidFill>
                  <a:srgbClr val="1D2330"/>
                </a:solidFill>
                <a:latin typeface="Calibri"/>
              </a:rPr>
              <a:t> method such as </a:t>
            </a:r>
            <a:r>
              <a:rPr sz="1800" b="0">
                <a:solidFill>
                  <a:srgbClr val="4B2E83"/>
                </a:solidFill>
                <a:latin typeface="Consolas"/>
              </a:rPr>
              <a:t>Math.sqrt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2110" y="1325880"/>
            <a:ext cx="5670944" cy="26060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710" y="1508760"/>
            <a:ext cx="5213744" cy="2240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600">
                <a:solidFill>
                  <a:srgbClr val="9AA4B5"/>
                </a:solidFill>
                <a:latin typeface="Consolas"/>
              </a:rPr>
              <a:t>// convert.h -- no class anywhere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double celsiusToFahrenheit(double celsius);</a:t>
            </a:r>
          </a:p>
          <a:p>
            <a:pPr>
              <a:spcAft>
                <a:spcPts val="0"/>
              </a:spcAft>
            </a:pPr>
            <a:r>
              <a:rPr sz="16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9AA4B5"/>
                </a:solidFill>
                <a:latin typeface="Consolas"/>
              </a:rPr>
              <a:t>// main.cpp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#include "convert.h"</a:t>
            </a:r>
          </a:p>
          <a:p>
            <a:pPr>
              <a:spcAft>
                <a:spcPts val="0"/>
              </a:spcAft>
            </a:pPr>
            <a:r>
              <a:rPr sz="16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double f = celsiusToFahrenheit(100.0);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9AA4B5"/>
                </a:solidFill>
                <a:latin typeface="Consolas"/>
              </a:rPr>
              <a:t>// not obj.celsiusToFahrenheit(...)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9AA4B5"/>
                </a:solidFill>
                <a:latin typeface="Consolas"/>
              </a:rPr>
              <a:t>// not Convert::celsiusToFahrenheit(...)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#include &lt;&gt; vs "", and namespaces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0343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&lt;...&gt;</a:t>
            </a:r>
            <a:r>
              <a:rPr sz="1800" b="0">
                <a:solidFill>
                  <a:srgbClr val="1D2330"/>
                </a:solidFill>
                <a:latin typeface="Calibri"/>
              </a:rPr>
              <a:t>: a standard-library or system header; the compiler searches only the system include directories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"..."</a:t>
            </a:r>
            <a:r>
              <a:rPr sz="1800" b="0">
                <a:solidFill>
                  <a:srgbClr val="1D2330"/>
                </a:solidFill>
                <a:latin typeface="Calibri"/>
              </a:rPr>
              <a:t>: your own header; the compiler searches the including file's folder first, then the system directories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The standard library is in the namespace </a:t>
            </a:r>
            <a:r>
              <a:rPr sz="1800" b="0">
                <a:solidFill>
                  <a:srgbClr val="4B2E83"/>
                </a:solidFill>
                <a:latin typeface="Consolas"/>
              </a:rPr>
              <a:t>std</a:t>
            </a:r>
            <a:r>
              <a:rPr sz="1800" b="0">
                <a:solidFill>
                  <a:srgbClr val="1D2330"/>
                </a:solidFill>
                <a:latin typeface="Calibri"/>
              </a:rPr>
              <a:t>: </a:t>
            </a:r>
            <a:r>
              <a:rPr sz="1800" b="0">
                <a:solidFill>
                  <a:srgbClr val="4B2E83"/>
                </a:solidFill>
                <a:latin typeface="Consolas"/>
              </a:rPr>
              <a:t>std::cout</a:t>
            </a:r>
            <a:r>
              <a:rPr sz="1800" b="0">
                <a:solidFill>
                  <a:srgbClr val="1D2330"/>
                </a:solidFill>
                <a:latin typeface="Calibri"/>
              </a:rPr>
              <a:t>, </a:t>
            </a:r>
            <a:r>
              <a:rPr sz="1800" b="0">
                <a:solidFill>
                  <a:srgbClr val="4B2E83"/>
                </a:solidFill>
                <a:latin typeface="Consolas"/>
              </a:rPr>
              <a:t>std::string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using namespace std;</a:t>
            </a:r>
            <a:r>
              <a:rPr sz="1800" b="0">
                <a:solidFill>
                  <a:srgbClr val="1D2330"/>
                </a:solidFill>
                <a:latin typeface="Calibri"/>
              </a:rPr>
              <a:t> lets a </a:t>
            </a:r>
            <a:r>
              <a:rPr sz="1800" b="0">
                <a:solidFill>
                  <a:srgbClr val="4B2E83"/>
                </a:solidFill>
                <a:latin typeface="Consolas"/>
              </a:rPr>
              <a:t>.cpp</a:t>
            </a:r>
            <a:r>
              <a:rPr sz="1800" b="0">
                <a:solidFill>
                  <a:srgbClr val="1D2330"/>
                </a:solidFill>
                <a:latin typeface="Calibri"/>
              </a:rPr>
              <a:t> write just </a:t>
            </a:r>
            <a:r>
              <a:rPr sz="1800" b="0">
                <a:solidFill>
                  <a:srgbClr val="4B2E83"/>
                </a:solidFill>
                <a:latin typeface="Consolas"/>
              </a:rPr>
              <a:t>cout</a:t>
            </a:r>
            <a:r>
              <a:rPr sz="1800" b="0">
                <a:solidFill>
                  <a:srgbClr val="1D2330"/>
                </a:solidFill>
                <a:latin typeface="Calibri"/>
              </a:rPr>
              <a:t>; never put it in a header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Like Java: a namespace is a package; </a:t>
            </a:r>
            <a:r>
              <a:rPr sz="1800" b="0">
                <a:solidFill>
                  <a:srgbClr val="4B2E83"/>
                </a:solidFill>
                <a:latin typeface="Consolas"/>
              </a:rPr>
              <a:t>using namespace std;</a:t>
            </a:r>
            <a:r>
              <a:rPr sz="1800" b="0">
                <a:solidFill>
                  <a:srgbClr val="1D2330"/>
                </a:solidFill>
                <a:latin typeface="Calibri"/>
              </a:rPr>
              <a:t> is </a:t>
            </a:r>
            <a:r>
              <a:rPr sz="1800" b="0">
                <a:solidFill>
                  <a:srgbClr val="4B2E83"/>
                </a:solidFill>
                <a:latin typeface="Consolas"/>
              </a:rPr>
              <a:t>import java.util.*;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2110" y="1325880"/>
            <a:ext cx="5670944" cy="26060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710" y="1508760"/>
            <a:ext cx="5213744" cy="2240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#include &lt;iostream&gt;      </a:t>
            </a:r>
            <a:r>
              <a:rPr sz="1600">
                <a:solidFill>
                  <a:srgbClr val="9AA4B5"/>
                </a:solidFill>
                <a:latin typeface="Consolas"/>
              </a:rPr>
              <a:t>// standard library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#include "convert.h"     </a:t>
            </a:r>
            <a:r>
              <a:rPr sz="1600">
                <a:solidFill>
                  <a:srgbClr val="9AA4B5"/>
                </a:solidFill>
                <a:latin typeface="Consolas"/>
              </a:rPr>
              <a:t>// your header</a:t>
            </a:r>
          </a:p>
          <a:p>
            <a:pPr>
              <a:spcAft>
                <a:spcPts val="0"/>
              </a:spcAft>
            </a:pPr>
            <a:r>
              <a:rPr sz="16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using namespace std;     </a:t>
            </a:r>
            <a:r>
              <a:rPr sz="1600">
                <a:solidFill>
                  <a:srgbClr val="9AA4B5"/>
                </a:solidFill>
                <a:latin typeface="Consolas"/>
              </a:rPr>
              <a:t>// .cpp files only</a:t>
            </a:r>
          </a:p>
          <a:p>
            <a:pPr>
              <a:spcAft>
                <a:spcPts val="0"/>
              </a:spcAft>
            </a:pPr>
            <a:r>
              <a:rPr sz="16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int main() {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    std::cout &lt;&lt; "full name" &lt;&lt; std::endl;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    cout &lt;&lt; "short name" &lt;&lt; endl;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Compiler error or linker error?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64327" cy="4800600"/>
          </a:xfrm>
          <a:prstGeom prst="roundRect">
            <a:avLst>
              <a:gd name="adj" fmla="val 4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B2E83"/>
                </a:solidFill>
                <a:latin typeface="Calibri"/>
              </a:rPr>
              <a:t>Compiler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815687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Has a file name and line number: </a:t>
            </a:r>
            <a:r>
              <a:rPr sz="1700" b="0">
                <a:solidFill>
                  <a:srgbClr val="4B2E83"/>
                </a:solidFill>
                <a:latin typeface="Consolas"/>
              </a:rPr>
              <a:t>main.cpp:12:5: error: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Comes from compiling one </a:t>
            </a:r>
            <a:r>
              <a:rPr sz="1700" b="0">
                <a:solidFill>
                  <a:srgbClr val="4B2E83"/>
                </a:solidFill>
                <a:latin typeface="Consolas"/>
              </a:rPr>
              <a:t>.cpp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Typical causes: syntax, missing </a:t>
            </a:r>
            <a:r>
              <a:rPr sz="1700" b="0">
                <a:solidFill>
                  <a:srgbClr val="4B2E83"/>
                </a:solidFill>
                <a:latin typeface="Consolas"/>
              </a:rPr>
              <a:t>#include</a:t>
            </a:r>
            <a:r>
              <a:rPr sz="1700" b="0">
                <a:solidFill>
                  <a:srgbClr val="1D2330"/>
                </a:solidFill>
                <a:latin typeface="Calibri"/>
              </a:rPr>
              <a:t>, wrong types, a header pasted twice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Fix it at that line, or in a header that line uses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325880"/>
            <a:ext cx="5364327" cy="4800600"/>
          </a:xfrm>
          <a:prstGeom prst="roundRect">
            <a:avLst>
              <a:gd name="adj" fmla="val 4000"/>
            </a:avLst>
          </a:prstGeom>
          <a:solidFill>
            <a:srgbClr val="E8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150876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F6FDF"/>
                </a:solidFill>
                <a:latin typeface="Calibri"/>
              </a:rPr>
              <a:t>Linker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103120"/>
            <a:ext cx="4815687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No line number; mentions </a:t>
            </a:r>
            <a:r>
              <a:rPr sz="1700" b="0">
                <a:solidFill>
                  <a:srgbClr val="4B2E83"/>
                </a:solidFill>
                <a:latin typeface="Consolas"/>
              </a:rPr>
              <a:t>.o</a:t>
            </a:r>
            <a:r>
              <a:rPr sz="1700" b="0">
                <a:solidFill>
                  <a:srgbClr val="1D2330"/>
                </a:solidFill>
                <a:latin typeface="Calibri"/>
              </a:rPr>
              <a:t> files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4B2E83"/>
                </a:solidFill>
                <a:latin typeface="Consolas"/>
              </a:rPr>
              <a:t>undefined reference to ...</a:t>
            </a:r>
            <a:r>
              <a:rPr sz="1700" b="0">
                <a:solidFill>
                  <a:srgbClr val="1D2330"/>
                </a:solidFill>
                <a:latin typeface="Calibri"/>
              </a:rPr>
              <a:t>: declared, but never defined (or misspelled)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4B2E83"/>
                </a:solidFill>
                <a:latin typeface="Consolas"/>
              </a:rPr>
              <a:t>multiple definition of ...</a:t>
            </a:r>
            <a:r>
              <a:rPr sz="1700" b="0">
                <a:solidFill>
                  <a:srgbClr val="1D2330"/>
                </a:solidFill>
                <a:latin typeface="Calibri"/>
              </a:rPr>
              <a:t>: defined in more than one </a:t>
            </a:r>
            <a:r>
              <a:rPr sz="1700" b="0">
                <a:solidFill>
                  <a:srgbClr val="4B2E83"/>
                </a:solidFill>
                <a:latin typeface="Consolas"/>
              </a:rPr>
              <a:t>.o</a:t>
            </a:r>
            <a:r>
              <a:rPr sz="1700" b="0">
                <a:solidFill>
                  <a:srgbClr val="1D2330"/>
                </a:solidFill>
                <a:latin typeface="Calibri"/>
              </a:rPr>
              <a:t>, often a function body in a header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Ends with </a:t>
            </a:r>
            <a:r>
              <a:rPr sz="1700" b="0">
                <a:solidFill>
                  <a:srgbClr val="4B2E83"/>
                </a:solidFill>
                <a:latin typeface="Consolas"/>
              </a:rPr>
              <a:t>ld returned 1 exit status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make rebuilds only what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0343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A rule: target, its dependencies, and the command to build it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make</a:t>
            </a:r>
            <a:r>
              <a:rPr sz="1800" b="0">
                <a:solidFill>
                  <a:srgbClr val="1D2330"/>
                </a:solidFill>
                <a:latin typeface="Calibri"/>
              </a:rPr>
              <a:t> compares file timestamps and reruns only stale rules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Command lines must start with a TAB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Always compile with </a:t>
            </a:r>
            <a:r>
              <a:rPr sz="1800" b="0">
                <a:solidFill>
                  <a:srgbClr val="4B2E83"/>
                </a:solidFill>
                <a:latin typeface="Consolas"/>
              </a:rPr>
              <a:t>-Wall -Wextra</a:t>
            </a:r>
            <a:r>
              <a:rPr sz="1800" b="0">
                <a:solidFill>
                  <a:srgbClr val="1D2330"/>
                </a:solidFill>
                <a:latin typeface="Calibri"/>
              </a:rPr>
              <a:t>, and treat warnings as bugs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cppcheck --enable=all *.cpp</a:t>
            </a:r>
            <a:r>
              <a:rPr sz="1800" b="0">
                <a:solidFill>
                  <a:srgbClr val="1D2330"/>
                </a:solidFill>
                <a:latin typeface="Calibri"/>
              </a:rPr>
              <a:t> finds bugs the compiler accepts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2110" y="1325880"/>
            <a:ext cx="5670944" cy="25908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710" y="1508760"/>
            <a:ext cx="5213744" cy="2225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CXX      = g++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CXXFLAGS = -std=c++17 -Wall -Wextra -g</a:t>
            </a:r>
          </a:p>
          <a:p>
            <a:pPr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temps: main.o convert.o report.o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    $(CXX) $(CXXFLAGS) -o temps main.o convert.o report.o</a:t>
            </a:r>
          </a:p>
          <a:p>
            <a:pPr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main.o: main.cpp convert.h report.h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    $(CXX) $(CXXFLAGS) -c main.cpp</a:t>
            </a:r>
          </a:p>
          <a:p>
            <a:pPr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clean: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    rm -f *.o temps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Exercise 1: Fix a broken multi-file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108960" cy="4800600"/>
          </a:xfrm>
          <a:prstGeom prst="roundRect">
            <a:avLst>
              <a:gd name="adj" fmla="val 5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5"/>
                </a:solidFill>
                <a:latin typeface="Calibri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9D55"/>
                </a:solidFill>
                <a:latin typeface="Calibri"/>
              </a:rPr>
              <a:t>35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5"/>
                </a:solidFill>
                <a:latin typeface="Calibri"/>
              </a:rPr>
              <a:t>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B2E83"/>
                </a:solidFill>
                <a:latin typeface="Consolas"/>
              </a:rPr>
              <a:t>Lab1/exercises/ex1-build/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5"/>
                </a:solidFill>
                <a:latin typeface="Calibri"/>
              </a:rPr>
              <a:t>SELF-CHECK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2560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D2330"/>
                </a:solidFill>
                <a:latin typeface="Calibri"/>
              </a:rPr>
              <a:t>Confirm that </a:t>
            </a:r>
            <a:r>
              <a:rPr sz="1500" b="0">
                <a:solidFill>
                  <a:srgbClr val="4B2E83"/>
                </a:solidFill>
                <a:latin typeface="Consolas"/>
              </a:rPr>
              <a:t>make</a:t>
            </a:r>
            <a:r>
              <a:rPr sz="1500" b="0">
                <a:solidFill>
                  <a:srgbClr val="1D2330"/>
                </a:solidFill>
                <a:latin typeface="Calibri"/>
              </a:rPr>
              <a:t> builds with no warnings and the program prints the expected output.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0" y="138988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37160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Compile each </a:t>
            </a:r>
            <a:r>
              <a:rPr sz="1700" b="0">
                <a:solidFill>
                  <a:srgbClr val="4B2E83"/>
                </a:solidFill>
                <a:latin typeface="Consolas"/>
              </a:rPr>
              <a:t>.cpp</a:t>
            </a:r>
            <a:r>
              <a:rPr sz="1700" b="0">
                <a:solidFill>
                  <a:srgbClr val="1D2330"/>
                </a:solidFill>
                <a:latin typeface="Calibri"/>
              </a:rPr>
              <a:t> alone with </a:t>
            </a:r>
            <a:r>
              <a:rPr sz="1700" b="0">
                <a:solidFill>
                  <a:srgbClr val="4B2E83"/>
                </a:solidFill>
                <a:latin typeface="Consolas"/>
              </a:rPr>
              <a:t>g++ -std=c++17 -Wall -Wextra -c</a:t>
            </a:r>
            <a:r>
              <a:rPr sz="1700" b="0">
                <a:solidFill>
                  <a:srgbClr val="1D2330"/>
                </a:solidFill>
                <a:latin typeface="Calibri"/>
              </a:rPr>
              <a:t>; fix compiler errors and the warning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0" y="225856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4028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Link the three </a:t>
            </a:r>
            <a:r>
              <a:rPr sz="1700" b="0">
                <a:solidFill>
                  <a:srgbClr val="4B2E83"/>
                </a:solidFill>
                <a:latin typeface="Consolas"/>
              </a:rPr>
              <a:t>.o</a:t>
            </a:r>
            <a:r>
              <a:rPr sz="1700" b="0">
                <a:solidFill>
                  <a:srgbClr val="1D2330"/>
                </a:solidFill>
                <a:latin typeface="Calibri"/>
              </a:rPr>
              <a:t> files; fix linker errors</a:t>
            </a:r>
          </a:p>
        </p:txBody>
      </p:sp>
      <p:sp>
        <p:nvSpPr>
          <p:cNvPr id="17" name="Oval 16"/>
          <p:cNvSpPr/>
          <p:nvPr/>
        </p:nvSpPr>
        <p:spPr>
          <a:xfrm>
            <a:off x="4023360" y="312724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0896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Finish the </a:t>
            </a:r>
            <a:r>
              <a:rPr sz="1700" b="0">
                <a:solidFill>
                  <a:srgbClr val="4B2E83"/>
                </a:solidFill>
                <a:latin typeface="Consolas"/>
              </a:rPr>
              <a:t>Makefile</a:t>
            </a:r>
            <a:r>
              <a:rPr sz="1700" b="0">
                <a:solidFill>
                  <a:srgbClr val="1D2330"/>
                </a:solidFill>
                <a:latin typeface="Calibri"/>
              </a:rPr>
              <a:t> (</a:t>
            </a:r>
            <a:r>
              <a:rPr sz="1700" b="0">
                <a:solidFill>
                  <a:srgbClr val="4B2E83"/>
                </a:solidFill>
                <a:latin typeface="Consolas"/>
              </a:rPr>
              <a:t>convert.o</a:t>
            </a:r>
            <a:r>
              <a:rPr sz="1700" b="0">
                <a:solidFill>
                  <a:srgbClr val="1D2330"/>
                </a:solidFill>
                <a:latin typeface="Calibri"/>
              </a:rPr>
              <a:t>, </a:t>
            </a:r>
            <a:r>
              <a:rPr sz="1700" b="0">
                <a:solidFill>
                  <a:srgbClr val="4B2E83"/>
                </a:solidFill>
                <a:latin typeface="Consolas"/>
              </a:rPr>
              <a:t>report.o</a:t>
            </a:r>
            <a:r>
              <a:rPr sz="1700" b="0">
                <a:solidFill>
                  <a:srgbClr val="1D2330"/>
                </a:solidFill>
                <a:latin typeface="Calibri"/>
              </a:rPr>
              <a:t>, </a:t>
            </a:r>
            <a:r>
              <a:rPr sz="1700" b="0">
                <a:solidFill>
                  <a:srgbClr val="4B2E83"/>
                </a:solidFill>
                <a:latin typeface="Consolas"/>
              </a:rPr>
              <a:t>clean</a:t>
            </a:r>
            <a:r>
              <a:rPr sz="1700" b="0">
                <a:solidFill>
                  <a:srgbClr val="1D2330"/>
                </a:solidFill>
                <a:latin typeface="Calibri"/>
              </a:rPr>
              <a:t>); run </a:t>
            </a:r>
            <a:r>
              <a:rPr sz="1700" b="0">
                <a:solidFill>
                  <a:srgbClr val="4B2E83"/>
                </a:solidFill>
                <a:latin typeface="Consolas"/>
              </a:rPr>
              <a:t>./temps</a:t>
            </a:r>
            <a:r>
              <a:rPr sz="1700" b="0">
                <a:solidFill>
                  <a:srgbClr val="1D2330"/>
                </a:solidFill>
                <a:latin typeface="Calibri"/>
              </a:rPr>
              <a:t>, type temperatures in F, </a:t>
            </a:r>
            <a:r>
              <a:rPr sz="1700" b="0">
                <a:solidFill>
                  <a:srgbClr val="4B2E83"/>
                </a:solidFill>
                <a:latin typeface="Consolas"/>
              </a:rPr>
              <a:t>-999</a:t>
            </a:r>
            <a:r>
              <a:rPr sz="1700" b="0">
                <a:solidFill>
                  <a:srgbClr val="1D2330"/>
                </a:solidFill>
                <a:latin typeface="Calibri"/>
              </a:rPr>
              <a:t> quits</a:t>
            </a:r>
          </a:p>
        </p:txBody>
      </p:sp>
      <p:sp>
        <p:nvSpPr>
          <p:cNvPr id="19" name="Oval 18"/>
          <p:cNvSpPr/>
          <p:nvPr/>
        </p:nvSpPr>
        <p:spPr>
          <a:xfrm>
            <a:off x="4023360" y="399592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7764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4B2E83"/>
                </a:solidFill>
                <a:latin typeface="Consolas"/>
              </a:rPr>
              <a:t>touch report.cpp</a:t>
            </a:r>
            <a:r>
              <a:rPr sz="1700" b="0">
                <a:solidFill>
                  <a:srgbClr val="1D2330"/>
                </a:solidFill>
                <a:latin typeface="Calibri"/>
              </a:rPr>
              <a:t>, run </a:t>
            </a:r>
            <a:r>
              <a:rPr sz="1700" b="0">
                <a:solidFill>
                  <a:srgbClr val="4B2E83"/>
                </a:solidFill>
                <a:latin typeface="Consolas"/>
              </a:rPr>
              <a:t>make</a:t>
            </a:r>
            <a:r>
              <a:rPr sz="1700" b="0">
                <a:solidFill>
                  <a:srgbClr val="1D2330"/>
                </a:solidFill>
                <a:latin typeface="Calibri"/>
              </a:rPr>
              <a:t> again, and note what it rebuilds</a:t>
            </a:r>
          </a:p>
        </p:txBody>
      </p:sp>
      <p:sp>
        <p:nvSpPr>
          <p:cNvPr id="21" name="Oval 20"/>
          <p:cNvSpPr/>
          <p:nvPr/>
        </p:nvSpPr>
        <p:spPr>
          <a:xfrm>
            <a:off x="4023360" y="486460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4632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Run </a:t>
            </a:r>
            <a:r>
              <a:rPr sz="1700" b="0">
                <a:solidFill>
                  <a:srgbClr val="4B2E83"/>
                </a:solidFill>
                <a:latin typeface="Consolas"/>
              </a:rPr>
              <a:t>cppcheck --enable=all *.cpp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Walkthrough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Error 1, compiler: </a:t>
            </a:r>
            <a:r>
              <a:rPr sz="2000" b="0">
                <a:solidFill>
                  <a:srgbClr val="4B2E83"/>
                </a:solidFill>
                <a:latin typeface="Consolas"/>
              </a:rPr>
              <a:t>redefinition of 'double clampToAbsoluteZero(double)'</a:t>
            </a:r>
            <a:r>
              <a:rPr sz="2000" b="0">
                <a:solidFill>
                  <a:srgbClr val="1D2330"/>
                </a:solidFill>
                <a:latin typeface="Calibri"/>
              </a:rPr>
              <a:t>. </a:t>
            </a:r>
            <a:r>
              <a:rPr sz="2000" b="0">
                <a:solidFill>
                  <a:srgbClr val="4B2E83"/>
                </a:solidFill>
                <a:latin typeface="Consolas"/>
              </a:rPr>
              <a:t>main.cpp</a:t>
            </a:r>
            <a:r>
              <a:rPr sz="2000" b="0">
                <a:solidFill>
                  <a:srgbClr val="1D2330"/>
                </a:solidFill>
                <a:latin typeface="Calibri"/>
              </a:rPr>
              <a:t> includes </a:t>
            </a:r>
            <a:r>
              <a:rPr sz="2000" b="0">
                <a:solidFill>
                  <a:srgbClr val="4B2E83"/>
                </a:solidFill>
                <a:latin typeface="Consolas"/>
              </a:rPr>
              <a:t>convert.h</a:t>
            </a:r>
            <a:r>
              <a:rPr sz="2000" b="0">
                <a:solidFill>
                  <a:srgbClr val="1D2330"/>
                </a:solidFill>
                <a:latin typeface="Calibri"/>
              </a:rPr>
              <a:t> twice (once through </a:t>
            </a:r>
            <a:r>
              <a:rPr sz="2000" b="0">
                <a:solidFill>
                  <a:srgbClr val="4B2E83"/>
                </a:solidFill>
                <a:latin typeface="Consolas"/>
              </a:rPr>
              <a:t>report.h</a:t>
            </a:r>
            <a:r>
              <a:rPr sz="2000" b="0">
                <a:solidFill>
                  <a:srgbClr val="1D2330"/>
                </a:solidFill>
                <a:latin typeface="Calibri"/>
              </a:rPr>
              <a:t>). Fix: an include guard (or </a:t>
            </a:r>
            <a:r>
              <a:rPr sz="2000" b="0">
                <a:solidFill>
                  <a:srgbClr val="4B2E83"/>
                </a:solidFill>
                <a:latin typeface="Consolas"/>
              </a:rPr>
              <a:t>#pragma once</a:t>
            </a:r>
            <a:r>
              <a:rPr sz="2000" b="0">
                <a:solidFill>
                  <a:srgbClr val="1D2330"/>
                </a:solidFill>
                <a:latin typeface="Calibri"/>
              </a:rPr>
              <a:t>) in </a:t>
            </a:r>
            <a:r>
              <a:rPr sz="2000" b="0">
                <a:solidFill>
                  <a:srgbClr val="4B2E83"/>
                </a:solidFill>
                <a:latin typeface="Consolas"/>
              </a:rPr>
              <a:t>convert.h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Error 2, linker: </a:t>
            </a:r>
            <a:r>
              <a:rPr sz="2000" b="0">
                <a:solidFill>
                  <a:srgbClr val="4B2E83"/>
                </a:solidFill>
                <a:latin typeface="Consolas"/>
              </a:rPr>
              <a:t>multiple definition of clampToAbsoluteZero</a:t>
            </a:r>
            <a:r>
              <a:rPr sz="2000" b="0">
                <a:solidFill>
                  <a:srgbClr val="1D2330"/>
                </a:solidFill>
                <a:latin typeface="Calibri"/>
              </a:rPr>
              <a:t>. Body in the header, so every </a:t>
            </a:r>
            <a:r>
              <a:rPr sz="2000" b="0">
                <a:solidFill>
                  <a:srgbClr val="4B2E83"/>
                </a:solidFill>
                <a:latin typeface="Consolas"/>
              </a:rPr>
              <a:t>.cpp</a:t>
            </a:r>
            <a:r>
              <a:rPr sz="2000" b="0">
                <a:solidFill>
                  <a:srgbClr val="1D2330"/>
                </a:solidFill>
                <a:latin typeface="Calibri"/>
              </a:rPr>
              <a:t> gets a copy. Fix: move it to </a:t>
            </a:r>
            <a:r>
              <a:rPr sz="2000" b="0">
                <a:solidFill>
                  <a:srgbClr val="4B2E83"/>
                </a:solidFill>
                <a:latin typeface="Consolas"/>
              </a:rPr>
              <a:t>convert.cpp</a:t>
            </a:r>
            <a:r>
              <a:rPr sz="2000" b="0">
                <a:solidFill>
                  <a:srgbClr val="1D2330"/>
                </a:solidFill>
                <a:latin typeface="Calibri"/>
              </a:rPr>
              <a:t> (or </a:t>
            </a:r>
            <a:r>
              <a:rPr sz="2000" b="0">
                <a:solidFill>
                  <a:srgbClr val="4B2E83"/>
                </a:solidFill>
                <a:latin typeface="Consolas"/>
              </a:rPr>
              <a:t>inline</a:t>
            </a:r>
            <a:r>
              <a:rPr sz="2000" b="0">
                <a:solidFill>
                  <a:srgbClr val="1D2330"/>
                </a:solidFill>
                <a:latin typeface="Calibri"/>
              </a:rPr>
              <a:t>)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Error 3, linker: </a:t>
            </a:r>
            <a:r>
              <a:rPr sz="2000" b="0">
                <a:solidFill>
                  <a:srgbClr val="4B2E83"/>
                </a:solidFill>
                <a:latin typeface="Consolas"/>
              </a:rPr>
              <a:t>undefined reference to fahrenheitToCelsius(double)</a:t>
            </a:r>
            <a:r>
              <a:rPr sz="2000" b="0">
                <a:solidFill>
                  <a:srgbClr val="1D2330"/>
                </a:solidFill>
                <a:latin typeface="Calibri"/>
              </a:rPr>
              <a:t>. Defined as </a:t>
            </a:r>
            <a:r>
              <a:rPr sz="2000" b="0">
                <a:solidFill>
                  <a:srgbClr val="4B2E83"/>
                </a:solidFill>
                <a:latin typeface="Consolas"/>
              </a:rPr>
              <a:t>fahrenheitToCelcius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Warning: </a:t>
            </a:r>
            <a:r>
              <a:rPr sz="2000" b="0">
                <a:solidFill>
                  <a:srgbClr val="4B2E83"/>
                </a:solidFill>
                <a:latin typeface="Consolas"/>
              </a:rPr>
              <a:t>int i</a:t>
            </a:r>
            <a:r>
              <a:rPr sz="2000" b="0">
                <a:solidFill>
                  <a:srgbClr val="1D2330"/>
                </a:solidFill>
                <a:latin typeface="Calibri"/>
              </a:rPr>
              <a:t> compared with </a:t>
            </a:r>
            <a:r>
              <a:rPr sz="2000" b="0">
                <a:solidFill>
                  <a:srgbClr val="4B2E83"/>
                </a:solidFill>
                <a:latin typeface="Consolas"/>
              </a:rPr>
              <a:t>unsigned int rows</a:t>
            </a:r>
            <a:r>
              <a:rPr sz="2000" b="0">
                <a:solidFill>
                  <a:srgbClr val="1D2330"/>
                </a:solidFill>
                <a:latin typeface="Calibri"/>
              </a:rPr>
              <a:t>. Make both </a:t>
            </a:r>
            <a:r>
              <a:rPr sz="2000" b="0">
                <a:solidFill>
                  <a:srgbClr val="4B2E83"/>
                </a:solidFill>
                <a:latin typeface="Consolas"/>
              </a:rPr>
              <a:t>int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Fixed output: </a:t>
            </a:r>
            <a:r>
              <a:rPr sz="2000" b="0">
                <a:solidFill>
                  <a:srgbClr val="4B2E83"/>
                </a:solidFill>
                <a:latin typeface="Consolas"/>
              </a:rPr>
              <a:t>0 C = 32 F</a:t>
            </a:r>
            <a:r>
              <a:rPr sz="2000" b="0">
                <a:solidFill>
                  <a:srgbClr val="1D2330"/>
                </a:solidFill>
                <a:latin typeface="Calibri"/>
              </a:rPr>
              <a:t> ... </a:t>
            </a:r>
            <a:r>
              <a:rPr sz="2000" b="0">
                <a:solidFill>
                  <a:srgbClr val="4B2E83"/>
                </a:solidFill>
                <a:latin typeface="Consolas"/>
              </a:rPr>
              <a:t>100 C = 212 F</a:t>
            </a:r>
            <a:r>
              <a:rPr sz="2000" b="0">
                <a:solidFill>
                  <a:srgbClr val="1D2330"/>
                </a:solidFill>
                <a:latin typeface="Calibri"/>
              </a:rPr>
              <a:t>; -300 C clamps to </a:t>
            </a:r>
            <a:r>
              <a:rPr sz="2000" b="0">
                <a:solidFill>
                  <a:srgbClr val="4B2E83"/>
                </a:solidFill>
                <a:latin typeface="Consolas"/>
              </a:rPr>
              <a:t>-459.67 F</a:t>
            </a:r>
            <a:r>
              <a:rPr sz="2000" b="0">
                <a:solidFill>
                  <a:srgbClr val="1D2330"/>
                </a:solidFill>
                <a:latin typeface="Calibri"/>
              </a:rPr>
              <a:t>; </a:t>
            </a:r>
            <a:r>
              <a:rPr sz="2000" b="0">
                <a:solidFill>
                  <a:srgbClr val="4B2E83"/>
                </a:solidFill>
                <a:latin typeface="Consolas"/>
              </a:rPr>
              <a:t>-999</a:t>
            </a:r>
            <a:r>
              <a:rPr sz="2000" b="0">
                <a:solidFill>
                  <a:srgbClr val="1D2330"/>
                </a:solidFill>
                <a:latin typeface="Calibri"/>
              </a:rPr>
              <a:t> ends the input loop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Self-test: Part 1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B2E83"/>
                </a:solidFill>
                <a:latin typeface="Consolas"/>
              </a:rPr>
              <a:t>g++ -c main.cpp</a:t>
            </a:r>
            <a:r>
              <a:rPr sz="1800" b="0">
                <a:solidFill>
                  <a:srgbClr val="1D2330"/>
                </a:solidFill>
                <a:latin typeface="Calibri"/>
              </a:rPr>
              <a:t> succeeds although </a:t>
            </a:r>
            <a:r>
              <a:rPr sz="1800" b="0">
                <a:solidFill>
                  <a:srgbClr val="4B2E83"/>
                </a:solidFill>
                <a:latin typeface="Consolas"/>
              </a:rPr>
              <a:t>celsiusToFahrenheit()</a:t>
            </a:r>
            <a:r>
              <a:rPr sz="1800" b="0">
                <a:solidFill>
                  <a:srgbClr val="1D2330"/>
                </a:solidFill>
                <a:latin typeface="Calibri"/>
              </a:rPr>
              <a:t> is defined nowhere. Why is that not an error yet?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6032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B2E83"/>
                </a:solidFill>
                <a:latin typeface="Consolas"/>
              </a:rPr>
              <a:t>main.cpp:20:9: error: 'printRow' was not declared in this scope</a:t>
            </a:r>
            <a:r>
              <a:rPr sz="1800" b="0">
                <a:solidFill>
                  <a:srgbClr val="1D2330"/>
                </a:solidFill>
                <a:latin typeface="Calibri"/>
              </a:rPr>
              <a:t>. Compiler or linker? Likely cause?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74904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D2330"/>
                </a:solidFill>
                <a:latin typeface="Calibri"/>
              </a:rPr>
              <a:t>You edit only </a:t>
            </a:r>
            <a:r>
              <a:rPr sz="1800" b="0">
                <a:solidFill>
                  <a:srgbClr val="4B2E83"/>
                </a:solidFill>
                <a:latin typeface="Consolas"/>
              </a:rPr>
              <a:t>convert.h</a:t>
            </a:r>
            <a:r>
              <a:rPr sz="1800" b="0">
                <a:solidFill>
                  <a:srgbClr val="1D2330"/>
                </a:solidFill>
                <a:latin typeface="Calibri"/>
              </a:rPr>
              <a:t> and run </a:t>
            </a:r>
            <a:r>
              <a:rPr sz="1800" b="0">
                <a:solidFill>
                  <a:srgbClr val="4B2E83"/>
                </a:solidFill>
                <a:latin typeface="Consolas"/>
              </a:rPr>
              <a:t>make</a:t>
            </a:r>
            <a:r>
              <a:rPr sz="1800" b="0">
                <a:solidFill>
                  <a:srgbClr val="1D2330"/>
                </a:solidFill>
                <a:latin typeface="Calibri"/>
              </a:rPr>
              <a:t>. Which files are recompiled?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93776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B2E83"/>
                </a:solidFill>
                <a:latin typeface="Consolas"/>
              </a:rPr>
              <a:t>int helper() { return 1; }</a:t>
            </a:r>
            <a:r>
              <a:rPr sz="1800" b="0">
                <a:solidFill>
                  <a:srgbClr val="1D2330"/>
                </a:solidFill>
                <a:latin typeface="Calibri"/>
              </a:rPr>
              <a:t> sits in a guarded header included by two </a:t>
            </a:r>
            <a:r>
              <a:rPr sz="1800" b="0">
                <a:solidFill>
                  <a:srgbClr val="4B2E83"/>
                </a:solidFill>
                <a:latin typeface="Consolas"/>
              </a:rPr>
              <a:t>.cpp</a:t>
            </a:r>
            <a:r>
              <a:rPr sz="1800" b="0">
                <a:solidFill>
                  <a:srgbClr val="1D2330"/>
                </a:solidFill>
                <a:latin typeface="Calibri"/>
              </a:rPr>
              <a:t> files. What happens? Two fixes?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Answers are on the lab page: click “Show answer” under each question.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Section Quiz on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Open the quiz “Lab 1 Exercise 1 Quiz” on Canvas: your instructor makes it available now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10 minutes, multiple choice: the questions about Exercise 1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The last thing in this part, after the walkthrough and the self-test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1005840" cy="1005840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Types, conversions,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C5B4E3"/>
                </a:solidFill>
                <a:latin typeface="Calibri"/>
              </a:rPr>
              <a:t>Types catch bugs early, but C++ sizes vary, overflow is silent, and conversions can lose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5B4E3"/>
                </a:solidFill>
                <a:latin typeface="Calibri"/>
              </a:rPr>
              <a:t>AFTER THIS PART YOU 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Find the range of any numeric type with </a:t>
            </a:r>
            <a:r>
              <a:rPr sz="2000" b="0">
                <a:solidFill>
                  <a:srgbClr val="C5B4E3"/>
                </a:solidFill>
                <a:latin typeface="Consolas"/>
              </a:rPr>
              <a:t>numeric_limits</a:t>
            </a:r>
          </a:p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Predict integer division, overflow, and unsigned wraparound</a:t>
            </a:r>
          </a:p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Convert safely with </a:t>
            </a:r>
            <a:r>
              <a:rPr sz="2000" b="0">
                <a:solidFill>
                  <a:srgbClr val="C5B4E3"/>
                </a:solidFill>
                <a:latin typeface="Consolas"/>
              </a:rPr>
              <a:t>static_cast</a:t>
            </a:r>
            <a:r>
              <a:rPr sz="2000" b="0">
                <a:solidFill>
                  <a:srgbClr val="FFFFFF"/>
                </a:solidFill>
                <a:latin typeface="Calibri"/>
              </a:rPr>
              <a:t>, at the right moment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Sizes are not fixed in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0343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int</a:t>
            </a:r>
            <a:r>
              <a:rPr sz="1800" b="0">
                <a:solidFill>
                  <a:srgbClr val="1D2330"/>
                </a:solidFill>
                <a:latin typeface="Calibri"/>
              </a:rPr>
              <a:t> is usually 32 bits; </a:t>
            </a:r>
            <a:r>
              <a:rPr sz="1800" b="0">
                <a:solidFill>
                  <a:srgbClr val="4B2E83"/>
                </a:solidFill>
                <a:latin typeface="Consolas"/>
              </a:rPr>
              <a:t>long</a:t>
            </a:r>
            <a:r>
              <a:rPr sz="1800" b="0">
                <a:solidFill>
                  <a:srgbClr val="1D2330"/>
                </a:solidFill>
                <a:latin typeface="Calibri"/>
              </a:rPr>
              <a:t> is 64 bits with g++ on Linux but 32 bits with Visual C++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Ask the compiler: </a:t>
            </a:r>
            <a:r>
              <a:rPr sz="1800" b="0">
                <a:solidFill>
                  <a:srgbClr val="4B2E83"/>
                </a:solidFill>
                <a:latin typeface="Consolas"/>
              </a:rPr>
              <a:t>numeric_limits&lt;T&gt;</a:t>
            </a:r>
            <a:r>
              <a:rPr sz="1800" b="0">
                <a:solidFill>
                  <a:srgbClr val="1D2330"/>
                </a:solidFill>
                <a:latin typeface="Calibri"/>
              </a:rPr>
              <a:t> in </a:t>
            </a:r>
            <a:r>
              <a:rPr sz="1800" b="0">
                <a:solidFill>
                  <a:srgbClr val="4B2E83"/>
                </a:solidFill>
                <a:latin typeface="Consolas"/>
              </a:rPr>
              <a:t>&lt;limits&gt;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Unsigned types wrap around; </a:t>
            </a:r>
            <a:r>
              <a:rPr sz="1800" b="0">
                <a:solidFill>
                  <a:srgbClr val="4B2E83"/>
                </a:solidFill>
                <a:latin typeface="Consolas"/>
              </a:rPr>
              <a:t>sizeof</a:t>
            </a:r>
            <a:r>
              <a:rPr sz="1800" b="0">
                <a:solidFill>
                  <a:srgbClr val="1D2330"/>
                </a:solidFill>
                <a:latin typeface="Calibri"/>
              </a:rPr>
              <a:t> and </a:t>
            </a:r>
            <a:r>
              <a:rPr sz="1800" b="0">
                <a:solidFill>
                  <a:srgbClr val="4B2E83"/>
                </a:solidFill>
                <a:latin typeface="Consolas"/>
              </a:rPr>
              <a:t>.size()</a:t>
            </a:r>
            <a:r>
              <a:rPr sz="1800" b="0">
                <a:solidFill>
                  <a:srgbClr val="1D2330"/>
                </a:solidFill>
                <a:latin typeface="Calibri"/>
              </a:rPr>
              <a:t> return them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Signed overflow is undefined behavior: anything can happen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2110" y="1325880"/>
            <a:ext cx="5670944" cy="242316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710" y="1508760"/>
            <a:ext cx="5213744" cy="2057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E6E6EF"/>
                </a:solidFill>
                <a:latin typeface="Consolas"/>
              </a:rPr>
              <a:t>#include &lt;limits&gt;</a:t>
            </a:r>
          </a:p>
          <a:p>
            <a:pPr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F"/>
                </a:solidFill>
                <a:latin typeface="Consolas"/>
              </a:rPr>
              <a:t>numeric_limits&lt;int&gt;::max()          </a:t>
            </a:r>
            <a:r>
              <a:rPr sz="1200">
                <a:solidFill>
                  <a:srgbClr val="9AA4B5"/>
                </a:solidFill>
                <a:latin typeface="Consolas"/>
              </a:rPr>
              <a:t>// 2147483647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F"/>
                </a:solidFill>
                <a:latin typeface="Consolas"/>
              </a:rPr>
              <a:t>numeric_limits&lt;int&gt;::min()          </a:t>
            </a:r>
            <a:r>
              <a:rPr sz="1200">
                <a:solidFill>
                  <a:srgbClr val="9AA4B5"/>
                </a:solidFill>
                <a:latin typeface="Consolas"/>
              </a:rPr>
              <a:t>// -2147483648</a:t>
            </a:r>
          </a:p>
          <a:p>
            <a:pPr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F"/>
                </a:solidFill>
                <a:latin typeface="Consolas"/>
              </a:rPr>
              <a:t>numeric_limits&lt;double&gt;::lowest()        </a:t>
            </a:r>
            <a:r>
              <a:rPr sz="1200">
                <a:solidFill>
                  <a:srgbClr val="9AA4B5"/>
                </a:solidFill>
                <a:latin typeface="Consolas"/>
              </a:rPr>
              <a:t>// most negative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F"/>
                </a:solidFill>
                <a:latin typeface="Consolas"/>
              </a:rPr>
              <a:t>numeric_limits&lt;double&gt;::min()           </a:t>
            </a:r>
            <a:r>
              <a:rPr sz="1200">
                <a:solidFill>
                  <a:srgbClr val="9AA4B5"/>
                </a:solidFill>
                <a:latin typeface="Consolas"/>
              </a:rPr>
              <a:t>// smallest POSITIVE!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F"/>
                </a:solidFill>
                <a:latin typeface="Consolas"/>
              </a:rPr>
              <a:t>numeric_limits&lt;double&gt;::epsilon()       </a:t>
            </a:r>
            <a:r>
              <a:rPr sz="1200">
                <a:solidFill>
                  <a:srgbClr val="9AA4B5"/>
                </a:solidFill>
                <a:latin typeface="Consolas"/>
              </a:rPr>
              <a:t>// gap after 1.0</a:t>
            </a:r>
          </a:p>
          <a:p>
            <a:pPr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F"/>
                </a:solidFill>
                <a:latin typeface="Consolas"/>
              </a:rPr>
              <a:t>unsigned int u = 0;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E6E6EF"/>
                </a:solidFill>
                <a:latin typeface="Consolas"/>
              </a:rPr>
              <a:t>u = u - 1;      </a:t>
            </a:r>
            <a:r>
              <a:rPr sz="1200">
                <a:solidFill>
                  <a:srgbClr val="9AA4B5"/>
                </a:solidFill>
                <a:latin typeface="Consolas"/>
              </a:rPr>
              <a:t>// 4294967295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Reading std::numeric_limits&lt;int&gt;::min()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547207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std::</a:t>
            </a:r>
            <a:r>
              <a:rPr sz="1800" b="0">
                <a:solidFill>
                  <a:srgbClr val="1D2330"/>
                </a:solidFill>
                <a:latin typeface="Calibri"/>
              </a:rPr>
              <a:t> the standard library's namespace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numeric_limits</a:t>
            </a:r>
            <a:r>
              <a:rPr sz="1800" b="0">
                <a:solidFill>
                  <a:srgbClr val="1D2330"/>
                </a:solidFill>
                <a:latin typeface="Calibri"/>
              </a:rPr>
              <a:t> a template: a recipe that describes ANY numeric type, once told which one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&lt;int&gt;</a:t>
            </a:r>
            <a:r>
              <a:rPr sz="1800" b="0">
                <a:solidFill>
                  <a:srgbClr val="1D2330"/>
                </a:solidFill>
                <a:latin typeface="Calibri"/>
              </a:rPr>
              <a:t> fills in that type; angle brackets hold a TYPE, not a value (like Java's </a:t>
            </a:r>
            <a:r>
              <a:rPr sz="1800" b="0">
                <a:solidFill>
                  <a:srgbClr val="4B2E83"/>
                </a:solidFill>
                <a:latin typeface="Consolas"/>
              </a:rPr>
              <a:t>ArrayList&lt;Integer&gt;</a:t>
            </a:r>
            <a:r>
              <a:rPr sz="1800" b="0">
                <a:solidFill>
                  <a:srgbClr val="1D2330"/>
                </a:solidFill>
                <a:latin typeface="Calibri"/>
              </a:rPr>
              <a:t>)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::</a:t>
            </a:r>
            <a:r>
              <a:rPr sz="1800" b="0">
                <a:solidFill>
                  <a:srgbClr val="1D2330"/>
                </a:solidFill>
                <a:latin typeface="Calibri"/>
              </a:rPr>
              <a:t> "the thing on the right belongs to the thing on the left"; compare </a:t>
            </a:r>
            <a:r>
              <a:rPr sz="1800" b="0">
                <a:solidFill>
                  <a:srgbClr val="4B2E83"/>
                </a:solidFill>
                <a:latin typeface="Consolas"/>
              </a:rPr>
              <a:t>.</a:t>
            </a:r>
            <a:r>
              <a:rPr sz="1800" b="0">
                <a:solidFill>
                  <a:srgbClr val="1D2330"/>
                </a:solidFill>
                <a:latin typeface="Calibri"/>
              </a:rPr>
              <a:t>, which reaches into an object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min()</a:t>
            </a:r>
            <a:r>
              <a:rPr sz="1800" b="0">
                <a:solidFill>
                  <a:srgbClr val="1D2330"/>
                </a:solidFill>
                <a:latin typeface="Calibri"/>
              </a:rPr>
              <a:t> a function that belongs to </a:t>
            </a:r>
            <a:r>
              <a:rPr sz="1800" b="0">
                <a:solidFill>
                  <a:srgbClr val="4B2E83"/>
                </a:solidFill>
                <a:latin typeface="Consolas"/>
              </a:rPr>
              <a:t>numeric_limits&lt;int&gt;</a:t>
            </a:r>
            <a:r>
              <a:rPr sz="1800" b="0">
                <a:solidFill>
                  <a:srgbClr val="1D2330"/>
                </a:solidFill>
                <a:latin typeface="Calibri"/>
              </a:rPr>
              <a:t>; Java: </a:t>
            </a:r>
            <a:r>
              <a:rPr sz="1800" b="0">
                <a:solidFill>
                  <a:srgbClr val="4B2E83"/>
                </a:solidFill>
                <a:latin typeface="Consolas"/>
              </a:rPr>
              <a:t>Integer.MIN_VALUE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15887" y="1325880"/>
            <a:ext cx="5227167" cy="29718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4487" y="1508760"/>
            <a:ext cx="4769967" cy="2606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std::numeric_limits&lt;int&gt;::min()</a:t>
            </a:r>
          </a:p>
          <a:p>
            <a:pPr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std::            in the standard library,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numeric_limits   the numeric limits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&lt;int&gt;            of the type int: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::min()          call its min()</a:t>
            </a:r>
          </a:p>
          <a:p>
            <a:pPr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std::numeric_limits&lt;double&gt;::max()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             same recipe, for double</a:t>
            </a:r>
          </a:p>
          <a:p>
            <a:pPr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std::min(3, 7)   a DIFFERENT function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             named min: no clash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Arithmetic happens in the operands'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0343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The type of the result is decided before it is stored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int * int</a:t>
            </a:r>
            <a:r>
              <a:rPr sz="1800" b="0">
                <a:solidFill>
                  <a:srgbClr val="1D2330"/>
                </a:solidFill>
                <a:latin typeface="Calibri"/>
              </a:rPr>
              <a:t> overflows even if you store it in a </a:t>
            </a:r>
            <a:r>
              <a:rPr sz="1800" b="0">
                <a:solidFill>
                  <a:srgbClr val="4B2E83"/>
                </a:solidFill>
                <a:latin typeface="Consolas"/>
              </a:rPr>
              <a:t>long long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int / int</a:t>
            </a:r>
            <a:r>
              <a:rPr sz="1800" b="0">
                <a:solidFill>
                  <a:srgbClr val="1D2330"/>
                </a:solidFill>
                <a:latin typeface="Calibri"/>
              </a:rPr>
              <a:t> truncates toward zero, even if you store it in a </a:t>
            </a:r>
            <a:r>
              <a:rPr sz="1800" b="0">
                <a:solidFill>
                  <a:srgbClr val="4B2E83"/>
                </a:solidFill>
                <a:latin typeface="Consolas"/>
              </a:rPr>
              <a:t>double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Cast an operand before the operation, not the result after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Prefer </a:t>
            </a:r>
            <a:r>
              <a:rPr sz="1800" b="0">
                <a:solidFill>
                  <a:srgbClr val="4B2E83"/>
                </a:solidFill>
                <a:latin typeface="Consolas"/>
              </a:rPr>
              <a:t>static_cast&lt;double&gt;(x)</a:t>
            </a:r>
            <a:r>
              <a:rPr sz="1800" b="0">
                <a:solidFill>
                  <a:srgbClr val="1D2330"/>
                </a:solidFill>
                <a:latin typeface="Calibri"/>
              </a:rPr>
              <a:t> to C-style </a:t>
            </a:r>
            <a:r>
              <a:rPr sz="1800" b="0">
                <a:solidFill>
                  <a:srgbClr val="4B2E83"/>
                </a:solidFill>
                <a:latin typeface="Consolas"/>
              </a:rPr>
              <a:t>(double)x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2110" y="1325880"/>
            <a:ext cx="5670944" cy="29718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710" y="1508760"/>
            <a:ext cx="5213744" cy="2606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int big = 2000000000;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long long p = big * 2;   </a:t>
            </a:r>
            <a:r>
              <a:rPr sz="1400">
                <a:solidFill>
                  <a:srgbClr val="9AA4B5"/>
                </a:solidFill>
                <a:latin typeface="Consolas"/>
              </a:rPr>
              <a:t>// overflow!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long long q =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static_cast&lt;long long&gt;(big) * 2;    </a:t>
            </a:r>
            <a:r>
              <a:rPr sz="1400">
                <a:solidFill>
                  <a:srgbClr val="9AA4B5"/>
                </a:solidFill>
                <a:latin typeface="Consolas"/>
              </a:rPr>
              <a:t>// ok</a:t>
            </a:r>
          </a:p>
          <a:p>
            <a:pPr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double h = 7 / 2;        </a:t>
            </a:r>
            <a:r>
              <a:rPr sz="1400">
                <a:solidFill>
                  <a:srgbClr val="9AA4B5"/>
                </a:solidFill>
                <a:latin typeface="Consolas"/>
              </a:rPr>
              <a:t>// 3.0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double k = static_cast&lt;double&gt;(7) / 2;  </a:t>
            </a:r>
            <a:r>
              <a:rPr sz="1400">
                <a:solidFill>
                  <a:srgbClr val="9AA4B5"/>
                </a:solidFill>
                <a:latin typeface="Consolas"/>
              </a:rPr>
              <a:t>// 3.5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double z = static_cast&lt;double&gt;(7 / 2);  </a:t>
            </a:r>
            <a:r>
              <a:rPr sz="1400">
                <a:solidFill>
                  <a:srgbClr val="9AA4B5"/>
                </a:solidFill>
                <a:latin typeface="Consolas"/>
              </a:rPr>
              <a:t>// 3.0</a:t>
            </a:r>
          </a:p>
          <a:p>
            <a:pPr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double x = 0.1 + 0.2;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x == 0.3                 </a:t>
            </a:r>
            <a:r>
              <a:rPr sz="1400">
                <a:solidFill>
                  <a:srgbClr val="9AA4B5"/>
                </a:solidFill>
                <a:latin typeface="Consolas"/>
              </a:rPr>
              <a:t>// false!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fabs(x - 0.3) &lt; 1e-9        </a:t>
            </a:r>
            <a:r>
              <a:rPr sz="1400">
                <a:solidFill>
                  <a:srgbClr val="9AA4B5"/>
                </a:solidFill>
                <a:latin typeface="Consolas"/>
              </a:rPr>
              <a:t>// true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Coming from 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64327" cy="4800600"/>
          </a:xfrm>
          <a:prstGeom prst="roundRect">
            <a:avLst>
              <a:gd name="adj" fmla="val 4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B2E83"/>
                </a:solidFill>
                <a:latin typeface="Calibri"/>
              </a:rPr>
              <a:t>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815687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Every type has a fixed size (</a:t>
            </a:r>
            <a:r>
              <a:rPr sz="1700" b="0">
                <a:solidFill>
                  <a:srgbClr val="4B2E83"/>
                </a:solidFill>
                <a:latin typeface="Consolas"/>
              </a:rPr>
              <a:t>int</a:t>
            </a:r>
            <a:r>
              <a:rPr sz="1700" b="0">
                <a:solidFill>
                  <a:srgbClr val="1D2330"/>
                </a:solidFill>
                <a:latin typeface="Calibri"/>
              </a:rPr>
              <a:t> is always 32 bits)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Integer overflow is defined: it wraps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No unsigned integer types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4B2E83"/>
                </a:solidFill>
                <a:latin typeface="Consolas"/>
              </a:rPr>
              <a:t>(double) x</a:t>
            </a:r>
            <a:r>
              <a:rPr sz="1700" b="0">
                <a:solidFill>
                  <a:srgbClr val="1D2330"/>
                </a:solidFill>
                <a:latin typeface="Calibri"/>
              </a:rPr>
              <a:t> is the only cast syntax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325880"/>
            <a:ext cx="5364327" cy="4800600"/>
          </a:xfrm>
          <a:prstGeom prst="roundRect">
            <a:avLst>
              <a:gd name="adj" fmla="val 4000"/>
            </a:avLst>
          </a:prstGeom>
          <a:solidFill>
            <a:srgbClr val="E8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150876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F6FDF"/>
                </a:solidFill>
                <a:latin typeface="Calibri"/>
              </a:rPr>
              <a:t>C++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103120"/>
            <a:ext cx="4815687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Sizes vary by platform; check with </a:t>
            </a:r>
            <a:r>
              <a:rPr sz="1700" b="0">
                <a:solidFill>
                  <a:srgbClr val="4B2E83"/>
                </a:solidFill>
                <a:latin typeface="Consolas"/>
              </a:rPr>
              <a:t>numeric_limits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Signed overflow is undefined behavior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Unsigned types wrap, and mixing them with signed values causes bugs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Use </a:t>
            </a:r>
            <a:r>
              <a:rPr sz="1700" b="0">
                <a:solidFill>
                  <a:srgbClr val="4B2E83"/>
                </a:solidFill>
                <a:latin typeface="Consolas"/>
              </a:rPr>
              <a:t>static_cast&lt;T&gt;(x)</a:t>
            </a:r>
            <a:r>
              <a:rPr sz="1700" b="0">
                <a:solidFill>
                  <a:srgbClr val="1D2330"/>
                </a:solidFill>
                <a:latin typeface="Calibri"/>
              </a:rPr>
              <a:t>; it is safer and easy to search for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29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Exercise 2: Rounding and numeric limits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108960" cy="4800600"/>
          </a:xfrm>
          <a:prstGeom prst="roundRect">
            <a:avLst>
              <a:gd name="adj" fmla="val 5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5"/>
                </a:solidFill>
                <a:latin typeface="Calibri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9D55"/>
                </a:solidFill>
                <a:latin typeface="Calibri"/>
              </a:rPr>
              <a:t>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5"/>
                </a:solidFill>
                <a:latin typeface="Calibri"/>
              </a:rPr>
              <a:t>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B2E83"/>
                </a:solidFill>
                <a:latin typeface="Consolas"/>
              </a:rPr>
              <a:t>Lab1/exercises/ex2-types/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5"/>
                </a:solidFill>
                <a:latin typeface="Calibri"/>
              </a:rPr>
              <a:t>SELF-CHECK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2560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D2330"/>
                </a:solidFill>
                <a:latin typeface="Calibri"/>
              </a:rPr>
              <a:t>Confirm that </a:t>
            </a:r>
            <a:r>
              <a:rPr sz="1500" b="0">
                <a:solidFill>
                  <a:srgbClr val="4B2E83"/>
                </a:solidFill>
                <a:latin typeface="Consolas"/>
              </a:rPr>
              <a:t>./test_rounding</a:t>
            </a:r>
            <a:r>
              <a:rPr sz="1500" b="0">
                <a:solidFill>
                  <a:srgbClr val="1D2330"/>
                </a:solidFill>
                <a:latin typeface="Calibri"/>
              </a:rPr>
              <a:t> reports 0 failures.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0" y="138988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37160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Implement </a:t>
            </a:r>
            <a:r>
              <a:rPr sz="1700" b="0">
                <a:solidFill>
                  <a:srgbClr val="4B2E83"/>
                </a:solidFill>
                <a:latin typeface="Consolas"/>
              </a:rPr>
              <a:t>int myRound(double)</a:t>
            </a:r>
            <a:r>
              <a:rPr sz="1700" b="0">
                <a:solidFill>
                  <a:srgbClr val="1D2330"/>
                </a:solidFill>
                <a:latin typeface="Calibri"/>
              </a:rPr>
              <a:t> in a new </a:t>
            </a:r>
            <a:r>
              <a:rPr sz="1700" b="0">
                <a:solidFill>
                  <a:srgbClr val="4B2E83"/>
                </a:solidFill>
                <a:latin typeface="Consolas"/>
              </a:rPr>
              <a:t>rounding.cpp</a:t>
            </a:r>
            <a:r>
              <a:rPr sz="1700" b="0">
                <a:solidFill>
                  <a:srgbClr val="1D2330"/>
                </a:solidFill>
                <a:latin typeface="Calibri"/>
              </a:rPr>
              <a:t>: halves round away from zero, no </a:t>
            </a:r>
            <a:r>
              <a:rPr sz="1700" b="0">
                <a:solidFill>
                  <a:srgbClr val="4B2E83"/>
                </a:solidFill>
                <a:latin typeface="Consolas"/>
              </a:rPr>
              <a:t>round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0" y="225856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4028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Add at least six test cases to </a:t>
            </a:r>
            <a:r>
              <a:rPr sz="1700" b="0">
                <a:solidFill>
                  <a:srgbClr val="4B2E83"/>
                </a:solidFill>
                <a:latin typeface="Consolas"/>
              </a:rPr>
              <a:t>test_rounding.cpp</a:t>
            </a:r>
          </a:p>
        </p:txBody>
      </p:sp>
      <p:sp>
        <p:nvSpPr>
          <p:cNvPr id="17" name="Oval 16"/>
          <p:cNvSpPr/>
          <p:nvPr/>
        </p:nvSpPr>
        <p:spPr>
          <a:xfrm>
            <a:off x="4023360" y="312724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0896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Write a </a:t>
            </a:r>
            <a:r>
              <a:rPr sz="1700" b="0">
                <a:solidFill>
                  <a:srgbClr val="4B2E83"/>
                </a:solidFill>
                <a:latin typeface="Consolas"/>
              </a:rPr>
              <a:t>Makefile</a:t>
            </a:r>
            <a:r>
              <a:rPr sz="1700" b="0">
                <a:solidFill>
                  <a:srgbClr val="1D2330"/>
                </a:solidFill>
                <a:latin typeface="Calibri"/>
              </a:rPr>
              <a:t> that builds </a:t>
            </a:r>
            <a:r>
              <a:rPr sz="1700" b="0">
                <a:solidFill>
                  <a:srgbClr val="4B2E83"/>
                </a:solidFill>
                <a:latin typeface="Consolas"/>
              </a:rPr>
              <a:t>test_rounding</a:t>
            </a:r>
            <a:r>
              <a:rPr sz="1700" b="0">
                <a:solidFill>
                  <a:srgbClr val="1D2330"/>
                </a:solidFill>
                <a:latin typeface="Calibri"/>
              </a:rPr>
              <a:t> and </a:t>
            </a:r>
            <a:r>
              <a:rPr sz="1700" b="0">
                <a:solidFill>
                  <a:srgbClr val="4B2E83"/>
                </a:solidFill>
                <a:latin typeface="Consolas"/>
              </a:rPr>
              <a:t>limits</a:t>
            </a:r>
          </a:p>
        </p:txBody>
      </p:sp>
      <p:sp>
        <p:nvSpPr>
          <p:cNvPr id="19" name="Oval 18"/>
          <p:cNvSpPr/>
          <p:nvPr/>
        </p:nvSpPr>
        <p:spPr>
          <a:xfrm>
            <a:off x="4023360" y="399592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7764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Read the comment at the top of </a:t>
            </a:r>
            <a:r>
              <a:rPr sz="1700" b="0">
                <a:solidFill>
                  <a:srgbClr val="4B2E83"/>
                </a:solidFill>
                <a:latin typeface="Consolas"/>
              </a:rPr>
              <a:t>limits.cpp</a:t>
            </a:r>
            <a:r>
              <a:rPr sz="1700" b="0">
                <a:solidFill>
                  <a:srgbClr val="1D2330"/>
                </a:solidFill>
                <a:latin typeface="Calibri"/>
              </a:rPr>
              <a:t>, complete its TODOs, and run 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Walkthrough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0343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Casting to </a:t>
            </a:r>
            <a:r>
              <a:rPr sz="1800" b="0">
                <a:solidFill>
                  <a:srgbClr val="4B2E83"/>
                </a:solidFill>
                <a:latin typeface="Consolas"/>
              </a:rPr>
              <a:t>int</a:t>
            </a:r>
            <a:r>
              <a:rPr sz="1800" b="0">
                <a:solidFill>
                  <a:srgbClr val="1D2330"/>
                </a:solidFill>
                <a:latin typeface="Calibri"/>
              </a:rPr>
              <a:t> truncates toward zero, so shift by 0.5 away from zero first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big * 2</a:t>
            </a:r>
            <a:r>
              <a:rPr sz="1800" b="0">
                <a:solidFill>
                  <a:srgbClr val="1D2330"/>
                </a:solidFill>
                <a:latin typeface="Calibri"/>
              </a:rPr>
              <a:t> overflows in </a:t>
            </a:r>
            <a:r>
              <a:rPr sz="1800" b="0">
                <a:solidFill>
                  <a:srgbClr val="4B2E83"/>
                </a:solidFill>
                <a:latin typeface="Consolas"/>
              </a:rPr>
              <a:t>int</a:t>
            </a:r>
            <a:r>
              <a:rPr sz="1800" b="0">
                <a:solidFill>
                  <a:srgbClr val="1D2330"/>
                </a:solidFill>
                <a:latin typeface="Calibri"/>
              </a:rPr>
              <a:t> before it is stored; cast one operand to </a:t>
            </a:r>
            <a:r>
              <a:rPr sz="1800" b="0">
                <a:solidFill>
                  <a:srgbClr val="4B2E83"/>
                </a:solidFill>
                <a:latin typeface="Consolas"/>
              </a:rPr>
              <a:t>long long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-7 / 2</a:t>
            </a:r>
            <a:r>
              <a:rPr sz="1800" b="0">
                <a:solidFill>
                  <a:srgbClr val="1D2330"/>
                </a:solidFill>
                <a:latin typeface="Calibri"/>
              </a:rPr>
              <a:t> is </a:t>
            </a:r>
            <a:r>
              <a:rPr sz="1800" b="0">
                <a:solidFill>
                  <a:srgbClr val="4B2E83"/>
                </a:solidFill>
                <a:latin typeface="Consolas"/>
              </a:rPr>
              <a:t>-3</a:t>
            </a:r>
            <a:r>
              <a:rPr sz="1800" b="0">
                <a:solidFill>
                  <a:srgbClr val="1D2330"/>
                </a:solidFill>
                <a:latin typeface="Calibri"/>
              </a:rPr>
              <a:t>: integer division truncates toward zero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Bonus: is there a </a:t>
            </a:r>
            <a:r>
              <a:rPr sz="1800" b="0">
                <a:solidFill>
                  <a:srgbClr val="4B2E83"/>
                </a:solidFill>
                <a:latin typeface="Consolas"/>
              </a:rPr>
              <a:t>double</a:t>
            </a:r>
            <a:r>
              <a:rPr sz="1800" b="0">
                <a:solidFill>
                  <a:srgbClr val="1D2330"/>
                </a:solidFill>
                <a:latin typeface="Calibri"/>
              </a:rPr>
              <a:t> where </a:t>
            </a:r>
            <a:r>
              <a:rPr sz="1800" b="0">
                <a:solidFill>
                  <a:srgbClr val="4B2E83"/>
                </a:solidFill>
                <a:latin typeface="Consolas"/>
              </a:rPr>
              <a:t>myRound</a:t>
            </a:r>
            <a:r>
              <a:rPr sz="1800" b="0">
                <a:solidFill>
                  <a:srgbClr val="1D2330"/>
                </a:solidFill>
                <a:latin typeface="Calibri"/>
              </a:rPr>
              <a:t> and </a:t>
            </a:r>
            <a:r>
              <a:rPr sz="1800" b="0">
                <a:solidFill>
                  <a:srgbClr val="4B2E83"/>
                </a:solidFill>
                <a:latin typeface="Consolas"/>
              </a:rPr>
              <a:t>round</a:t>
            </a:r>
            <a:r>
              <a:rPr sz="1800" b="0">
                <a:solidFill>
                  <a:srgbClr val="1D2330"/>
                </a:solidFill>
                <a:latin typeface="Calibri"/>
              </a:rPr>
              <a:t> disagree?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2110" y="1325880"/>
            <a:ext cx="5670944" cy="1874519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710" y="1508760"/>
            <a:ext cx="5213744" cy="15087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int myRound(double value) {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    if (value &gt;= 0) {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        return static_cast&lt;int&gt;(value + 0.5);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    return static_cast&lt;int&gt;(value - 0.5);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6E6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Self-test: Part 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B2E83"/>
                </a:solidFill>
                <a:latin typeface="Consolas"/>
              </a:rPr>
              <a:t>int a = 5, b = 2; double r = a / b;</a:t>
            </a:r>
            <a:r>
              <a:rPr sz="1800" b="0">
                <a:solidFill>
                  <a:srgbClr val="1D2330"/>
                </a:solidFill>
                <a:latin typeface="Calibri"/>
              </a:rPr>
              <a:t> What is </a:t>
            </a:r>
            <a:r>
              <a:rPr sz="1800" b="0">
                <a:solidFill>
                  <a:srgbClr val="4B2E83"/>
                </a:solidFill>
                <a:latin typeface="Consolas"/>
              </a:rPr>
              <a:t>r</a:t>
            </a:r>
            <a:r>
              <a:rPr sz="1800" b="0">
                <a:solidFill>
                  <a:srgbClr val="1D2330"/>
                </a:solidFill>
                <a:latin typeface="Calibri"/>
              </a:rPr>
              <a:t>? How do you get 2.5?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6032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D2330"/>
                </a:solidFill>
                <a:latin typeface="Calibri"/>
              </a:rPr>
              <a:t>When does </a:t>
            </a:r>
            <a:r>
              <a:rPr sz="1800" b="0">
                <a:solidFill>
                  <a:srgbClr val="4B2E83"/>
                </a:solidFill>
                <a:latin typeface="Consolas"/>
              </a:rPr>
              <a:t>int mid = (low + high) / 2;</a:t>
            </a:r>
            <a:r>
              <a:rPr sz="1800" b="0">
                <a:solidFill>
                  <a:srgbClr val="1D2330"/>
                </a:solidFill>
                <a:latin typeface="Calibri"/>
              </a:rPr>
              <a:t> go wrong? What is the safer form?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74904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D2330"/>
                </a:solidFill>
                <a:latin typeface="Calibri"/>
              </a:rPr>
              <a:t>With an empty </a:t>
            </a:r>
            <a:r>
              <a:rPr sz="1800" b="0">
                <a:solidFill>
                  <a:srgbClr val="4B2E83"/>
                </a:solidFill>
                <a:latin typeface="Consolas"/>
              </a:rPr>
              <a:t>string s</a:t>
            </a:r>
            <a:r>
              <a:rPr sz="1800" b="0">
                <a:solidFill>
                  <a:srgbClr val="1D2330"/>
                </a:solidFill>
                <a:latin typeface="Calibri"/>
              </a:rPr>
              <a:t>, how many times does </a:t>
            </a:r>
            <a:r>
              <a:rPr sz="1800" b="0">
                <a:solidFill>
                  <a:srgbClr val="4B2E83"/>
                </a:solidFill>
                <a:latin typeface="Consolas"/>
              </a:rPr>
              <a:t>for (int i = 0; i &lt; s.size() - 1; i++)</a:t>
            </a:r>
            <a:r>
              <a:rPr sz="1800" b="0">
                <a:solidFill>
                  <a:srgbClr val="1D2330"/>
                </a:solidFill>
                <a:latin typeface="Calibri"/>
              </a:rPr>
              <a:t> run?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93776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D2330"/>
                </a:solidFill>
                <a:latin typeface="Calibri"/>
              </a:rPr>
              <a:t>After </a:t>
            </a:r>
            <a:r>
              <a:rPr sz="1800" b="0">
                <a:solidFill>
                  <a:srgbClr val="4B2E83"/>
                </a:solidFill>
                <a:latin typeface="Consolas"/>
              </a:rPr>
              <a:t>double x = 0.1 + 0.2;</a:t>
            </a:r>
            <a:r>
              <a:rPr sz="1800" b="0">
                <a:solidFill>
                  <a:srgbClr val="1D2330"/>
                </a:solidFill>
                <a:latin typeface="Calibri"/>
              </a:rPr>
              <a:t>, how should you test whether </a:t>
            </a:r>
            <a:r>
              <a:rPr sz="1800" b="0">
                <a:solidFill>
                  <a:srgbClr val="4B2E83"/>
                </a:solidFill>
                <a:latin typeface="Consolas"/>
              </a:rPr>
              <a:t>x</a:t>
            </a:r>
            <a:r>
              <a:rPr sz="1800" b="0">
                <a:solidFill>
                  <a:srgbClr val="1D2330"/>
                </a:solidFill>
                <a:latin typeface="Calibri"/>
              </a:rPr>
              <a:t> is 0.3?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Answers are on the lab page: click “Show answer” under each question.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32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Section Quiz on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Open the quiz “Lab 1 Exercise 2 Quiz” on Canvas: your instructor makes it available now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10 minutes, multiple choice: the questions about Exercise 2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The last thing in this part, after the walkthrough and the self-test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868680"/>
            <a:ext cx="1005840" cy="1005840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References and parameter passing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C5B4E3"/>
                </a:solidFill>
                <a:latin typeface="Calibri"/>
              </a:rPr>
              <a:t>Every call works on your variable or on a copy; C++ lets you choose, for correctness and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5B4E3"/>
                </a:solidFill>
                <a:latin typeface="Calibri"/>
              </a:rPr>
              <a:t>AFTER THIS PART YOU 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Explain what a reference variable is: another name for an existing variable</a:t>
            </a:r>
          </a:p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Choose between pass by value, </a:t>
            </a:r>
            <a:r>
              <a:rPr sz="2000" b="0">
                <a:solidFill>
                  <a:srgbClr val="C5B4E3"/>
                </a:solidFill>
                <a:latin typeface="Consolas"/>
              </a:rPr>
              <a:t>&amp;</a:t>
            </a:r>
            <a:r>
              <a:rPr sz="2000" b="0">
                <a:solidFill>
                  <a:srgbClr val="FFFFFF"/>
                </a:solidFill>
                <a:latin typeface="Calibri"/>
              </a:rPr>
              <a:t>, and </a:t>
            </a:r>
            <a:r>
              <a:rPr sz="2000" b="0">
                <a:solidFill>
                  <a:srgbClr val="C5B4E3"/>
                </a:solidFill>
                <a:latin typeface="Consolas"/>
              </a:rPr>
              <a:t>const&amp;</a:t>
            </a:r>
          </a:p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Return more than one result through reference parameters</a:t>
            </a:r>
          </a:p>
          <a:p>
            <a:pPr marL="256032" indent="-228600">
              <a:spcAft>
                <a:spcPts val="600"/>
              </a:spcAft>
              <a:buClr>
                <a:srgbClr val="5B6475"/>
              </a:buClr>
              <a:buChar char="›"/>
            </a:pPr>
            <a:r>
              <a:rPr sz="2000" b="0">
                <a:solidFill>
                  <a:srgbClr val="FFFFFF"/>
                </a:solidFill>
                <a:latin typeface="Calibri"/>
              </a:rPr>
              <a:t>Return a reference safely, and spot a dangling one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34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Reference variables: another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0343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int &amp;r = i;</a:t>
            </a:r>
            <a:r>
              <a:rPr sz="1800" b="0">
                <a:solidFill>
                  <a:srgbClr val="1D2330"/>
                </a:solidFill>
                <a:latin typeface="Calibri"/>
              </a:rPr>
              <a:t> makes </a:t>
            </a:r>
            <a:r>
              <a:rPr sz="1800" b="0">
                <a:solidFill>
                  <a:srgbClr val="4B2E83"/>
                </a:solidFill>
                <a:latin typeface="Consolas"/>
              </a:rPr>
              <a:t>r</a:t>
            </a:r>
            <a:r>
              <a:rPr sz="1800" b="0">
                <a:solidFill>
                  <a:srgbClr val="1D2330"/>
                </a:solidFill>
                <a:latin typeface="Calibri"/>
              </a:rPr>
              <a:t> another name for </a:t>
            </a:r>
            <a:r>
              <a:rPr sz="1800" b="0">
                <a:solidFill>
                  <a:srgbClr val="4B2E83"/>
                </a:solidFill>
                <a:latin typeface="Consolas"/>
              </a:rPr>
              <a:t>i</a:t>
            </a:r>
            <a:r>
              <a:rPr sz="1800" b="0">
                <a:solidFill>
                  <a:srgbClr val="1D2330"/>
                </a:solidFill>
                <a:latin typeface="Calibri"/>
              </a:rPr>
              <a:t>: no new </a:t>
            </a:r>
            <a:r>
              <a:rPr sz="1800" b="0">
                <a:solidFill>
                  <a:srgbClr val="4B2E83"/>
                </a:solidFill>
                <a:latin typeface="Consolas"/>
              </a:rPr>
              <a:t>int</a:t>
            </a:r>
            <a:r>
              <a:rPr sz="1800" b="0">
                <a:solidFill>
                  <a:srgbClr val="1D2330"/>
                </a:solidFill>
                <a:latin typeface="Calibri"/>
              </a:rPr>
              <a:t> is created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Changing </a:t>
            </a:r>
            <a:r>
              <a:rPr sz="1800" b="0">
                <a:solidFill>
                  <a:srgbClr val="4B2E83"/>
                </a:solidFill>
                <a:latin typeface="Consolas"/>
              </a:rPr>
              <a:t>r</a:t>
            </a:r>
            <a:r>
              <a:rPr sz="1800" b="0">
                <a:solidFill>
                  <a:srgbClr val="1D2330"/>
                </a:solidFill>
                <a:latin typeface="Calibri"/>
              </a:rPr>
              <a:t> changes </a:t>
            </a:r>
            <a:r>
              <a:rPr sz="1800" b="0">
                <a:solidFill>
                  <a:srgbClr val="4B2E83"/>
                </a:solidFill>
                <a:latin typeface="Consolas"/>
              </a:rPr>
              <a:t>i</a:t>
            </a:r>
            <a:r>
              <a:rPr sz="1800" b="0">
                <a:solidFill>
                  <a:srgbClr val="1D2330"/>
                </a:solidFill>
                <a:latin typeface="Calibri"/>
              </a:rPr>
              <a:t>; </a:t>
            </a:r>
            <a:r>
              <a:rPr sz="1800" b="0">
                <a:solidFill>
                  <a:srgbClr val="4B2E83"/>
                </a:solidFill>
                <a:latin typeface="Consolas"/>
              </a:rPr>
              <a:t>&amp;i</a:t>
            </a:r>
            <a:r>
              <a:rPr sz="1800" b="0">
                <a:solidFill>
                  <a:srgbClr val="1D2330"/>
                </a:solidFill>
                <a:latin typeface="Calibri"/>
              </a:rPr>
              <a:t> and </a:t>
            </a:r>
            <a:r>
              <a:rPr sz="1800" b="0">
                <a:solidFill>
                  <a:srgbClr val="4B2E83"/>
                </a:solidFill>
                <a:latin typeface="Consolas"/>
              </a:rPr>
              <a:t>&amp;r</a:t>
            </a:r>
            <a:r>
              <a:rPr sz="1800" b="0">
                <a:solidFill>
                  <a:srgbClr val="1D2330"/>
                </a:solidFill>
                <a:latin typeface="Calibri"/>
              </a:rPr>
              <a:t> are the same address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4B2E83"/>
                </a:solidFill>
                <a:latin typeface="Consolas"/>
              </a:rPr>
              <a:t>int x = i;</a:t>
            </a:r>
            <a:r>
              <a:rPr sz="1800" b="0">
                <a:solidFill>
                  <a:srgbClr val="1D2330"/>
                </a:solidFill>
                <a:latin typeface="Calibri"/>
              </a:rPr>
              <a:t> is different: a new </a:t>
            </a:r>
            <a:r>
              <a:rPr sz="1800" b="0">
                <a:solidFill>
                  <a:srgbClr val="4B2E83"/>
                </a:solidFill>
                <a:latin typeface="Consolas"/>
              </a:rPr>
              <a:t>int</a:t>
            </a:r>
            <a:r>
              <a:rPr sz="1800" b="0">
                <a:solidFill>
                  <a:srgbClr val="1D2330"/>
                </a:solidFill>
                <a:latin typeface="Calibri"/>
              </a:rPr>
              <a:t> holding a copy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A reference must be initialized when declared, and can never be re-pointed later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2110" y="1325880"/>
            <a:ext cx="5670944" cy="27584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710" y="1508760"/>
            <a:ext cx="5213744" cy="2392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int i = 1;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int &amp;r = i;     </a:t>
            </a:r>
            <a:r>
              <a:rPr sz="1400">
                <a:solidFill>
                  <a:srgbClr val="9AA4B5"/>
                </a:solidFill>
                <a:latin typeface="Consolas"/>
              </a:rPr>
              <a:t>// r IS i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int x = r;      </a:t>
            </a:r>
            <a:r>
              <a:rPr sz="1400">
                <a:solidFill>
                  <a:srgbClr val="9AA4B5"/>
                </a:solidFill>
                <a:latin typeface="Consolas"/>
              </a:rPr>
              <a:t>// x is a separate copy</a:t>
            </a:r>
          </a:p>
          <a:p>
            <a:pPr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r = 2;          </a:t>
            </a:r>
            <a:r>
              <a:rPr sz="1400">
                <a:solidFill>
                  <a:srgbClr val="9AA4B5"/>
                </a:solidFill>
                <a:latin typeface="Consolas"/>
              </a:rPr>
              <a:t>// i = 2, r = 2, x = 1</a:t>
            </a:r>
          </a:p>
          <a:p>
            <a:pPr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&amp;i == &amp;r        </a:t>
            </a:r>
            <a:r>
              <a:rPr sz="1400">
                <a:solidFill>
                  <a:srgbClr val="9AA4B5"/>
                </a:solidFill>
                <a:latin typeface="Consolas"/>
              </a:rPr>
              <a:t>// true: one variable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&amp;i == &amp;x        </a:t>
            </a:r>
            <a:r>
              <a:rPr sz="1400">
                <a:solidFill>
                  <a:srgbClr val="9AA4B5"/>
                </a:solidFill>
                <a:latin typeface="Consolas"/>
              </a:rPr>
              <a:t>// false</a:t>
            </a:r>
          </a:p>
          <a:p>
            <a:pPr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int &amp;xr;        </a:t>
            </a:r>
            <a:r>
              <a:rPr sz="1400">
                <a:solidFill>
                  <a:srgbClr val="9AA4B5"/>
                </a:solidFill>
                <a:latin typeface="Consolas"/>
              </a:rPr>
              <a:t>// error: 'xr' declared as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            </a:t>
            </a:r>
            <a:r>
              <a:rPr sz="1400">
                <a:solidFill>
                  <a:srgbClr val="9AA4B5"/>
                </a:solidFill>
                <a:latin typeface="Consolas"/>
              </a:rPr>
              <a:t>// reference but not initialized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Three ways to pass a parameter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0343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By value: the function gets a copy, for every type, including objects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By reference </a:t>
            </a:r>
            <a:r>
              <a:rPr sz="1800" b="0">
                <a:solidFill>
                  <a:srgbClr val="4B2E83"/>
                </a:solidFill>
                <a:latin typeface="Consolas"/>
              </a:rPr>
              <a:t>&amp;</a:t>
            </a:r>
            <a:r>
              <a:rPr sz="1800" b="0">
                <a:solidFill>
                  <a:srgbClr val="1D2330"/>
                </a:solidFill>
                <a:latin typeface="Calibri"/>
              </a:rPr>
              <a:t>: another name for the caller's variable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By const reference </a:t>
            </a:r>
            <a:r>
              <a:rPr sz="1800" b="0">
                <a:solidFill>
                  <a:srgbClr val="4B2E83"/>
                </a:solidFill>
                <a:latin typeface="Consolas"/>
              </a:rPr>
              <a:t>const&amp;</a:t>
            </a:r>
            <a:r>
              <a:rPr sz="1800" b="0">
                <a:solidFill>
                  <a:srgbClr val="1D2330"/>
                </a:solidFill>
                <a:latin typeface="Calibri"/>
              </a:rPr>
              <a:t>: no copy, no changes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In Java, a method can change an object you pass; in C++ an object parameter is a full copy unless you write </a:t>
            </a:r>
            <a:r>
              <a:rPr sz="1800" b="0">
                <a:solidFill>
                  <a:srgbClr val="4B2E83"/>
                </a:solidFill>
                <a:latin typeface="Consolas"/>
              </a:rPr>
              <a:t>&amp;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2110" y="1325880"/>
            <a:ext cx="5670944" cy="219456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710" y="1508760"/>
            <a:ext cx="5213744" cy="182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void byValue(int n)       { n++; }  </a:t>
            </a:r>
            <a:r>
              <a:rPr sz="1300">
                <a:solidFill>
                  <a:srgbClr val="9AA4B5"/>
                </a:solidFill>
                <a:latin typeface="Consolas"/>
              </a:rPr>
              <a:t>// caller unchanged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void byRef(int &amp;n)        { n++; }  </a:t>
            </a:r>
            <a:r>
              <a:rPr sz="1300">
                <a:solidFill>
                  <a:srgbClr val="9AA4B5"/>
                </a:solidFill>
                <a:latin typeface="Consolas"/>
              </a:rPr>
              <a:t>// caller changed</a:t>
            </a:r>
          </a:p>
          <a:p>
            <a:pPr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void show(const string &amp;s);         </a:t>
            </a:r>
            <a:r>
              <a:rPr sz="1300">
                <a:solidFill>
                  <a:srgbClr val="9AA4B5"/>
                </a:solidFill>
                <a:latin typeface="Consolas"/>
              </a:rPr>
              <a:t>// no copy, read-only</a:t>
            </a:r>
          </a:p>
          <a:p>
            <a:pPr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int x = 10;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byValue(x);    </a:t>
            </a:r>
            <a:r>
              <a:rPr sz="1300">
                <a:solidFill>
                  <a:srgbClr val="9AA4B5"/>
                </a:solidFill>
                <a:latin typeface="Consolas"/>
              </a:rPr>
              <a:t>// x is 10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byRef(x);      </a:t>
            </a:r>
            <a:r>
              <a:rPr sz="1300">
                <a:solidFill>
                  <a:srgbClr val="9AA4B5"/>
                </a:solidFill>
                <a:latin typeface="Consolas"/>
              </a:rPr>
              <a:t>// x is 11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6EF"/>
                </a:solidFill>
                <a:latin typeface="Consolas"/>
              </a:rPr>
              <a:t>byRef(5);      </a:t>
            </a:r>
            <a:r>
              <a:rPr sz="1300">
                <a:solidFill>
                  <a:srgbClr val="9AA4B5"/>
                </a:solidFill>
                <a:latin typeface="Consolas"/>
              </a:rPr>
              <a:t>// error: 5 is not a variable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Which one should I use?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364327" cy="4800600"/>
          </a:xfrm>
          <a:prstGeom prst="roundRect">
            <a:avLst>
              <a:gd name="adj" fmla="val 4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B2E83"/>
                </a:solidFill>
                <a:latin typeface="Calibri"/>
              </a:rPr>
              <a:t>Rule of thumb for CSS 342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815687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Built-ins (</a:t>
            </a:r>
            <a:r>
              <a:rPr sz="1700" b="0">
                <a:solidFill>
                  <a:srgbClr val="4B2E83"/>
                </a:solidFill>
                <a:latin typeface="Consolas"/>
              </a:rPr>
              <a:t>int</a:t>
            </a:r>
            <a:r>
              <a:rPr sz="1700" b="0">
                <a:solidFill>
                  <a:srgbClr val="1D2330"/>
                </a:solidFill>
                <a:latin typeface="Calibri"/>
              </a:rPr>
              <a:t>, </a:t>
            </a:r>
            <a:r>
              <a:rPr sz="1700" b="0">
                <a:solidFill>
                  <a:srgbClr val="4B2E83"/>
                </a:solidFill>
                <a:latin typeface="Consolas"/>
              </a:rPr>
              <a:t>double</a:t>
            </a:r>
            <a:r>
              <a:rPr sz="1700" b="0">
                <a:solidFill>
                  <a:srgbClr val="1D2330"/>
                </a:solidFill>
                <a:latin typeface="Calibri"/>
              </a:rPr>
              <a:t>, </a:t>
            </a:r>
            <a:r>
              <a:rPr sz="1700" b="0">
                <a:solidFill>
                  <a:srgbClr val="4B2E83"/>
                </a:solidFill>
                <a:latin typeface="Consolas"/>
              </a:rPr>
              <a:t>char</a:t>
            </a:r>
            <a:r>
              <a:rPr sz="1700" b="0">
                <a:solidFill>
                  <a:srgbClr val="1D2330"/>
                </a:solidFill>
                <a:latin typeface="Calibri"/>
              </a:rPr>
              <a:t>, </a:t>
            </a:r>
            <a:r>
              <a:rPr sz="1700" b="0">
                <a:solidFill>
                  <a:srgbClr val="4B2E83"/>
                </a:solidFill>
                <a:latin typeface="Consolas"/>
              </a:rPr>
              <a:t>bool</a:t>
            </a:r>
            <a:r>
              <a:rPr sz="1700" b="0">
                <a:solidFill>
                  <a:srgbClr val="1D2330"/>
                </a:solidFill>
                <a:latin typeface="Calibri"/>
              </a:rPr>
              <a:t>): by value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Objects (</a:t>
            </a:r>
            <a:r>
              <a:rPr sz="1700" b="0">
                <a:solidFill>
                  <a:srgbClr val="4B2E83"/>
                </a:solidFill>
                <a:latin typeface="Consolas"/>
              </a:rPr>
              <a:t>string</a:t>
            </a:r>
            <a:r>
              <a:rPr sz="1700" b="0">
                <a:solidFill>
                  <a:srgbClr val="1D2330"/>
                </a:solidFill>
                <a:latin typeface="Calibri"/>
              </a:rPr>
              <a:t>, your classes): by </a:t>
            </a:r>
            <a:r>
              <a:rPr sz="1700" b="0">
                <a:solidFill>
                  <a:srgbClr val="4B2E83"/>
                </a:solidFill>
                <a:latin typeface="Consolas"/>
              </a:rPr>
              <a:t>const&amp;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Plain </a:t>
            </a:r>
            <a:r>
              <a:rPr sz="1700" b="0">
                <a:solidFill>
                  <a:srgbClr val="4B2E83"/>
                </a:solidFill>
                <a:latin typeface="Consolas"/>
              </a:rPr>
              <a:t>&amp;</a:t>
            </a:r>
            <a:r>
              <a:rPr sz="1700" b="0">
                <a:solidFill>
                  <a:srgbClr val="1D2330"/>
                </a:solidFill>
                <a:latin typeface="Calibri"/>
              </a:rPr>
              <a:t> only when the function must change the argument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1D2330"/>
                </a:solidFill>
                <a:latin typeface="Calibri"/>
              </a:rPr>
              <a:t>Plain </a:t>
            </a:r>
            <a:r>
              <a:rPr sz="1700" b="0">
                <a:solidFill>
                  <a:srgbClr val="4B2E83"/>
                </a:solidFill>
                <a:latin typeface="Consolas"/>
              </a:rPr>
              <a:t>&amp;</a:t>
            </a:r>
            <a:r>
              <a:rPr sz="1700" b="0">
                <a:solidFill>
                  <a:srgbClr val="1D2330"/>
                </a:solidFill>
                <a:latin typeface="Calibri"/>
              </a:rPr>
              <a:t> also lets a function "return" several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325880"/>
            <a:ext cx="5364327" cy="4800600"/>
          </a:xfrm>
          <a:prstGeom prst="roundRect">
            <a:avLst>
              <a:gd name="adj" fmla="val 4000"/>
            </a:avLst>
          </a:prstGeom>
          <a:solidFill>
            <a:srgbClr val="E8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1508760"/>
            <a:ext cx="4815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F6FDF"/>
                </a:solidFill>
                <a:latin typeface="Calibri"/>
              </a:rPr>
              <a:t>Examples from Exercise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103120"/>
            <a:ext cx="4815687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4B2E83"/>
                </a:solidFill>
                <a:latin typeface="Consolas"/>
              </a:rPr>
              <a:t>int countVowels(const string &amp;word);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4B2E83"/>
                </a:solidFill>
                <a:latin typeface="Consolas"/>
              </a:rPr>
              <a:t>void swapValues(int &amp;a, int &amp;b);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4B2E83"/>
                </a:solidFill>
                <a:latin typeface="Consolas"/>
              </a:rPr>
              <a:t>void divide(int dividend, int divisor, int &amp;quotient, int &amp;remainder);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700" b="0">
                <a:solidFill>
                  <a:srgbClr val="4B2E83"/>
                </a:solidFill>
                <a:latin typeface="Consolas"/>
              </a:rPr>
              <a:t>void addOneByValue(int n);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F6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Returning a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0343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A function returning </a:t>
            </a:r>
            <a:r>
              <a:rPr sz="1800" b="0">
                <a:solidFill>
                  <a:srgbClr val="4B2E83"/>
                </a:solidFill>
                <a:latin typeface="Consolas"/>
              </a:rPr>
              <a:t>int&amp;</a:t>
            </a:r>
            <a:r>
              <a:rPr sz="1800" b="0">
                <a:solidFill>
                  <a:srgbClr val="1D2330"/>
                </a:solidFill>
                <a:latin typeface="Calibri"/>
              </a:rPr>
              <a:t> can appear on the left of </a:t>
            </a:r>
            <a:r>
              <a:rPr sz="1800" b="0">
                <a:solidFill>
                  <a:srgbClr val="4B2E83"/>
                </a:solidFill>
                <a:latin typeface="Consolas"/>
              </a:rPr>
              <a:t>=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This is how </a:t>
            </a:r>
            <a:r>
              <a:rPr sz="1800" b="0">
                <a:solidFill>
                  <a:srgbClr val="4B2E83"/>
                </a:solidFill>
                <a:latin typeface="Consolas"/>
              </a:rPr>
              <a:t>operator[]</a:t>
            </a:r>
            <a:r>
              <a:rPr sz="1800" b="0">
                <a:solidFill>
                  <a:srgbClr val="1D2330"/>
                </a:solidFill>
                <a:latin typeface="Calibri"/>
              </a:rPr>
              <a:t> and </a:t>
            </a:r>
            <a:r>
              <a:rPr sz="1800" b="0">
                <a:solidFill>
                  <a:srgbClr val="4B2E83"/>
                </a:solidFill>
                <a:latin typeface="Consolas"/>
              </a:rPr>
              <a:t>operator=</a:t>
            </a:r>
            <a:r>
              <a:rPr sz="1800" b="0">
                <a:solidFill>
                  <a:srgbClr val="1D2330"/>
                </a:solidFill>
                <a:latin typeface="Calibri"/>
              </a:rPr>
              <a:t> work (later labs)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Never return a reference to a local variable: it is destroyed when the function returns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1800" b="0">
                <a:solidFill>
                  <a:srgbClr val="1D2330"/>
                </a:solidFill>
                <a:latin typeface="Calibri"/>
              </a:rPr>
              <a:t>g++ </a:t>
            </a:r>
            <a:r>
              <a:rPr sz="1800" b="0">
                <a:solidFill>
                  <a:srgbClr val="4B2E83"/>
                </a:solidFill>
                <a:latin typeface="Consolas"/>
              </a:rPr>
              <a:t>-Wall</a:t>
            </a:r>
            <a:r>
              <a:rPr sz="1800" b="0">
                <a:solidFill>
                  <a:srgbClr val="1D2330"/>
                </a:solidFill>
                <a:latin typeface="Calibri"/>
              </a:rPr>
              <a:t> warns: reference to local variable returned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72110" y="1325880"/>
            <a:ext cx="5670944" cy="29718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710" y="1508760"/>
            <a:ext cx="5213744" cy="2606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int &amp;larger(int &amp;a, int &amp;b)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if (a &gt;= b) return a;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return b;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int p = 4, q = 9;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larger(p, q) = 0;     </a:t>
            </a:r>
            <a:r>
              <a:rPr sz="1400">
                <a:solidFill>
                  <a:srgbClr val="9AA4B5"/>
                </a:solidFill>
                <a:latin typeface="Consolas"/>
              </a:rPr>
              <a:t>// sets q:  p = 4, q = 0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larger(p, q)++;       </a:t>
            </a:r>
            <a:r>
              <a:rPr sz="1400">
                <a:solidFill>
                  <a:srgbClr val="9AA4B5"/>
                </a:solidFill>
                <a:latin typeface="Consolas"/>
              </a:rPr>
              <a:t>// now p:   p = 5, q = 0</a:t>
            </a:r>
          </a:p>
          <a:p>
            <a:pPr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int &amp;badReference()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int local = 42;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return local;     </a:t>
            </a:r>
            <a:r>
              <a:rPr sz="1400">
                <a:solidFill>
                  <a:srgbClr val="9AA4B5"/>
                </a:solidFill>
                <a:latin typeface="Consolas"/>
              </a:rPr>
              <a:t>// dangling!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38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Exercise 3: 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108960" cy="4800600"/>
          </a:xfrm>
          <a:prstGeom prst="roundRect">
            <a:avLst>
              <a:gd name="adj" fmla="val 5000"/>
            </a:avLst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5"/>
                </a:solidFill>
                <a:latin typeface="Calibri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9D55"/>
                </a:solidFill>
                <a:latin typeface="Calibri"/>
              </a:rPr>
              <a:t>25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5"/>
                </a:solidFill>
                <a:latin typeface="Calibri"/>
              </a:rPr>
              <a:t>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B2E83"/>
                </a:solidFill>
                <a:latin typeface="Consolas"/>
              </a:rPr>
              <a:t>Lab1/exercises/ex3-references/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B6475"/>
                </a:solidFill>
                <a:latin typeface="Calibri"/>
              </a:rPr>
              <a:t>SELF-CHECK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2560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D2330"/>
                </a:solidFill>
                <a:latin typeface="Calibri"/>
              </a:rPr>
              <a:t>Output ends with </a:t>
            </a:r>
            <a:r>
              <a:rPr sz="1500" b="0">
                <a:solidFill>
                  <a:srgbClr val="4B2E83"/>
                </a:solidFill>
                <a:latin typeface="Consolas"/>
              </a:rPr>
              <a:t>17 / 5 = 3 remainder 2</a:t>
            </a:r>
            <a:r>
              <a:rPr sz="1500" b="0">
                <a:solidFill>
                  <a:srgbClr val="1D2330"/>
                </a:solidFill>
                <a:latin typeface="Calibri"/>
              </a:rPr>
              <a:t>, </a:t>
            </a:r>
            <a:r>
              <a:rPr sz="1500" b="0">
                <a:solidFill>
                  <a:srgbClr val="4B2E83"/>
                </a:solidFill>
                <a:latin typeface="Consolas"/>
              </a:rPr>
              <a:t>5</a:t>
            </a:r>
            <a:r>
              <a:rPr sz="1500" b="0">
                <a:solidFill>
                  <a:srgbClr val="1D2330"/>
                </a:solidFill>
                <a:latin typeface="Calibri"/>
              </a:rPr>
              <a:t> vowels, </a:t>
            </a:r>
            <a:r>
              <a:rPr sz="1500" b="0">
                <a:solidFill>
                  <a:srgbClr val="4B2E83"/>
                </a:solidFill>
                <a:latin typeface="Consolas"/>
              </a:rPr>
              <a:t>p = 4, q = 0</a:t>
            </a:r>
            <a:r>
              <a:rPr sz="1500" b="0">
                <a:solidFill>
                  <a:srgbClr val="1D2330"/>
                </a:solidFill>
                <a:latin typeface="Calibri"/>
              </a:rPr>
              <a:t>, </a:t>
            </a:r>
            <a:r>
              <a:rPr sz="1500" b="0">
                <a:solidFill>
                  <a:srgbClr val="4B2E83"/>
                </a:solidFill>
                <a:latin typeface="Consolas"/>
              </a:rPr>
              <a:t>p = 5, q = 0</a:t>
            </a:r>
            <a:r>
              <a:rPr sz="1500" b="0">
                <a:solidFill>
                  <a:srgbClr val="1D2330"/>
                </a:solidFill>
                <a:latin typeface="Calibri"/>
              </a:rPr>
              <a:t>; only the </a:t>
            </a:r>
            <a:r>
              <a:rPr sz="1500" b="0">
                <a:solidFill>
                  <a:srgbClr val="4B2E83"/>
                </a:solidFill>
                <a:latin typeface="Consolas"/>
              </a:rPr>
              <a:t>badReference</a:t>
            </a:r>
            <a:r>
              <a:rPr sz="1500" b="0">
                <a:solidFill>
                  <a:srgbClr val="1D2330"/>
                </a:solidFill>
                <a:latin typeface="Calibri"/>
              </a:rPr>
              <a:t> warning.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0" y="138988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37160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Part A (given): run it; compare the values and addresses of </a:t>
            </a:r>
            <a:r>
              <a:rPr sz="1700" b="0">
                <a:solidFill>
                  <a:srgbClr val="4B2E83"/>
                </a:solidFill>
                <a:latin typeface="Consolas"/>
              </a:rPr>
              <a:t>i</a:t>
            </a:r>
            <a:r>
              <a:rPr sz="1700" b="0">
                <a:solidFill>
                  <a:srgbClr val="1D2330"/>
                </a:solidFill>
                <a:latin typeface="Calibri"/>
              </a:rPr>
              <a:t>, </a:t>
            </a:r>
            <a:r>
              <a:rPr sz="1700" b="0">
                <a:solidFill>
                  <a:srgbClr val="4B2E83"/>
                </a:solidFill>
                <a:latin typeface="Consolas"/>
              </a:rPr>
              <a:t>r</a:t>
            </a:r>
            <a:r>
              <a:rPr sz="1700" b="0">
                <a:solidFill>
                  <a:srgbClr val="1D2330"/>
                </a:solidFill>
                <a:latin typeface="Calibri"/>
              </a:rPr>
              <a:t>, </a:t>
            </a:r>
            <a:r>
              <a:rPr sz="1700" b="0">
                <a:solidFill>
                  <a:srgbClr val="4B2E83"/>
                </a:solidFill>
                <a:latin typeface="Consolas"/>
              </a:rPr>
              <a:t>x</a:t>
            </a:r>
            <a:r>
              <a:rPr sz="1700" b="0">
                <a:solidFill>
                  <a:srgbClr val="1D2330"/>
                </a:solidFill>
                <a:latin typeface="Calibri"/>
              </a:rPr>
              <a:t>; uncomment </a:t>
            </a:r>
            <a:r>
              <a:rPr sz="1700" b="0">
                <a:solidFill>
                  <a:srgbClr val="4B2E83"/>
                </a:solidFill>
                <a:latin typeface="Consolas"/>
              </a:rPr>
              <a:t>int &amp;xr;</a:t>
            </a:r>
            <a:r>
              <a:rPr sz="1700" b="0">
                <a:solidFill>
                  <a:srgbClr val="1D2330"/>
                </a:solidFill>
                <a:latin typeface="Calibri"/>
              </a:rPr>
              <a:t> and read the error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0" y="225856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4028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Part B: implement </a:t>
            </a:r>
            <a:r>
              <a:rPr sz="1700" b="0">
                <a:solidFill>
                  <a:srgbClr val="4B2E83"/>
                </a:solidFill>
                <a:latin typeface="Consolas"/>
              </a:rPr>
              <a:t>addOneByReference</a:t>
            </a:r>
            <a:r>
              <a:rPr sz="1700" b="0">
                <a:solidFill>
                  <a:srgbClr val="1D2330"/>
                </a:solidFill>
                <a:latin typeface="Calibri"/>
              </a:rPr>
              <a:t>, </a:t>
            </a:r>
            <a:r>
              <a:rPr sz="1700" b="0">
                <a:solidFill>
                  <a:srgbClr val="4B2E83"/>
                </a:solidFill>
                <a:latin typeface="Consolas"/>
              </a:rPr>
              <a:t>swapValues</a:t>
            </a:r>
            <a:r>
              <a:rPr sz="1700" b="0">
                <a:solidFill>
                  <a:srgbClr val="1D2330"/>
                </a:solidFill>
                <a:latin typeface="Calibri"/>
              </a:rPr>
              <a:t>, </a:t>
            </a:r>
            <a:r>
              <a:rPr sz="1700" b="0">
                <a:solidFill>
                  <a:srgbClr val="4B2E83"/>
                </a:solidFill>
                <a:latin typeface="Consolas"/>
              </a:rPr>
              <a:t>divide</a:t>
            </a:r>
            <a:r>
              <a:rPr sz="1700" b="0">
                <a:solidFill>
                  <a:srgbClr val="1D2330"/>
                </a:solidFill>
                <a:latin typeface="Calibri"/>
              </a:rPr>
              <a:t>, </a:t>
            </a:r>
            <a:r>
              <a:rPr sz="1700" b="0">
                <a:solidFill>
                  <a:srgbClr val="4B2E83"/>
                </a:solidFill>
                <a:latin typeface="Consolas"/>
              </a:rPr>
              <a:t>countVowels</a:t>
            </a:r>
            <a:r>
              <a:rPr sz="1700" b="0">
                <a:solidFill>
                  <a:srgbClr val="1D2330"/>
                </a:solidFill>
                <a:latin typeface="Calibri"/>
              </a:rPr>
              <a:t>; uncomment the matching lines</a:t>
            </a:r>
          </a:p>
        </p:txBody>
      </p:sp>
      <p:sp>
        <p:nvSpPr>
          <p:cNvPr id="17" name="Oval 16"/>
          <p:cNvSpPr/>
          <p:nvPr/>
        </p:nvSpPr>
        <p:spPr>
          <a:xfrm>
            <a:off x="4023360" y="312724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0896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Part C: implement </a:t>
            </a:r>
            <a:r>
              <a:rPr sz="1700" b="0">
                <a:solidFill>
                  <a:srgbClr val="4B2E83"/>
                </a:solidFill>
                <a:latin typeface="Consolas"/>
              </a:rPr>
              <a:t>larger</a:t>
            </a:r>
            <a:r>
              <a:rPr sz="1700" b="0">
                <a:solidFill>
                  <a:srgbClr val="1D2330"/>
                </a:solidFill>
                <a:latin typeface="Calibri"/>
              </a:rPr>
              <a:t>, which returns a reference; uncomment its lines</a:t>
            </a:r>
          </a:p>
        </p:txBody>
      </p:sp>
      <p:sp>
        <p:nvSpPr>
          <p:cNvPr id="19" name="Oval 18"/>
          <p:cNvSpPr/>
          <p:nvPr/>
        </p:nvSpPr>
        <p:spPr>
          <a:xfrm>
            <a:off x="4023360" y="3995928"/>
            <a:ext cx="384048" cy="38404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77640"/>
            <a:ext cx="707105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Compile with </a:t>
            </a:r>
            <a:r>
              <a:rPr sz="1700" b="0">
                <a:solidFill>
                  <a:srgbClr val="4B2E83"/>
                </a:solidFill>
                <a:latin typeface="Consolas"/>
              </a:rPr>
              <a:t>g++ -std=c++17 -Wall -Wextra</a:t>
            </a:r>
            <a:r>
              <a:rPr sz="1700" b="0">
                <a:solidFill>
                  <a:srgbClr val="1D2330"/>
                </a:solidFill>
                <a:latin typeface="Calibri"/>
              </a:rPr>
              <a:t> and read the warning for </a:t>
            </a:r>
            <a:r>
              <a:rPr sz="1700" b="0">
                <a:solidFill>
                  <a:srgbClr val="4B2E83"/>
                </a:solidFill>
                <a:latin typeface="Consolas"/>
              </a:rPr>
              <a:t>badReference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39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Walkthrough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Part A: </a:t>
            </a:r>
            <a:r>
              <a:rPr sz="2000" b="0">
                <a:solidFill>
                  <a:srgbClr val="4B2E83"/>
                </a:solidFill>
                <a:latin typeface="Consolas"/>
              </a:rPr>
              <a:t>r</a:t>
            </a:r>
            <a:r>
              <a:rPr sz="2000" b="0">
                <a:solidFill>
                  <a:srgbClr val="1D2330"/>
                </a:solidFill>
                <a:latin typeface="Calibri"/>
              </a:rPr>
              <a:t> and </a:t>
            </a:r>
            <a:r>
              <a:rPr sz="2000" b="0">
                <a:solidFill>
                  <a:srgbClr val="4B2E83"/>
                </a:solidFill>
                <a:latin typeface="Consolas"/>
              </a:rPr>
              <a:t>i</a:t>
            </a:r>
            <a:r>
              <a:rPr sz="2000" b="0">
                <a:solidFill>
                  <a:srgbClr val="1D2330"/>
                </a:solidFill>
                <a:latin typeface="Calibri"/>
              </a:rPr>
              <a:t> share one address, so </a:t>
            </a:r>
            <a:r>
              <a:rPr sz="2000" b="0">
                <a:solidFill>
                  <a:srgbClr val="4B2E83"/>
                </a:solidFill>
                <a:latin typeface="Consolas"/>
              </a:rPr>
              <a:t>r = 2</a:t>
            </a:r>
            <a:r>
              <a:rPr sz="2000" b="0">
                <a:solidFill>
                  <a:srgbClr val="1D2330"/>
                </a:solidFill>
                <a:latin typeface="Calibri"/>
              </a:rPr>
              <a:t> changes </a:t>
            </a:r>
            <a:r>
              <a:rPr sz="2000" b="0">
                <a:solidFill>
                  <a:srgbClr val="4B2E83"/>
                </a:solidFill>
                <a:latin typeface="Consolas"/>
              </a:rPr>
              <a:t>i</a:t>
            </a:r>
            <a:r>
              <a:rPr sz="2000" b="0">
                <a:solidFill>
                  <a:srgbClr val="1D2330"/>
                </a:solidFill>
                <a:latin typeface="Calibri"/>
              </a:rPr>
              <a:t>; </a:t>
            </a:r>
            <a:r>
              <a:rPr sz="2000" b="0">
                <a:solidFill>
                  <a:srgbClr val="4B2E83"/>
                </a:solidFill>
                <a:latin typeface="Consolas"/>
              </a:rPr>
              <a:t>x</a:t>
            </a:r>
            <a:r>
              <a:rPr sz="2000" b="0">
                <a:solidFill>
                  <a:srgbClr val="1D2330"/>
                </a:solidFill>
                <a:latin typeface="Calibri"/>
              </a:rPr>
              <a:t> is a copy and stays 1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4B2E83"/>
                </a:solidFill>
                <a:latin typeface="Consolas"/>
              </a:rPr>
              <a:t>addOneByReference(r)</a:t>
            </a:r>
            <a:r>
              <a:rPr sz="2000" b="0">
                <a:solidFill>
                  <a:srgbClr val="1D2330"/>
                </a:solidFill>
                <a:latin typeface="Calibri"/>
              </a:rPr>
              <a:t> changes </a:t>
            </a:r>
            <a:r>
              <a:rPr sz="2000" b="0">
                <a:solidFill>
                  <a:srgbClr val="4B2E83"/>
                </a:solidFill>
                <a:latin typeface="Consolas"/>
              </a:rPr>
              <a:t>i</a:t>
            </a:r>
            <a:r>
              <a:rPr sz="2000" b="0">
                <a:solidFill>
                  <a:srgbClr val="1D2330"/>
                </a:solidFill>
                <a:latin typeface="Calibri"/>
              </a:rPr>
              <a:t>, because </a:t>
            </a:r>
            <a:r>
              <a:rPr sz="2000" b="0">
                <a:solidFill>
                  <a:srgbClr val="4B2E83"/>
                </a:solidFill>
                <a:latin typeface="Consolas"/>
              </a:rPr>
              <a:t>r</a:t>
            </a:r>
            <a:r>
              <a:rPr sz="2000" b="0">
                <a:solidFill>
                  <a:srgbClr val="1D2330"/>
                </a:solidFill>
                <a:latin typeface="Calibri"/>
              </a:rPr>
              <a:t> IS </a:t>
            </a:r>
            <a:r>
              <a:rPr sz="2000" b="0">
                <a:solidFill>
                  <a:srgbClr val="4B2E83"/>
                </a:solidFill>
                <a:latin typeface="Consolas"/>
              </a:rPr>
              <a:t>i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4B2E83"/>
                </a:solidFill>
                <a:latin typeface="Consolas"/>
              </a:rPr>
              <a:t>const string&amp;</a:t>
            </a:r>
            <a:r>
              <a:rPr sz="2000" b="0">
                <a:solidFill>
                  <a:srgbClr val="1D2330"/>
                </a:solidFill>
                <a:latin typeface="Calibri"/>
              </a:rPr>
              <a:t> avoids the copy, forbids changes, and accepts the literal </a:t>
            </a:r>
            <a:r>
              <a:rPr sz="2000" b="0">
                <a:solidFill>
                  <a:srgbClr val="4B2E83"/>
                </a:solidFill>
                <a:latin typeface="Consolas"/>
              </a:rPr>
              <a:t>"Data Structures"</a:t>
            </a:r>
            <a:r>
              <a:rPr sz="2000" b="0">
                <a:solidFill>
                  <a:srgbClr val="1D2330"/>
                </a:solidFill>
                <a:latin typeface="Calibri"/>
              </a:rPr>
              <a:t>; plain </a:t>
            </a:r>
            <a:r>
              <a:rPr sz="2000" b="0">
                <a:solidFill>
                  <a:srgbClr val="4B2E83"/>
                </a:solidFill>
                <a:latin typeface="Consolas"/>
              </a:rPr>
              <a:t>string&amp;</a:t>
            </a:r>
            <a:r>
              <a:rPr sz="2000" b="0">
                <a:solidFill>
                  <a:srgbClr val="1D2330"/>
                </a:solidFill>
                <a:latin typeface="Calibri"/>
              </a:rPr>
              <a:t> does not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4B2E83"/>
                </a:solidFill>
                <a:latin typeface="Consolas"/>
              </a:rPr>
              <a:t>larger</a:t>
            </a:r>
            <a:r>
              <a:rPr sz="2000" b="0">
                <a:solidFill>
                  <a:srgbClr val="1D2330"/>
                </a:solidFill>
                <a:latin typeface="Calibri"/>
              </a:rPr>
              <a:t> returns </a:t>
            </a:r>
            <a:r>
              <a:rPr sz="2000" b="0">
                <a:solidFill>
                  <a:srgbClr val="4B2E83"/>
                </a:solidFill>
                <a:latin typeface="Consolas"/>
              </a:rPr>
              <a:t>int&amp;</a:t>
            </a:r>
            <a:r>
              <a:rPr sz="2000" b="0">
                <a:solidFill>
                  <a:srgbClr val="1D2330"/>
                </a:solidFill>
                <a:latin typeface="Calibri"/>
              </a:rPr>
              <a:t>, so the call IS </a:t>
            </a:r>
            <a:r>
              <a:rPr sz="2000" b="0">
                <a:solidFill>
                  <a:srgbClr val="4B2E83"/>
                </a:solidFill>
                <a:latin typeface="Consolas"/>
              </a:rPr>
              <a:t>p</a:t>
            </a:r>
            <a:r>
              <a:rPr sz="2000" b="0">
                <a:solidFill>
                  <a:srgbClr val="1D2330"/>
                </a:solidFill>
                <a:latin typeface="Calibri"/>
              </a:rPr>
              <a:t> or </a:t>
            </a:r>
            <a:r>
              <a:rPr sz="2000" b="0">
                <a:solidFill>
                  <a:srgbClr val="4B2E83"/>
                </a:solidFill>
                <a:latin typeface="Consolas"/>
              </a:rPr>
              <a:t>q</a:t>
            </a:r>
            <a:r>
              <a:rPr sz="2000" b="0">
                <a:solidFill>
                  <a:srgbClr val="1D2330"/>
                </a:solidFill>
                <a:latin typeface="Calibri"/>
              </a:rPr>
              <a:t>; returning </a:t>
            </a:r>
            <a:r>
              <a:rPr sz="2000" b="0">
                <a:solidFill>
                  <a:srgbClr val="4B2E83"/>
                </a:solidFill>
                <a:latin typeface="Consolas"/>
              </a:rPr>
              <a:t>int</a:t>
            </a:r>
            <a:r>
              <a:rPr sz="2000" b="0">
                <a:solidFill>
                  <a:srgbClr val="1D2330"/>
                </a:solidFill>
                <a:latin typeface="Calibri"/>
              </a:rPr>
              <a:t> gives </a:t>
            </a:r>
            <a:r>
              <a:rPr sz="2000" b="0">
                <a:solidFill>
                  <a:srgbClr val="4B2E83"/>
                </a:solidFill>
                <a:latin typeface="Consolas"/>
              </a:rPr>
              <a:t>lvalue required</a:t>
            </a:r>
            <a:r>
              <a:rPr sz="2000" b="0">
                <a:solidFill>
                  <a:srgbClr val="1D2330"/>
                </a:solidFill>
                <a:latin typeface="Calibri"/>
              </a:rPr>
              <a:t> errors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Java cannot write </a:t>
            </a:r>
            <a:r>
              <a:rPr sz="2000" b="0">
                <a:solidFill>
                  <a:srgbClr val="4B2E83"/>
                </a:solidFill>
                <a:latin typeface="Consolas"/>
              </a:rPr>
              <a:t>swapValues</a:t>
            </a:r>
            <a:r>
              <a:rPr sz="2000" b="0">
                <a:solidFill>
                  <a:srgbClr val="1D2330"/>
                </a:solidFill>
                <a:latin typeface="Calibri"/>
              </a:rPr>
              <a:t> for two </a:t>
            </a:r>
            <a:r>
              <a:rPr sz="2000" b="0">
                <a:solidFill>
                  <a:srgbClr val="4B2E83"/>
                </a:solidFill>
                <a:latin typeface="Consolas"/>
              </a:rPr>
              <a:t>int</a:t>
            </a:r>
            <a:r>
              <a:rPr sz="2000" b="0">
                <a:solidFill>
                  <a:srgbClr val="1D2330"/>
                </a:solidFill>
                <a:latin typeface="Calibri"/>
              </a:rPr>
              <a:t>s: it always passes by value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Self-test: Part 3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D2330"/>
                </a:solidFill>
                <a:latin typeface="Calibri"/>
              </a:rPr>
              <a:t>Given </a:t>
            </a:r>
            <a:r>
              <a:rPr sz="1800" b="0">
                <a:solidFill>
                  <a:srgbClr val="4B2E83"/>
                </a:solidFill>
                <a:latin typeface="Consolas"/>
              </a:rPr>
              <a:t>void g(int &amp;n);</a:t>
            </a:r>
            <a:r>
              <a:rPr sz="1800" b="0">
                <a:solidFill>
                  <a:srgbClr val="1D2330"/>
                </a:solidFill>
                <a:latin typeface="Calibri"/>
              </a:rPr>
              <a:t>, which compile: </a:t>
            </a:r>
            <a:r>
              <a:rPr sz="1800" b="0">
                <a:solidFill>
                  <a:srgbClr val="4B2E83"/>
                </a:solidFill>
                <a:latin typeface="Consolas"/>
              </a:rPr>
              <a:t>g(x)</a:t>
            </a:r>
            <a:r>
              <a:rPr sz="1800" b="0">
                <a:solidFill>
                  <a:srgbClr val="1D2330"/>
                </a:solidFill>
                <a:latin typeface="Calibri"/>
              </a:rPr>
              <a:t>, </a:t>
            </a:r>
            <a:r>
              <a:rPr sz="1800" b="0">
                <a:solidFill>
                  <a:srgbClr val="4B2E83"/>
                </a:solidFill>
                <a:latin typeface="Consolas"/>
              </a:rPr>
              <a:t>g(5)</a:t>
            </a:r>
            <a:r>
              <a:rPr sz="1800" b="0">
                <a:solidFill>
                  <a:srgbClr val="1D2330"/>
                </a:solidFill>
                <a:latin typeface="Calibri"/>
              </a:rPr>
              <a:t>, </a:t>
            </a:r>
            <a:r>
              <a:rPr sz="1800" b="0">
                <a:solidFill>
                  <a:srgbClr val="4B2E83"/>
                </a:solidFill>
                <a:latin typeface="Consolas"/>
              </a:rPr>
              <a:t>g(x + 1)</a:t>
            </a:r>
            <a:r>
              <a:rPr sz="1800" b="0">
                <a:solidFill>
                  <a:srgbClr val="1D2330"/>
                </a:solidFill>
                <a:latin typeface="Calibri"/>
              </a:rPr>
              <a:t>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6032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B2E83"/>
                </a:solidFill>
                <a:latin typeface="Consolas"/>
              </a:rPr>
              <a:t>int a = 1, b = 7; int &amp;r = a; r = b; r = r + 1;</a:t>
            </a:r>
            <a:r>
              <a:rPr sz="1800" b="0">
                <a:solidFill>
                  <a:srgbClr val="1D2330"/>
                </a:solidFill>
                <a:latin typeface="Calibri"/>
              </a:rPr>
              <a:t> What are </a:t>
            </a:r>
            <a:r>
              <a:rPr sz="1800" b="0">
                <a:solidFill>
                  <a:srgbClr val="4B2E83"/>
                </a:solidFill>
                <a:latin typeface="Consolas"/>
              </a:rPr>
              <a:t>a</a:t>
            </a:r>
            <a:r>
              <a:rPr sz="1800" b="0">
                <a:solidFill>
                  <a:srgbClr val="1D2330"/>
                </a:solidFill>
                <a:latin typeface="Calibri"/>
              </a:rPr>
              <a:t> and </a:t>
            </a:r>
            <a:r>
              <a:rPr sz="1800" b="0">
                <a:solidFill>
                  <a:srgbClr val="4B2E83"/>
                </a:solidFill>
                <a:latin typeface="Consolas"/>
              </a:rPr>
              <a:t>b</a:t>
            </a:r>
            <a:r>
              <a:rPr sz="1800" b="0">
                <a:solidFill>
                  <a:srgbClr val="1D2330"/>
                </a:solidFill>
                <a:latin typeface="Calibri"/>
              </a:rPr>
              <a:t>?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74904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D2330"/>
                </a:solidFill>
                <a:latin typeface="Calibri"/>
              </a:rPr>
              <a:t>What is wrong with </a:t>
            </a:r>
            <a:r>
              <a:rPr sz="1800" b="0">
                <a:solidFill>
                  <a:srgbClr val="4B2E83"/>
                </a:solidFill>
                <a:latin typeface="Consolas"/>
              </a:rPr>
              <a:t>const string &amp;longer(string a, string b)</a:t>
            </a:r>
            <a:r>
              <a:rPr sz="1800" b="0">
                <a:solidFill>
                  <a:srgbClr val="1D2330"/>
                </a:solidFill>
                <a:latin typeface="Calibri"/>
              </a:rPr>
              <a:t> returning </a:t>
            </a:r>
            <a:r>
              <a:rPr sz="1800" b="0">
                <a:solidFill>
                  <a:srgbClr val="4B2E83"/>
                </a:solidFill>
                <a:latin typeface="Consolas"/>
              </a:rPr>
              <a:t>a</a:t>
            </a:r>
            <a:r>
              <a:rPr sz="1800" b="0">
                <a:solidFill>
                  <a:srgbClr val="1D2330"/>
                </a:solidFill>
                <a:latin typeface="Calibri"/>
              </a:rPr>
              <a:t> or </a:t>
            </a:r>
            <a:r>
              <a:rPr sz="1800" b="0">
                <a:solidFill>
                  <a:srgbClr val="4B2E83"/>
                </a:solidFill>
                <a:latin typeface="Consolas"/>
              </a:rPr>
              <a:t>b</a:t>
            </a:r>
            <a:r>
              <a:rPr sz="1800" b="0">
                <a:solidFill>
                  <a:srgbClr val="1D2330"/>
                </a:solidFill>
                <a:latin typeface="Calibri"/>
              </a:rPr>
              <a:t>?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F3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4B2E83"/>
                </a:solidFill>
                <a:latin typeface="Calibri"/>
              </a:rP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937760"/>
            <a:ext cx="1040861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D2330"/>
                </a:solidFill>
                <a:latin typeface="Calibri"/>
              </a:rPr>
              <a:t>Declare </a:t>
            </a:r>
            <a:r>
              <a:rPr sz="1800" b="0">
                <a:solidFill>
                  <a:srgbClr val="4B2E83"/>
                </a:solidFill>
                <a:latin typeface="Consolas"/>
              </a:rPr>
              <a:t>printAll</a:t>
            </a:r>
            <a:r>
              <a:rPr sz="1800" b="0">
                <a:solidFill>
                  <a:srgbClr val="1D2330"/>
                </a:solidFill>
                <a:latin typeface="Calibri"/>
              </a:rPr>
              <a:t>, which prints a string without changing it, and </a:t>
            </a:r>
            <a:r>
              <a:rPr sz="1800" b="0">
                <a:solidFill>
                  <a:srgbClr val="4B2E83"/>
                </a:solidFill>
                <a:latin typeface="Consolas"/>
              </a:rPr>
              <a:t>toUpper</a:t>
            </a:r>
            <a:r>
              <a:rPr sz="1800" b="0">
                <a:solidFill>
                  <a:srgbClr val="1D2330"/>
                </a:solidFill>
                <a:latin typeface="Calibri"/>
              </a:rPr>
              <a:t>, which changes it in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Calibri"/>
              </a:rPr>
              <a:t>Answers are on the lab page: click “Show answer” under each question.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41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347472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Section Quiz on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Open the quiz “Lab 1 Exercise 3 Quiz” on Canvas: your instructor makes it available now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10 minutes, multiple choice: the questions about Exercise 3</a:t>
            </a:r>
          </a:p>
          <a:p>
            <a:pPr marL="256032" indent="-228600">
              <a:spcAft>
                <a:spcPts val="800"/>
              </a:spcAft>
              <a:buClr>
                <a:srgbClr val="5B6475"/>
              </a:buClr>
              <a:buChar char="•"/>
            </a:pPr>
            <a:r>
              <a:rPr sz="2000" b="0">
                <a:solidFill>
                  <a:srgbClr val="1D2330"/>
                </a:solidFill>
                <a:latin typeface="Calibri"/>
              </a:rPr>
              <a:t>The last thing in this part, after the walkthrough and the self-test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5B6475"/>
                </a:solidFill>
                <a:latin typeface="Calibri"/>
              </a:rPr>
              <a:t>CSS SKL 342 · Lab 1: Toolchain and C++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Calibri"/>
              </a:rP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1D2330"/>
                </a:solidFill>
                <a:latin typeface="Calibri"/>
              </a:rPr>
              <a:t>What to submit: one zip, once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53312"/>
            <a:ext cx="49985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Your work is in </a:t>
            </a:r>
            <a:r>
              <a:rPr sz="1700" b="0">
                <a:solidFill>
                  <a:srgbClr val="4B2E83"/>
                </a:solidFill>
                <a:latin typeface="Consolas"/>
              </a:rPr>
              <a:t>Lab1/exercises</a:t>
            </a:r>
            <a:r>
              <a:rPr sz="1700" b="0">
                <a:solidFill>
                  <a:srgbClr val="1D2330"/>
                </a:solidFill>
                <a:latin typeface="Calibri"/>
              </a:rPr>
              <a:t>, with subfolders named like the starter folders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49985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Run </a:t>
            </a:r>
            <a:r>
              <a:rPr sz="1700" b="0">
                <a:solidFill>
                  <a:srgbClr val="4B2E83"/>
                </a:solidFill>
                <a:latin typeface="Consolas"/>
              </a:rPr>
              <a:t>make clean</a:t>
            </a:r>
            <a:r>
              <a:rPr sz="1700" b="0">
                <a:solidFill>
                  <a:srgbClr val="1D2330"/>
                </a:solidFill>
                <a:latin typeface="Calibri"/>
              </a:rPr>
              <a:t>; delete other </a:t>
            </a:r>
            <a:r>
              <a:rPr sz="1700" b="0">
                <a:solidFill>
                  <a:srgbClr val="4B2E83"/>
                </a:solidFill>
                <a:latin typeface="Consolas"/>
              </a:rPr>
              <a:t>.o</a:t>
            </a:r>
            <a:r>
              <a:rPr sz="1700" b="0">
                <a:solidFill>
                  <a:srgbClr val="1D2330"/>
                </a:solidFill>
                <a:latin typeface="Calibri"/>
              </a:rPr>
              <a:t> files and executables; delete the </a:t>
            </a:r>
            <a:r>
              <a:rPr sz="1700" b="0">
                <a:solidFill>
                  <a:srgbClr val="4B2E83"/>
                </a:solidFill>
                <a:latin typeface="Consolas"/>
              </a:rPr>
              <a:t>examples</a:t>
            </a:r>
            <a:r>
              <a:rPr sz="1700" b="0">
                <a:solidFill>
                  <a:srgbClr val="1D2330"/>
                </a:solidFill>
                <a:latin typeface="Calibri"/>
              </a:rPr>
              <a:t> folder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82112"/>
            <a:ext cx="49985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Check: compiles with </a:t>
            </a:r>
            <a:r>
              <a:rPr sz="1700" b="0">
                <a:solidFill>
                  <a:srgbClr val="4B2E83"/>
                </a:solidFill>
                <a:latin typeface="Consolas"/>
              </a:rPr>
              <a:t>-Wall -Wextra</a:t>
            </a:r>
            <a:r>
              <a:rPr sz="1700" b="0">
                <a:solidFill>
                  <a:srgbClr val="1D2330"/>
                </a:solidFill>
                <a:latin typeface="Calibri"/>
              </a:rPr>
              <a:t>; the only warning is the planted </a:t>
            </a:r>
            <a:r>
              <a:rPr sz="1700" b="0">
                <a:solidFill>
                  <a:srgbClr val="4B2E83"/>
                </a:solidFill>
                <a:latin typeface="Consolas"/>
              </a:rPr>
              <a:t>badReference</a:t>
            </a:r>
            <a:r>
              <a:rPr sz="1700" b="0">
                <a:solidFill>
                  <a:srgbClr val="1D2330"/>
                </a:solidFill>
                <a:latin typeface="Calibri"/>
              </a:rPr>
              <a:t> one (Exercise 3)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96512"/>
            <a:ext cx="49985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Zip the whole folder: </a:t>
            </a:r>
            <a:r>
              <a:rPr sz="1700" b="0">
                <a:solidFill>
                  <a:srgbClr val="4B2E83"/>
                </a:solidFill>
                <a:latin typeface="Consolas"/>
              </a:rPr>
              <a:t>zip -r Lab1-netid.zip Lab1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10912"/>
            <a:ext cx="49985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D2330"/>
                </a:solidFill>
                <a:latin typeface="Calibri"/>
              </a:rPr>
              <a:t>Upload that one zip to the Lab 1 assignment on Canvas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5887" y="1325880"/>
            <a:ext cx="5227167" cy="361188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4487" y="1508760"/>
            <a:ext cx="4769967" cy="3246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Lab1/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└── exercises/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├── ex1-build/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│     main.cpp convert.h convert.cpp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│     report.h report.cpp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│     Makefile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├── ex2-types/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│     rounding.h rounding.cpp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│     test_rounding.cpp limits.cpp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│     Makefile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└── ex3-references/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         references.cpp</a:t>
            </a:r>
          </a:p>
          <a:p>
            <a:pPr>
              <a:spcAft>
                <a:spcPts val="0"/>
              </a:spcAft>
            </a:pPr>
            <a:r>
              <a:rPr sz="1400"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(Part 0: nothing to submit;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6E6EF"/>
                </a:solidFill>
                <a:latin typeface="Consolas"/>
              </a:rPr>
              <a:t> part0/ stays out of the zip)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64327" cy="2148840"/>
          </a:xfrm>
          <a:prstGeom prst="roundRect">
            <a:avLst>
              <a:gd name="adj" fmla="val 6000"/>
            </a:avLst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E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C5B4E3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783080"/>
            <a:ext cx="4175607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0">
                <a:solidFill>
                  <a:srgbClr val="C5B4E3"/>
                </a:solidFill>
                <a:latin typeface="Consolas"/>
              </a:rPr>
              <a:t>CSSSKL342</a:t>
            </a:r>
            <a:r>
              <a:rPr sz="2200" b="0">
                <a:solidFill>
                  <a:srgbClr val="FFFFFF"/>
                </a:solidFill>
                <a:latin typeface="Calibri"/>
              </a:rPr>
              <a:t> is one folder with two names. Keep your work in it; Linux names are case-sensitive and </a:t>
            </a:r>
            <a:r>
              <a:rPr sz="2200" b="0">
                <a:solidFill>
                  <a:srgbClr val="C5B4E3"/>
                </a:solidFill>
                <a:latin typeface="Consolas"/>
              </a:rPr>
              <a:t>rm</a:t>
            </a:r>
            <a:r>
              <a:rPr sz="2200" b="0">
                <a:solidFill>
                  <a:srgbClr val="FFFFFF"/>
                </a:solidFill>
                <a:latin typeface="Calibri"/>
              </a:rPr>
              <a:t> is forever.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364327" cy="2148840"/>
          </a:xfrm>
          <a:prstGeom prst="roundRect">
            <a:avLst>
              <a:gd name="adj" fmla="val 6000"/>
            </a:avLst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53047" y="1828800"/>
            <a:ext cx="457200" cy="457200"/>
          </a:xfrm>
          <a:prstGeom prst="ellipse">
            <a:avLst/>
          </a:prstGeom>
          <a:solidFill>
            <a:srgbClr val="1E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C5B4E3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3127" y="1783080"/>
            <a:ext cx="4175607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Calibri"/>
              </a:rPr>
              <a:t>Headers declare, </a:t>
            </a:r>
            <a:r>
              <a:rPr sz="2200" b="0">
                <a:solidFill>
                  <a:srgbClr val="C5B4E3"/>
                </a:solidFill>
                <a:latin typeface="Consolas"/>
              </a:rPr>
              <a:t>.cpp</a:t>
            </a:r>
            <a:r>
              <a:rPr sz="2200" b="0">
                <a:solidFill>
                  <a:srgbClr val="FFFFFF"/>
                </a:solidFill>
                <a:latin typeface="Calibri"/>
              </a:rPr>
              <a:t> files define, the linker matches them up. Guard every header.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40"/>
            <a:ext cx="5364327" cy="2148840"/>
          </a:xfrm>
          <a:prstGeom prst="roundRect">
            <a:avLst>
              <a:gd name="adj" fmla="val 6000"/>
            </a:avLst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1E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C5B4E3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206240"/>
            <a:ext cx="4175607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Calibri"/>
              </a:rPr>
              <a:t>Type sizes vary and arithmetic happens in the operands' type. Cast before the operation.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3977640"/>
            <a:ext cx="5364327" cy="2148840"/>
          </a:xfrm>
          <a:prstGeom prst="roundRect">
            <a:avLst>
              <a:gd name="adj" fmla="val 6000"/>
            </a:avLst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53047" y="4251960"/>
            <a:ext cx="457200" cy="457200"/>
          </a:xfrm>
          <a:prstGeom prst="ellipse">
            <a:avLst/>
          </a:prstGeom>
          <a:solidFill>
            <a:srgbClr val="1E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C5B4E3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3127" y="4206240"/>
            <a:ext cx="4175607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Calibri"/>
              </a:rPr>
              <a:t>A reference is another name for a variable. Pass objects by </a:t>
            </a:r>
            <a:r>
              <a:rPr sz="2200" b="0">
                <a:solidFill>
                  <a:srgbClr val="C5B4E3"/>
                </a:solidFill>
                <a:latin typeface="Consolas"/>
              </a:rPr>
              <a:t>const&amp;</a:t>
            </a:r>
            <a:r>
              <a:rPr sz="2200" b="0">
                <a:solidFill>
                  <a:srgbClr val="FFFFFF"/>
                </a:solidFill>
                <a:latin typeface="Calibri"/>
              </a:rPr>
              <a:t>; use </a:t>
            </a:r>
            <a:r>
              <a:rPr sz="2200" b="0">
                <a:solidFill>
                  <a:srgbClr val="C5B4E3"/>
                </a:solidFill>
                <a:latin typeface="Consolas"/>
              </a:rPr>
              <a:t>&amp;</a:t>
            </a:r>
            <a:r>
              <a:rPr sz="2200" b="0">
                <a:solidFill>
                  <a:srgbClr val="FFFFFF"/>
                </a:solidFill>
                <a:latin typeface="Calibri"/>
              </a:rPr>
              <a:t> only to change the caller's variable.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