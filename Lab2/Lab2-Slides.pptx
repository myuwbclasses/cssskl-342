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find bugs with gdb and the VS Code debugger first, then build classes: the pieces every CSS 342 data structure is made of. The debugger is used again in Part 3 to watch destructors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Break 4:05-4:15. 5:05-5:15 is catch-up and wrap-up. One submission at the end of the lab.</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programs will crash or print wrong answers, and rereading the code is the slowest way to find out why. Two tools are faster: printing what the program is doing, in a way that doesn't mix with its real output, and a debugger, which stops the program at any line and shows every variable. C++ makes them more important than in Java, because a crash often comes with nothing but `Segmentation fault` and no stack trace.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Lab2/examples/1.1.cerr_vs_cout (&gt; and 2&gt; separate the streams) and 1.2.cout_lost_on_crash (cout without a newline is lost even on the terminal when the program crashes). Verified in the image: with output redirected, everything sent to cout is lost when the program crashes. After the progress message moves to cerr, out.txt keeps Ana and Ben (writing to cerr also flushes cout first).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the container gdb may warn 'Error disabling address space randomization': harmless.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one-file programs. Needs the C/C++ extension installed IN THE CONTAINER (Pre-Lab step 7); without it there is no ▷ button and no Debug C/C++ File: Extensions -&gt; C/C++ Extension Pack -&gt; Install in Container. The first time, choose 'C/C++: g++ build and debug active file'. Outlined: Locals (total = 269, count = 3), the toolbar, the paused line, and the Call Stack (average called from report).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Bugs: integer division in average, &gt; instead of &gt;= for C, no check for count == 0 (SIGFPE).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2 Exercise 1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 bundles data with the functions that keep it valid: if only `Rational`'s own functions can set the denominator, it can never be zero. The ideas are the ones you know from Java, but C++ splits a class across a header and a `.cpp` file and adds details Java doesn't have, such as initializer lists and `const` member functions. Every CSS 342 assignment is built from classes written this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Older code assigns members in the constructor body (num_ = num;). It still works for int members, so students must be able to read it, but it creates then assigns, and fails for const members ('assignment of read-only member'). Write the initializer list.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Planted: getters not const, so show(const Rational &amp;) fails to compile.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2 Exercise 2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Java an object lives until the garbage collector decides it's unreachable, and you never know exactly when. In C++ an object dies at a precise moment, usually a closing `}`, and its destructor runs right then. That is what lets a C++ class release memory and other resources on time, and it means you need to know exactly when your objects are created, copied, and destroyed.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Lab2/examples/3.1.scope_and_destructor (a { } sub-block inside main; every constructor and destructor prints). Have students predict the order first.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Lab2/examples/3.2.copy_construction (numbered objects: t1(t2) and t1 = t2 both print 'copy constructor'; t3 = t1 prints 'assignment') and 3.3.copy_elision (build with -fno-elide-constructors to see the copy that elision saves).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choice depends on whether the OBJECT is const, not on reading vs. writing: int n = c.value() only reads but still calls the non-const version (verified).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lifetime is built from two .cpp files, so gdb rather than VS Code's one-file debug button. First stop: name_ = "b", called from main () at lifetime.cpp:49, the closing } of the block.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2 Exercise 3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 for fractions, money, or dates is easier to use when `a + b`, `a &lt; b`, and `cout &lt;&lt; a` work just as they do for `int`. C++ lets you define what operators mean for your own types, and the standard library counts on it: sorting and `map` use `&lt;`, and printing uses `&lt;&lt;`. CSS 342 assignments regularly ask for `==`, `&lt;`, and `&lt;&lt;` on your classes.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4.1.member_vs_nonmember_operator (a + b IS a.operator+(b); the non-member version is commented out, ready to swap in), 4.2.return_this ((total += a) += b gives 123; returning by value gives 120), 4.3.operators_from_each_other (+ from +=, != from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4.4.why_nonmember. With + as a member, 2 + m fails: no match for 'operator+' (operand types are 'int' and 'MemberMoney'); the compiler never converts the object a member is called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4.5.friend_operator_output (both classes, one driver). Its README has the real errors for the three usual mistakes: no friend line -&gt; 'int Secret::code_' is private within this context; friend on the definition -&gt; 'friend' used outside of class; Secret:: on the definition -&gt; '... must have exactly one argument' (as a member its left operand would be a Secret).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 (or unlock) Lab 2 Exercise 4 Quiz in Canvas now; give the class 10 minutes.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8503920" y="-1097280"/>
            <a:ext cx="4754880" cy="475488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011680"/>
            <a:ext cx="9144000" cy="457200"/>
          </a:xfrm>
          <a:prstGeom prst="rect">
            <a:avLst/>
          </a:prstGeom>
          <a:noFill/>
        </p:spPr>
        <p:txBody>
          <a:bodyPr wrap="square" lIns="0" rIns="0" tIns="0" bIns="0" anchor="t">
            <a:spAutoFit/>
          </a:bodyPr>
          <a:lstStyle/>
          <a:p>
            <a:pPr algn="l"/>
            <a:r>
              <a:rPr sz="1600" b="1">
                <a:solidFill>
                  <a:srgbClr val="C5B4E3"/>
                </a:solidFill>
                <a:latin typeface="Calibri"/>
              </a:rPr>
              <a:t>CSS SKL 342 · LAB 2</a:t>
            </a:r>
          </a:p>
        </p:txBody>
      </p:sp>
      <p:sp>
        <p:nvSpPr>
          <p:cNvPr id="4" name="TextBox 3"/>
          <p:cNvSpPr txBox="1"/>
          <p:nvPr/>
        </p:nvSpPr>
        <p:spPr>
          <a:xfrm>
            <a:off x="548640" y="2514600"/>
            <a:ext cx="9601200" cy="1280160"/>
          </a:xfrm>
          <a:prstGeom prst="rect">
            <a:avLst/>
          </a:prstGeom>
          <a:noFill/>
        </p:spPr>
        <p:txBody>
          <a:bodyPr wrap="square" lIns="0" rIns="0" tIns="0" bIns="0" anchor="t">
            <a:spAutoFit/>
          </a:bodyPr>
          <a:lstStyle/>
          <a:p>
            <a:pPr algn="l"/>
            <a:r>
              <a:rPr sz="4800" b="1">
                <a:solidFill>
                  <a:srgbClr val="FFFFFF"/>
                </a:solidFill>
                <a:latin typeface="Calibri"/>
              </a:rPr>
              <a:t>Debugging, Classes, and Operators</a:t>
            </a:r>
          </a:p>
        </p:txBody>
      </p:sp>
      <p:sp>
        <p:nvSpPr>
          <p:cNvPr id="5" name="TextBox 4"/>
          <p:cNvSpPr txBox="1"/>
          <p:nvPr/>
        </p:nvSpPr>
        <p:spPr>
          <a:xfrm>
            <a:off x="548640" y="3886200"/>
            <a:ext cx="8686800" cy="1097280"/>
          </a:xfrm>
          <a:prstGeom prst="rect">
            <a:avLst/>
          </a:prstGeom>
          <a:noFill/>
        </p:spPr>
        <p:txBody>
          <a:bodyPr wrap="square" lIns="0" rIns="0" tIns="0" bIns="0" anchor="t">
            <a:spAutoFit/>
          </a:bodyPr>
          <a:lstStyle/>
          <a:p>
            <a:pPr algn="l"/>
            <a:r>
              <a:rPr sz="2000" b="0">
                <a:solidFill>
                  <a:srgbClr val="C5B4E3"/>
                </a:solidFill>
                <a:latin typeface="Calibri"/>
              </a:rPr>
              <a:t>cerr and the debugger · writing a class · object lifetime · operators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Today's plan</a:t>
            </a:r>
          </a:p>
        </p:txBody>
      </p:sp>
      <p:sp>
        <p:nvSpPr>
          <p:cNvPr id="5" name="Rounded Rectangle 4"/>
          <p:cNvSpPr/>
          <p:nvPr/>
        </p:nvSpPr>
        <p:spPr>
          <a:xfrm>
            <a:off x="548640"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7240"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7" name="TextBox 6"/>
          <p:cNvSpPr txBox="1"/>
          <p:nvPr/>
        </p:nvSpPr>
        <p:spPr>
          <a:xfrm>
            <a:off x="777240"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Finding bugs</a:t>
            </a:r>
          </a:p>
        </p:txBody>
      </p:sp>
      <p:sp>
        <p:nvSpPr>
          <p:cNvPr id="8" name="Rounded Rectangle 7"/>
          <p:cNvSpPr/>
          <p:nvPr/>
        </p:nvSpPr>
        <p:spPr>
          <a:xfrm>
            <a:off x="777240"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9" name="TextBox 8"/>
          <p:cNvSpPr txBox="1"/>
          <p:nvPr/>
        </p:nvSpPr>
        <p:spPr>
          <a:xfrm>
            <a:off x="2011680"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1:15 · 15 min</a:t>
            </a:r>
          </a:p>
        </p:txBody>
      </p:sp>
      <p:sp>
        <p:nvSpPr>
          <p:cNvPr id="10" name="TextBox 9"/>
          <p:cNvSpPr txBox="1"/>
          <p:nvPr/>
        </p:nvSpPr>
        <p:spPr>
          <a:xfrm>
            <a:off x="777240"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cerr and the debugger</a:t>
            </a:r>
          </a:p>
        </p:txBody>
      </p:sp>
      <p:sp>
        <p:nvSpPr>
          <p:cNvPr id="11" name="Rounded Rectangle 10"/>
          <p:cNvSpPr/>
          <p:nvPr/>
        </p:nvSpPr>
        <p:spPr>
          <a:xfrm>
            <a:off x="777240"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12" name="TextBox 11"/>
          <p:cNvSpPr txBox="1"/>
          <p:nvPr/>
        </p:nvSpPr>
        <p:spPr>
          <a:xfrm>
            <a:off x="2011680"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1:30 · 30 min</a:t>
            </a:r>
          </a:p>
        </p:txBody>
      </p:sp>
      <p:sp>
        <p:nvSpPr>
          <p:cNvPr id="13" name="TextBox 12"/>
          <p:cNvSpPr txBox="1"/>
          <p:nvPr/>
        </p:nvSpPr>
        <p:spPr>
          <a:xfrm>
            <a:off x="777240"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Debug grades.cpp</a:t>
            </a:r>
          </a:p>
        </p:txBody>
      </p:sp>
      <p:sp>
        <p:nvSpPr>
          <p:cNvPr id="14" name="Rounded Rectangle 13"/>
          <p:cNvSpPr/>
          <p:nvPr/>
        </p:nvSpPr>
        <p:spPr>
          <a:xfrm>
            <a:off x="777240"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15" name="TextBox 14"/>
          <p:cNvSpPr txBox="1"/>
          <p:nvPr/>
        </p:nvSpPr>
        <p:spPr>
          <a:xfrm>
            <a:off x="2011680"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2:00 · 10 min</a:t>
            </a:r>
          </a:p>
        </p:txBody>
      </p:sp>
      <p:sp>
        <p:nvSpPr>
          <p:cNvPr id="16" name="TextBox 15"/>
          <p:cNvSpPr txBox="1"/>
          <p:nvPr/>
        </p:nvSpPr>
        <p:spPr>
          <a:xfrm>
            <a:off x="777240"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17" name="Rounded Rectangle 16"/>
          <p:cNvSpPr/>
          <p:nvPr/>
        </p:nvSpPr>
        <p:spPr>
          <a:xfrm>
            <a:off x="3390823"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19423"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9" name="TextBox 18"/>
          <p:cNvSpPr txBox="1"/>
          <p:nvPr/>
        </p:nvSpPr>
        <p:spPr>
          <a:xfrm>
            <a:off x="3619423"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Classes in C++</a:t>
            </a:r>
          </a:p>
        </p:txBody>
      </p:sp>
      <p:sp>
        <p:nvSpPr>
          <p:cNvPr id="20" name="Rounded Rectangle 19"/>
          <p:cNvSpPr/>
          <p:nvPr/>
        </p:nvSpPr>
        <p:spPr>
          <a:xfrm>
            <a:off x="3619423"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21" name="TextBox 20"/>
          <p:cNvSpPr txBox="1"/>
          <p:nvPr/>
        </p:nvSpPr>
        <p:spPr>
          <a:xfrm>
            <a:off x="4853863"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2:10 · 20 min</a:t>
            </a:r>
          </a:p>
        </p:txBody>
      </p:sp>
      <p:sp>
        <p:nvSpPr>
          <p:cNvPr id="22" name="TextBox 21"/>
          <p:cNvSpPr txBox="1"/>
          <p:nvPr/>
        </p:nvSpPr>
        <p:spPr>
          <a:xfrm>
            <a:off x="3619423"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Writing a class</a:t>
            </a:r>
          </a:p>
        </p:txBody>
      </p:sp>
      <p:sp>
        <p:nvSpPr>
          <p:cNvPr id="23" name="Rounded Rectangle 22"/>
          <p:cNvSpPr/>
          <p:nvPr/>
        </p:nvSpPr>
        <p:spPr>
          <a:xfrm>
            <a:off x="3619423"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24" name="TextBox 23"/>
          <p:cNvSpPr txBox="1"/>
          <p:nvPr/>
        </p:nvSpPr>
        <p:spPr>
          <a:xfrm>
            <a:off x="4853863"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2:30 · 30 min</a:t>
            </a:r>
          </a:p>
        </p:txBody>
      </p:sp>
      <p:sp>
        <p:nvSpPr>
          <p:cNvPr id="25" name="TextBox 24"/>
          <p:cNvSpPr txBox="1"/>
          <p:nvPr/>
        </p:nvSpPr>
        <p:spPr>
          <a:xfrm>
            <a:off x="3619423"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The Rational class</a:t>
            </a:r>
          </a:p>
        </p:txBody>
      </p:sp>
      <p:sp>
        <p:nvSpPr>
          <p:cNvPr id="26" name="Rounded Rectangle 25"/>
          <p:cNvSpPr/>
          <p:nvPr/>
        </p:nvSpPr>
        <p:spPr>
          <a:xfrm>
            <a:off x="3619423"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27" name="TextBox 26"/>
          <p:cNvSpPr txBox="1"/>
          <p:nvPr/>
        </p:nvSpPr>
        <p:spPr>
          <a:xfrm>
            <a:off x="4853863"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3:00 · 10 min</a:t>
            </a:r>
          </a:p>
        </p:txBody>
      </p:sp>
      <p:sp>
        <p:nvSpPr>
          <p:cNvPr id="28" name="TextBox 27"/>
          <p:cNvSpPr txBox="1"/>
          <p:nvPr/>
        </p:nvSpPr>
        <p:spPr>
          <a:xfrm>
            <a:off x="3619423"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29" name="Rounded Rectangle 28"/>
          <p:cNvSpPr/>
          <p:nvPr/>
        </p:nvSpPr>
        <p:spPr>
          <a:xfrm>
            <a:off x="6233007"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461607"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31" name="TextBox 30"/>
          <p:cNvSpPr txBox="1"/>
          <p:nvPr/>
        </p:nvSpPr>
        <p:spPr>
          <a:xfrm>
            <a:off x="6461607"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Object lifetime</a:t>
            </a:r>
          </a:p>
        </p:txBody>
      </p:sp>
      <p:sp>
        <p:nvSpPr>
          <p:cNvPr id="32" name="Rounded Rectangle 31"/>
          <p:cNvSpPr/>
          <p:nvPr/>
        </p:nvSpPr>
        <p:spPr>
          <a:xfrm>
            <a:off x="6461607"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33" name="TextBox 32"/>
          <p:cNvSpPr txBox="1"/>
          <p:nvPr/>
        </p:nvSpPr>
        <p:spPr>
          <a:xfrm>
            <a:off x="7696047"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3:10 · 15 min</a:t>
            </a:r>
          </a:p>
        </p:txBody>
      </p:sp>
      <p:sp>
        <p:nvSpPr>
          <p:cNvPr id="34" name="TextBox 33"/>
          <p:cNvSpPr txBox="1"/>
          <p:nvPr/>
        </p:nvSpPr>
        <p:spPr>
          <a:xfrm>
            <a:off x="6461607"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Birth and death</a:t>
            </a:r>
          </a:p>
        </p:txBody>
      </p:sp>
      <p:sp>
        <p:nvSpPr>
          <p:cNvPr id="35" name="Rounded Rectangle 34"/>
          <p:cNvSpPr/>
          <p:nvPr/>
        </p:nvSpPr>
        <p:spPr>
          <a:xfrm>
            <a:off x="6461607"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36" name="TextBox 35"/>
          <p:cNvSpPr txBox="1"/>
          <p:nvPr/>
        </p:nvSpPr>
        <p:spPr>
          <a:xfrm>
            <a:off x="7696047"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3:25 · 30 min</a:t>
            </a:r>
          </a:p>
        </p:txBody>
      </p:sp>
      <p:sp>
        <p:nvSpPr>
          <p:cNvPr id="37" name="TextBox 36"/>
          <p:cNvSpPr txBox="1"/>
          <p:nvPr/>
        </p:nvSpPr>
        <p:spPr>
          <a:xfrm>
            <a:off x="6461607"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Tracer and Counter</a:t>
            </a:r>
          </a:p>
        </p:txBody>
      </p:sp>
      <p:sp>
        <p:nvSpPr>
          <p:cNvPr id="38" name="Rounded Rectangle 37"/>
          <p:cNvSpPr/>
          <p:nvPr/>
        </p:nvSpPr>
        <p:spPr>
          <a:xfrm>
            <a:off x="6461607"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39" name="TextBox 38"/>
          <p:cNvSpPr txBox="1"/>
          <p:nvPr/>
        </p:nvSpPr>
        <p:spPr>
          <a:xfrm>
            <a:off x="7696047"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3:55 · 10 min</a:t>
            </a:r>
          </a:p>
        </p:txBody>
      </p:sp>
      <p:sp>
        <p:nvSpPr>
          <p:cNvPr id="40" name="TextBox 39"/>
          <p:cNvSpPr txBox="1"/>
          <p:nvPr/>
        </p:nvSpPr>
        <p:spPr>
          <a:xfrm>
            <a:off x="6461607"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 self-test</a:t>
            </a:r>
          </a:p>
        </p:txBody>
      </p:sp>
      <p:sp>
        <p:nvSpPr>
          <p:cNvPr id="41" name="Rounded Rectangle 40"/>
          <p:cNvSpPr/>
          <p:nvPr/>
        </p:nvSpPr>
        <p:spPr>
          <a:xfrm>
            <a:off x="9075191" y="1325880"/>
            <a:ext cx="2567863"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303791" y="1554480"/>
            <a:ext cx="548640" cy="5486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43" name="TextBox 42"/>
          <p:cNvSpPr txBox="1"/>
          <p:nvPr/>
        </p:nvSpPr>
        <p:spPr>
          <a:xfrm>
            <a:off x="9303791" y="2240280"/>
            <a:ext cx="2110663" cy="1005840"/>
          </a:xfrm>
          <a:prstGeom prst="rect">
            <a:avLst/>
          </a:prstGeom>
          <a:noFill/>
        </p:spPr>
        <p:txBody>
          <a:bodyPr wrap="square" lIns="0" rIns="0" tIns="0" bIns="0" anchor="t">
            <a:spAutoFit/>
          </a:bodyPr>
          <a:lstStyle/>
          <a:p>
            <a:pPr algn="l"/>
            <a:r>
              <a:rPr sz="1900" b="1">
                <a:solidFill>
                  <a:srgbClr val="1D2330"/>
                </a:solidFill>
                <a:latin typeface="Calibri"/>
              </a:rPr>
              <a:t>Operator overloading</a:t>
            </a:r>
          </a:p>
        </p:txBody>
      </p:sp>
      <p:sp>
        <p:nvSpPr>
          <p:cNvPr id="44" name="Rounded Rectangle 43"/>
          <p:cNvSpPr/>
          <p:nvPr/>
        </p:nvSpPr>
        <p:spPr>
          <a:xfrm>
            <a:off x="9303791" y="3337560"/>
            <a:ext cx="1143000" cy="292608"/>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LECTURE</a:t>
            </a:r>
          </a:p>
        </p:txBody>
      </p:sp>
      <p:sp>
        <p:nvSpPr>
          <p:cNvPr id="45" name="TextBox 44"/>
          <p:cNvSpPr txBox="1"/>
          <p:nvPr/>
        </p:nvSpPr>
        <p:spPr>
          <a:xfrm>
            <a:off x="10538231" y="3319272"/>
            <a:ext cx="921943" cy="320040"/>
          </a:xfrm>
          <a:prstGeom prst="rect">
            <a:avLst/>
          </a:prstGeom>
          <a:noFill/>
        </p:spPr>
        <p:txBody>
          <a:bodyPr wrap="square" lIns="0" rIns="0" tIns="0" bIns="0" anchor="t">
            <a:spAutoFit/>
          </a:bodyPr>
          <a:lstStyle/>
          <a:p>
            <a:pPr algn="l"/>
            <a:r>
              <a:rPr sz="1300" b="0">
                <a:solidFill>
                  <a:srgbClr val="5B6475"/>
                </a:solidFill>
                <a:latin typeface="Calibri"/>
              </a:rPr>
              <a:t>4:15 · 15 min</a:t>
            </a:r>
          </a:p>
        </p:txBody>
      </p:sp>
      <p:sp>
        <p:nvSpPr>
          <p:cNvPr id="46" name="TextBox 45"/>
          <p:cNvSpPr txBox="1"/>
          <p:nvPr/>
        </p:nvSpPr>
        <p:spPr>
          <a:xfrm>
            <a:off x="9303791" y="3685032"/>
            <a:ext cx="2110663" cy="457200"/>
          </a:xfrm>
          <a:prstGeom prst="rect">
            <a:avLst/>
          </a:prstGeom>
          <a:noFill/>
        </p:spPr>
        <p:txBody>
          <a:bodyPr wrap="square" lIns="0" rIns="0" tIns="0" bIns="0" anchor="t">
            <a:spAutoFit/>
          </a:bodyPr>
          <a:lstStyle/>
          <a:p>
            <a:pPr algn="l"/>
            <a:r>
              <a:rPr sz="1400" b="0">
                <a:solidFill>
                  <a:srgbClr val="1D2330"/>
                </a:solidFill>
                <a:latin typeface="Calibri"/>
              </a:rPr>
              <a:t>Operators are functions</a:t>
            </a:r>
          </a:p>
        </p:txBody>
      </p:sp>
      <p:sp>
        <p:nvSpPr>
          <p:cNvPr id="47" name="Rounded Rectangle 46"/>
          <p:cNvSpPr/>
          <p:nvPr/>
        </p:nvSpPr>
        <p:spPr>
          <a:xfrm>
            <a:off x="9303791" y="4251960"/>
            <a:ext cx="1143000" cy="292608"/>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HANDS-ON</a:t>
            </a:r>
          </a:p>
        </p:txBody>
      </p:sp>
      <p:sp>
        <p:nvSpPr>
          <p:cNvPr id="48" name="TextBox 47"/>
          <p:cNvSpPr txBox="1"/>
          <p:nvPr/>
        </p:nvSpPr>
        <p:spPr>
          <a:xfrm>
            <a:off x="10538231" y="4233672"/>
            <a:ext cx="921943" cy="320040"/>
          </a:xfrm>
          <a:prstGeom prst="rect">
            <a:avLst/>
          </a:prstGeom>
          <a:noFill/>
        </p:spPr>
        <p:txBody>
          <a:bodyPr wrap="square" lIns="0" rIns="0" tIns="0" bIns="0" anchor="t">
            <a:spAutoFit/>
          </a:bodyPr>
          <a:lstStyle/>
          <a:p>
            <a:pPr algn="l"/>
            <a:r>
              <a:rPr sz="1300" b="0">
                <a:solidFill>
                  <a:srgbClr val="5B6475"/>
                </a:solidFill>
                <a:latin typeface="Calibri"/>
              </a:rPr>
              <a:t>4:30 · 30 min</a:t>
            </a:r>
          </a:p>
        </p:txBody>
      </p:sp>
      <p:sp>
        <p:nvSpPr>
          <p:cNvPr id="49" name="TextBox 48"/>
          <p:cNvSpPr txBox="1"/>
          <p:nvPr/>
        </p:nvSpPr>
        <p:spPr>
          <a:xfrm>
            <a:off x="9303791" y="4599432"/>
            <a:ext cx="2110663" cy="457200"/>
          </a:xfrm>
          <a:prstGeom prst="rect">
            <a:avLst/>
          </a:prstGeom>
          <a:noFill/>
        </p:spPr>
        <p:txBody>
          <a:bodyPr wrap="square" lIns="0" rIns="0" tIns="0" bIns="0" anchor="t">
            <a:spAutoFit/>
          </a:bodyPr>
          <a:lstStyle/>
          <a:p>
            <a:pPr algn="l"/>
            <a:r>
              <a:rPr sz="1400" b="0">
                <a:solidFill>
                  <a:srgbClr val="1D2330"/>
                </a:solidFill>
                <a:latin typeface="Calibri"/>
              </a:rPr>
              <a:t>Rational operators</a:t>
            </a:r>
          </a:p>
        </p:txBody>
      </p:sp>
      <p:sp>
        <p:nvSpPr>
          <p:cNvPr id="50" name="Rounded Rectangle 49"/>
          <p:cNvSpPr/>
          <p:nvPr/>
        </p:nvSpPr>
        <p:spPr>
          <a:xfrm>
            <a:off x="9303791" y="5166360"/>
            <a:ext cx="1143000" cy="292608"/>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Calibri"/>
              </a:rPr>
              <a:t>SOLUTIONS</a:t>
            </a:r>
          </a:p>
        </p:txBody>
      </p:sp>
      <p:sp>
        <p:nvSpPr>
          <p:cNvPr id="51" name="TextBox 50"/>
          <p:cNvSpPr txBox="1"/>
          <p:nvPr/>
        </p:nvSpPr>
        <p:spPr>
          <a:xfrm>
            <a:off x="10538231" y="5148072"/>
            <a:ext cx="921943" cy="320040"/>
          </a:xfrm>
          <a:prstGeom prst="rect">
            <a:avLst/>
          </a:prstGeom>
          <a:noFill/>
        </p:spPr>
        <p:txBody>
          <a:bodyPr wrap="square" lIns="0" rIns="0" tIns="0" bIns="0" anchor="t">
            <a:spAutoFit/>
          </a:bodyPr>
          <a:lstStyle/>
          <a:p>
            <a:pPr algn="l"/>
            <a:r>
              <a:rPr sz="1300" b="0">
                <a:solidFill>
                  <a:srgbClr val="5B6475"/>
                </a:solidFill>
                <a:latin typeface="Calibri"/>
              </a:rPr>
              <a:t>5:00 · 5 min</a:t>
            </a:r>
          </a:p>
        </p:txBody>
      </p:sp>
      <p:sp>
        <p:nvSpPr>
          <p:cNvPr id="52" name="TextBox 51"/>
          <p:cNvSpPr txBox="1"/>
          <p:nvPr/>
        </p:nvSpPr>
        <p:spPr>
          <a:xfrm>
            <a:off x="9303791" y="5513832"/>
            <a:ext cx="2110663" cy="457200"/>
          </a:xfrm>
          <a:prstGeom prst="rect">
            <a:avLst/>
          </a:prstGeom>
          <a:noFill/>
        </p:spPr>
        <p:txBody>
          <a:bodyPr wrap="square" lIns="0" rIns="0" tIns="0" bIns="0" anchor="t">
            <a:spAutoFit/>
          </a:bodyPr>
          <a:lstStyle/>
          <a:p>
            <a:pPr algn="l"/>
            <a:r>
              <a:rPr sz="1400" b="0">
                <a:solidFill>
                  <a:srgbClr val="1D2330"/>
                </a:solidFill>
                <a:latin typeface="Calibri"/>
              </a:rPr>
              <a:t>Walkthrough; catch-up 5:05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1</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Finding bugs</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A C++ crash often says only "Segmentation fault"; you need tools that find the line</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Send debug messages to </a:t>
            </a:r>
            <a:r>
              <a:rPr sz="2000" b="0">
                <a:solidFill>
                  <a:srgbClr val="C5B4E3"/>
                </a:solidFill>
                <a:latin typeface="Consolas"/>
              </a:rPr>
              <a:t>cerr</a:t>
            </a:r>
            <a:r>
              <a:rPr sz="2000" b="0">
                <a:solidFill>
                  <a:srgbClr val="FFFFFF"/>
                </a:solidFill>
                <a:latin typeface="Calibri"/>
              </a:rPr>
              <a:t>, and say why</a:t>
            </a:r>
          </a:p>
          <a:p>
            <a:pPr marL="256032" indent="-228600">
              <a:spcAft>
                <a:spcPts val="600"/>
              </a:spcAft>
              <a:buClr>
                <a:srgbClr val="5B6475"/>
              </a:buClr>
              <a:buChar char="›"/>
            </a:pPr>
            <a:r>
              <a:rPr sz="2000" b="0">
                <a:solidFill>
                  <a:srgbClr val="FFFFFF"/>
                </a:solidFill>
                <a:latin typeface="Calibri"/>
              </a:rPr>
              <a:t>Find the line a program crashed on with gdb's </a:t>
            </a:r>
            <a:r>
              <a:rPr sz="2000" b="0">
                <a:solidFill>
                  <a:srgbClr val="C5B4E3"/>
                </a:solidFill>
                <a:latin typeface="Consolas"/>
              </a:rPr>
              <a:t>bt</a:t>
            </a:r>
          </a:p>
          <a:p>
            <a:pPr marL="256032" indent="-228600">
              <a:spcAft>
                <a:spcPts val="600"/>
              </a:spcAft>
              <a:buClr>
                <a:srgbClr val="5B6475"/>
              </a:buClr>
              <a:buChar char="›"/>
            </a:pPr>
            <a:r>
              <a:rPr sz="2000" b="0">
                <a:solidFill>
                  <a:srgbClr val="FFFFFF"/>
                </a:solidFill>
                <a:latin typeface="Calibri"/>
              </a:rPr>
              <a:t>Set breakpoints, step, and watch variables in VS Code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cout vs. cerr</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cout</a:t>
            </a:r>
            <a:r>
              <a:rPr sz="1800" b="0">
                <a:solidFill>
                  <a:srgbClr val="1D2330"/>
                </a:solidFill>
                <a:latin typeface="Calibri"/>
              </a:rPr>
              <a:t>: the program's real output, what a grader compares</a:t>
            </a:r>
          </a:p>
          <a:p>
            <a:pPr marL="256032" indent="-228600">
              <a:spcAft>
                <a:spcPts val="800"/>
              </a:spcAft>
              <a:buClr>
                <a:srgbClr val="5B6475"/>
              </a:buClr>
              <a:buChar char="•"/>
            </a:pPr>
            <a:r>
              <a:rPr sz="1800" b="0">
                <a:solidFill>
                  <a:srgbClr val="4B2E83"/>
                </a:solidFill>
                <a:latin typeface="Consolas"/>
              </a:rPr>
              <a:t>cerr</a:t>
            </a:r>
            <a:r>
              <a:rPr sz="1800" b="0">
                <a:solidFill>
                  <a:srgbClr val="1D2330"/>
                </a:solidFill>
                <a:latin typeface="Calibri"/>
              </a:rPr>
              <a:t>: errors and debug messages; still on the screen with </a:t>
            </a:r>
            <a:r>
              <a:rPr sz="1800" b="0">
                <a:solidFill>
                  <a:srgbClr val="4B2E83"/>
                </a:solidFill>
                <a:latin typeface="Consolas"/>
              </a:rPr>
              <a:t>&gt;</a:t>
            </a:r>
          </a:p>
          <a:p>
            <a:pPr marL="256032" indent="-228600">
              <a:spcAft>
                <a:spcPts val="800"/>
              </a:spcAft>
              <a:buClr>
                <a:srgbClr val="5B6475"/>
              </a:buClr>
              <a:buChar char="•"/>
            </a:pPr>
            <a:r>
              <a:rPr sz="1800" b="0">
                <a:solidFill>
                  <a:srgbClr val="4B2E83"/>
                </a:solidFill>
                <a:latin typeface="Consolas"/>
              </a:rPr>
              <a:t>cout</a:t>
            </a:r>
            <a:r>
              <a:rPr sz="1800" b="0">
                <a:solidFill>
                  <a:srgbClr val="1D2330"/>
                </a:solidFill>
                <a:latin typeface="Calibri"/>
              </a:rPr>
              <a:t> text can wait in a buffer; a crash loses it (</a:t>
            </a:r>
            <a:r>
              <a:rPr sz="1800" b="0">
                <a:solidFill>
                  <a:srgbClr val="4B2E83"/>
                </a:solidFill>
                <a:latin typeface="Consolas"/>
              </a:rPr>
              <a:t>endl</a:t>
            </a:r>
            <a:r>
              <a:rPr sz="1800" b="0">
                <a:solidFill>
                  <a:srgbClr val="1D2330"/>
                </a:solidFill>
                <a:latin typeface="Calibri"/>
              </a:rPr>
              <a:t> writes it)</a:t>
            </a:r>
          </a:p>
          <a:p>
            <a:pPr marL="256032" indent="-228600">
              <a:spcAft>
                <a:spcPts val="800"/>
              </a:spcAft>
              <a:buClr>
                <a:srgbClr val="5B6475"/>
              </a:buClr>
              <a:buChar char="•"/>
            </a:pPr>
            <a:r>
              <a:rPr sz="1800" b="0">
                <a:solidFill>
                  <a:srgbClr val="4B2E83"/>
                </a:solidFill>
                <a:latin typeface="Consolas"/>
              </a:rPr>
              <a:t>cerr</a:t>
            </a:r>
            <a:r>
              <a:rPr sz="1800" b="0">
                <a:solidFill>
                  <a:srgbClr val="1D2330"/>
                </a:solidFill>
                <a:latin typeface="Calibri"/>
              </a:rPr>
              <a:t> is written immediately: debug messages go there</a:t>
            </a:r>
          </a:p>
          <a:p>
            <a:pPr marL="256032" indent="-228600">
              <a:spcAft>
                <a:spcPts val="800"/>
              </a:spcAft>
              <a:buClr>
                <a:srgbClr val="5B6475"/>
              </a:buClr>
              <a:buChar char="•"/>
            </a:pPr>
            <a:r>
              <a:rPr sz="1800" b="0">
                <a:solidFill>
                  <a:srgbClr val="1D2330"/>
                </a:solidFill>
                <a:latin typeface="Calibri"/>
              </a:rPr>
              <a:t>Java: </a:t>
            </a:r>
            <a:r>
              <a:rPr sz="1800" b="0">
                <a:solidFill>
                  <a:srgbClr val="4B2E83"/>
                </a:solidFill>
                <a:latin typeface="Consolas"/>
              </a:rPr>
              <a:t>System.out</a:t>
            </a:r>
            <a:r>
              <a:rPr sz="1800" b="0">
                <a:solidFill>
                  <a:srgbClr val="1D2330"/>
                </a:solidFill>
                <a:latin typeface="Calibri"/>
              </a:rPr>
              <a:t> and </a:t>
            </a:r>
            <a:r>
              <a:rPr sz="1800" b="0">
                <a:solidFill>
                  <a:srgbClr val="4B2E83"/>
                </a:solidFill>
                <a:latin typeface="Consolas"/>
              </a:rPr>
              <a:t>System.err</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400">
                <a:solidFill>
                  <a:srgbClr val="E6E6EF"/>
                </a:solidFill>
                <a:latin typeface="Consolas"/>
              </a:rPr>
              <a:t>$ ./grades</a:t>
            </a:r>
          </a:p>
          <a:p>
            <a:pPr>
              <a:spcAft>
                <a:spcPts val="0"/>
              </a:spcAft>
            </a:pPr>
            <a:r>
              <a:rPr sz="1400">
                <a:solidFill>
                  <a:srgbClr val="E6E6EF"/>
                </a:solidFill>
                <a:latin typeface="Consolas"/>
              </a:rPr>
              <a:t>computing Ana</a:t>
            </a:r>
          </a:p>
          <a:p>
            <a:pPr>
              <a:spcAft>
                <a:spcPts val="0"/>
              </a:spcAft>
            </a:pPr>
            <a:r>
              <a:rPr sz="1400">
                <a:solidFill>
                  <a:srgbClr val="E6E6EF"/>
                </a:solidFill>
                <a:latin typeface="Consolas"/>
              </a:rPr>
              <a:t>Ana: 89 B</a:t>
            </a:r>
          </a:p>
          <a:p>
            <a:pPr>
              <a:spcAft>
                <a:spcPts val="0"/>
              </a:spcAft>
            </a:pPr>
            <a:r>
              <a:rPr sz="1400">
                <a:solidFill>
                  <a:srgbClr val="E6E6EF"/>
                </a:solidFill>
                <a:latin typeface="Consolas"/>
              </a:rPr>
              <a:t>computing Ben</a:t>
            </a:r>
          </a:p>
          <a:p>
            <a:pPr>
              <a:spcAft>
                <a:spcPts val="0"/>
              </a:spcAft>
            </a:pPr>
            <a:r>
              <a:rPr sz="1400">
                <a:solidFill>
                  <a:srgbClr val="E6E6EF"/>
                </a:solidFill>
                <a:latin typeface="Consolas"/>
              </a:rPr>
              <a:t>Ben: 70 D</a:t>
            </a:r>
          </a:p>
          <a:p>
            <a:pPr>
              <a:spcAft>
                <a:spcPts val="0"/>
              </a:spcAft>
            </a:pPr>
            <a:r>
              <a:rPr sz="1400">
                <a:solidFill>
                  <a:srgbClr val="E6E6EF"/>
                </a:solidFill>
                <a:latin typeface="Consolas"/>
              </a:rPr>
              <a:t>computing Cy</a:t>
            </a:r>
          </a:p>
          <a:p>
            <a:pPr>
              <a:spcAft>
                <a:spcPts val="0"/>
              </a:spcAft>
            </a:pPr>
            <a:r>
              <a:rPr sz="1400">
                <a:solidFill>
                  <a:srgbClr val="E6E6EF"/>
                </a:solidFill>
                <a:latin typeface="Consolas"/>
              </a:rPr>
              <a:t>Floating point exception (core dumped)</a:t>
            </a:r>
          </a:p>
          <a:p>
            <a:pPr>
              <a:spcAft>
                <a:spcPts val="0"/>
              </a:spcAft>
            </a:pPr>
            <a:r>
              <a:rPr sz="1400">
                <a:latin typeface="Consolas"/>
              </a:rPr>
              <a:t> </a:t>
            </a:r>
          </a:p>
          <a:p>
            <a:pPr>
              <a:spcAft>
                <a:spcPts val="0"/>
              </a:spcAft>
            </a:pPr>
            <a:r>
              <a:rPr sz="1400">
                <a:solidFill>
                  <a:srgbClr val="E6E6EF"/>
                </a:solidFill>
                <a:latin typeface="Consolas"/>
              </a:rPr>
              <a:t>$ ./grades &gt; out.txt</a:t>
            </a:r>
          </a:p>
          <a:p>
            <a:pPr>
              <a:spcAft>
                <a:spcPts val="0"/>
              </a:spcAft>
            </a:pPr>
            <a:r>
              <a:rPr sz="1400">
                <a:solidFill>
                  <a:srgbClr val="E6E6EF"/>
                </a:solidFill>
                <a:latin typeface="Consolas"/>
              </a:rPr>
              <a:t>$ cat out.txt</a:t>
            </a:r>
          </a:p>
          <a:p>
            <a:pPr>
              <a:spcAft>
                <a:spcPts val="0"/>
              </a:spcAft>
            </a:pPr>
            <a:r>
              <a:rPr sz="1400">
                <a:solidFill>
                  <a:srgbClr val="E6E6EF"/>
                </a:solidFill>
                <a:latin typeface="Consolas"/>
              </a:rPr>
              <a:t>$                       # empty: all lost!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gdb: find the crash</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Compile with </a:t>
            </a:r>
            <a:r>
              <a:rPr sz="1800" b="0">
                <a:solidFill>
                  <a:srgbClr val="4B2E83"/>
                </a:solidFill>
                <a:latin typeface="Consolas"/>
              </a:rPr>
              <a:t>-g</a:t>
            </a:r>
            <a:r>
              <a:rPr sz="1800" b="0">
                <a:solidFill>
                  <a:srgbClr val="1D2330"/>
                </a:solidFill>
                <a:latin typeface="Calibri"/>
              </a:rPr>
              <a:t> (our Makefiles do): file, line, and variable names</a:t>
            </a:r>
          </a:p>
          <a:p>
            <a:pPr marL="256032" indent="-228600">
              <a:spcAft>
                <a:spcPts val="800"/>
              </a:spcAft>
              <a:buClr>
                <a:srgbClr val="5B6475"/>
              </a:buClr>
              <a:buChar char="•"/>
            </a:pPr>
            <a:r>
              <a:rPr sz="1800" b="0">
                <a:solidFill>
                  <a:srgbClr val="4B2E83"/>
                </a:solidFill>
                <a:latin typeface="Consolas"/>
              </a:rPr>
              <a:t>gdb ./grades</a:t>
            </a:r>
            <a:r>
              <a:rPr sz="1800" b="0">
                <a:solidFill>
                  <a:srgbClr val="1D2330"/>
                </a:solidFill>
                <a:latin typeface="Calibri"/>
              </a:rPr>
              <a:t>, then </a:t>
            </a:r>
            <a:r>
              <a:rPr sz="1800" b="0">
                <a:solidFill>
                  <a:srgbClr val="4B2E83"/>
                </a:solidFill>
                <a:latin typeface="Consolas"/>
              </a:rPr>
              <a:t>run</a:t>
            </a:r>
            <a:r>
              <a:rPr sz="1800" b="0">
                <a:solidFill>
                  <a:srgbClr val="1D2330"/>
                </a:solidFill>
                <a:latin typeface="Calibri"/>
              </a:rPr>
              <a:t>; it stops where the program crashes</a:t>
            </a:r>
          </a:p>
          <a:p>
            <a:pPr marL="256032" indent="-228600">
              <a:spcAft>
                <a:spcPts val="800"/>
              </a:spcAft>
              <a:buClr>
                <a:srgbClr val="5B6475"/>
              </a:buClr>
              <a:buChar char="•"/>
            </a:pPr>
            <a:r>
              <a:rPr sz="1800" b="0">
                <a:solidFill>
                  <a:srgbClr val="4B2E83"/>
                </a:solidFill>
                <a:latin typeface="Consolas"/>
              </a:rPr>
              <a:t>bt</a:t>
            </a:r>
            <a:r>
              <a:rPr sz="1800" b="0">
                <a:solidFill>
                  <a:srgbClr val="1D2330"/>
                </a:solidFill>
                <a:latin typeface="Calibri"/>
              </a:rPr>
              <a:t>: which function, and every line that called it</a:t>
            </a:r>
          </a:p>
          <a:p>
            <a:pPr marL="256032" indent="-228600">
              <a:spcAft>
                <a:spcPts val="800"/>
              </a:spcAft>
              <a:buClr>
                <a:srgbClr val="5B6475"/>
              </a:buClr>
              <a:buChar char="•"/>
            </a:pPr>
            <a:r>
              <a:rPr sz="1800" b="0">
                <a:solidFill>
                  <a:srgbClr val="4B2E83"/>
                </a:solidFill>
                <a:latin typeface="Consolas"/>
              </a:rPr>
              <a:t>frame 1</a:t>
            </a:r>
            <a:r>
              <a:rPr sz="1800" b="0">
                <a:solidFill>
                  <a:srgbClr val="1D2330"/>
                </a:solidFill>
                <a:latin typeface="Calibri"/>
              </a:rPr>
              <a:t>, </a:t>
            </a:r>
            <a:r>
              <a:rPr sz="1800" b="0">
                <a:solidFill>
                  <a:srgbClr val="4B2E83"/>
                </a:solidFill>
                <a:latin typeface="Consolas"/>
              </a:rPr>
              <a:t>print name</a:t>
            </a:r>
            <a:r>
              <a:rPr sz="1800" b="0">
                <a:solidFill>
                  <a:srgbClr val="1D2330"/>
                </a:solidFill>
                <a:latin typeface="Calibri"/>
              </a:rPr>
              <a:t>: look at the caller's variables</a:t>
            </a:r>
          </a:p>
          <a:p>
            <a:pPr marL="256032" indent="-228600">
              <a:spcAft>
                <a:spcPts val="800"/>
              </a:spcAft>
              <a:buClr>
                <a:srgbClr val="5B6475"/>
              </a:buClr>
              <a:buChar char="•"/>
            </a:pPr>
            <a:r>
              <a:rPr sz="1800" b="0">
                <a:solidFill>
                  <a:srgbClr val="4B2E83"/>
                </a:solidFill>
                <a:latin typeface="Consolas"/>
              </a:rPr>
              <a:t>break average</a:t>
            </a:r>
            <a:r>
              <a:rPr sz="1800" b="0">
                <a:solidFill>
                  <a:srgbClr val="1D2330"/>
                </a:solidFill>
                <a:latin typeface="Calibri"/>
              </a:rPr>
              <a:t>, </a:t>
            </a:r>
            <a:r>
              <a:rPr sz="1800" b="0">
                <a:solidFill>
                  <a:srgbClr val="4B2E83"/>
                </a:solidFill>
                <a:latin typeface="Consolas"/>
              </a:rPr>
              <a:t>next</a:t>
            </a:r>
            <a:r>
              <a:rPr sz="1800" b="0">
                <a:solidFill>
                  <a:srgbClr val="1D2330"/>
                </a:solidFill>
                <a:latin typeface="Calibri"/>
              </a:rPr>
              <a:t>, </a:t>
            </a:r>
            <a:r>
              <a:rPr sz="1800" b="0">
                <a:solidFill>
                  <a:srgbClr val="4B2E83"/>
                </a:solidFill>
                <a:latin typeface="Consolas"/>
              </a:rPr>
              <a:t>step</a:t>
            </a:r>
            <a:r>
              <a:rPr sz="1800" b="0">
                <a:solidFill>
                  <a:srgbClr val="1D2330"/>
                </a:solidFill>
                <a:latin typeface="Calibri"/>
              </a:rPr>
              <a:t>, </a:t>
            </a:r>
            <a:r>
              <a:rPr sz="1800" b="0">
                <a:solidFill>
                  <a:srgbClr val="4B2E83"/>
                </a:solidFill>
                <a:latin typeface="Consolas"/>
              </a:rPr>
              <a:t>continue</a:t>
            </a:r>
            <a:r>
              <a:rPr sz="1800" b="0">
                <a:solidFill>
                  <a:srgbClr val="1D2330"/>
                </a:solidFill>
                <a:latin typeface="Calibri"/>
              </a:rPr>
              <a:t>, </a:t>
            </a:r>
            <a:r>
              <a:rPr sz="1800" b="0">
                <a:solidFill>
                  <a:srgbClr val="4B2E83"/>
                </a:solidFill>
                <a:latin typeface="Consolas"/>
              </a:rPr>
              <a:t>quit</a:t>
            </a:r>
          </a:p>
        </p:txBody>
      </p:sp>
      <p:sp>
        <p:nvSpPr>
          <p:cNvPr id="7" name="Rounded Rectangle 6"/>
          <p:cNvSpPr/>
          <p:nvPr/>
        </p:nvSpPr>
        <p:spPr>
          <a:xfrm>
            <a:off x="5972110" y="1325880"/>
            <a:ext cx="5670944" cy="2590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225040"/>
          </a:xfrm>
          <a:prstGeom prst="rect">
            <a:avLst/>
          </a:prstGeom>
          <a:noFill/>
        </p:spPr>
        <p:txBody>
          <a:bodyPr wrap="none" lIns="0" rIns="0" tIns="0" bIns="0" anchor="t">
            <a:spAutoFit/>
          </a:bodyPr>
          <a:lstStyle/>
          <a:p>
            <a:pPr>
              <a:spcAft>
                <a:spcPts val="0"/>
              </a:spcAft>
            </a:pPr>
            <a:r>
              <a:rPr sz="1300">
                <a:solidFill>
                  <a:srgbClr val="E6E6EF"/>
                </a:solidFill>
                <a:latin typeface="Consolas"/>
              </a:rPr>
              <a:t>$ gdb ./grades</a:t>
            </a:r>
          </a:p>
          <a:p>
            <a:pPr>
              <a:spcAft>
                <a:spcPts val="0"/>
              </a:spcAft>
            </a:pPr>
            <a:r>
              <a:rPr sz="1300">
                <a:solidFill>
                  <a:srgbClr val="E6E6EF"/>
                </a:solidFill>
                <a:latin typeface="Consolas"/>
              </a:rPr>
              <a:t>(gdb) run</a:t>
            </a:r>
          </a:p>
          <a:p>
            <a:pPr>
              <a:spcAft>
                <a:spcPts val="0"/>
              </a:spcAft>
            </a:pPr>
            <a:r>
              <a:rPr sz="1300">
                <a:solidFill>
                  <a:srgbClr val="E6E6EF"/>
                </a:solidFill>
                <a:latin typeface="Consolas"/>
              </a:rPr>
              <a:t>Program received signal SIGFPE, Arithmetic exception.</a:t>
            </a:r>
          </a:p>
          <a:p>
            <a:pPr>
              <a:spcAft>
                <a:spcPts val="0"/>
              </a:spcAft>
            </a:pPr>
            <a:r>
              <a:rPr sz="1300">
                <a:solidFill>
                  <a:srgbClr val="E6E6EF"/>
                </a:solidFill>
                <a:latin typeface="Consolas"/>
              </a:rPr>
              <a:t>average (total=0, count=0) at grades.cpp:13</a:t>
            </a:r>
          </a:p>
          <a:p>
            <a:pPr>
              <a:spcAft>
                <a:spcPts val="0"/>
              </a:spcAft>
            </a:pPr>
            <a:r>
              <a:rPr sz="1300">
                <a:solidFill>
                  <a:srgbClr val="E6E6EF"/>
                </a:solidFill>
                <a:latin typeface="Consolas"/>
              </a:rPr>
              <a:t>13	    return total / count;</a:t>
            </a:r>
          </a:p>
          <a:p>
            <a:pPr>
              <a:spcAft>
                <a:spcPts val="0"/>
              </a:spcAft>
            </a:pPr>
            <a:r>
              <a:rPr sz="1300">
                <a:solidFill>
                  <a:srgbClr val="E6E6EF"/>
                </a:solidFill>
                <a:latin typeface="Consolas"/>
              </a:rPr>
              <a:t>(gdb) bt</a:t>
            </a:r>
          </a:p>
          <a:p>
            <a:pPr>
              <a:spcAft>
                <a:spcPts val="0"/>
              </a:spcAft>
            </a:pPr>
            <a:r>
              <a:rPr sz="1300">
                <a:solidFill>
                  <a:srgbClr val="E6E6EF"/>
                </a:solidFill>
                <a:latin typeface="Consolas"/>
              </a:rPr>
              <a:t>#0  average (total=0, count=0) at grades.cpp:13</a:t>
            </a:r>
          </a:p>
          <a:p>
            <a:pPr>
              <a:spcAft>
                <a:spcPts val="0"/>
              </a:spcAft>
            </a:pPr>
            <a:r>
              <a:rPr sz="1300">
                <a:solidFill>
                  <a:srgbClr val="E6E6EF"/>
                </a:solidFill>
                <a:latin typeface="Consolas"/>
              </a:rPr>
              <a:t>#1  report (name="Cy", total=0, count=0)</a:t>
            </a:r>
          </a:p>
          <a:p>
            <a:pPr>
              <a:spcAft>
                <a:spcPts val="0"/>
              </a:spcAft>
            </a:pPr>
            <a:r>
              <a:rPr sz="1300">
                <a:solidFill>
                  <a:srgbClr val="E6E6EF"/>
                </a:solidFill>
                <a:latin typeface="Consolas"/>
              </a:rPr>
              <a:t>        at grades.cpp:35</a:t>
            </a:r>
          </a:p>
          <a:p>
            <a:pPr>
              <a:spcAft>
                <a:spcPts val="0"/>
              </a:spcAft>
            </a:pPr>
            <a:r>
              <a:rPr sz="1300">
                <a:solidFill>
                  <a:srgbClr val="E6E6EF"/>
                </a:solidFill>
                <a:latin typeface="Consolas"/>
              </a:rPr>
              <a:t>#2  main () at grades.cpp:42</a:t>
            </a:r>
          </a:p>
          <a:p>
            <a:pPr>
              <a:spcAft>
                <a:spcPts val="0"/>
              </a:spcAft>
            </a:pPr>
            <a:r>
              <a:rPr sz="1300">
                <a:solidFill>
                  <a:srgbClr val="E6E6EF"/>
                </a:solidFill>
                <a:latin typeface="Consolas"/>
              </a:rPr>
              <a:t>(gdb) print total / count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6</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The VS Code debugger</a:t>
            </a:r>
          </a:p>
        </p:txBody>
      </p:sp>
      <p:pic>
        <p:nvPicPr>
          <p:cNvPr id="6" name="Picture 5" descr="vscode-debug-paused.png"/>
          <p:cNvPicPr>
            <a:picLocks noChangeAspect="1"/>
          </p:cNvPicPr>
          <p:nvPr/>
        </p:nvPicPr>
        <p:blipFill>
          <a:blip r:embed="rId2"/>
          <a:stretch>
            <a:fillRect/>
          </a:stretch>
        </p:blipFill>
        <p:spPr>
          <a:xfrm>
            <a:off x="2142070" y="1188720"/>
            <a:ext cx="7907555" cy="4617720"/>
          </a:xfrm>
          <a:prstGeom prst="rect">
            <a:avLst/>
          </a:prstGeom>
        </p:spPr>
      </p:pic>
      <p:sp>
        <p:nvSpPr>
          <p:cNvPr id="7" name="TextBox 6"/>
          <p:cNvSpPr txBox="1"/>
          <p:nvPr/>
        </p:nvSpPr>
        <p:spPr>
          <a:xfrm>
            <a:off x="548640" y="5879592"/>
            <a:ext cx="11094415" cy="411480"/>
          </a:xfrm>
          <a:prstGeom prst="rect">
            <a:avLst/>
          </a:prstGeom>
          <a:noFill/>
        </p:spPr>
        <p:txBody>
          <a:bodyPr wrap="square" lIns="0" rIns="0" tIns="0" bIns="0" anchor="t">
            <a:spAutoFit/>
          </a:bodyPr>
          <a:lstStyle/>
          <a:p>
            <a:pPr algn="ctr"/>
            <a:r>
              <a:rPr sz="1400" b="0">
                <a:solidFill>
                  <a:srgbClr val="5B6475"/>
                </a:solidFill>
                <a:latin typeface="Calibri"/>
              </a:rPr>
              <a:t>▷ menu → Debug C/C++ File. Breakpoint: click left of a line number. F10 next · F11 step into · Shift+F11 out · F5 continue.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7</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1: Debug grades.cpp</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Lab2/exercises/ex1-debug/</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Prints </a:t>
            </a:r>
            <a:r>
              <a:rPr sz="1500" b="0">
                <a:solidFill>
                  <a:srgbClr val="4B2E83"/>
                </a:solidFill>
                <a:latin typeface="Consolas"/>
              </a:rPr>
              <a:t>Ana: 89.6667 B</a:t>
            </a:r>
            <a:r>
              <a:rPr sz="1500" b="0">
                <a:solidFill>
                  <a:srgbClr val="1D2330"/>
                </a:solidFill>
                <a:latin typeface="Calibri"/>
              </a:rPr>
              <a:t>, </a:t>
            </a:r>
            <a:r>
              <a:rPr sz="1500" b="0">
                <a:solidFill>
                  <a:srgbClr val="4B2E83"/>
                </a:solidFill>
                <a:latin typeface="Consolas"/>
              </a:rPr>
              <a:t>Ben: 70 C</a:t>
            </a:r>
            <a:r>
              <a:rPr sz="1500" b="0">
                <a:solidFill>
                  <a:srgbClr val="1D2330"/>
                </a:solidFill>
                <a:latin typeface="Calibri"/>
              </a:rPr>
              <a:t>, </a:t>
            </a:r>
            <a:r>
              <a:rPr sz="1500" b="0">
                <a:solidFill>
                  <a:srgbClr val="4B2E83"/>
                </a:solidFill>
                <a:latin typeface="Consolas"/>
              </a:rPr>
              <a:t>Cy: no scores</a:t>
            </a:r>
            <a:r>
              <a:rPr sz="1500" b="0">
                <a:solidFill>
                  <a:srgbClr val="1D2330"/>
                </a:solidFill>
                <a:latin typeface="Calibri"/>
              </a:rPr>
              <a:t>, </a:t>
            </a:r>
            <a:r>
              <a:rPr sz="1500" b="0">
                <a:solidFill>
                  <a:srgbClr val="4B2E83"/>
                </a:solidFill>
                <a:latin typeface="Consolas"/>
              </a:rPr>
              <a:t>Dee: 91 A</a:t>
            </a:r>
            <a:r>
              <a:rPr sz="1500" b="0">
                <a:solidFill>
                  <a:srgbClr val="1D2330"/>
                </a:solidFill>
                <a:latin typeface="Calibri"/>
              </a:rPr>
              <a:t>, </a:t>
            </a:r>
            <a:r>
              <a:rPr sz="1500" b="0">
                <a:solidFill>
                  <a:srgbClr val="4B2E83"/>
                </a:solidFill>
                <a:latin typeface="Consolas"/>
              </a:rPr>
              <a:t>done</a:t>
            </a:r>
            <a:r>
              <a:rPr sz="1500" b="0">
                <a:solidFill>
                  <a:srgbClr val="1D2330"/>
                </a:solidFill>
                <a:latin typeface="Calibri"/>
              </a:rPr>
              <a:t>; </a:t>
            </a:r>
            <a:r>
              <a:rPr sz="1500" b="0">
                <a:solidFill>
                  <a:srgbClr val="4B2E83"/>
                </a:solidFill>
                <a:latin typeface="Consolas"/>
              </a:rPr>
              <a:t>out.txt</a:t>
            </a:r>
            <a:r>
              <a:rPr sz="1500" b="0">
                <a:solidFill>
                  <a:srgbClr val="1D2330"/>
                </a:solidFill>
                <a:latin typeface="Calibri"/>
              </a:rPr>
              <a:t> holds only those five lines.</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4B2E83"/>
                </a:solidFill>
                <a:latin typeface="Consolas"/>
              </a:rPr>
              <a:t>make</a:t>
            </a:r>
            <a:r>
              <a:rPr sz="1700" b="0">
                <a:solidFill>
                  <a:srgbClr val="1D2330"/>
                </a:solidFill>
                <a:latin typeface="Calibri"/>
              </a:rPr>
              <a:t>, </a:t>
            </a:r>
            <a:r>
              <a:rPr sz="1700" b="0">
                <a:solidFill>
                  <a:srgbClr val="4B2E83"/>
                </a:solidFill>
                <a:latin typeface="Consolas"/>
              </a:rPr>
              <a:t>./grades</a:t>
            </a:r>
            <a:r>
              <a:rPr sz="1700" b="0">
                <a:solidFill>
                  <a:srgbClr val="1D2330"/>
                </a:solidFill>
                <a:latin typeface="Calibri"/>
              </a:rPr>
              <a:t>: compare with the expected lines in </a:t>
            </a:r>
            <a:r>
              <a:rPr sz="1700" b="0">
                <a:solidFill>
                  <a:srgbClr val="4B2E83"/>
                </a:solidFill>
                <a:latin typeface="Consolas"/>
              </a:rPr>
              <a:t>main</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4B2E83"/>
                </a:solidFill>
                <a:latin typeface="Consolas"/>
              </a:rPr>
              <a:t>./grades &gt; out.txt</a:t>
            </a:r>
            <a:r>
              <a:rPr sz="1700" b="0">
                <a:solidFill>
                  <a:srgbClr val="1D2330"/>
                </a:solidFill>
                <a:latin typeface="Calibri"/>
              </a:rPr>
              <a:t>, </a:t>
            </a:r>
            <a:r>
              <a:rPr sz="1700" b="0">
                <a:solidFill>
                  <a:srgbClr val="4B2E83"/>
                </a:solidFill>
                <a:latin typeface="Consolas"/>
              </a:rPr>
              <a:t>cat out.txt</a:t>
            </a:r>
            <a:r>
              <a:rPr sz="1700" b="0">
                <a:solidFill>
                  <a:srgbClr val="1D2330"/>
                </a:solidFill>
                <a:latin typeface="Calibri"/>
              </a:rPr>
              <a:t>; move the progress message to </a:t>
            </a:r>
            <a:r>
              <a:rPr sz="1700" b="0">
                <a:solidFill>
                  <a:srgbClr val="4B2E83"/>
                </a:solidFill>
                <a:latin typeface="Consolas"/>
              </a:rPr>
              <a:t>cerr</a:t>
            </a:r>
            <a:r>
              <a:rPr sz="1700" b="0">
                <a:solidFill>
                  <a:srgbClr val="1D2330"/>
                </a:solidFill>
                <a:latin typeface="Calibri"/>
              </a:rPr>
              <a:t> and repeat</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gdb: </a:t>
            </a:r>
            <a:r>
              <a:rPr sz="1700" b="0">
                <a:solidFill>
                  <a:srgbClr val="4B2E83"/>
                </a:solidFill>
                <a:latin typeface="Consolas"/>
              </a:rPr>
              <a:t>run</a:t>
            </a:r>
            <a:r>
              <a:rPr sz="1700" b="0">
                <a:solidFill>
                  <a:srgbClr val="1D2330"/>
                </a:solidFill>
                <a:latin typeface="Calibri"/>
              </a:rPr>
              <a:t>, </a:t>
            </a:r>
            <a:r>
              <a:rPr sz="1700" b="0">
                <a:solidFill>
                  <a:srgbClr val="4B2E83"/>
                </a:solidFill>
                <a:latin typeface="Consolas"/>
              </a:rPr>
              <a:t>bt</a:t>
            </a:r>
            <a:r>
              <a:rPr sz="1700" b="0">
                <a:solidFill>
                  <a:srgbClr val="1D2330"/>
                </a:solidFill>
                <a:latin typeface="Calibri"/>
              </a:rPr>
              <a:t>, </a:t>
            </a:r>
            <a:r>
              <a:rPr sz="1700" b="0">
                <a:solidFill>
                  <a:srgbClr val="4B2E83"/>
                </a:solidFill>
                <a:latin typeface="Consolas"/>
              </a:rPr>
              <a:t>frame 1</a:t>
            </a:r>
            <a:r>
              <a:rPr sz="1700" b="0">
                <a:solidFill>
                  <a:srgbClr val="1D2330"/>
                </a:solidFill>
                <a:latin typeface="Calibri"/>
              </a:rPr>
              <a:t>, </a:t>
            </a:r>
            <a:r>
              <a:rPr sz="1700" b="0">
                <a:solidFill>
                  <a:srgbClr val="4B2E83"/>
                </a:solidFill>
                <a:latin typeface="Consolas"/>
              </a:rPr>
              <a:t>print name</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VS Code: breakpoint on </a:t>
            </a:r>
            <a:r>
              <a:rPr sz="1700" b="0">
                <a:solidFill>
                  <a:srgbClr val="4B2E83"/>
                </a:solidFill>
                <a:latin typeface="Consolas"/>
              </a:rPr>
              <a:t>return total / count;</a:t>
            </a:r>
            <a:r>
              <a:rPr sz="1700" b="0">
                <a:solidFill>
                  <a:srgbClr val="1D2330"/>
                </a:solidFill>
                <a:latin typeface="Calibri"/>
              </a:rPr>
              <a:t>, Debug C/C++ File, watch the values; then step through </a:t>
            </a:r>
            <a:r>
              <a:rPr sz="1700" b="0">
                <a:solidFill>
                  <a:srgbClr val="4B2E83"/>
                </a:solidFill>
                <a:latin typeface="Consolas"/>
              </a:rPr>
              <a:t>letter</a:t>
            </a:r>
          </a:p>
        </p:txBody>
      </p:sp>
      <p:sp>
        <p:nvSpPr>
          <p:cNvPr id="21" name="Oval 20"/>
          <p:cNvSpPr/>
          <p:nvPr/>
        </p:nvSpPr>
        <p:spPr>
          <a:xfrm>
            <a:off x="4023360" y="486460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22" name="TextBox 21"/>
          <p:cNvSpPr txBox="1"/>
          <p:nvPr/>
        </p:nvSpPr>
        <p:spPr>
          <a:xfrm>
            <a:off x="4572000" y="4846320"/>
            <a:ext cx="7071055" cy="868680"/>
          </a:xfrm>
          <a:prstGeom prst="rect">
            <a:avLst/>
          </a:prstGeom>
          <a:noFill/>
        </p:spPr>
        <p:txBody>
          <a:bodyPr wrap="square" lIns="0" rIns="0" tIns="0" bIns="0" anchor="t">
            <a:spAutoFit/>
          </a:bodyPr>
          <a:lstStyle/>
          <a:p>
            <a:pPr algn="l"/>
            <a:r>
              <a:rPr sz="1700" b="0">
                <a:solidFill>
                  <a:srgbClr val="1D2330"/>
                </a:solidFill>
                <a:latin typeface="Calibri"/>
              </a:rPr>
              <a:t>Fix the three bugs (not </a:t>
            </a:r>
            <a:r>
              <a:rPr sz="1700" b="0">
                <a:solidFill>
                  <a:srgbClr val="4B2E83"/>
                </a:solidFill>
                <a:latin typeface="Consolas"/>
              </a:rPr>
              <a:t>main</a:t>
            </a:r>
            <a:r>
              <a:rPr sz="1700" b="0">
                <a:solidFill>
                  <a:srgbClr val="1D2330"/>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8</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1</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out.txt</a:t>
            </a:r>
            <a:r>
              <a:rPr sz="2000" b="0">
                <a:solidFill>
                  <a:srgbClr val="1D2330"/>
                </a:solidFill>
                <a:latin typeface="Calibri"/>
              </a:rPr>
              <a:t> was empty: the crash lost everything </a:t>
            </a:r>
            <a:r>
              <a:rPr sz="2000" b="0">
                <a:solidFill>
                  <a:srgbClr val="4B2E83"/>
                </a:solidFill>
                <a:latin typeface="Consolas"/>
              </a:rPr>
              <a:t>cout</a:t>
            </a:r>
            <a:r>
              <a:rPr sz="2000" b="0">
                <a:solidFill>
                  <a:srgbClr val="1D2330"/>
                </a:solidFill>
                <a:latin typeface="Calibri"/>
              </a:rPr>
              <a:t> was holding</a:t>
            </a:r>
          </a:p>
          <a:p>
            <a:pPr marL="256032" indent="-228600">
              <a:spcAft>
                <a:spcPts val="800"/>
              </a:spcAft>
              <a:buClr>
                <a:srgbClr val="5B6475"/>
              </a:buClr>
              <a:buChar char="•"/>
            </a:pPr>
            <a:r>
              <a:rPr sz="2000" b="0">
                <a:solidFill>
                  <a:srgbClr val="4B2E83"/>
                </a:solidFill>
                <a:latin typeface="Consolas"/>
              </a:rPr>
              <a:t>bt</a:t>
            </a:r>
            <a:r>
              <a:rPr sz="2000" b="0">
                <a:solidFill>
                  <a:srgbClr val="1D2330"/>
                </a:solidFill>
                <a:latin typeface="Calibri"/>
              </a:rPr>
              <a:t> points at </a:t>
            </a:r>
            <a:r>
              <a:rPr sz="2000" b="0">
                <a:solidFill>
                  <a:srgbClr val="4B2E83"/>
                </a:solidFill>
                <a:latin typeface="Consolas"/>
              </a:rPr>
              <a:t>average (total=0, count=0)</a:t>
            </a:r>
            <a:r>
              <a:rPr sz="2000" b="0">
                <a:solidFill>
                  <a:srgbClr val="1D2330"/>
                </a:solidFill>
                <a:latin typeface="Calibri"/>
              </a:rPr>
              <a:t>, called for Cy</a:t>
            </a:r>
          </a:p>
          <a:p>
            <a:pPr marL="256032" indent="-228600">
              <a:spcAft>
                <a:spcPts val="800"/>
              </a:spcAft>
              <a:buClr>
                <a:srgbClr val="5B6475"/>
              </a:buClr>
              <a:buChar char="•"/>
            </a:pPr>
            <a:r>
              <a:rPr sz="2000" b="0">
                <a:solidFill>
                  <a:srgbClr val="1D2330"/>
                </a:solidFill>
                <a:latin typeface="Calibri"/>
              </a:rPr>
              <a:t>Ana: </a:t>
            </a:r>
            <a:r>
              <a:rPr sz="2000" b="0">
                <a:solidFill>
                  <a:srgbClr val="4B2E83"/>
                </a:solidFill>
                <a:latin typeface="Consolas"/>
              </a:rPr>
              <a:t>total / count</a:t>
            </a:r>
            <a:r>
              <a:rPr sz="2000" b="0">
                <a:solidFill>
                  <a:srgbClr val="1D2330"/>
                </a:solidFill>
                <a:latin typeface="Calibri"/>
              </a:rPr>
              <a:t> is 89 in </a:t>
            </a:r>
            <a:r>
              <a:rPr sz="2000" b="0">
                <a:solidFill>
                  <a:srgbClr val="4B2E83"/>
                </a:solidFill>
                <a:latin typeface="Consolas"/>
              </a:rPr>
              <a:t>int</a:t>
            </a:r>
            <a:r>
              <a:rPr sz="2000" b="0">
                <a:solidFill>
                  <a:srgbClr val="1D2330"/>
                </a:solidFill>
                <a:latin typeface="Calibri"/>
              </a:rPr>
              <a:t>; fix: </a:t>
            </a:r>
            <a:r>
              <a:rPr sz="2000" b="0">
                <a:solidFill>
                  <a:srgbClr val="4B2E83"/>
                </a:solidFill>
                <a:latin typeface="Consolas"/>
              </a:rPr>
              <a:t>static_cast&lt;double&gt;(total) / count</a:t>
            </a:r>
          </a:p>
          <a:p>
            <a:pPr marL="256032" indent="-228600">
              <a:spcAft>
                <a:spcPts val="800"/>
              </a:spcAft>
              <a:buClr>
                <a:srgbClr val="5B6475"/>
              </a:buClr>
              <a:buChar char="•"/>
            </a:pPr>
            <a:r>
              <a:rPr sz="2000" b="0">
                <a:solidFill>
                  <a:srgbClr val="1D2330"/>
                </a:solidFill>
                <a:latin typeface="Calibri"/>
              </a:rPr>
              <a:t>Ben: </a:t>
            </a:r>
            <a:r>
              <a:rPr sz="2000" b="0">
                <a:solidFill>
                  <a:srgbClr val="4B2E83"/>
                </a:solidFill>
                <a:latin typeface="Consolas"/>
              </a:rPr>
              <a:t>avg &gt; 70</a:t>
            </a:r>
            <a:r>
              <a:rPr sz="2000" b="0">
                <a:solidFill>
                  <a:srgbClr val="1D2330"/>
                </a:solidFill>
                <a:latin typeface="Calibri"/>
              </a:rPr>
              <a:t> misses 70; fix: </a:t>
            </a:r>
            <a:r>
              <a:rPr sz="2000" b="0">
                <a:solidFill>
                  <a:srgbClr val="4B2E83"/>
                </a:solidFill>
                <a:latin typeface="Consolas"/>
              </a:rPr>
              <a:t>&gt;=</a:t>
            </a:r>
          </a:p>
          <a:p>
            <a:pPr marL="256032" indent="-228600">
              <a:spcAft>
                <a:spcPts val="800"/>
              </a:spcAft>
              <a:buClr>
                <a:srgbClr val="5B6475"/>
              </a:buClr>
              <a:buChar char="•"/>
            </a:pPr>
            <a:r>
              <a:rPr sz="2000" b="0">
                <a:solidFill>
                  <a:srgbClr val="1D2330"/>
                </a:solidFill>
                <a:latin typeface="Calibri"/>
              </a:rPr>
              <a:t>Cy: check </a:t>
            </a:r>
            <a:r>
              <a:rPr sz="2000" b="0">
                <a:solidFill>
                  <a:srgbClr val="4B2E83"/>
                </a:solidFill>
                <a:latin typeface="Consolas"/>
              </a:rPr>
              <a:t>count == 0</a:t>
            </a:r>
            <a:r>
              <a:rPr sz="2000" b="0">
                <a:solidFill>
                  <a:srgbClr val="1D2330"/>
                </a:solidFill>
                <a:latin typeface="Calibri"/>
              </a:rPr>
              <a:t> before dividing, and print </a:t>
            </a:r>
            <a:r>
              <a:rPr sz="2000" b="0">
                <a:solidFill>
                  <a:srgbClr val="4B2E83"/>
                </a:solidFill>
                <a:latin typeface="Consolas"/>
              </a:rPr>
              <a:t>no scores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9</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1</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4B2E83"/>
                </a:solidFill>
                <a:latin typeface="Consolas"/>
              </a:rPr>
              <a:t>cout &lt;&lt; "step 3 done\n";</a:t>
            </a:r>
            <a:r>
              <a:rPr sz="1800" b="0">
                <a:solidFill>
                  <a:srgbClr val="1D2330"/>
                </a:solidFill>
                <a:latin typeface="Calibri"/>
              </a:rPr>
              <a:t> then a crash: the line shows on screen but not in </a:t>
            </a:r>
            <a:r>
              <a:rPr sz="1800" b="0">
                <a:solidFill>
                  <a:srgbClr val="4B2E83"/>
                </a:solidFill>
                <a:latin typeface="Consolas"/>
              </a:rPr>
              <a:t>out.txt</a:t>
            </a:r>
            <a:r>
              <a:rPr sz="1800" b="0">
                <a:solidFill>
                  <a:srgbClr val="1D2330"/>
                </a:solidFill>
                <a:latin typeface="Calibri"/>
              </a:rPr>
              <a:t>. Why? Two fixes?</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Stopped on </a:t>
            </a:r>
            <a:r>
              <a:rPr sz="1800" b="0">
                <a:solidFill>
                  <a:srgbClr val="4B2E83"/>
                </a:solidFill>
                <a:latin typeface="Consolas"/>
              </a:rPr>
              <a:t>double avg = average(total, count);</a:t>
            </a:r>
            <a:r>
              <a:rPr sz="1800" b="0">
                <a:solidFill>
                  <a:srgbClr val="1D2330"/>
                </a:solidFill>
                <a:latin typeface="Calibri"/>
              </a:rPr>
              <a:t>: what's the difference between </a:t>
            </a:r>
            <a:r>
              <a:rPr sz="1800" b="0">
                <a:solidFill>
                  <a:srgbClr val="4B2E83"/>
                </a:solidFill>
                <a:latin typeface="Consolas"/>
              </a:rPr>
              <a:t>next</a:t>
            </a:r>
            <a:r>
              <a:rPr sz="1800" b="0">
                <a:solidFill>
                  <a:srgbClr val="1D2330"/>
                </a:solidFill>
                <a:latin typeface="Calibri"/>
              </a:rPr>
              <a:t> and </a:t>
            </a:r>
            <a:r>
              <a:rPr sz="1800" b="0">
                <a:solidFill>
                  <a:srgbClr val="4B2E83"/>
                </a:solidFill>
                <a:latin typeface="Consolas"/>
              </a:rPr>
              <a:t>step</a:t>
            </a:r>
            <a:r>
              <a:rPr sz="1800" b="0">
                <a:solidFill>
                  <a:srgbClr val="1D2330"/>
                </a:solidFill>
                <a:latin typeface="Calibri"/>
              </a:rPr>
              <a:t>?</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A program dies with </a:t>
            </a:r>
            <a:r>
              <a:rPr sz="1800" b="0">
                <a:solidFill>
                  <a:srgbClr val="4B2E83"/>
                </a:solidFill>
                <a:latin typeface="Consolas"/>
              </a:rPr>
              <a:t>Segmentation fault</a:t>
            </a:r>
            <a:r>
              <a:rPr sz="1800" b="0">
                <a:solidFill>
                  <a:srgbClr val="1D2330"/>
                </a:solidFill>
                <a:latin typeface="Calibri"/>
              </a:rPr>
              <a:t>. Fastest way to find the line?</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What do you lose in gdb without </a:t>
            </a:r>
            <a:r>
              <a:rPr sz="1800" b="0">
                <a:solidFill>
                  <a:srgbClr val="4B2E83"/>
                </a:solidFill>
                <a:latin typeface="Consolas"/>
              </a:rPr>
              <a:t>-g</a:t>
            </a:r>
            <a:r>
              <a:rPr sz="1800" b="0">
                <a:solidFill>
                  <a:srgbClr val="1D2330"/>
                </a:solidFill>
                <a:latin typeface="Calibri"/>
              </a:rPr>
              <a:t>?</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10</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2 Exercise 1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1</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2</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Classes in C++</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A class keeps its data valid; C++ writes classes a little differently from Java</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Split a class into a header and a </a:t>
            </a:r>
            <a:r>
              <a:rPr sz="2000" b="0">
                <a:solidFill>
                  <a:srgbClr val="C5B4E3"/>
                </a:solidFill>
                <a:latin typeface="Consolas"/>
              </a:rPr>
              <a:t>.cpp</a:t>
            </a:r>
            <a:r>
              <a:rPr sz="2000" b="0">
                <a:solidFill>
                  <a:srgbClr val="FFFFFF"/>
                </a:solidFill>
                <a:latin typeface="Calibri"/>
              </a:rPr>
              <a:t> file</a:t>
            </a:r>
          </a:p>
          <a:p>
            <a:pPr marL="256032" indent="-228600">
              <a:spcAft>
                <a:spcPts val="600"/>
              </a:spcAft>
              <a:buClr>
                <a:srgbClr val="5B6475"/>
              </a:buClr>
              <a:buChar char="›"/>
            </a:pPr>
            <a:r>
              <a:rPr sz="2000" b="0">
                <a:solidFill>
                  <a:srgbClr val="FFFFFF"/>
                </a:solidFill>
                <a:latin typeface="Calibri"/>
              </a:rPr>
              <a:t>Initialize every member with an initializer list</a:t>
            </a:r>
          </a:p>
          <a:p>
            <a:pPr marL="256032" indent="-228600">
              <a:spcAft>
                <a:spcPts val="600"/>
              </a:spcAft>
              <a:buClr>
                <a:srgbClr val="5B6475"/>
              </a:buClr>
              <a:buChar char="›"/>
            </a:pPr>
            <a:r>
              <a:rPr sz="2000" b="0">
                <a:solidFill>
                  <a:srgbClr val="FFFFFF"/>
                </a:solidFill>
                <a:latin typeface="Calibri"/>
              </a:rPr>
              <a:t>Make member functions </a:t>
            </a:r>
            <a:r>
              <a:rPr sz="2000" b="0">
                <a:solidFill>
                  <a:srgbClr val="C5B4E3"/>
                </a:solidFill>
                <a:latin typeface="Consolas"/>
              </a:rPr>
              <a:t>const</a:t>
            </a:r>
            <a:r>
              <a:rPr sz="2000" b="0">
                <a:solidFill>
                  <a:srgbClr val="FFFFFF"/>
                </a:solidFill>
                <a:latin typeface="Calibri"/>
              </a:rPr>
              <a:t> whenever they don't change the object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12</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A class in two files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The header declares the class: data members and member function declarations</a:t>
            </a:r>
          </a:p>
          <a:p>
            <a:pPr marL="256032" indent="-228600">
              <a:spcAft>
                <a:spcPts val="800"/>
              </a:spcAft>
              <a:buClr>
                <a:srgbClr val="5B6475"/>
              </a:buClr>
              <a:buChar char="•"/>
            </a:pPr>
            <a:r>
              <a:rPr sz="1800" b="0">
                <a:solidFill>
                  <a:srgbClr val="1D2330"/>
                </a:solidFill>
                <a:latin typeface="Calibri"/>
              </a:rPr>
              <a:t>The </a:t>
            </a:r>
            <a:r>
              <a:rPr sz="1800" b="0">
                <a:solidFill>
                  <a:srgbClr val="4B2E83"/>
                </a:solidFill>
                <a:latin typeface="Consolas"/>
              </a:rPr>
              <a:t>.cpp</a:t>
            </a:r>
            <a:r>
              <a:rPr sz="1800" b="0">
                <a:solidFill>
                  <a:srgbClr val="1D2330"/>
                </a:solidFill>
                <a:latin typeface="Calibri"/>
              </a:rPr>
              <a:t> defines each member function, prefixed with </a:t>
            </a:r>
            <a:r>
              <a:rPr sz="1800" b="0">
                <a:solidFill>
                  <a:srgbClr val="4B2E83"/>
                </a:solidFill>
                <a:latin typeface="Consolas"/>
              </a:rPr>
              <a:t>Rational::</a:t>
            </a:r>
          </a:p>
          <a:p>
            <a:pPr marL="256032" indent="-228600">
              <a:spcAft>
                <a:spcPts val="800"/>
              </a:spcAft>
              <a:buClr>
                <a:srgbClr val="5B6475"/>
              </a:buClr>
              <a:buChar char="•"/>
            </a:pPr>
            <a:r>
              <a:rPr sz="1800" b="0">
                <a:solidFill>
                  <a:srgbClr val="4B2E83"/>
                </a:solidFill>
                <a:latin typeface="Consolas"/>
              </a:rPr>
              <a:t>public:</a:t>
            </a:r>
            <a:r>
              <a:rPr sz="1800" b="0">
                <a:solidFill>
                  <a:srgbClr val="1D2330"/>
                </a:solidFill>
                <a:latin typeface="Calibri"/>
              </a:rPr>
              <a:t> and </a:t>
            </a:r>
            <a:r>
              <a:rPr sz="1800" b="0">
                <a:solidFill>
                  <a:srgbClr val="4B2E83"/>
                </a:solidFill>
                <a:latin typeface="Consolas"/>
              </a:rPr>
              <a:t>private:</a:t>
            </a:r>
            <a:r>
              <a:rPr sz="1800" b="0">
                <a:solidFill>
                  <a:srgbClr val="1D2330"/>
                </a:solidFill>
                <a:latin typeface="Calibri"/>
              </a:rPr>
              <a:t> label whole sections; data is private</a:t>
            </a:r>
          </a:p>
          <a:p>
            <a:pPr marL="256032" indent="-228600">
              <a:spcAft>
                <a:spcPts val="800"/>
              </a:spcAft>
              <a:buClr>
                <a:srgbClr val="5B6475"/>
              </a:buClr>
              <a:buChar char="•"/>
            </a:pPr>
            <a:r>
              <a:rPr sz="1800" b="0">
                <a:solidFill>
                  <a:srgbClr val="1D2330"/>
                </a:solidFill>
                <a:latin typeface="Calibri"/>
              </a:rPr>
              <a:t>Don't forget the </a:t>
            </a:r>
            <a:r>
              <a:rPr sz="1800" b="0">
                <a:solidFill>
                  <a:srgbClr val="4B2E83"/>
                </a:solidFill>
                <a:latin typeface="Consolas"/>
              </a:rPr>
              <a:t>;</a:t>
            </a:r>
            <a:r>
              <a:rPr sz="1800" b="0">
                <a:solidFill>
                  <a:srgbClr val="1D2330"/>
                </a:solidFill>
                <a:latin typeface="Calibri"/>
              </a:rPr>
              <a:t> after the class's closing brace</a:t>
            </a:r>
          </a:p>
        </p:txBody>
      </p:sp>
      <p:sp>
        <p:nvSpPr>
          <p:cNvPr id="7" name="Rounded Rectangle 6"/>
          <p:cNvSpPr/>
          <p:nvPr/>
        </p:nvSpPr>
        <p:spPr>
          <a:xfrm>
            <a:off x="5972110" y="1325880"/>
            <a:ext cx="5670944" cy="3520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154680"/>
          </a:xfrm>
          <a:prstGeom prst="rect">
            <a:avLst/>
          </a:prstGeom>
          <a:noFill/>
        </p:spPr>
        <p:txBody>
          <a:bodyPr wrap="none" lIns="0" rIns="0" tIns="0" bIns="0" anchor="t">
            <a:spAutoFit/>
          </a:bodyPr>
          <a:lstStyle/>
          <a:p>
            <a:pPr>
              <a:spcAft>
                <a:spcPts val="0"/>
              </a:spcAft>
            </a:pPr>
            <a:r>
              <a:rPr sz="1200">
                <a:solidFill>
                  <a:srgbClr val="9AA4B5"/>
                </a:solidFill>
                <a:latin typeface="Consolas"/>
              </a:rPr>
              <a:t>// rational.h</a:t>
            </a:r>
          </a:p>
          <a:p>
            <a:pPr>
              <a:spcAft>
                <a:spcPts val="0"/>
              </a:spcAft>
            </a:pPr>
            <a:r>
              <a:rPr sz="1200">
                <a:solidFill>
                  <a:srgbClr val="E6E6EF"/>
                </a:solidFill>
                <a:latin typeface="Consolas"/>
              </a:rPr>
              <a:t>class Rational {</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Rational();</a:t>
            </a:r>
          </a:p>
          <a:p>
            <a:pPr>
              <a:spcAft>
                <a:spcPts val="0"/>
              </a:spcAft>
            </a:pPr>
            <a:r>
              <a:rPr sz="1200">
                <a:solidFill>
                  <a:srgbClr val="E6E6EF"/>
                </a:solidFill>
                <a:latin typeface="Consolas"/>
              </a:rPr>
              <a:t>    Rational(int num, int den);</a:t>
            </a:r>
          </a:p>
          <a:p>
            <a:pPr>
              <a:spcAft>
                <a:spcPts val="0"/>
              </a:spcAft>
            </a:pPr>
            <a:r>
              <a:rPr sz="1200">
                <a:solidFill>
                  <a:srgbClr val="E6E6EF"/>
                </a:solidFill>
                <a:latin typeface="Consolas"/>
              </a:rPr>
              <a:t>    int numerator() const;</a:t>
            </a:r>
          </a:p>
          <a:p>
            <a:pPr>
              <a:spcAft>
                <a:spcPts val="0"/>
              </a:spcAft>
            </a:pPr>
            <a:r>
              <a:rPr sz="1200">
                <a:solidFill>
                  <a:srgbClr val="E6E6EF"/>
                </a:solidFill>
                <a:latin typeface="Consolas"/>
              </a:rPr>
              <a:t>    std::string toString() const;</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int num_;</a:t>
            </a:r>
          </a:p>
          <a:p>
            <a:pPr>
              <a:spcAft>
                <a:spcPts val="0"/>
              </a:spcAft>
            </a:pPr>
            <a:r>
              <a:rPr sz="1200">
                <a:solidFill>
                  <a:srgbClr val="E6E6EF"/>
                </a:solidFill>
                <a:latin typeface="Consolas"/>
              </a:rPr>
              <a:t>    int den_;</a:t>
            </a:r>
          </a:p>
          <a:p>
            <a:pPr>
              <a:spcAft>
                <a:spcPts val="0"/>
              </a:spcAft>
            </a:pPr>
            <a:r>
              <a:rPr sz="1200">
                <a:solidFill>
                  <a:srgbClr val="E6E6EF"/>
                </a:solidFill>
                <a:latin typeface="Consolas"/>
              </a:rPr>
              <a:t>    void normalize();</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9AA4B5"/>
                </a:solidFill>
                <a:latin typeface="Consolas"/>
              </a:rPr>
              <a:t>// rational.cpp</a:t>
            </a:r>
          </a:p>
          <a:p>
            <a:pPr>
              <a:spcAft>
                <a:spcPts val="0"/>
              </a:spcAft>
            </a:pPr>
            <a:r>
              <a:rPr sz="1200">
                <a:solidFill>
                  <a:srgbClr val="E6E6EF"/>
                </a:solidFill>
                <a:latin typeface="Consolas"/>
              </a:rPr>
              <a:t>int Rational::numerator() const {</a:t>
            </a:r>
          </a:p>
          <a:p>
            <a:pPr>
              <a:spcAft>
                <a:spcPts val="0"/>
              </a:spcAft>
            </a:pPr>
            <a:r>
              <a:rPr sz="1200">
                <a:solidFill>
                  <a:srgbClr val="E6E6EF"/>
                </a:solidFill>
                <a:latin typeface="Consolas"/>
              </a:rPr>
              <a:t>    return num_;</a:t>
            </a:r>
          </a:p>
          <a:p>
            <a:pPr>
              <a:spcAft>
                <a:spcPts val="0"/>
              </a:spcAft>
            </a:pPr>
            <a:r>
              <a:rPr sz="1200">
                <a:solidFill>
                  <a:srgbClr val="E6E6EF"/>
                </a:solidFill>
                <a:latin typeface="Consolas"/>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13</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Constructors and initializer lists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A constructor has the class's name and no return type; overload freely</a:t>
            </a:r>
          </a:p>
          <a:p>
            <a:pPr marL="256032" indent="-228600">
              <a:spcAft>
                <a:spcPts val="800"/>
              </a:spcAft>
              <a:buClr>
                <a:srgbClr val="5B6475"/>
              </a:buClr>
              <a:buChar char="•"/>
            </a:pPr>
            <a:r>
              <a:rPr sz="1800" b="0">
                <a:solidFill>
                  <a:srgbClr val="1D2330"/>
                </a:solidFill>
                <a:latin typeface="Calibri"/>
              </a:rPr>
              <a:t>The initializer list runs before the body and initializes each member</a:t>
            </a:r>
          </a:p>
          <a:p>
            <a:pPr marL="256032" indent="-228600">
              <a:spcAft>
                <a:spcPts val="800"/>
              </a:spcAft>
              <a:buClr>
                <a:srgbClr val="5B6475"/>
              </a:buClr>
              <a:buChar char="•"/>
            </a:pPr>
            <a:r>
              <a:rPr sz="1800" b="0">
                <a:solidFill>
                  <a:srgbClr val="1D2330"/>
                </a:solidFill>
                <a:latin typeface="Calibri"/>
              </a:rPr>
              <a:t>Members are NOT set to zero for you: a forgotten </a:t>
            </a:r>
            <a:r>
              <a:rPr sz="1800" b="0">
                <a:solidFill>
                  <a:srgbClr val="4B2E83"/>
                </a:solidFill>
                <a:latin typeface="Consolas"/>
              </a:rPr>
              <a:t>int</a:t>
            </a:r>
            <a:r>
              <a:rPr sz="1800" b="0">
                <a:solidFill>
                  <a:srgbClr val="1D2330"/>
                </a:solidFill>
                <a:latin typeface="Calibri"/>
              </a:rPr>
              <a:t> holds garbage</a:t>
            </a:r>
          </a:p>
          <a:p>
            <a:pPr marL="256032" indent="-228600">
              <a:spcAft>
                <a:spcPts val="800"/>
              </a:spcAft>
              <a:buClr>
                <a:srgbClr val="5B6475"/>
              </a:buClr>
              <a:buChar char="•"/>
            </a:pPr>
            <a:r>
              <a:rPr sz="1800" b="0">
                <a:solidFill>
                  <a:srgbClr val="1D2330"/>
                </a:solidFill>
                <a:latin typeface="Calibri"/>
              </a:rPr>
              <a:t>Older code assigns in the body (</a:t>
            </a:r>
            <a:r>
              <a:rPr sz="1800" b="0">
                <a:solidFill>
                  <a:srgbClr val="4B2E83"/>
                </a:solidFill>
                <a:latin typeface="Consolas"/>
              </a:rPr>
              <a:t>num_ = num;</a:t>
            </a:r>
            <a:r>
              <a:rPr sz="1800" b="0">
                <a:solidFill>
                  <a:srgbClr val="1D2330"/>
                </a:solidFill>
                <a:latin typeface="Calibri"/>
              </a:rPr>
              <a:t>): it still works, but write the list; </a:t>
            </a:r>
            <a:r>
              <a:rPr sz="1800" b="0">
                <a:solidFill>
                  <a:srgbClr val="4B2E83"/>
                </a:solidFill>
                <a:latin typeface="Consolas"/>
              </a:rPr>
              <a:t>const</a:t>
            </a:r>
            <a:r>
              <a:rPr sz="1800" b="0">
                <a:solidFill>
                  <a:srgbClr val="1D2330"/>
                </a:solidFill>
                <a:latin typeface="Calibri"/>
              </a:rPr>
              <a:t> members require it</a:t>
            </a:r>
          </a:p>
          <a:p>
            <a:pPr marL="256032" indent="-228600">
              <a:spcAft>
                <a:spcPts val="800"/>
              </a:spcAft>
              <a:buClr>
                <a:srgbClr val="5B6475"/>
              </a:buClr>
              <a:buChar char="•"/>
            </a:pPr>
            <a:r>
              <a:rPr sz="1800" b="0">
                <a:solidFill>
                  <a:srgbClr val="4B2E83"/>
                </a:solidFill>
                <a:latin typeface="Consolas"/>
              </a:rPr>
              <a:t>Rational r;</a:t>
            </a:r>
            <a:r>
              <a:rPr sz="1800" b="0">
                <a:solidFill>
                  <a:srgbClr val="1D2330"/>
                </a:solidFill>
                <a:latin typeface="Calibri"/>
              </a:rPr>
              <a:t> uses the default constructor; </a:t>
            </a:r>
            <a:r>
              <a:rPr sz="1800" b="0">
                <a:solidFill>
                  <a:srgbClr val="4B2E83"/>
                </a:solidFill>
                <a:latin typeface="Consolas"/>
              </a:rPr>
              <a:t>Rational r();</a:t>
            </a:r>
            <a:r>
              <a:rPr sz="1800" b="0">
                <a:solidFill>
                  <a:srgbClr val="1D2330"/>
                </a:solidFill>
                <a:latin typeface="Calibri"/>
              </a:rPr>
              <a:t> declares a function!</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400">
                <a:solidFill>
                  <a:srgbClr val="E6E6EF"/>
                </a:solidFill>
                <a:latin typeface="Consolas"/>
              </a:rPr>
              <a:t>Rational::Rational() : num_(0), den_(1) {</a:t>
            </a:r>
          </a:p>
          <a:p>
            <a:pPr>
              <a:spcAft>
                <a:spcPts val="0"/>
              </a:spcAft>
            </a:pPr>
            <a:r>
              <a:rPr sz="1400">
                <a:solidFill>
                  <a:srgbClr val="E6E6EF"/>
                </a:solidFill>
                <a:latin typeface="Consolas"/>
              </a:rPr>
              <a:t>}</a:t>
            </a:r>
          </a:p>
          <a:p>
            <a:pPr>
              <a:spcAft>
                <a:spcPts val="0"/>
              </a:spcAft>
            </a:pPr>
            <a:r>
              <a:rPr sz="1400">
                <a:latin typeface="Consolas"/>
              </a:rPr>
              <a:t> </a:t>
            </a:r>
          </a:p>
          <a:p>
            <a:pPr>
              <a:spcAft>
                <a:spcPts val="0"/>
              </a:spcAft>
            </a:pPr>
            <a:r>
              <a:rPr sz="1400">
                <a:solidFill>
                  <a:srgbClr val="E6E6EF"/>
                </a:solidFill>
                <a:latin typeface="Consolas"/>
              </a:rPr>
              <a:t>Rational::Rational(int num, int den)</a:t>
            </a:r>
          </a:p>
          <a:p>
            <a:pPr>
              <a:spcAft>
                <a:spcPts val="0"/>
              </a:spcAft>
            </a:pPr>
            <a:r>
              <a:rPr sz="1400">
                <a:solidFill>
                  <a:srgbClr val="E6E6EF"/>
                </a:solidFill>
                <a:latin typeface="Consolas"/>
              </a:rPr>
              <a:t>    : num_(num), den_(den) {</a:t>
            </a:r>
          </a:p>
          <a:p>
            <a:pPr>
              <a:spcAft>
                <a:spcPts val="0"/>
              </a:spcAft>
            </a:pPr>
            <a:r>
              <a:rPr sz="1400">
                <a:solidFill>
                  <a:srgbClr val="E6E6EF"/>
                </a:solidFill>
                <a:latin typeface="Consolas"/>
              </a:rPr>
              <a:t>    normalize();</a:t>
            </a:r>
          </a:p>
          <a:p>
            <a:pPr>
              <a:spcAft>
                <a:spcPts val="0"/>
              </a:spcAft>
            </a:pPr>
            <a:r>
              <a:rPr sz="1400">
                <a:solidFill>
                  <a:srgbClr val="E6E6EF"/>
                </a:solidFill>
                <a:latin typeface="Consolas"/>
              </a:rPr>
              <a:t>}</a:t>
            </a:r>
          </a:p>
          <a:p>
            <a:pPr>
              <a:spcAft>
                <a:spcPts val="0"/>
              </a:spcAft>
            </a:pPr>
            <a:r>
              <a:rPr sz="1400">
                <a:latin typeface="Consolas"/>
              </a:rPr>
              <a:t> </a:t>
            </a:r>
          </a:p>
          <a:p>
            <a:pPr>
              <a:spcAft>
                <a:spcPts val="0"/>
              </a:spcAft>
            </a:pPr>
            <a:r>
              <a:rPr sz="1400">
                <a:solidFill>
                  <a:srgbClr val="E6E6EF"/>
                </a:solidFill>
                <a:latin typeface="Consolas"/>
              </a:rPr>
              <a:t>Rational a;         </a:t>
            </a:r>
            <a:r>
              <a:rPr sz="1400">
                <a:solidFill>
                  <a:srgbClr val="9AA4B5"/>
                </a:solidFill>
                <a:latin typeface="Consolas"/>
              </a:rPr>
              <a:t>// 0/1</a:t>
            </a:r>
          </a:p>
          <a:p>
            <a:pPr>
              <a:spcAft>
                <a:spcPts val="0"/>
              </a:spcAft>
            </a:pPr>
            <a:r>
              <a:rPr sz="1400">
                <a:solidFill>
                  <a:srgbClr val="E6E6EF"/>
                </a:solidFill>
                <a:latin typeface="Consolas"/>
              </a:rPr>
              <a:t>Rational b(6, -8);  </a:t>
            </a:r>
            <a:r>
              <a:rPr sz="1400">
                <a:solidFill>
                  <a:srgbClr val="9AA4B5"/>
                </a:solidFill>
                <a:latin typeface="Consolas"/>
              </a:rPr>
              <a:t>// -3/4</a:t>
            </a:r>
          </a:p>
          <a:p>
            <a:pPr>
              <a:spcAft>
                <a:spcPts val="0"/>
              </a:spcAft>
            </a:pPr>
            <a:r>
              <a:rPr sz="1400">
                <a:solidFill>
                  <a:srgbClr val="E6E6EF"/>
                </a:solidFill>
                <a:latin typeface="Consolas"/>
              </a:rPr>
              <a:t>Rational c = 5;     </a:t>
            </a:r>
            <a:r>
              <a:rPr sz="1400">
                <a:solidFill>
                  <a:srgbClr val="9AA4B5"/>
                </a:solidFill>
                <a:latin typeface="Consolas"/>
              </a:rPr>
              <a:t>// 5/1 (needs Rational(int))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14</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const member functions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const</a:t>
            </a:r>
            <a:r>
              <a:rPr sz="1800" b="0">
                <a:solidFill>
                  <a:srgbClr val="1D2330"/>
                </a:solidFill>
                <a:latin typeface="Calibri"/>
              </a:rPr>
              <a:t> after the parameter list promises not to change the object</a:t>
            </a:r>
          </a:p>
          <a:p>
            <a:pPr marL="256032" indent="-228600">
              <a:spcAft>
                <a:spcPts val="800"/>
              </a:spcAft>
              <a:buClr>
                <a:srgbClr val="5B6475"/>
              </a:buClr>
              <a:buChar char="•"/>
            </a:pPr>
            <a:r>
              <a:rPr sz="1800" b="0">
                <a:solidFill>
                  <a:srgbClr val="1D2330"/>
                </a:solidFill>
                <a:latin typeface="Calibri"/>
              </a:rPr>
              <a:t>A </a:t>
            </a:r>
            <a:r>
              <a:rPr sz="1800" b="0">
                <a:solidFill>
                  <a:srgbClr val="4B2E83"/>
                </a:solidFill>
                <a:latin typeface="Consolas"/>
              </a:rPr>
              <a:t>const</a:t>
            </a:r>
            <a:r>
              <a:rPr sz="1800" b="0">
                <a:solidFill>
                  <a:srgbClr val="1D2330"/>
                </a:solidFill>
                <a:latin typeface="Calibri"/>
              </a:rPr>
              <a:t> object or </a:t>
            </a:r>
            <a:r>
              <a:rPr sz="1800" b="0">
                <a:solidFill>
                  <a:srgbClr val="4B2E83"/>
                </a:solidFill>
                <a:latin typeface="Consolas"/>
              </a:rPr>
              <a:t>const&amp;</a:t>
            </a:r>
            <a:r>
              <a:rPr sz="1800" b="0">
                <a:solidFill>
                  <a:srgbClr val="1D2330"/>
                </a:solidFill>
                <a:latin typeface="Calibri"/>
              </a:rPr>
              <a:t> parameter can call only const members</a:t>
            </a:r>
          </a:p>
          <a:p>
            <a:pPr marL="256032" indent="-228600">
              <a:spcAft>
                <a:spcPts val="800"/>
              </a:spcAft>
              <a:buClr>
                <a:srgbClr val="5B6475"/>
              </a:buClr>
              <a:buChar char="•"/>
            </a:pPr>
            <a:r>
              <a:rPr sz="1800" b="0">
                <a:solidFill>
                  <a:srgbClr val="1D2330"/>
                </a:solidFill>
                <a:latin typeface="Calibri"/>
              </a:rPr>
              <a:t>Otherwise: "passing 'const Rational' as 'this' argument discards qualifiers"</a:t>
            </a:r>
          </a:p>
          <a:p>
            <a:pPr marL="256032" indent="-228600">
              <a:spcAft>
                <a:spcPts val="800"/>
              </a:spcAft>
              <a:buClr>
                <a:srgbClr val="5B6475"/>
              </a:buClr>
              <a:buChar char="•"/>
            </a:pPr>
            <a:r>
              <a:rPr sz="1800" b="0">
                <a:solidFill>
                  <a:srgbClr val="1D2330"/>
                </a:solidFill>
                <a:latin typeface="Calibri"/>
              </a:rPr>
              <a:t>Rule: every member function that doesn't change the object is </a:t>
            </a:r>
            <a:r>
              <a:rPr sz="1800" b="0">
                <a:solidFill>
                  <a:srgbClr val="4B2E83"/>
                </a:solidFill>
                <a:latin typeface="Consolas"/>
              </a:rPr>
              <a:t>const</a:t>
            </a:r>
            <a:r>
              <a:rPr sz="1800" b="0">
                <a:solidFill>
                  <a:srgbClr val="1D2330"/>
                </a:solidFill>
                <a:latin typeface="Calibri"/>
              </a:rPr>
              <a:t>, in both the </a:t>
            </a:r>
            <a:r>
              <a:rPr sz="1800" b="0">
                <a:solidFill>
                  <a:srgbClr val="4B2E83"/>
                </a:solidFill>
                <a:latin typeface="Consolas"/>
              </a:rPr>
              <a:t>.h</a:t>
            </a:r>
            <a:r>
              <a:rPr sz="1800" b="0">
                <a:solidFill>
                  <a:srgbClr val="1D2330"/>
                </a:solidFill>
                <a:latin typeface="Calibri"/>
              </a:rPr>
              <a:t> and the </a:t>
            </a:r>
            <a:r>
              <a:rPr sz="1800" b="0">
                <a:solidFill>
                  <a:srgbClr val="4B2E83"/>
                </a:solidFill>
                <a:latin typeface="Consolas"/>
              </a:rPr>
              <a:t>.cpp</a:t>
            </a:r>
          </a:p>
        </p:txBody>
      </p:sp>
      <p:sp>
        <p:nvSpPr>
          <p:cNvPr id="7" name="Rounded Rectangle 6"/>
          <p:cNvSpPr/>
          <p:nvPr/>
        </p:nvSpPr>
        <p:spPr>
          <a:xfrm>
            <a:off x="5972110" y="1325880"/>
            <a:ext cx="5670944" cy="1996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1630680"/>
          </a:xfrm>
          <a:prstGeom prst="rect">
            <a:avLst/>
          </a:prstGeom>
          <a:noFill/>
        </p:spPr>
        <p:txBody>
          <a:bodyPr wrap="none" lIns="0" rIns="0" tIns="0" bIns="0" anchor="t">
            <a:spAutoFit/>
          </a:bodyPr>
          <a:lstStyle/>
          <a:p>
            <a:pPr>
              <a:spcAft>
                <a:spcPts val="0"/>
              </a:spcAft>
            </a:pPr>
            <a:r>
              <a:rPr sz="1300">
                <a:solidFill>
                  <a:srgbClr val="E6E6EF"/>
                </a:solidFill>
                <a:latin typeface="Consolas"/>
              </a:rPr>
              <a:t>void show(const Rational &amp;r) {</a:t>
            </a:r>
          </a:p>
          <a:p>
            <a:pPr>
              <a:spcAft>
                <a:spcPts val="0"/>
              </a:spcAft>
            </a:pPr>
            <a:r>
              <a:rPr sz="1300">
                <a:solidFill>
                  <a:srgbClr val="E6E6EF"/>
                </a:solidFill>
                <a:latin typeface="Consolas"/>
              </a:rPr>
              <a:t>    cout &lt;&lt; r.toString();       </a:t>
            </a:r>
            <a:r>
              <a:rPr sz="1300">
                <a:solidFill>
                  <a:srgbClr val="9AA4B5"/>
                </a:solidFill>
                <a:latin typeface="Consolas"/>
              </a:rPr>
              <a:t>// needs toString() const</a:t>
            </a:r>
          </a:p>
          <a:p>
            <a:pPr>
              <a:spcAft>
                <a:spcPts val="0"/>
              </a:spcAft>
            </a:pPr>
            <a:r>
              <a:rPr sz="1300">
                <a:solidFill>
                  <a:srgbClr val="E6E6EF"/>
                </a:solidFill>
                <a:latin typeface="Consolas"/>
              </a:rPr>
              <a:t>}</a:t>
            </a:r>
          </a:p>
          <a:p>
            <a:pPr>
              <a:spcAft>
                <a:spcPts val="0"/>
              </a:spcAft>
            </a:pPr>
            <a:r>
              <a:rPr sz="1300">
                <a:latin typeface="Consolas"/>
              </a:rPr>
              <a:t> </a:t>
            </a:r>
          </a:p>
          <a:p>
            <a:pPr>
              <a:spcAft>
                <a:spcPts val="0"/>
              </a:spcAft>
            </a:pPr>
            <a:r>
              <a:rPr sz="1300">
                <a:solidFill>
                  <a:srgbClr val="E6E6EF"/>
                </a:solidFill>
                <a:latin typeface="Consolas"/>
              </a:rPr>
              <a:t>int Rational::numerator() const {</a:t>
            </a:r>
          </a:p>
          <a:p>
            <a:pPr>
              <a:spcAft>
                <a:spcPts val="0"/>
              </a:spcAft>
            </a:pPr>
            <a:r>
              <a:rPr sz="1300">
                <a:solidFill>
                  <a:srgbClr val="E6E6EF"/>
                </a:solidFill>
                <a:latin typeface="Consolas"/>
              </a:rPr>
              <a:t>    num_ = 0;      </a:t>
            </a:r>
            <a:r>
              <a:rPr sz="1300">
                <a:solidFill>
                  <a:srgbClr val="9AA4B5"/>
                </a:solidFill>
                <a:latin typeface="Consolas"/>
              </a:rPr>
              <a:t>// error: read-only object</a:t>
            </a:r>
          </a:p>
          <a:p>
            <a:pPr>
              <a:spcAft>
                <a:spcPts val="0"/>
              </a:spcAft>
            </a:pPr>
            <a:r>
              <a:rPr sz="1300">
                <a:solidFill>
                  <a:srgbClr val="E6E6EF"/>
                </a:solidFill>
                <a:latin typeface="Consolas"/>
              </a:rPr>
              <a:t>    return num_;</a:t>
            </a:r>
          </a:p>
          <a:p>
            <a:pPr>
              <a:spcAft>
                <a:spcPts val="0"/>
              </a:spcAft>
            </a:pPr>
            <a:r>
              <a:rPr sz="1300">
                <a:solidFill>
                  <a:srgbClr val="E6E6EF"/>
                </a:solidFill>
                <a:latin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15</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Coming from Java</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Java</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Rational r = new Rational(1, 2);</a:t>
            </a:r>
            <a:r>
              <a:rPr sz="1700" b="0">
                <a:solidFill>
                  <a:srgbClr val="1D2330"/>
                </a:solidFill>
                <a:latin typeface="Calibri"/>
              </a:rPr>
              <a:t> creates the object on the heap</a:t>
            </a:r>
          </a:p>
          <a:p>
            <a:pPr marL="256032" indent="-228600">
              <a:spcAft>
                <a:spcPts val="800"/>
              </a:spcAft>
              <a:buClr>
                <a:srgbClr val="5B6475"/>
              </a:buClr>
              <a:buChar char="•"/>
            </a:pPr>
            <a:r>
              <a:rPr sz="1700" b="0">
                <a:solidFill>
                  <a:srgbClr val="1D2330"/>
                </a:solidFill>
                <a:latin typeface="Calibri"/>
              </a:rPr>
              <a:t>Fields default to 0 / null</a:t>
            </a:r>
          </a:p>
          <a:p>
            <a:pPr marL="256032" indent="-228600">
              <a:spcAft>
                <a:spcPts val="800"/>
              </a:spcAft>
              <a:buClr>
                <a:srgbClr val="5B6475"/>
              </a:buClr>
              <a:buChar char="•"/>
            </a:pPr>
            <a:r>
              <a:rPr sz="1700" b="0">
                <a:solidFill>
                  <a:srgbClr val="1D2330"/>
                </a:solidFill>
                <a:latin typeface="Calibri"/>
              </a:rPr>
              <a:t>Methods can always be called on any reference</a:t>
            </a:r>
          </a:p>
          <a:p>
            <a:pPr marL="256032" indent="-228600">
              <a:spcAft>
                <a:spcPts val="800"/>
              </a:spcAft>
              <a:buClr>
                <a:srgbClr val="5B6475"/>
              </a:buClr>
              <a:buChar char="•"/>
            </a:pPr>
            <a:r>
              <a:rPr sz="1700" b="0">
                <a:solidFill>
                  <a:srgbClr val="1D2330"/>
                </a:solidFill>
                <a:latin typeface="Calibri"/>
              </a:rPr>
              <a:t>One file per class; no headers</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C++</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Rational r(1, 2);</a:t>
            </a:r>
            <a:r>
              <a:rPr sz="1700" b="0">
                <a:solidFill>
                  <a:srgbClr val="1D2330"/>
                </a:solidFill>
                <a:latin typeface="Calibri"/>
              </a:rPr>
              <a:t> creates a local object, destroyed at the end of the scope</a:t>
            </a:r>
          </a:p>
          <a:p>
            <a:pPr marL="256032" indent="-228600">
              <a:spcAft>
                <a:spcPts val="800"/>
              </a:spcAft>
              <a:buClr>
                <a:srgbClr val="5B6475"/>
              </a:buClr>
              <a:buChar char="•"/>
            </a:pPr>
            <a:r>
              <a:rPr sz="1700" b="0">
                <a:solidFill>
                  <a:srgbClr val="1D2330"/>
                </a:solidFill>
                <a:latin typeface="Calibri"/>
              </a:rPr>
              <a:t>Members hold garbage unless you initialize them</a:t>
            </a:r>
          </a:p>
          <a:p>
            <a:pPr marL="256032" indent="-228600">
              <a:spcAft>
                <a:spcPts val="800"/>
              </a:spcAft>
              <a:buClr>
                <a:srgbClr val="5B6475"/>
              </a:buClr>
              <a:buChar char="•"/>
            </a:pPr>
            <a:r>
              <a:rPr sz="1700" b="0">
                <a:solidFill>
                  <a:srgbClr val="1D2330"/>
                </a:solidFill>
                <a:latin typeface="Calibri"/>
              </a:rPr>
              <a:t>Only </a:t>
            </a:r>
            <a:r>
              <a:rPr sz="1700" b="0">
                <a:solidFill>
                  <a:srgbClr val="4B2E83"/>
                </a:solidFill>
                <a:latin typeface="Consolas"/>
              </a:rPr>
              <a:t>const</a:t>
            </a:r>
            <a:r>
              <a:rPr sz="1700" b="0">
                <a:solidFill>
                  <a:srgbClr val="1D2330"/>
                </a:solidFill>
                <a:latin typeface="Calibri"/>
              </a:rPr>
              <a:t> members can be called on </a:t>
            </a:r>
            <a:r>
              <a:rPr sz="1700" b="0">
                <a:solidFill>
                  <a:srgbClr val="4B2E83"/>
                </a:solidFill>
                <a:latin typeface="Consolas"/>
              </a:rPr>
              <a:t>const</a:t>
            </a:r>
            <a:r>
              <a:rPr sz="1700" b="0">
                <a:solidFill>
                  <a:srgbClr val="1D2330"/>
                </a:solidFill>
                <a:latin typeface="Calibri"/>
              </a:rPr>
              <a:t> objects</a:t>
            </a:r>
          </a:p>
          <a:p>
            <a:pPr marL="256032" indent="-228600">
              <a:spcAft>
                <a:spcPts val="800"/>
              </a:spcAft>
              <a:buClr>
                <a:srgbClr val="5B6475"/>
              </a:buClr>
              <a:buChar char="•"/>
            </a:pPr>
            <a:r>
              <a:rPr sz="1700" b="0">
                <a:solidFill>
                  <a:srgbClr val="1D2330"/>
                </a:solidFill>
                <a:latin typeface="Calibri"/>
              </a:rPr>
              <a:t>Class declaration in </a:t>
            </a:r>
            <a:r>
              <a:rPr sz="1700" b="0">
                <a:solidFill>
                  <a:srgbClr val="4B2E83"/>
                </a:solidFill>
                <a:latin typeface="Consolas"/>
              </a:rPr>
              <a:t>.h</a:t>
            </a:r>
            <a:r>
              <a:rPr sz="1700" b="0">
                <a:solidFill>
                  <a:srgbClr val="1D2330"/>
                </a:solidFill>
                <a:latin typeface="Calibri"/>
              </a:rPr>
              <a:t>, member definitions in </a:t>
            </a:r>
            <a:r>
              <a:rPr sz="1700" b="0">
                <a:solidFill>
                  <a:srgbClr val="4B2E83"/>
                </a:solidFill>
                <a:latin typeface="Consolas"/>
              </a:rPr>
              <a:t>.cpp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16</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2: The Rational class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Lab2/exercises/ex2-classes/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./rational_app</a:t>
            </a:r>
            <a:r>
              <a:rPr sz="1500" b="0">
                <a:solidFill>
                  <a:srgbClr val="1D2330"/>
                </a:solidFill>
                <a:latin typeface="Calibri"/>
              </a:rPr>
              <a:t> prints the five expected values.</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make</a:t>
            </a:r>
            <a:r>
              <a:rPr sz="1700" b="0">
                <a:solidFill>
                  <a:srgbClr val="1D2330"/>
                </a:solidFill>
                <a:latin typeface="Calibri"/>
              </a:rPr>
              <a:t>: </a:t>
            </a:r>
            <a:r>
              <a:rPr sz="1700" b="0">
                <a:solidFill>
                  <a:srgbClr val="4B2E83"/>
                </a:solidFill>
                <a:latin typeface="Consolas"/>
              </a:rPr>
              <a:t>main.cpp</a:t>
            </a:r>
            <a:r>
              <a:rPr sz="1700" b="0">
                <a:solidFill>
                  <a:srgbClr val="1D2330"/>
                </a:solidFill>
                <a:latin typeface="Calibri"/>
              </a:rPr>
              <a:t> does not compile. Fix it by changing only </a:t>
            </a:r>
            <a:r>
              <a:rPr sz="1700" b="0">
                <a:solidFill>
                  <a:srgbClr val="4B2E83"/>
                </a:solidFill>
                <a:latin typeface="Consolas"/>
              </a:rPr>
              <a:t>rational.h</a:t>
            </a:r>
            <a:r>
              <a:rPr sz="1700" b="0">
                <a:solidFill>
                  <a:srgbClr val="1D2330"/>
                </a:solidFill>
                <a:latin typeface="Calibri"/>
              </a:rPr>
              <a:t> and </a:t>
            </a:r>
            <a:r>
              <a:rPr sz="1700" b="0">
                <a:solidFill>
                  <a:srgbClr val="4B2E83"/>
                </a:solidFill>
                <a:latin typeface="Consolas"/>
              </a:rPr>
              <a:t>rational.cpp</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Leave the default constructor empty, run, and note what </a:t>
            </a:r>
            <a:r>
              <a:rPr sz="1700" b="0">
                <a:solidFill>
                  <a:srgbClr val="4B2E83"/>
                </a:solidFill>
                <a:latin typeface="Consolas"/>
              </a:rPr>
              <a:t>default:</a:t>
            </a:r>
            <a:r>
              <a:rPr sz="1700" b="0">
                <a:solidFill>
                  <a:srgbClr val="1D2330"/>
                </a:solidFill>
                <a:latin typeface="Calibri"/>
              </a:rPr>
              <a:t> prints</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Complete the TODOs: initializer lists, </a:t>
            </a:r>
            <a:r>
              <a:rPr sz="1700" b="0">
                <a:solidFill>
                  <a:srgbClr val="4B2E83"/>
                </a:solidFill>
                <a:latin typeface="Consolas"/>
              </a:rPr>
              <a:t>toDouble</a:t>
            </a:r>
            <a:r>
              <a:rPr sz="1700" b="0">
                <a:solidFill>
                  <a:srgbClr val="1D2330"/>
                </a:solidFill>
                <a:latin typeface="Calibri"/>
              </a:rPr>
              <a:t>, </a:t>
            </a:r>
            <a:r>
              <a:rPr sz="1700" b="0">
                <a:solidFill>
                  <a:srgbClr val="4B2E83"/>
                </a:solidFill>
                <a:latin typeface="Consolas"/>
              </a:rPr>
              <a:t>toString</a:t>
            </a:r>
            <a:r>
              <a:rPr sz="1700" b="0">
                <a:solidFill>
                  <a:srgbClr val="1D2330"/>
                </a:solidFill>
                <a:latin typeface="Calibri"/>
              </a:rPr>
              <a:t>, </a:t>
            </a:r>
            <a:r>
              <a:rPr sz="1700" b="0">
                <a:solidFill>
                  <a:srgbClr val="4B2E83"/>
                </a:solidFill>
                <a:latin typeface="Consolas"/>
              </a:rPr>
              <a:t>normalize</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Check the output against the comments in </a:t>
            </a:r>
            <a:r>
              <a:rPr sz="1700" b="0">
                <a:solidFill>
                  <a:srgbClr val="4B2E83"/>
                </a:solidFill>
                <a:latin typeface="Consolas"/>
              </a:rPr>
              <a:t>main.cpp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17</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2</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Error: </a:t>
            </a:r>
            <a:r>
              <a:rPr sz="1800" b="0">
                <a:solidFill>
                  <a:srgbClr val="4B2E83"/>
                </a:solidFill>
                <a:latin typeface="Consolas"/>
              </a:rPr>
              <a:t>discards qualifiers</a:t>
            </a:r>
            <a:r>
              <a:rPr sz="1800" b="0">
                <a:solidFill>
                  <a:srgbClr val="1D2330"/>
                </a:solidFill>
                <a:latin typeface="Calibri"/>
              </a:rPr>
              <a:t>. Fix: add </a:t>
            </a:r>
            <a:r>
              <a:rPr sz="1800" b="0">
                <a:solidFill>
                  <a:srgbClr val="4B2E83"/>
                </a:solidFill>
                <a:latin typeface="Consolas"/>
              </a:rPr>
              <a:t>const</a:t>
            </a:r>
            <a:r>
              <a:rPr sz="1800" b="0">
                <a:solidFill>
                  <a:srgbClr val="1D2330"/>
                </a:solidFill>
                <a:latin typeface="Calibri"/>
              </a:rPr>
              <a:t> to the four read-only members, in the </a:t>
            </a:r>
            <a:r>
              <a:rPr sz="1800" b="0">
                <a:solidFill>
                  <a:srgbClr val="4B2E83"/>
                </a:solidFill>
                <a:latin typeface="Consolas"/>
              </a:rPr>
              <a:t>.h</a:t>
            </a:r>
            <a:r>
              <a:rPr sz="1800" b="0">
                <a:solidFill>
                  <a:srgbClr val="1D2330"/>
                </a:solidFill>
                <a:latin typeface="Calibri"/>
              </a:rPr>
              <a:t> and the </a:t>
            </a:r>
            <a:r>
              <a:rPr sz="1800" b="0">
                <a:solidFill>
                  <a:srgbClr val="4B2E83"/>
                </a:solidFill>
                <a:latin typeface="Consolas"/>
              </a:rPr>
              <a:t>.cpp</a:t>
            </a:r>
          </a:p>
          <a:p>
            <a:pPr marL="256032" indent="-228600">
              <a:spcAft>
                <a:spcPts val="800"/>
              </a:spcAft>
              <a:buClr>
                <a:srgbClr val="5B6475"/>
              </a:buClr>
              <a:buChar char="•"/>
            </a:pPr>
            <a:r>
              <a:rPr sz="1800" b="0">
                <a:solidFill>
                  <a:srgbClr val="1D2330"/>
                </a:solidFill>
                <a:latin typeface="Calibri"/>
              </a:rPr>
              <a:t>Empty default constructor: garbage, different every run, and </a:t>
            </a:r>
            <a:r>
              <a:rPr sz="1800" b="0">
                <a:solidFill>
                  <a:srgbClr val="4B2E83"/>
                </a:solidFill>
                <a:latin typeface="Consolas"/>
              </a:rPr>
              <a:t>-Wall</a:t>
            </a:r>
            <a:r>
              <a:rPr sz="1800" b="0">
                <a:solidFill>
                  <a:srgbClr val="1D2330"/>
                </a:solidFill>
                <a:latin typeface="Calibri"/>
              </a:rPr>
              <a:t> says nothing</a:t>
            </a:r>
          </a:p>
          <a:p>
            <a:pPr marL="256032" indent="-228600">
              <a:spcAft>
                <a:spcPts val="800"/>
              </a:spcAft>
              <a:buClr>
                <a:srgbClr val="5B6475"/>
              </a:buClr>
              <a:buChar char="•"/>
            </a:pPr>
            <a:r>
              <a:rPr sz="1800" b="0">
                <a:solidFill>
                  <a:srgbClr val="4B2E83"/>
                </a:solidFill>
                <a:latin typeface="Consolas"/>
              </a:rPr>
              <a:t>normalize</a:t>
            </a:r>
            <a:r>
              <a:rPr sz="1800" b="0">
                <a:solidFill>
                  <a:srgbClr val="1D2330"/>
                </a:solidFill>
                <a:latin typeface="Calibri"/>
              </a:rPr>
              <a:t> changes the object, so it can't be </a:t>
            </a:r>
            <a:r>
              <a:rPr sz="1800" b="0">
                <a:solidFill>
                  <a:srgbClr val="4B2E83"/>
                </a:solidFill>
                <a:latin typeface="Consolas"/>
              </a:rPr>
              <a:t>const</a:t>
            </a:r>
            <a:r>
              <a:rPr sz="1800" b="0">
                <a:solidFill>
                  <a:srgbClr val="1D2330"/>
                </a:solidFill>
                <a:latin typeface="Calibri"/>
              </a:rPr>
              <a:t>; it's private because the class keeps its own invariant</a:t>
            </a:r>
          </a:p>
          <a:p>
            <a:pPr marL="256032" indent="-228600">
              <a:spcAft>
                <a:spcPts val="800"/>
              </a:spcAft>
              <a:buClr>
                <a:srgbClr val="5B6475"/>
              </a:buClr>
              <a:buChar char="•"/>
            </a:pPr>
            <a:r>
              <a:rPr sz="1800" b="0">
                <a:solidFill>
                  <a:srgbClr val="4B2E83"/>
                </a:solidFill>
                <a:latin typeface="Consolas"/>
              </a:rPr>
              <a:t>gcd(0, 7)</a:t>
            </a:r>
            <a:r>
              <a:rPr sz="1800" b="0">
                <a:solidFill>
                  <a:srgbClr val="1D2330"/>
                </a:solidFill>
                <a:latin typeface="Calibri"/>
              </a:rPr>
              <a:t> is 7, so </a:t>
            </a:r>
            <a:r>
              <a:rPr sz="1800" b="0">
                <a:solidFill>
                  <a:srgbClr val="4B2E83"/>
                </a:solidFill>
                <a:latin typeface="Consolas"/>
              </a:rPr>
              <a:t>0/7</a:t>
            </a:r>
            <a:r>
              <a:rPr sz="1800" b="0">
                <a:solidFill>
                  <a:srgbClr val="1D2330"/>
                </a:solidFill>
                <a:latin typeface="Calibri"/>
              </a:rPr>
              <a:t> becomes </a:t>
            </a:r>
            <a:r>
              <a:rPr sz="1800" b="0">
                <a:solidFill>
                  <a:srgbClr val="4B2E83"/>
                </a:solidFill>
                <a:latin typeface="Consolas"/>
              </a:rPr>
              <a:t>0/1</a:t>
            </a:r>
            <a:r>
              <a:rPr sz="1800" b="0">
                <a:solidFill>
                  <a:srgbClr val="1D2330"/>
                </a:solidFill>
                <a:latin typeface="Calibri"/>
              </a:rPr>
              <a:t> with no special case</a:t>
            </a:r>
          </a:p>
        </p:txBody>
      </p:sp>
      <p:sp>
        <p:nvSpPr>
          <p:cNvPr id="7" name="Rounded Rectangle 6"/>
          <p:cNvSpPr/>
          <p:nvPr/>
        </p:nvSpPr>
        <p:spPr>
          <a:xfrm>
            <a:off x="5972110" y="1325880"/>
            <a:ext cx="5670944" cy="26060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240280"/>
          </a:xfrm>
          <a:prstGeom prst="rect">
            <a:avLst/>
          </a:prstGeom>
          <a:noFill/>
        </p:spPr>
        <p:txBody>
          <a:bodyPr wrap="none" lIns="0" rIns="0" tIns="0" bIns="0" anchor="t">
            <a:spAutoFit/>
          </a:bodyPr>
          <a:lstStyle/>
          <a:p>
            <a:pPr>
              <a:spcAft>
                <a:spcPts val="0"/>
              </a:spcAft>
            </a:pPr>
            <a:r>
              <a:rPr sz="1600">
                <a:solidFill>
                  <a:srgbClr val="E6E6EF"/>
                </a:solidFill>
                <a:latin typeface="Consolas"/>
              </a:rPr>
              <a:t>void Rational::normalize() {</a:t>
            </a:r>
          </a:p>
          <a:p>
            <a:pPr>
              <a:spcAft>
                <a:spcPts val="0"/>
              </a:spcAft>
            </a:pPr>
            <a:r>
              <a:rPr sz="1600">
                <a:solidFill>
                  <a:srgbClr val="E6E6EF"/>
                </a:solidFill>
                <a:latin typeface="Consolas"/>
              </a:rPr>
              <a:t>    if (den_ &lt; 0) {</a:t>
            </a:r>
          </a:p>
          <a:p>
            <a:pPr>
              <a:spcAft>
                <a:spcPts val="0"/>
              </a:spcAft>
            </a:pPr>
            <a:r>
              <a:rPr sz="1600">
                <a:solidFill>
                  <a:srgbClr val="E6E6EF"/>
                </a:solidFill>
                <a:latin typeface="Consolas"/>
              </a:rPr>
              <a:t>        num_ = -num_;</a:t>
            </a:r>
          </a:p>
          <a:p>
            <a:pPr>
              <a:spcAft>
                <a:spcPts val="0"/>
              </a:spcAft>
            </a:pPr>
            <a:r>
              <a:rPr sz="1600">
                <a:solidFill>
                  <a:srgbClr val="E6E6EF"/>
                </a:solidFill>
                <a:latin typeface="Consolas"/>
              </a:rPr>
              <a:t>        den_ = -den_;</a:t>
            </a:r>
          </a:p>
          <a:p>
            <a:pPr>
              <a:spcAft>
                <a:spcPts val="0"/>
              </a:spcAft>
            </a:pPr>
            <a:r>
              <a:rPr sz="1600">
                <a:solidFill>
                  <a:srgbClr val="E6E6EF"/>
                </a:solidFill>
                <a:latin typeface="Consolas"/>
              </a:rPr>
              <a:t>    }</a:t>
            </a:r>
          </a:p>
          <a:p>
            <a:pPr>
              <a:spcAft>
                <a:spcPts val="0"/>
              </a:spcAft>
            </a:pPr>
            <a:r>
              <a:rPr sz="1600">
                <a:solidFill>
                  <a:srgbClr val="E6E6EF"/>
                </a:solidFill>
                <a:latin typeface="Consolas"/>
              </a:rPr>
              <a:t>    int g = gcd(num_, den_);</a:t>
            </a:r>
          </a:p>
          <a:p>
            <a:pPr>
              <a:spcAft>
                <a:spcPts val="0"/>
              </a:spcAft>
            </a:pPr>
            <a:r>
              <a:rPr sz="1600">
                <a:solidFill>
                  <a:srgbClr val="E6E6EF"/>
                </a:solidFill>
                <a:latin typeface="Consolas"/>
              </a:rPr>
              <a:t>    num_ /= g;</a:t>
            </a:r>
          </a:p>
          <a:p>
            <a:pPr>
              <a:spcAft>
                <a:spcPts val="0"/>
              </a:spcAft>
            </a:pPr>
            <a:r>
              <a:rPr sz="1600">
                <a:solidFill>
                  <a:srgbClr val="E6E6EF"/>
                </a:solidFill>
                <a:latin typeface="Consolas"/>
              </a:rPr>
              <a:t>    den_ /= g;</a:t>
            </a:r>
          </a:p>
          <a:p>
            <a:pPr>
              <a:spcAft>
                <a:spcPts val="0"/>
              </a:spcAft>
            </a:pPr>
            <a:r>
              <a:rPr sz="1600">
                <a:solidFill>
                  <a:srgbClr val="E6E6EF"/>
                </a:solidFill>
                <a:latin typeface="Consolas"/>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18</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2</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4B2E83"/>
                </a:solidFill>
                <a:latin typeface="Consolas"/>
              </a:rPr>
              <a:t>report(const Box &amp;b)</a:t>
            </a:r>
            <a:r>
              <a:rPr sz="1800" b="0">
                <a:solidFill>
                  <a:srgbClr val="1D2330"/>
                </a:solidFill>
                <a:latin typeface="Calibri"/>
              </a:rPr>
              <a:t> calls </a:t>
            </a:r>
            <a:r>
              <a:rPr sz="1800" b="0">
                <a:solidFill>
                  <a:srgbClr val="4B2E83"/>
                </a:solidFill>
                <a:latin typeface="Consolas"/>
              </a:rPr>
              <a:t>b.width()</a:t>
            </a:r>
            <a:r>
              <a:rPr sz="1800" b="0">
                <a:solidFill>
                  <a:srgbClr val="1D2330"/>
                </a:solidFill>
                <a:latin typeface="Calibri"/>
              </a:rPr>
              <a:t> and gets "discards qualifiers". What's the fix, and where?</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Does </a:t>
            </a:r>
            <a:r>
              <a:rPr sz="1800" b="0">
                <a:solidFill>
                  <a:srgbClr val="4B2E83"/>
                </a:solidFill>
                <a:latin typeface="Consolas"/>
              </a:rPr>
              <a:t>int Rational::numerator() const { num_ = 0; return num_; }</a:t>
            </a:r>
            <a:r>
              <a:rPr sz="1800" b="0">
                <a:solidFill>
                  <a:srgbClr val="1D2330"/>
                </a:solidFill>
                <a:latin typeface="Calibri"/>
              </a:rPr>
              <a:t> compile?</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A constructor body says </a:t>
            </a:r>
            <a:r>
              <a:rPr sz="1800" b="0">
                <a:solidFill>
                  <a:srgbClr val="4B2E83"/>
                </a:solidFill>
                <a:latin typeface="Consolas"/>
              </a:rPr>
              <a:t>int num_ = n; int den_ = d;</a:t>
            </a:r>
            <a:r>
              <a:rPr sz="1800" b="0">
                <a:solidFill>
                  <a:srgbClr val="1D2330"/>
                </a:solidFill>
                <a:latin typeface="Calibri"/>
              </a:rPr>
              <a:t>. What's wrong?</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Name two kinds of members that must be initialized in the initializer list</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19</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2 Exercise 2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2</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3</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Object lifetime</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C++ objects die at a known moment, so their destructors can clean up on time</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Predict exactly when objects are constructed, copied, and destroyed</a:t>
            </a:r>
          </a:p>
          <a:p>
            <a:pPr marL="256032" indent="-228600">
              <a:spcAft>
                <a:spcPts val="600"/>
              </a:spcAft>
              <a:buClr>
                <a:srgbClr val="5B6475"/>
              </a:buClr>
              <a:buChar char="›"/>
            </a:pPr>
            <a:r>
              <a:rPr sz="2000" b="0">
                <a:solidFill>
                  <a:srgbClr val="FFFFFF"/>
                </a:solidFill>
                <a:latin typeface="Calibri"/>
              </a:rPr>
              <a:t>Watch a destructor run in the debugger</a:t>
            </a:r>
          </a:p>
          <a:p>
            <a:pPr marL="256032" indent="-228600">
              <a:spcAft>
                <a:spcPts val="600"/>
              </a:spcAft>
              <a:buClr>
                <a:srgbClr val="5B6475"/>
              </a:buClr>
              <a:buChar char="›"/>
            </a:pPr>
            <a:r>
              <a:rPr sz="2000" b="0">
                <a:solidFill>
                  <a:srgbClr val="FFFFFF"/>
                </a:solidFill>
                <a:latin typeface="Calibri"/>
              </a:rPr>
              <a:t>Return references from member functions safely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21</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Objects die at the end of their scope</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Locals are created at their definition and destroyed at the closing </a:t>
            </a:r>
            <a:r>
              <a:rPr sz="1800" b="0">
                <a:solidFill>
                  <a:srgbClr val="4B2E83"/>
                </a:solidFill>
                <a:latin typeface="Consolas"/>
              </a:rPr>
              <a:t>}</a:t>
            </a:r>
          </a:p>
          <a:p>
            <a:pPr marL="256032" indent="-228600">
              <a:spcAft>
                <a:spcPts val="800"/>
              </a:spcAft>
              <a:buClr>
                <a:srgbClr val="5B6475"/>
              </a:buClr>
              <a:buChar char="•"/>
            </a:pPr>
            <a:r>
              <a:rPr sz="1800" b="0">
                <a:solidFill>
                  <a:srgbClr val="1D2330"/>
                </a:solidFill>
                <a:latin typeface="Calibri"/>
              </a:rPr>
              <a:t>Destruction runs in reverse order of construction</a:t>
            </a:r>
          </a:p>
          <a:p>
            <a:pPr marL="256032" indent="-228600">
              <a:spcAft>
                <a:spcPts val="800"/>
              </a:spcAft>
              <a:buClr>
                <a:srgbClr val="5B6475"/>
              </a:buClr>
              <a:buChar char="•"/>
            </a:pPr>
            <a:r>
              <a:rPr sz="1800" b="0">
                <a:solidFill>
                  <a:srgbClr val="1D2330"/>
                </a:solidFill>
                <a:latin typeface="Calibri"/>
              </a:rPr>
              <a:t>A temporary (an object with no name) dies at the end of its statement</a:t>
            </a:r>
          </a:p>
          <a:p>
            <a:pPr marL="256032" indent="-228600">
              <a:spcAft>
                <a:spcPts val="800"/>
              </a:spcAft>
              <a:buClr>
                <a:srgbClr val="5B6475"/>
              </a:buClr>
              <a:buChar char="•"/>
            </a:pPr>
            <a:r>
              <a:rPr sz="1800" b="0">
                <a:solidFill>
                  <a:srgbClr val="1D2330"/>
                </a:solidFill>
                <a:latin typeface="Calibri"/>
              </a:rPr>
              <a:t>Globals are built before </a:t>
            </a:r>
            <a:r>
              <a:rPr sz="1800" b="0">
                <a:solidFill>
                  <a:srgbClr val="4B2E83"/>
                </a:solidFill>
                <a:latin typeface="Consolas"/>
              </a:rPr>
              <a:t>main</a:t>
            </a:r>
            <a:r>
              <a:rPr sz="1800" b="0">
                <a:solidFill>
                  <a:srgbClr val="1D2330"/>
                </a:solidFill>
                <a:latin typeface="Calibri"/>
              </a:rPr>
              <a:t> and destroyed after it</a:t>
            </a:r>
          </a:p>
          <a:p>
            <a:pPr marL="256032" indent="-228600">
              <a:spcAft>
                <a:spcPts val="800"/>
              </a:spcAft>
              <a:buClr>
                <a:srgbClr val="5B6475"/>
              </a:buClr>
              <a:buChar char="•"/>
            </a:pPr>
            <a:r>
              <a:rPr sz="1800" b="0">
                <a:solidFill>
                  <a:srgbClr val="1D2330"/>
                </a:solidFill>
                <a:latin typeface="Calibri"/>
              </a:rPr>
              <a:t>The destructor </a:t>
            </a:r>
            <a:r>
              <a:rPr sz="1800" b="0">
                <a:solidFill>
                  <a:srgbClr val="4B2E83"/>
                </a:solidFill>
                <a:latin typeface="Consolas"/>
              </a:rPr>
              <a:t>~Tracer()</a:t>
            </a:r>
            <a:r>
              <a:rPr sz="1800" b="0">
                <a:solidFill>
                  <a:srgbClr val="1D2330"/>
                </a:solidFill>
                <a:latin typeface="Calibri"/>
              </a:rPr>
              <a:t> runs automatically, every time; there is no garbage collector</a:t>
            </a:r>
          </a:p>
        </p:txBody>
      </p:sp>
      <p:sp>
        <p:nvSpPr>
          <p:cNvPr id="7" name="Rounded Rectangle 6"/>
          <p:cNvSpPr/>
          <p:nvPr/>
        </p:nvSpPr>
        <p:spPr>
          <a:xfrm>
            <a:off x="5972110" y="1325880"/>
            <a:ext cx="5670944" cy="318516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819400"/>
          </a:xfrm>
          <a:prstGeom prst="rect">
            <a:avLst/>
          </a:prstGeom>
          <a:noFill/>
        </p:spPr>
        <p:txBody>
          <a:bodyPr wrap="none" lIns="0" rIns="0" tIns="0" bIns="0" anchor="t">
            <a:spAutoFit/>
          </a:bodyPr>
          <a:lstStyle/>
          <a:p>
            <a:pPr>
              <a:spcAft>
                <a:spcPts val="0"/>
              </a:spcAft>
            </a:pPr>
            <a:r>
              <a:rPr sz="1400">
                <a:solidFill>
                  <a:srgbClr val="E6E6EF"/>
                </a:solidFill>
                <a:latin typeface="Consolas"/>
              </a:rPr>
              <a:t>{</a:t>
            </a:r>
          </a:p>
          <a:p>
            <a:pPr>
              <a:spcAft>
                <a:spcPts val="0"/>
              </a:spcAft>
            </a:pPr>
            <a:r>
              <a:rPr sz="1400">
                <a:solidFill>
                  <a:srgbClr val="E6E6EF"/>
                </a:solidFill>
                <a:latin typeface="Consolas"/>
              </a:rPr>
              <a:t>    Tracer a("a");     </a:t>
            </a:r>
            <a:r>
              <a:rPr sz="1400">
                <a:solidFill>
                  <a:srgbClr val="9AA4B5"/>
                </a:solidFill>
                <a:latin typeface="Consolas"/>
              </a:rPr>
              <a:t>// + a</a:t>
            </a:r>
          </a:p>
          <a:p>
            <a:pPr>
              <a:spcAft>
                <a:spcPts val="0"/>
              </a:spcAft>
            </a:pPr>
            <a:r>
              <a:rPr sz="1400">
                <a:solidFill>
                  <a:srgbClr val="E6E6EF"/>
                </a:solidFill>
                <a:latin typeface="Consolas"/>
              </a:rPr>
              <a:t>    Tracer b("b");     </a:t>
            </a:r>
            <a:r>
              <a:rPr sz="1400">
                <a:solidFill>
                  <a:srgbClr val="9AA4B5"/>
                </a:solidFill>
                <a:latin typeface="Consolas"/>
              </a:rPr>
              <a:t>// + b</a:t>
            </a:r>
          </a:p>
          <a:p>
            <a:pPr>
              <a:spcAft>
                <a:spcPts val="0"/>
              </a:spcAft>
            </a:pPr>
            <a:r>
              <a:rPr sz="1400">
                <a:solidFill>
                  <a:srgbClr val="E6E6EF"/>
                </a:solidFill>
                <a:latin typeface="Consolas"/>
              </a:rPr>
              <a:t>}                      </a:t>
            </a:r>
            <a:r>
              <a:rPr sz="1400">
                <a:solidFill>
                  <a:srgbClr val="9AA4B5"/>
                </a:solidFill>
                <a:latin typeface="Consolas"/>
              </a:rPr>
              <a:t>// - b</a:t>
            </a:r>
          </a:p>
          <a:p>
            <a:pPr>
              <a:spcAft>
                <a:spcPts val="0"/>
              </a:spcAft>
            </a:pPr>
            <a:r>
              <a:rPr sz="1400">
                <a:solidFill>
                  <a:srgbClr val="E6E6EF"/>
                </a:solidFill>
                <a:latin typeface="Consolas"/>
              </a:rPr>
              <a:t>                       </a:t>
            </a:r>
            <a:r>
              <a:rPr sz="1400">
                <a:solidFill>
                  <a:srgbClr val="9AA4B5"/>
                </a:solidFill>
                <a:latin typeface="Consolas"/>
              </a:rPr>
              <a:t>// - a</a:t>
            </a:r>
          </a:p>
          <a:p>
            <a:pPr>
              <a:spcAft>
                <a:spcPts val="0"/>
              </a:spcAft>
            </a:pPr>
            <a:r>
              <a:rPr sz="1400">
                <a:solidFill>
                  <a:srgbClr val="E6E6EF"/>
                </a:solidFill>
                <a:latin typeface="Consolas"/>
              </a:rPr>
              <a:t>Tracer("temp");        </a:t>
            </a:r>
            <a:r>
              <a:rPr sz="1400">
                <a:solidFill>
                  <a:srgbClr val="9AA4B5"/>
                </a:solidFill>
                <a:latin typeface="Consolas"/>
              </a:rPr>
              <a:t>// + temp  - temp</a:t>
            </a:r>
          </a:p>
          <a:p>
            <a:pPr>
              <a:spcAft>
                <a:spcPts val="0"/>
              </a:spcAft>
            </a:pPr>
            <a:r>
              <a:rPr sz="1400">
                <a:latin typeface="Consolas"/>
              </a:rPr>
              <a:t> </a:t>
            </a:r>
          </a:p>
          <a:p>
            <a:pPr>
              <a:spcAft>
                <a:spcPts val="0"/>
              </a:spcAft>
            </a:pPr>
            <a:r>
              <a:rPr sz="1400">
                <a:solidFill>
                  <a:srgbClr val="E6E6EF"/>
                </a:solidFill>
                <a:latin typeface="Consolas"/>
              </a:rPr>
              <a:t>class Tracer {</a:t>
            </a:r>
          </a:p>
          <a:p>
            <a:pPr>
              <a:spcAft>
                <a:spcPts val="0"/>
              </a:spcAft>
            </a:pPr>
            <a:r>
              <a:rPr sz="1400">
                <a:solidFill>
                  <a:srgbClr val="E6E6EF"/>
                </a:solidFill>
                <a:latin typeface="Consolas"/>
              </a:rPr>
              <a:t>public:</a:t>
            </a:r>
          </a:p>
          <a:p>
            <a:pPr>
              <a:spcAft>
                <a:spcPts val="0"/>
              </a:spcAft>
            </a:pPr>
            <a:r>
              <a:rPr sz="1400">
                <a:solidFill>
                  <a:srgbClr val="E6E6EF"/>
                </a:solidFill>
                <a:latin typeface="Consolas"/>
              </a:rPr>
              <a:t>    Tracer(const std::string &amp;name);</a:t>
            </a:r>
          </a:p>
          <a:p>
            <a:pPr>
              <a:spcAft>
                <a:spcPts val="0"/>
              </a:spcAft>
            </a:pPr>
            <a:r>
              <a:rPr sz="1400">
                <a:solidFill>
                  <a:srgbClr val="E6E6EF"/>
                </a:solidFill>
                <a:latin typeface="Consolas"/>
              </a:rPr>
              <a:t>    Tracer(const Tracer &amp;other);  </a:t>
            </a:r>
            <a:r>
              <a:rPr sz="1400">
                <a:solidFill>
                  <a:srgbClr val="9AA4B5"/>
                </a:solidFill>
                <a:latin typeface="Consolas"/>
              </a:rPr>
              <a:t>// copy ctor</a:t>
            </a:r>
          </a:p>
          <a:p>
            <a:pPr>
              <a:spcAft>
                <a:spcPts val="0"/>
              </a:spcAft>
            </a:pPr>
            <a:r>
              <a:rPr sz="1400">
                <a:solidFill>
                  <a:srgbClr val="E6E6EF"/>
                </a:solidFill>
                <a:latin typeface="Consolas"/>
              </a:rPr>
              <a:t>    ~Tracer();                    </a:t>
            </a:r>
            <a:r>
              <a:rPr sz="1400">
                <a:solidFill>
                  <a:srgbClr val="9AA4B5"/>
                </a:solidFill>
                <a:latin typeface="Consolas"/>
              </a:rPr>
              <a:t>// destructor</a:t>
            </a:r>
          </a:p>
          <a:p>
            <a:pPr>
              <a:spcAft>
                <a:spcPts val="0"/>
              </a:spcAft>
            </a:pPr>
            <a:r>
              <a:rPr sz="1400">
                <a:solidFill>
                  <a:srgbClr val="E6E6EF"/>
                </a:solidFill>
                <a:latin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22</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Copies, and when they happen</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Tracer t1(t2);</a:t>
            </a:r>
            <a:r>
              <a:rPr sz="1800" b="0">
                <a:solidFill>
                  <a:srgbClr val="1D2330"/>
                </a:solidFill>
                <a:latin typeface="Calibri"/>
              </a:rPr>
              <a:t> and </a:t>
            </a:r>
            <a:r>
              <a:rPr sz="1800" b="0">
                <a:solidFill>
                  <a:srgbClr val="4B2E83"/>
                </a:solidFill>
                <a:latin typeface="Consolas"/>
              </a:rPr>
              <a:t>Tracer t1 = t2;</a:t>
            </a:r>
            <a:r>
              <a:rPr sz="1800" b="0">
                <a:solidFill>
                  <a:srgbClr val="1D2330"/>
                </a:solidFill>
                <a:latin typeface="Calibri"/>
              </a:rPr>
              <a:t> are BOTH copy construction, not assignment: </a:t>
            </a:r>
            <a:r>
              <a:rPr sz="1800" b="0">
                <a:solidFill>
                  <a:srgbClr val="4B2E83"/>
                </a:solidFill>
                <a:latin typeface="Consolas"/>
              </a:rPr>
              <a:t>t1</a:t>
            </a:r>
            <a:r>
              <a:rPr sz="1800" b="0">
                <a:solidFill>
                  <a:srgbClr val="1D2330"/>
                </a:solidFill>
                <a:latin typeface="Calibri"/>
              </a:rPr>
              <a:t> is being created</a:t>
            </a:r>
          </a:p>
          <a:p>
            <a:pPr marL="256032" indent="-228600">
              <a:spcAft>
                <a:spcPts val="800"/>
              </a:spcAft>
              <a:buClr>
                <a:srgbClr val="5B6475"/>
              </a:buClr>
              <a:buChar char="•"/>
            </a:pPr>
            <a:r>
              <a:rPr sz="1800" b="0">
                <a:solidFill>
                  <a:srgbClr val="1D2330"/>
                </a:solidFill>
                <a:latin typeface="Calibri"/>
              </a:rPr>
              <a:t>Only </a:t>
            </a:r>
            <a:r>
              <a:rPr sz="1800" b="0">
                <a:solidFill>
                  <a:srgbClr val="4B2E83"/>
                </a:solidFill>
                <a:latin typeface="Consolas"/>
              </a:rPr>
              <a:t>t1 = t2;</a:t>
            </a:r>
            <a:r>
              <a:rPr sz="1800" b="0">
                <a:solidFill>
                  <a:srgbClr val="1D2330"/>
                </a:solidFill>
                <a:latin typeface="Calibri"/>
              </a:rPr>
              <a:t> on an object that already exists is assignment; pass by value also copy-constructs</a:t>
            </a:r>
          </a:p>
          <a:p>
            <a:pPr marL="256032" indent="-228600">
              <a:spcAft>
                <a:spcPts val="800"/>
              </a:spcAft>
              <a:buClr>
                <a:srgbClr val="5B6475"/>
              </a:buClr>
              <a:buChar char="•"/>
            </a:pPr>
            <a:r>
              <a:rPr sz="1800" b="0">
                <a:solidFill>
                  <a:srgbClr val="1D2330"/>
                </a:solidFill>
                <a:latin typeface="Calibri"/>
              </a:rPr>
              <a:t>Pass by </a:t>
            </a:r>
            <a:r>
              <a:rPr sz="1800" b="0">
                <a:solidFill>
                  <a:srgbClr val="4B2E83"/>
                </a:solidFill>
                <a:latin typeface="Consolas"/>
              </a:rPr>
              <a:t>const&amp;</a:t>
            </a:r>
            <a:r>
              <a:rPr sz="1800" b="0">
                <a:solidFill>
                  <a:srgbClr val="1D2330"/>
                </a:solidFill>
                <a:latin typeface="Calibri"/>
              </a:rPr>
              <a:t>: no copy, no destructor call</a:t>
            </a:r>
          </a:p>
          <a:p>
            <a:pPr marL="256032" indent="-228600">
              <a:spcAft>
                <a:spcPts val="800"/>
              </a:spcAft>
              <a:buClr>
                <a:srgbClr val="5B6475"/>
              </a:buClr>
              <a:buChar char="•"/>
            </a:pPr>
            <a:r>
              <a:rPr sz="1800" b="0">
                <a:solidFill>
                  <a:srgbClr val="1D2330"/>
                </a:solidFill>
                <a:latin typeface="Calibri"/>
              </a:rPr>
              <a:t>Returning a local by value usually makes no copy (copy elision)</a:t>
            </a:r>
          </a:p>
          <a:p>
            <a:pPr marL="256032" indent="-228600">
              <a:spcAft>
                <a:spcPts val="800"/>
              </a:spcAft>
              <a:buClr>
                <a:srgbClr val="5B6475"/>
              </a:buClr>
              <a:buChar char="•"/>
            </a:pPr>
            <a:r>
              <a:rPr sz="1800" b="0">
                <a:solidFill>
                  <a:srgbClr val="1D2330"/>
                </a:solidFill>
                <a:latin typeface="Calibri"/>
              </a:rPr>
              <a:t>Members are built in DECLARATION order, whatever the initializer list says; </a:t>
            </a:r>
            <a:r>
              <a:rPr sz="1800" b="0">
                <a:solidFill>
                  <a:srgbClr val="4B2E83"/>
                </a:solidFill>
                <a:latin typeface="Consolas"/>
              </a:rPr>
              <a:t>-Wall</a:t>
            </a:r>
            <a:r>
              <a:rPr sz="1800" b="0">
                <a:solidFill>
                  <a:srgbClr val="1D2330"/>
                </a:solidFill>
                <a:latin typeface="Calibri"/>
              </a:rPr>
              <a:t> warns (</a:t>
            </a:r>
            <a:r>
              <a:rPr sz="1800" b="0">
                <a:solidFill>
                  <a:srgbClr val="4B2E83"/>
                </a:solidFill>
                <a:latin typeface="Consolas"/>
              </a:rPr>
              <a:t>-Wreorder</a:t>
            </a:r>
            <a:r>
              <a:rPr sz="1800" b="0">
                <a:solidFill>
                  <a:srgbClr val="1D2330"/>
                </a:solidFill>
                <a:latin typeface="Calibri"/>
              </a:rPr>
              <a:t>)</a:t>
            </a:r>
          </a:p>
        </p:txBody>
      </p:sp>
      <p:sp>
        <p:nvSpPr>
          <p:cNvPr id="7" name="Rounded Rectangle 6"/>
          <p:cNvSpPr/>
          <p:nvPr/>
        </p:nvSpPr>
        <p:spPr>
          <a:xfrm>
            <a:off x="5972110" y="1325880"/>
            <a:ext cx="5670944" cy="2758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392680"/>
          </a:xfrm>
          <a:prstGeom prst="rect">
            <a:avLst/>
          </a:prstGeom>
          <a:noFill/>
        </p:spPr>
        <p:txBody>
          <a:bodyPr wrap="none" lIns="0" rIns="0" tIns="0" bIns="0" anchor="t">
            <a:spAutoFit/>
          </a:bodyPr>
          <a:lstStyle/>
          <a:p>
            <a:pPr>
              <a:spcAft>
                <a:spcPts val="0"/>
              </a:spcAft>
            </a:pPr>
            <a:r>
              <a:rPr sz="1100">
                <a:solidFill>
                  <a:srgbClr val="E6E6EF"/>
                </a:solidFill>
                <a:latin typeface="Consolas"/>
              </a:rPr>
              <a:t>void byValue(Tracer t);           </a:t>
            </a:r>
            <a:r>
              <a:rPr sz="1100">
                <a:solidFill>
                  <a:srgbClr val="9AA4B5"/>
                </a:solidFill>
                <a:latin typeface="Consolas"/>
              </a:rPr>
              <a:t>// + copy of c ... - copy of c</a:t>
            </a:r>
          </a:p>
          <a:p>
            <a:pPr>
              <a:spcAft>
                <a:spcPts val="0"/>
              </a:spcAft>
            </a:pPr>
            <a:r>
              <a:rPr sz="1100">
                <a:solidFill>
                  <a:srgbClr val="E6E6EF"/>
                </a:solidFill>
                <a:latin typeface="Consolas"/>
              </a:rPr>
              <a:t>void byConstRef(const Tracer &amp;t);  </a:t>
            </a:r>
            <a:r>
              <a:rPr sz="1100">
                <a:solidFill>
                  <a:srgbClr val="9AA4B5"/>
                </a:solidFill>
                <a:latin typeface="Consolas"/>
              </a:rPr>
              <a:t>// nothing</a:t>
            </a:r>
          </a:p>
          <a:p>
            <a:pPr>
              <a:spcAft>
                <a:spcPts val="0"/>
              </a:spcAft>
            </a:pPr>
            <a:r>
              <a:rPr sz="1100">
                <a:latin typeface="Consolas"/>
              </a:rPr>
              <a:t> </a:t>
            </a:r>
          </a:p>
          <a:p>
            <a:pPr>
              <a:spcAft>
                <a:spcPts val="0"/>
              </a:spcAft>
            </a:pPr>
            <a:r>
              <a:rPr sz="1100">
                <a:solidFill>
                  <a:srgbClr val="E6E6EF"/>
                </a:solidFill>
                <a:latin typeface="Consolas"/>
              </a:rPr>
              <a:t>Tracer make(const string &amp;n) {</a:t>
            </a:r>
          </a:p>
          <a:p>
            <a:pPr>
              <a:spcAft>
                <a:spcPts val="0"/>
              </a:spcAft>
            </a:pPr>
            <a:r>
              <a:rPr sz="1100">
                <a:solidFill>
                  <a:srgbClr val="E6E6EF"/>
                </a:solidFill>
                <a:latin typeface="Consolas"/>
              </a:rPr>
              <a:t>    Tracer t(n);</a:t>
            </a:r>
          </a:p>
          <a:p>
            <a:pPr>
              <a:spcAft>
                <a:spcPts val="0"/>
              </a:spcAft>
            </a:pPr>
            <a:r>
              <a:rPr sz="1100">
                <a:solidFill>
                  <a:srgbClr val="E6E6EF"/>
                </a:solidFill>
                <a:latin typeface="Consolas"/>
              </a:rPr>
              <a:t>    return t;                      </a:t>
            </a:r>
            <a:r>
              <a:rPr sz="1100">
                <a:solidFill>
                  <a:srgbClr val="9AA4B5"/>
                </a:solidFill>
                <a:latin typeface="Consolas"/>
              </a:rPr>
              <a:t>// no copy</a:t>
            </a:r>
          </a:p>
          <a:p>
            <a:pPr>
              <a:spcAft>
                <a:spcPts val="0"/>
              </a:spcAft>
            </a:pPr>
            <a:r>
              <a:rPr sz="1100">
                <a:solidFill>
                  <a:srgbClr val="E6E6EF"/>
                </a:solidFill>
                <a:latin typeface="Consolas"/>
              </a:rPr>
              <a:t>}</a:t>
            </a:r>
          </a:p>
          <a:p>
            <a:pPr>
              <a:spcAft>
                <a:spcPts val="0"/>
              </a:spcAft>
            </a:pPr>
            <a:r>
              <a:rPr sz="1100">
                <a:latin typeface="Consolas"/>
              </a:rPr>
              <a:t> </a:t>
            </a:r>
          </a:p>
          <a:p>
            <a:pPr>
              <a:spcAft>
                <a:spcPts val="0"/>
              </a:spcAft>
            </a:pPr>
            <a:r>
              <a:rPr sz="1100">
                <a:solidFill>
                  <a:srgbClr val="E6E6EF"/>
                </a:solidFill>
                <a:latin typeface="Consolas"/>
              </a:rPr>
              <a:t>class Pair {</a:t>
            </a:r>
          </a:p>
          <a:p>
            <a:pPr>
              <a:spcAft>
                <a:spcPts val="0"/>
              </a:spcAft>
            </a:pPr>
            <a:r>
              <a:rPr sz="1100">
                <a:solidFill>
                  <a:srgbClr val="E6E6EF"/>
                </a:solidFill>
                <a:latin typeface="Consolas"/>
              </a:rPr>
              <a:t>    Tracer first_;                 </a:t>
            </a:r>
            <a:r>
              <a:rPr sz="1100">
                <a:solidFill>
                  <a:srgbClr val="9AA4B5"/>
                </a:solidFill>
                <a:latin typeface="Consolas"/>
              </a:rPr>
              <a:t>// built 1st</a:t>
            </a:r>
          </a:p>
          <a:p>
            <a:pPr>
              <a:spcAft>
                <a:spcPts val="0"/>
              </a:spcAft>
            </a:pPr>
            <a:r>
              <a:rPr sz="1100">
                <a:solidFill>
                  <a:srgbClr val="E6E6EF"/>
                </a:solidFill>
                <a:latin typeface="Consolas"/>
              </a:rPr>
              <a:t>    Tracer second_;                </a:t>
            </a:r>
            <a:r>
              <a:rPr sz="1100">
                <a:solidFill>
                  <a:srgbClr val="9AA4B5"/>
                </a:solidFill>
                <a:latin typeface="Consolas"/>
              </a:rPr>
              <a:t>// built 2nd</a:t>
            </a:r>
          </a:p>
          <a:p>
            <a:pPr>
              <a:spcAft>
                <a:spcPts val="0"/>
              </a:spcAft>
            </a:pPr>
            <a:r>
              <a:rPr sz="1100">
                <a:solidFill>
                  <a:srgbClr val="E6E6EF"/>
                </a:solidFill>
                <a:latin typeface="Consolas"/>
              </a:rPr>
              <a:t>public:</a:t>
            </a:r>
          </a:p>
          <a:p>
            <a:pPr>
              <a:spcAft>
                <a:spcPts val="0"/>
              </a:spcAft>
            </a:pPr>
            <a:r>
              <a:rPr sz="1100">
                <a:solidFill>
                  <a:srgbClr val="E6E6EF"/>
                </a:solidFill>
                <a:latin typeface="Consolas"/>
              </a:rPr>
              <a:t>    Pair() : second_("second"), first_("first") {}</a:t>
            </a:r>
          </a:p>
          <a:p>
            <a:pPr>
              <a:spcAft>
                <a:spcPts val="0"/>
              </a:spcAft>
            </a:pPr>
            <a:r>
              <a:rPr sz="1100">
                <a:solidFill>
                  <a:srgbClr val="E6E6EF"/>
                </a:solidFill>
                <a:latin typeface="Consolas"/>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23</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Returning references from members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1D2330"/>
                </a:solidFill>
                <a:latin typeface="Calibri"/>
              </a:rPr>
              <a:t>Non-const version returns </a:t>
            </a:r>
            <a:r>
              <a:rPr sz="1800" b="0">
                <a:solidFill>
                  <a:srgbClr val="4B2E83"/>
                </a:solidFill>
                <a:latin typeface="Consolas"/>
              </a:rPr>
              <a:t>int&amp;</a:t>
            </a:r>
            <a:r>
              <a:rPr sz="1800" b="0">
                <a:solidFill>
                  <a:srgbClr val="1D2330"/>
                </a:solidFill>
                <a:latin typeface="Calibri"/>
              </a:rPr>
              <a:t>: the caller can assign through it</a:t>
            </a:r>
          </a:p>
          <a:p>
            <a:pPr marL="256032" indent="-228600">
              <a:spcAft>
                <a:spcPts val="800"/>
              </a:spcAft>
              <a:buClr>
                <a:srgbClr val="5B6475"/>
              </a:buClr>
              <a:buChar char="•"/>
            </a:pPr>
            <a:r>
              <a:rPr sz="1800" b="0">
                <a:solidFill>
                  <a:srgbClr val="1D2330"/>
                </a:solidFill>
                <a:latin typeface="Calibri"/>
              </a:rPr>
              <a:t>Const version returns </a:t>
            </a:r>
            <a:r>
              <a:rPr sz="1800" b="0">
                <a:solidFill>
                  <a:srgbClr val="4B2E83"/>
                </a:solidFill>
                <a:latin typeface="Consolas"/>
              </a:rPr>
              <a:t>int</a:t>
            </a:r>
            <a:r>
              <a:rPr sz="1800" b="0">
                <a:solidFill>
                  <a:srgbClr val="1D2330"/>
                </a:solidFill>
                <a:latin typeface="Calibri"/>
              </a:rPr>
              <a:t> (or </a:t>
            </a:r>
            <a:r>
              <a:rPr sz="1800" b="0">
                <a:solidFill>
                  <a:srgbClr val="4B2E83"/>
                </a:solidFill>
                <a:latin typeface="Consolas"/>
              </a:rPr>
              <a:t>const int&amp;</a:t>
            </a:r>
            <a:r>
              <a:rPr sz="1800" b="0">
                <a:solidFill>
                  <a:srgbClr val="1D2330"/>
                </a:solidFill>
                <a:latin typeface="Calibri"/>
              </a:rPr>
              <a:t>): read-only</a:t>
            </a:r>
          </a:p>
          <a:p>
            <a:pPr marL="256032" indent="-228600">
              <a:spcAft>
                <a:spcPts val="800"/>
              </a:spcAft>
              <a:buClr>
                <a:srgbClr val="5B6475"/>
              </a:buClr>
              <a:buChar char="•"/>
            </a:pPr>
            <a:r>
              <a:rPr sz="1800" b="0">
                <a:solidFill>
                  <a:srgbClr val="1D2330"/>
                </a:solidFill>
                <a:latin typeface="Calibri"/>
              </a:rPr>
              <a:t>The compiler picks by the object's constness</a:t>
            </a:r>
          </a:p>
          <a:p>
            <a:pPr marL="256032" indent="-228600">
              <a:spcAft>
                <a:spcPts val="800"/>
              </a:spcAft>
              <a:buClr>
                <a:srgbClr val="5B6475"/>
              </a:buClr>
              <a:buChar char="•"/>
            </a:pPr>
            <a:r>
              <a:rPr sz="1800" b="0">
                <a:solidFill>
                  <a:srgbClr val="1D2330"/>
                </a:solidFill>
                <a:latin typeface="Calibri"/>
              </a:rPr>
              <a:t>This is exactly how </a:t>
            </a:r>
            <a:r>
              <a:rPr sz="1800" b="0">
                <a:solidFill>
                  <a:srgbClr val="4B2E83"/>
                </a:solidFill>
                <a:latin typeface="Consolas"/>
              </a:rPr>
              <a:t>operator[]</a:t>
            </a:r>
            <a:r>
              <a:rPr sz="1800" b="0">
                <a:solidFill>
                  <a:srgbClr val="1D2330"/>
                </a:solidFill>
                <a:latin typeface="Calibri"/>
              </a:rPr>
              <a:t> works on containers</a:t>
            </a:r>
          </a:p>
          <a:p>
            <a:pPr marL="256032" indent="-228600">
              <a:spcAft>
                <a:spcPts val="800"/>
              </a:spcAft>
              <a:buClr>
                <a:srgbClr val="5B6475"/>
              </a:buClr>
              <a:buChar char="•"/>
            </a:pPr>
            <a:r>
              <a:rPr sz="1800" b="0">
                <a:solidFill>
                  <a:srgbClr val="1D2330"/>
                </a:solidFill>
                <a:latin typeface="Calibri"/>
              </a:rPr>
              <a:t>Never keep the reference longer than the object lives</a:t>
            </a:r>
          </a:p>
        </p:txBody>
      </p:sp>
      <p:sp>
        <p:nvSpPr>
          <p:cNvPr id="7" name="Rounded Rectangle 6"/>
          <p:cNvSpPr/>
          <p:nvPr/>
        </p:nvSpPr>
        <p:spPr>
          <a:xfrm>
            <a:off x="5972110" y="1325880"/>
            <a:ext cx="5670944" cy="297180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2606040"/>
          </a:xfrm>
          <a:prstGeom prst="rect">
            <a:avLst/>
          </a:prstGeom>
          <a:noFill/>
        </p:spPr>
        <p:txBody>
          <a:bodyPr wrap="none" lIns="0" rIns="0" tIns="0" bIns="0" anchor="t">
            <a:spAutoFit/>
          </a:bodyPr>
          <a:lstStyle/>
          <a:p>
            <a:pPr>
              <a:spcAft>
                <a:spcPts val="0"/>
              </a:spcAft>
            </a:pPr>
            <a:r>
              <a:rPr sz="1200">
                <a:solidFill>
                  <a:srgbClr val="E6E6EF"/>
                </a:solidFill>
                <a:latin typeface="Consolas"/>
              </a:rPr>
              <a:t>class Counter {</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int &amp;value()       { return count_; }</a:t>
            </a:r>
          </a:p>
          <a:p>
            <a:pPr>
              <a:spcAft>
                <a:spcPts val="0"/>
              </a:spcAft>
            </a:pPr>
            <a:r>
              <a:rPr sz="1200">
                <a:solidFill>
                  <a:srgbClr val="E6E6EF"/>
                </a:solidFill>
                <a:latin typeface="Consolas"/>
              </a:rPr>
              <a:t>    int  value() const { return count_; }</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int count_ = 0;</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Counter c;              </a:t>
            </a:r>
            <a:r>
              <a:rPr sz="1200">
                <a:solidFill>
                  <a:srgbClr val="9AA4B5"/>
                </a:solidFill>
                <a:latin typeface="Consolas"/>
              </a:rPr>
              <a:t>// not const</a:t>
            </a:r>
          </a:p>
          <a:p>
            <a:pPr>
              <a:spcAft>
                <a:spcPts val="0"/>
              </a:spcAft>
            </a:pPr>
            <a:r>
              <a:rPr sz="1200">
                <a:solidFill>
                  <a:srgbClr val="E6E6EF"/>
                </a:solidFill>
                <a:latin typeface="Consolas"/>
              </a:rPr>
              <a:t>c.value() = 4;          </a:t>
            </a:r>
            <a:r>
              <a:rPr sz="1200">
                <a:solidFill>
                  <a:srgbClr val="9AA4B5"/>
                </a:solidFill>
                <a:latin typeface="Consolas"/>
              </a:rPr>
              <a:t>// -&gt; non-const version</a:t>
            </a:r>
          </a:p>
          <a:p>
            <a:pPr>
              <a:spcAft>
                <a:spcPts val="0"/>
              </a:spcAft>
            </a:pPr>
            <a:r>
              <a:rPr sz="1200">
                <a:solidFill>
                  <a:srgbClr val="E6E6EF"/>
                </a:solidFill>
                <a:latin typeface="Consolas"/>
              </a:rPr>
              <a:t>int n = c.value();      </a:t>
            </a:r>
            <a:r>
              <a:rPr sz="1200">
                <a:solidFill>
                  <a:srgbClr val="9AA4B5"/>
                </a:solidFill>
                <a:latin typeface="Consolas"/>
              </a:rPr>
              <a:t>// -&gt; non-const too: c isn't const</a:t>
            </a:r>
          </a:p>
          <a:p>
            <a:pPr>
              <a:spcAft>
                <a:spcPts val="0"/>
              </a:spcAft>
            </a:pPr>
            <a:r>
              <a:rPr sz="1200">
                <a:solidFill>
                  <a:srgbClr val="E6E6EF"/>
                </a:solidFill>
                <a:latin typeface="Consolas"/>
              </a:rPr>
              <a:t>const Counter k;        </a:t>
            </a:r>
            <a:r>
              <a:rPr sz="1200">
                <a:solidFill>
                  <a:srgbClr val="9AA4B5"/>
                </a:solidFill>
                <a:latin typeface="Consolas"/>
              </a:rPr>
              <a:t>// const</a:t>
            </a:r>
          </a:p>
          <a:p>
            <a:pPr>
              <a:spcAft>
                <a:spcPts val="0"/>
              </a:spcAft>
            </a:pPr>
            <a:r>
              <a:rPr sz="1200">
                <a:solidFill>
                  <a:srgbClr val="E6E6EF"/>
                </a:solidFill>
                <a:latin typeface="Consolas"/>
              </a:rPr>
              <a:t>int m = k.value();      </a:t>
            </a:r>
            <a:r>
              <a:rPr sz="1200">
                <a:solidFill>
                  <a:srgbClr val="9AA4B5"/>
                </a:solidFill>
                <a:latin typeface="Consolas"/>
              </a:rPr>
              <a:t>// -&gt; const version</a:t>
            </a:r>
          </a:p>
          <a:p>
            <a:pPr>
              <a:spcAft>
                <a:spcPts val="0"/>
              </a:spcAft>
            </a:pPr>
            <a:r>
              <a:rPr sz="1200">
                <a:solidFill>
                  <a:srgbClr val="E6E6EF"/>
                </a:solidFill>
                <a:latin typeface="Consolas"/>
              </a:rPr>
              <a:t>k.value() = 9;          </a:t>
            </a:r>
            <a:r>
              <a:rPr sz="1200">
                <a:solidFill>
                  <a:srgbClr val="9AA4B5"/>
                </a:solidFill>
                <a:latin typeface="Consolas"/>
              </a:rPr>
              <a:t>// error: lvalue required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24</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3: Tracer and Counter</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Lab2/exercises/ex3-lifetime/</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Compare your predictions with the real output, and confirm that </a:t>
            </a:r>
            <a:r>
              <a:rPr sz="1500" b="0">
                <a:solidFill>
                  <a:srgbClr val="4B2E83"/>
                </a:solidFill>
                <a:latin typeface="Consolas"/>
              </a:rPr>
              <a:t>./counter_test</a:t>
            </a:r>
            <a:r>
              <a:rPr sz="1500" b="0">
                <a:solidFill>
                  <a:srgbClr val="1D2330"/>
                </a:solidFill>
                <a:latin typeface="Calibri"/>
              </a:rPr>
              <a:t> prints </a:t>
            </a:r>
            <a:r>
              <a:rPr sz="1500" b="0">
                <a:solidFill>
                  <a:srgbClr val="4B2E83"/>
                </a:solidFill>
                <a:latin typeface="Consolas"/>
              </a:rPr>
              <a:t>count = 5</a:t>
            </a:r>
            <a:r>
              <a:rPr sz="1500" b="0">
                <a:solidFill>
                  <a:srgbClr val="1D2330"/>
                </a:solidFill>
                <a:latin typeface="Calibri"/>
              </a:rPr>
              <a:t> and </a:t>
            </a:r>
            <a:r>
              <a:rPr sz="1500" b="0">
                <a:solidFill>
                  <a:srgbClr val="4B2E83"/>
                </a:solidFill>
                <a:latin typeface="Consolas"/>
              </a:rPr>
              <a:t>count = 0</a:t>
            </a:r>
            <a:r>
              <a:rPr sz="1500" b="0">
                <a:solidFill>
                  <a:srgbClr val="1D2330"/>
                </a:solidFill>
                <a:latin typeface="Calibri"/>
              </a:rPr>
              <a:t>.</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Read </a:t>
            </a:r>
            <a:r>
              <a:rPr sz="1700" b="0">
                <a:solidFill>
                  <a:srgbClr val="4B2E83"/>
                </a:solidFill>
                <a:latin typeface="Consolas"/>
              </a:rPr>
              <a:t>lifetime.cpp</a:t>
            </a:r>
            <a:r>
              <a:rPr sz="1700" b="0">
                <a:solidFill>
                  <a:srgbClr val="1D2330"/>
                </a:solidFill>
                <a:latin typeface="Calibri"/>
              </a:rPr>
              <a:t>; write your predictions in </a:t>
            </a:r>
            <a:r>
              <a:rPr sz="1700" b="0">
                <a:solidFill>
                  <a:srgbClr val="4B2E83"/>
                </a:solidFill>
                <a:latin typeface="Consolas"/>
              </a:rPr>
              <a:t>predictions.txt</a:t>
            </a:r>
            <a:r>
              <a:rPr sz="1700" b="0">
                <a:solidFill>
                  <a:srgbClr val="1D2330"/>
                </a:solidFill>
                <a:latin typeface="Calibri"/>
              </a:rPr>
              <a:t> BEFORE running</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4B2E83"/>
                </a:solidFill>
                <a:latin typeface="Consolas"/>
              </a:rPr>
              <a:t>make lifetime</a:t>
            </a:r>
            <a:r>
              <a:rPr sz="1700" b="0">
                <a:solidFill>
                  <a:srgbClr val="1D2330"/>
                </a:solidFill>
                <a:latin typeface="Calibri"/>
              </a:rPr>
              <a:t>, read the warning, run </a:t>
            </a:r>
            <a:r>
              <a:rPr sz="1700" b="0">
                <a:solidFill>
                  <a:srgbClr val="4B2E83"/>
                </a:solidFill>
                <a:latin typeface="Consolas"/>
              </a:rPr>
              <a:t>./lifetime</a:t>
            </a:r>
            <a:r>
              <a:rPr sz="1700" b="0">
                <a:solidFill>
                  <a:srgbClr val="1D2330"/>
                </a:solidFill>
                <a:latin typeface="Calibri"/>
              </a:rPr>
              <a:t>, mark wrong predictions</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gdb: </a:t>
            </a:r>
            <a:r>
              <a:rPr sz="1700" b="0">
                <a:solidFill>
                  <a:srgbClr val="4B2E83"/>
                </a:solidFill>
                <a:latin typeface="Consolas"/>
              </a:rPr>
              <a:t>break Tracer::~Tracer</a:t>
            </a:r>
            <a:r>
              <a:rPr sz="1700" b="0">
                <a:solidFill>
                  <a:srgbClr val="1D2330"/>
                </a:solidFill>
                <a:latin typeface="Calibri"/>
              </a:rPr>
              <a:t>, </a:t>
            </a:r>
            <a:r>
              <a:rPr sz="1700" b="0">
                <a:solidFill>
                  <a:srgbClr val="4B2E83"/>
                </a:solidFill>
                <a:latin typeface="Consolas"/>
              </a:rPr>
              <a:t>run</a:t>
            </a:r>
            <a:r>
              <a:rPr sz="1700" b="0">
                <a:solidFill>
                  <a:srgbClr val="1D2330"/>
                </a:solidFill>
                <a:latin typeface="Calibri"/>
              </a:rPr>
              <a:t>, </a:t>
            </a:r>
            <a:r>
              <a:rPr sz="1700" b="0">
                <a:solidFill>
                  <a:srgbClr val="4B2E83"/>
                </a:solidFill>
                <a:latin typeface="Consolas"/>
              </a:rPr>
              <a:t>bt</a:t>
            </a:r>
            <a:r>
              <a:rPr sz="1700" b="0">
                <a:solidFill>
                  <a:srgbClr val="1D2330"/>
                </a:solidFill>
                <a:latin typeface="Calibri"/>
              </a:rPr>
              <a:t>, </a:t>
            </a:r>
            <a:r>
              <a:rPr sz="1700" b="0">
                <a:solidFill>
                  <a:srgbClr val="4B2E83"/>
                </a:solidFill>
                <a:latin typeface="Consolas"/>
              </a:rPr>
              <a:t>print name_</a:t>
            </a:r>
            <a:r>
              <a:rPr sz="1700" b="0">
                <a:solidFill>
                  <a:srgbClr val="1D2330"/>
                </a:solidFill>
                <a:latin typeface="Calibri"/>
              </a:rPr>
              <a:t>, </a:t>
            </a:r>
            <a:r>
              <a:rPr sz="1700" b="0">
                <a:solidFill>
                  <a:srgbClr val="4B2E83"/>
                </a:solidFill>
                <a:latin typeface="Consolas"/>
              </a:rPr>
              <a:t>continue</a:t>
            </a:r>
          </a:p>
        </p:txBody>
      </p:sp>
      <p:sp>
        <p:nvSpPr>
          <p:cNvPr id="19" name="Oval 18"/>
          <p:cNvSpPr/>
          <p:nvPr/>
        </p:nvSpPr>
        <p:spPr>
          <a:xfrm>
            <a:off x="4023360" y="399592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20" name="TextBox 19"/>
          <p:cNvSpPr txBox="1"/>
          <p:nvPr/>
        </p:nvSpPr>
        <p:spPr>
          <a:xfrm>
            <a:off x="4572000" y="3977640"/>
            <a:ext cx="7071055" cy="868680"/>
          </a:xfrm>
          <a:prstGeom prst="rect">
            <a:avLst/>
          </a:prstGeom>
          <a:noFill/>
        </p:spPr>
        <p:txBody>
          <a:bodyPr wrap="square" lIns="0" rIns="0" tIns="0" bIns="0" anchor="t">
            <a:spAutoFit/>
          </a:bodyPr>
          <a:lstStyle/>
          <a:p>
            <a:pPr algn="l"/>
            <a:r>
              <a:rPr sz="1700" b="0">
                <a:solidFill>
                  <a:srgbClr val="1D2330"/>
                </a:solidFill>
                <a:latin typeface="Calibri"/>
              </a:rPr>
              <a:t>Complete the two TODOs in </a:t>
            </a:r>
            <a:r>
              <a:rPr sz="1700" b="0">
                <a:solidFill>
                  <a:srgbClr val="4B2E83"/>
                </a:solidFill>
                <a:latin typeface="Consolas"/>
              </a:rPr>
              <a:t>counter.h</a:t>
            </a:r>
            <a:r>
              <a:rPr sz="1700" b="0">
                <a:solidFill>
                  <a:srgbClr val="1D2330"/>
                </a:solidFill>
                <a:latin typeface="Calibri"/>
              </a:rPr>
              <a:t>; </a:t>
            </a:r>
            <a:r>
              <a:rPr sz="1700" b="0">
                <a:solidFill>
                  <a:srgbClr val="4B2E83"/>
                </a:solidFill>
                <a:latin typeface="Consolas"/>
              </a:rPr>
              <a:t>make counter_test</a:t>
            </a:r>
            <a:r>
              <a:rPr sz="1700" b="0">
                <a:solidFill>
                  <a:srgbClr val="1D2330"/>
                </a:solidFill>
                <a:latin typeface="Calibri"/>
              </a:rPr>
              <a:t>; try the Q6 line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25</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3</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 global</a:t>
            </a:r>
            <a:r>
              <a:rPr sz="2000" b="0">
                <a:solidFill>
                  <a:srgbClr val="1D2330"/>
                </a:solidFill>
                <a:latin typeface="Calibri"/>
              </a:rPr>
              <a:t> appears before "main starts"; </a:t>
            </a:r>
            <a:r>
              <a:rPr sz="2000" b="0">
                <a:solidFill>
                  <a:srgbClr val="4B2E83"/>
                </a:solidFill>
                <a:latin typeface="Consolas"/>
              </a:rPr>
              <a:t>- global</a:t>
            </a:r>
            <a:r>
              <a:rPr sz="2000" b="0">
                <a:solidFill>
                  <a:srgbClr val="1D2330"/>
                </a:solidFill>
                <a:latin typeface="Calibri"/>
              </a:rPr>
              <a:t> after "main ends"</a:t>
            </a:r>
          </a:p>
          <a:p>
            <a:pPr marL="256032" indent="-228600">
              <a:spcAft>
                <a:spcPts val="800"/>
              </a:spcAft>
              <a:buClr>
                <a:srgbClr val="5B6475"/>
              </a:buClr>
              <a:buChar char="•"/>
            </a:pPr>
            <a:r>
              <a:rPr sz="2000" b="0">
                <a:solidFill>
                  <a:srgbClr val="1D2330"/>
                </a:solidFill>
                <a:latin typeface="Calibri"/>
              </a:rPr>
              <a:t>Scenario 2: one copy for </a:t>
            </a:r>
            <a:r>
              <a:rPr sz="2000" b="0">
                <a:solidFill>
                  <a:srgbClr val="4B2E83"/>
                </a:solidFill>
                <a:latin typeface="Consolas"/>
              </a:rPr>
              <a:t>byValue</a:t>
            </a:r>
            <a:r>
              <a:rPr sz="2000" b="0">
                <a:solidFill>
                  <a:srgbClr val="1D2330"/>
                </a:solidFill>
                <a:latin typeface="Calibri"/>
              </a:rPr>
              <a:t>, none for </a:t>
            </a:r>
            <a:r>
              <a:rPr sz="2000" b="0">
                <a:solidFill>
                  <a:srgbClr val="4B2E83"/>
                </a:solidFill>
                <a:latin typeface="Consolas"/>
              </a:rPr>
              <a:t>byConstRef</a:t>
            </a:r>
            <a:r>
              <a:rPr sz="2000" b="0">
                <a:solidFill>
                  <a:srgbClr val="1D2330"/>
                </a:solidFill>
                <a:latin typeface="Calibri"/>
              </a:rPr>
              <a:t>; scenario 3: only </a:t>
            </a:r>
            <a:r>
              <a:rPr sz="2000" b="0">
                <a:solidFill>
                  <a:srgbClr val="4B2E83"/>
                </a:solidFill>
                <a:latin typeface="Consolas"/>
              </a:rPr>
              <a:t>+ d</a:t>
            </a:r>
            <a:r>
              <a:rPr sz="2000" b="0">
                <a:solidFill>
                  <a:srgbClr val="1D2330"/>
                </a:solidFill>
                <a:latin typeface="Calibri"/>
              </a:rPr>
              <a:t> (copy elided)</a:t>
            </a:r>
          </a:p>
          <a:p>
            <a:pPr marL="256032" indent="-228600">
              <a:spcAft>
                <a:spcPts val="800"/>
              </a:spcAft>
              <a:buClr>
                <a:srgbClr val="5B6475"/>
              </a:buClr>
              <a:buChar char="•"/>
            </a:pPr>
            <a:r>
              <a:rPr sz="2000" b="0">
                <a:solidFill>
                  <a:srgbClr val="1D2330"/>
                </a:solidFill>
                <a:latin typeface="Calibri"/>
              </a:rPr>
              <a:t>Scenario 4: </a:t>
            </a:r>
            <a:r>
              <a:rPr sz="2000" b="0">
                <a:solidFill>
                  <a:srgbClr val="4B2E83"/>
                </a:solidFill>
                <a:latin typeface="Consolas"/>
              </a:rPr>
              <a:t>+ temp</a:t>
            </a:r>
            <a:r>
              <a:rPr sz="2000" b="0">
                <a:solidFill>
                  <a:srgbClr val="1D2330"/>
                </a:solidFill>
                <a:latin typeface="Calibri"/>
              </a:rPr>
              <a:t> </a:t>
            </a:r>
            <a:r>
              <a:rPr sz="2000" b="0">
                <a:solidFill>
                  <a:srgbClr val="4B2E83"/>
                </a:solidFill>
                <a:latin typeface="Consolas"/>
              </a:rPr>
              <a:t>- temp</a:t>
            </a:r>
            <a:r>
              <a:rPr sz="2000" b="0">
                <a:solidFill>
                  <a:srgbClr val="1D2330"/>
                </a:solidFill>
                <a:latin typeface="Calibri"/>
              </a:rPr>
              <a:t> before the next statement</a:t>
            </a:r>
          </a:p>
          <a:p>
            <a:pPr marL="256032" indent="-228600">
              <a:spcAft>
                <a:spcPts val="800"/>
              </a:spcAft>
              <a:buClr>
                <a:srgbClr val="5B6475"/>
              </a:buClr>
              <a:buChar char="•"/>
            </a:pPr>
            <a:r>
              <a:rPr sz="2000" b="0">
                <a:solidFill>
                  <a:srgbClr val="1D2330"/>
                </a:solidFill>
                <a:latin typeface="Calibri"/>
              </a:rPr>
              <a:t>Scenario 5: </a:t>
            </a:r>
            <a:r>
              <a:rPr sz="2000" b="0">
                <a:solidFill>
                  <a:srgbClr val="4B2E83"/>
                </a:solidFill>
                <a:latin typeface="Consolas"/>
              </a:rPr>
              <a:t>first_</a:t>
            </a:r>
            <a:r>
              <a:rPr sz="2000" b="0">
                <a:solidFill>
                  <a:srgbClr val="1D2330"/>
                </a:solidFill>
                <a:latin typeface="Calibri"/>
              </a:rPr>
              <a:t> then </a:t>
            </a:r>
            <a:r>
              <a:rPr sz="2000" b="0">
                <a:solidFill>
                  <a:srgbClr val="4B2E83"/>
                </a:solidFill>
                <a:latin typeface="Consolas"/>
              </a:rPr>
              <a:t>second_</a:t>
            </a:r>
            <a:r>
              <a:rPr sz="2000" b="0">
                <a:solidFill>
                  <a:srgbClr val="1D2330"/>
                </a:solidFill>
                <a:latin typeface="Calibri"/>
              </a:rPr>
              <a:t> (declaration order), destroyed in reverse after the Pair destructor body</a:t>
            </a:r>
          </a:p>
          <a:p>
            <a:pPr marL="256032" indent="-228600">
              <a:spcAft>
                <a:spcPts val="800"/>
              </a:spcAft>
              <a:buClr>
                <a:srgbClr val="5B6475"/>
              </a:buClr>
              <a:buChar char="•"/>
            </a:pPr>
            <a:r>
              <a:rPr sz="2000" b="0">
                <a:solidFill>
                  <a:srgbClr val="1D2330"/>
                </a:solidFill>
                <a:latin typeface="Calibri"/>
              </a:rPr>
              <a:t>gdb: </a:t>
            </a:r>
            <a:r>
              <a:rPr sz="2000" b="0">
                <a:solidFill>
                  <a:srgbClr val="4B2E83"/>
                </a:solidFill>
                <a:latin typeface="Consolas"/>
              </a:rPr>
              <a:t>bt</a:t>
            </a:r>
            <a:r>
              <a:rPr sz="2000" b="0">
                <a:solidFill>
                  <a:srgbClr val="1D2330"/>
                </a:solidFill>
                <a:latin typeface="Calibri"/>
              </a:rPr>
              <a:t> shows </a:t>
            </a:r>
            <a:r>
              <a:rPr sz="2000" b="0">
                <a:solidFill>
                  <a:srgbClr val="4B2E83"/>
                </a:solidFill>
                <a:latin typeface="Consolas"/>
              </a:rPr>
              <a:t>main () at lifetime.cpp:49</a:t>
            </a:r>
            <a:r>
              <a:rPr sz="2000" b="0">
                <a:solidFill>
                  <a:srgbClr val="1D2330"/>
                </a:solidFill>
                <a:latin typeface="Calibri"/>
              </a:rPr>
              <a:t>: the destructor runs at the closing </a:t>
            </a:r>
            <a:r>
              <a:rPr sz="2000" b="0">
                <a:solidFill>
                  <a:srgbClr val="4B2E83"/>
                </a:solidFill>
                <a:latin typeface="Consolas"/>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26</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3</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4B2E83"/>
                </a:solidFill>
                <a:latin typeface="Consolas"/>
              </a:rPr>
              <a:t>Tracer x("x"); { Tracer y("y"); } Tracer z("z");</a:t>
            </a:r>
            <a:r>
              <a:rPr sz="1800" b="0">
                <a:solidFill>
                  <a:srgbClr val="1D2330"/>
                </a:solidFill>
                <a:latin typeface="Calibri"/>
              </a:rPr>
              <a:t> in </a:t>
            </a:r>
            <a:r>
              <a:rPr sz="1800" b="0">
                <a:solidFill>
                  <a:srgbClr val="4B2E83"/>
                </a:solidFill>
                <a:latin typeface="Consolas"/>
              </a:rPr>
              <a:t>main</a:t>
            </a:r>
            <a:r>
              <a:rPr sz="1800" b="0">
                <a:solidFill>
                  <a:srgbClr val="1D2330"/>
                </a:solidFill>
                <a:latin typeface="Calibri"/>
              </a:rPr>
              <a:t>: what's printed, including at the end?</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How many constructor and destructor calls does </a:t>
            </a:r>
            <a:r>
              <a:rPr sz="1800" b="0">
                <a:solidFill>
                  <a:srgbClr val="4B2E83"/>
                </a:solidFill>
                <a:latin typeface="Consolas"/>
              </a:rPr>
              <a:t>f(x)</a:t>
            </a:r>
            <a:r>
              <a:rPr sz="1800" b="0">
                <a:solidFill>
                  <a:srgbClr val="1D2330"/>
                </a:solidFill>
                <a:latin typeface="Calibri"/>
              </a:rPr>
              <a:t> cause for </a:t>
            </a:r>
            <a:r>
              <a:rPr sz="1800" b="0">
                <a:solidFill>
                  <a:srgbClr val="4B2E83"/>
                </a:solidFill>
                <a:latin typeface="Consolas"/>
              </a:rPr>
              <a:t>void f(Tracer t)</a:t>
            </a:r>
            <a:r>
              <a:rPr sz="1800" b="0">
                <a:solidFill>
                  <a:srgbClr val="1D2330"/>
                </a:solidFill>
                <a:latin typeface="Calibri"/>
              </a:rPr>
              <a:t>? For </a:t>
            </a:r>
            <a:r>
              <a:rPr sz="1800" b="0">
                <a:solidFill>
                  <a:srgbClr val="4B2E83"/>
                </a:solidFill>
                <a:latin typeface="Consolas"/>
              </a:rPr>
              <a:t>g(const Tracer &amp;)</a:t>
            </a:r>
            <a:r>
              <a:rPr sz="1800" b="0">
                <a:solidFill>
                  <a:srgbClr val="1D2330"/>
                </a:solidFill>
                <a:latin typeface="Calibri"/>
              </a:rPr>
              <a:t>?</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1D2330"/>
                </a:solidFill>
                <a:latin typeface="Calibri"/>
              </a:rPr>
              <a:t>Members declared </a:t>
            </a:r>
            <a:r>
              <a:rPr sz="1800" b="0">
                <a:solidFill>
                  <a:srgbClr val="4B2E83"/>
                </a:solidFill>
                <a:latin typeface="Consolas"/>
              </a:rPr>
              <a:t>b_</a:t>
            </a:r>
            <a:r>
              <a:rPr sz="1800" b="0">
                <a:solidFill>
                  <a:srgbClr val="1D2330"/>
                </a:solidFill>
                <a:latin typeface="Calibri"/>
              </a:rPr>
              <a:t> then </a:t>
            </a:r>
            <a:r>
              <a:rPr sz="1800" b="0">
                <a:solidFill>
                  <a:srgbClr val="4B2E83"/>
                </a:solidFill>
                <a:latin typeface="Consolas"/>
              </a:rPr>
              <a:t>a_</a:t>
            </a:r>
            <a:r>
              <a:rPr sz="1800" b="0">
                <a:solidFill>
                  <a:srgbClr val="1D2330"/>
                </a:solidFill>
                <a:latin typeface="Calibri"/>
              </a:rPr>
              <a:t>, initializer list </a:t>
            </a:r>
            <a:r>
              <a:rPr sz="1800" b="0">
                <a:solidFill>
                  <a:srgbClr val="4B2E83"/>
                </a:solidFill>
                <a:latin typeface="Consolas"/>
              </a:rPr>
              <a:t>: a_(...), b_(...)</a:t>
            </a:r>
            <a:r>
              <a:rPr sz="1800" b="0">
                <a:solidFill>
                  <a:srgbClr val="1D2330"/>
                </a:solidFill>
                <a:latin typeface="Calibri"/>
              </a:rPr>
              <a:t>. Construction and destruction order?</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4B2E83"/>
                </a:solidFill>
                <a:latin typeface="Consolas"/>
              </a:rPr>
              <a:t>const string &amp;name() const</a:t>
            </a:r>
            <a:r>
              <a:rPr sz="1800" b="0">
                <a:solidFill>
                  <a:srgbClr val="1D2330"/>
                </a:solidFill>
                <a:latin typeface="Calibri"/>
              </a:rPr>
              <a:t> returns a member. When is using the result unsafe?</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27</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2 Exercise 3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3</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Oval 1"/>
          <p:cNvSpPr/>
          <p:nvPr/>
        </p:nvSpPr>
        <p:spPr>
          <a:xfrm>
            <a:off x="548640" y="868680"/>
            <a:ext cx="1005840" cy="1005840"/>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000" b="1">
                <a:solidFill>
                  <a:srgbClr val="FFFFFF"/>
                </a:solidFill>
                <a:latin typeface="Calibri"/>
              </a:rPr>
              <a:t>4</a:t>
            </a:r>
          </a:p>
        </p:txBody>
      </p:sp>
      <p:sp>
        <p:nvSpPr>
          <p:cNvPr id="3" name="TextBox 2"/>
          <p:cNvSpPr txBox="1"/>
          <p:nvPr/>
        </p:nvSpPr>
        <p:spPr>
          <a:xfrm>
            <a:off x="548640" y="2148840"/>
            <a:ext cx="10972800" cy="914400"/>
          </a:xfrm>
          <a:prstGeom prst="rect">
            <a:avLst/>
          </a:prstGeom>
          <a:noFill/>
        </p:spPr>
        <p:txBody>
          <a:bodyPr wrap="square" lIns="0" rIns="0" tIns="0" bIns="0" anchor="t">
            <a:spAutoFit/>
          </a:bodyPr>
          <a:lstStyle/>
          <a:p>
            <a:pPr algn="l"/>
            <a:r>
              <a:rPr sz="4200" b="1">
                <a:solidFill>
                  <a:srgbClr val="FFFFFF"/>
                </a:solidFill>
                <a:latin typeface="Calibri"/>
              </a:rPr>
              <a:t>Operator overloading</a:t>
            </a:r>
          </a:p>
        </p:txBody>
      </p:sp>
      <p:sp>
        <p:nvSpPr>
          <p:cNvPr id="4" name="TextBox 3"/>
          <p:cNvSpPr txBox="1"/>
          <p:nvPr/>
        </p:nvSpPr>
        <p:spPr>
          <a:xfrm>
            <a:off x="548640" y="3200400"/>
            <a:ext cx="10972800" cy="457200"/>
          </a:xfrm>
          <a:prstGeom prst="rect">
            <a:avLst/>
          </a:prstGeom>
          <a:noFill/>
        </p:spPr>
        <p:txBody>
          <a:bodyPr wrap="square" lIns="0" rIns="0" tIns="0" bIns="0" anchor="t">
            <a:spAutoFit/>
          </a:bodyPr>
          <a:lstStyle/>
          <a:p>
            <a:r>
              <a:rPr sz="2000" b="0">
                <a:solidFill>
                  <a:srgbClr val="C5B4E3"/>
                </a:solidFill>
                <a:latin typeface="Calibri"/>
              </a:rPr>
              <a:t>Let your own types use </a:t>
            </a:r>
            <a:r>
              <a:rPr sz="2000" b="0">
                <a:solidFill>
                  <a:srgbClr val="FFFFFF"/>
                </a:solidFill>
                <a:latin typeface="Consolas"/>
              </a:rPr>
              <a:t>+</a:t>
            </a:r>
            <a:r>
              <a:rPr sz="2000" b="0">
                <a:solidFill>
                  <a:srgbClr val="C5B4E3"/>
                </a:solidFill>
                <a:latin typeface="Calibri"/>
              </a:rPr>
              <a:t>, </a:t>
            </a:r>
            <a:r>
              <a:rPr sz="2000" b="0">
                <a:solidFill>
                  <a:srgbClr val="FFFFFF"/>
                </a:solidFill>
                <a:latin typeface="Consolas"/>
              </a:rPr>
              <a:t>&lt;</a:t>
            </a:r>
            <a:r>
              <a:rPr sz="2000" b="0">
                <a:solidFill>
                  <a:srgbClr val="C5B4E3"/>
                </a:solidFill>
                <a:latin typeface="Calibri"/>
              </a:rPr>
              <a:t>, and </a:t>
            </a:r>
            <a:r>
              <a:rPr sz="2000" b="0">
                <a:solidFill>
                  <a:srgbClr val="FFFFFF"/>
                </a:solidFill>
                <a:latin typeface="Consolas"/>
              </a:rPr>
              <a:t>&lt;&lt;</a:t>
            </a:r>
            <a:r>
              <a:rPr sz="2000" b="0">
                <a:solidFill>
                  <a:srgbClr val="C5B4E3"/>
                </a:solidFill>
                <a:latin typeface="Calibri"/>
              </a:rPr>
              <a:t> like </a:t>
            </a:r>
            <a:r>
              <a:rPr sz="2000" b="0">
                <a:solidFill>
                  <a:srgbClr val="FFFFFF"/>
                </a:solidFill>
                <a:latin typeface="Consolas"/>
              </a:rPr>
              <a:t>int</a:t>
            </a:r>
            <a:r>
              <a:rPr sz="2000" b="0">
                <a:solidFill>
                  <a:srgbClr val="C5B4E3"/>
                </a:solidFill>
                <a:latin typeface="Calibri"/>
              </a:rPr>
              <a:t> does; sorting, maps, and printing rely on it</a:t>
            </a:r>
          </a:p>
        </p:txBody>
      </p:sp>
      <p:sp>
        <p:nvSpPr>
          <p:cNvPr id="5" name="TextBox 4"/>
          <p:cNvSpPr txBox="1"/>
          <p:nvPr/>
        </p:nvSpPr>
        <p:spPr>
          <a:xfrm>
            <a:off x="548640" y="3977640"/>
            <a:ext cx="10972800" cy="365760"/>
          </a:xfrm>
          <a:prstGeom prst="rect">
            <a:avLst/>
          </a:prstGeom>
          <a:noFill/>
        </p:spPr>
        <p:txBody>
          <a:bodyPr wrap="square" lIns="0" rIns="0" tIns="0" bIns="0" anchor="t">
            <a:spAutoFit/>
          </a:bodyPr>
          <a:lstStyle/>
          <a:p>
            <a:pPr algn="l"/>
            <a:r>
              <a:rPr sz="1400" b="1">
                <a:solidFill>
                  <a:srgbClr val="C5B4E3"/>
                </a:solidFill>
                <a:latin typeface="Calibri"/>
              </a:rPr>
              <a:t>AFTER THIS PART YOU CAN</a:t>
            </a:r>
          </a:p>
        </p:txBody>
      </p:sp>
      <p:sp>
        <p:nvSpPr>
          <p:cNvPr id="6" name="TextBox 5"/>
          <p:cNvSpPr txBox="1"/>
          <p:nvPr/>
        </p:nvSpPr>
        <p:spPr>
          <a:xfrm>
            <a:off x="548640" y="4389120"/>
            <a:ext cx="10515600" cy="2194560"/>
          </a:xfrm>
          <a:prstGeom prst="rect">
            <a:avLst/>
          </a:prstGeom>
          <a:noFill/>
        </p:spPr>
        <p:txBody>
          <a:bodyPr wrap="square" lIns="0" rIns="0" tIns="0" bIns="0" anchor="t">
            <a:spAutoFit/>
          </a:bodyPr>
          <a:lstStyle/>
          <a:p>
            <a:pPr marL="256032" indent="-228600">
              <a:spcAft>
                <a:spcPts val="600"/>
              </a:spcAft>
              <a:buClr>
                <a:srgbClr val="5B6475"/>
              </a:buClr>
              <a:buChar char="›"/>
            </a:pPr>
            <a:r>
              <a:rPr sz="2000" b="0">
                <a:solidFill>
                  <a:srgbClr val="FFFFFF"/>
                </a:solidFill>
                <a:latin typeface="Calibri"/>
              </a:rPr>
              <a:t>Write </a:t>
            </a:r>
            <a:r>
              <a:rPr sz="2000" b="0">
                <a:solidFill>
                  <a:srgbClr val="C5B4E3"/>
                </a:solidFill>
                <a:latin typeface="Consolas"/>
              </a:rPr>
              <a:t>+=</a:t>
            </a:r>
            <a:r>
              <a:rPr sz="2000" b="0">
                <a:solidFill>
                  <a:srgbClr val="FFFFFF"/>
                </a:solidFill>
                <a:latin typeface="Calibri"/>
              </a:rPr>
              <a:t>, </a:t>
            </a:r>
            <a:r>
              <a:rPr sz="2000" b="0">
                <a:solidFill>
                  <a:srgbClr val="C5B4E3"/>
                </a:solidFill>
                <a:latin typeface="Consolas"/>
              </a:rPr>
              <a:t>+</a:t>
            </a:r>
            <a:r>
              <a:rPr sz="2000" b="0">
                <a:solidFill>
                  <a:srgbClr val="FFFFFF"/>
                </a:solidFill>
                <a:latin typeface="Calibri"/>
              </a:rPr>
              <a:t>, </a:t>
            </a:r>
            <a:r>
              <a:rPr sz="2000" b="0">
                <a:solidFill>
                  <a:srgbClr val="C5B4E3"/>
                </a:solidFill>
                <a:latin typeface="Consolas"/>
              </a:rPr>
              <a:t>==</a:t>
            </a:r>
            <a:r>
              <a:rPr sz="2000" b="0">
                <a:solidFill>
                  <a:srgbClr val="FFFFFF"/>
                </a:solidFill>
                <a:latin typeface="Calibri"/>
              </a:rPr>
              <a:t>, </a:t>
            </a:r>
            <a:r>
              <a:rPr sz="2000" b="0">
                <a:solidFill>
                  <a:srgbClr val="C5B4E3"/>
                </a:solidFill>
                <a:latin typeface="Consolas"/>
              </a:rPr>
              <a:t>&lt;</a:t>
            </a:r>
            <a:r>
              <a:rPr sz="2000" b="0">
                <a:solidFill>
                  <a:srgbClr val="FFFFFF"/>
                </a:solidFill>
                <a:latin typeface="Calibri"/>
              </a:rPr>
              <a:t>, and </a:t>
            </a:r>
            <a:r>
              <a:rPr sz="2000" b="0">
                <a:solidFill>
                  <a:srgbClr val="C5B4E3"/>
                </a:solidFill>
                <a:latin typeface="Consolas"/>
              </a:rPr>
              <a:t>&lt;&lt;</a:t>
            </a:r>
            <a:r>
              <a:rPr sz="2000" b="0">
                <a:solidFill>
                  <a:srgbClr val="FFFFFF"/>
                </a:solidFill>
                <a:latin typeface="Calibri"/>
              </a:rPr>
              <a:t> with the right signatures</a:t>
            </a:r>
          </a:p>
          <a:p>
            <a:pPr marL="256032" indent="-228600">
              <a:spcAft>
                <a:spcPts val="600"/>
              </a:spcAft>
              <a:buClr>
                <a:srgbClr val="5B6475"/>
              </a:buClr>
              <a:buChar char="›"/>
            </a:pPr>
            <a:r>
              <a:rPr sz="2000" b="0">
                <a:solidFill>
                  <a:srgbClr val="FFFFFF"/>
                </a:solidFill>
                <a:latin typeface="Calibri"/>
              </a:rPr>
              <a:t>Choose between member and non-member operators</a:t>
            </a:r>
          </a:p>
          <a:p>
            <a:pPr marL="256032" indent="-228600">
              <a:spcAft>
                <a:spcPts val="600"/>
              </a:spcAft>
              <a:buClr>
                <a:srgbClr val="5B6475"/>
              </a:buClr>
              <a:buChar char="›"/>
            </a:pPr>
            <a:r>
              <a:rPr sz="2000" b="0">
                <a:solidFill>
                  <a:srgbClr val="FFFFFF"/>
                </a:solidFill>
                <a:latin typeface="Calibri"/>
              </a:rPr>
              <a:t>Know when </a:t>
            </a:r>
            <a:r>
              <a:rPr sz="2000" b="0">
                <a:solidFill>
                  <a:srgbClr val="C5B4E3"/>
                </a:solidFill>
                <a:latin typeface="Consolas"/>
              </a:rPr>
              <a:t>friend</a:t>
            </a:r>
            <a:r>
              <a:rPr sz="2000" b="0">
                <a:solidFill>
                  <a:srgbClr val="FFFFFF"/>
                </a:solidFill>
                <a:latin typeface="Calibri"/>
              </a:rPr>
              <a:t> is needed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29</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Operators are just functions</a:t>
            </a:r>
          </a:p>
        </p:txBody>
      </p:sp>
      <p:sp>
        <p:nvSpPr>
          <p:cNvPr id="6" name="TextBox 5"/>
          <p:cNvSpPr txBox="1"/>
          <p:nvPr/>
        </p:nvSpPr>
        <p:spPr>
          <a:xfrm>
            <a:off x="548640" y="1325880"/>
            <a:ext cx="5103430"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a + b</a:t>
            </a:r>
            <a:r>
              <a:rPr sz="1800" b="0">
                <a:solidFill>
                  <a:srgbClr val="1D2330"/>
                </a:solidFill>
                <a:latin typeface="Calibri"/>
              </a:rPr>
              <a:t> calls </a:t>
            </a:r>
            <a:r>
              <a:rPr sz="1800" b="0">
                <a:solidFill>
                  <a:srgbClr val="4B2E83"/>
                </a:solidFill>
                <a:latin typeface="Consolas"/>
              </a:rPr>
              <a:t>operator+(a, b)</a:t>
            </a:r>
            <a:r>
              <a:rPr sz="1800" b="0">
                <a:solidFill>
                  <a:srgbClr val="1D2330"/>
                </a:solidFill>
                <a:latin typeface="Calibri"/>
              </a:rPr>
              <a:t> or </a:t>
            </a:r>
            <a:r>
              <a:rPr sz="1800" b="0">
                <a:solidFill>
                  <a:srgbClr val="4B2E83"/>
                </a:solidFill>
                <a:latin typeface="Consolas"/>
              </a:rPr>
              <a:t>a.operator+(b)</a:t>
            </a:r>
          </a:p>
          <a:p>
            <a:pPr marL="256032" indent="-228600">
              <a:spcAft>
                <a:spcPts val="800"/>
              </a:spcAft>
              <a:buClr>
                <a:srgbClr val="5B6475"/>
              </a:buClr>
              <a:buChar char="•"/>
            </a:pPr>
            <a:r>
              <a:rPr sz="1800" b="0">
                <a:solidFill>
                  <a:srgbClr val="1D2330"/>
                </a:solidFill>
                <a:latin typeface="Calibri"/>
              </a:rPr>
              <a:t>Compound </a:t>
            </a:r>
            <a:r>
              <a:rPr sz="1800" b="0">
                <a:solidFill>
                  <a:srgbClr val="4B2E83"/>
                </a:solidFill>
                <a:latin typeface="Consolas"/>
              </a:rPr>
              <a:t>+=</a:t>
            </a:r>
            <a:r>
              <a:rPr sz="1800" b="0">
                <a:solidFill>
                  <a:srgbClr val="1D2330"/>
                </a:solidFill>
                <a:latin typeface="Calibri"/>
              </a:rPr>
              <a:t> is a member: changes the object, returns it by reference</a:t>
            </a:r>
          </a:p>
          <a:p>
            <a:pPr marL="256032" indent="-228600">
              <a:spcAft>
                <a:spcPts val="800"/>
              </a:spcAft>
              <a:buClr>
                <a:srgbClr val="5B6475"/>
              </a:buClr>
              <a:buChar char="•"/>
            </a:pPr>
            <a:r>
              <a:rPr sz="1800" b="0">
                <a:solidFill>
                  <a:srgbClr val="4B2E83"/>
                </a:solidFill>
                <a:latin typeface="Consolas"/>
              </a:rPr>
              <a:t>return *this;</a:t>
            </a:r>
            <a:r>
              <a:rPr sz="1800" b="0">
                <a:solidFill>
                  <a:srgbClr val="1D2330"/>
                </a:solidFill>
                <a:latin typeface="Calibri"/>
              </a:rPr>
              <a:t>: read </a:t>
            </a:r>
            <a:r>
              <a:rPr sz="1800" b="0">
                <a:solidFill>
                  <a:srgbClr val="4B2E83"/>
                </a:solidFill>
                <a:latin typeface="Consolas"/>
              </a:rPr>
              <a:t>*this</a:t>
            </a:r>
            <a:r>
              <a:rPr sz="1800" b="0">
                <a:solidFill>
                  <a:srgbClr val="1D2330"/>
                </a:solidFill>
                <a:latin typeface="Calibri"/>
              </a:rPr>
              <a:t> as "the current object" (the </a:t>
            </a:r>
            <a:r>
              <a:rPr sz="1800" b="0">
                <a:solidFill>
                  <a:srgbClr val="4B2E83"/>
                </a:solidFill>
                <a:latin typeface="Consolas"/>
              </a:rPr>
              <a:t>*</a:t>
            </a:r>
            <a:r>
              <a:rPr sz="1800" b="0">
                <a:solidFill>
                  <a:srgbClr val="1D2330"/>
                </a:solidFill>
                <a:latin typeface="Calibri"/>
              </a:rPr>
              <a:t> comes with pointers)</a:t>
            </a:r>
          </a:p>
          <a:p>
            <a:pPr marL="256032" indent="-228600">
              <a:spcAft>
                <a:spcPts val="800"/>
              </a:spcAft>
              <a:buClr>
                <a:srgbClr val="5B6475"/>
              </a:buClr>
              <a:buChar char="•"/>
            </a:pPr>
            <a:r>
              <a:rPr sz="1800" b="0">
                <a:solidFill>
                  <a:srgbClr val="4B2E83"/>
                </a:solidFill>
                <a:latin typeface="Consolas"/>
              </a:rPr>
              <a:t>+</a:t>
            </a:r>
            <a:r>
              <a:rPr sz="1800" b="0">
                <a:solidFill>
                  <a:srgbClr val="1D2330"/>
                </a:solidFill>
                <a:latin typeface="Calibri"/>
              </a:rPr>
              <a:t> is a non-member: makes a new object, returns it by value</a:t>
            </a:r>
          </a:p>
          <a:p>
            <a:pPr marL="256032" indent="-228600">
              <a:spcAft>
                <a:spcPts val="800"/>
              </a:spcAft>
              <a:buClr>
                <a:srgbClr val="5B6475"/>
              </a:buClr>
              <a:buChar char="•"/>
            </a:pPr>
            <a:r>
              <a:rPr sz="1800" b="0">
                <a:solidFill>
                  <a:srgbClr val="1D2330"/>
                </a:solidFill>
                <a:latin typeface="Calibri"/>
              </a:rPr>
              <a:t>Build </a:t>
            </a:r>
            <a:r>
              <a:rPr sz="1800" b="0">
                <a:solidFill>
                  <a:srgbClr val="4B2E83"/>
                </a:solidFill>
                <a:latin typeface="Consolas"/>
              </a:rPr>
              <a:t>+</a:t>
            </a:r>
            <a:r>
              <a:rPr sz="1800" b="0">
                <a:solidFill>
                  <a:srgbClr val="1D2330"/>
                </a:solidFill>
                <a:latin typeface="Calibri"/>
              </a:rPr>
              <a:t> from </a:t>
            </a:r>
            <a:r>
              <a:rPr sz="1800" b="0">
                <a:solidFill>
                  <a:srgbClr val="4B2E83"/>
                </a:solidFill>
                <a:latin typeface="Consolas"/>
              </a:rPr>
              <a:t>+=</a:t>
            </a:r>
            <a:r>
              <a:rPr sz="1800" b="0">
                <a:solidFill>
                  <a:srgbClr val="1D2330"/>
                </a:solidFill>
                <a:latin typeface="Calibri"/>
              </a:rPr>
              <a:t>, </a:t>
            </a:r>
            <a:r>
              <a:rPr sz="1800" b="0">
                <a:solidFill>
                  <a:srgbClr val="4B2E83"/>
                </a:solidFill>
                <a:latin typeface="Consolas"/>
              </a:rPr>
              <a:t>!=</a:t>
            </a:r>
            <a:r>
              <a:rPr sz="1800" b="0">
                <a:solidFill>
                  <a:srgbClr val="1D2330"/>
                </a:solidFill>
                <a:latin typeface="Calibri"/>
              </a:rPr>
              <a:t> from </a:t>
            </a:r>
            <a:r>
              <a:rPr sz="1800" b="0">
                <a:solidFill>
                  <a:srgbClr val="4B2E83"/>
                </a:solidFill>
                <a:latin typeface="Consolas"/>
              </a:rPr>
              <a:t>==</a:t>
            </a:r>
            <a:r>
              <a:rPr sz="1800" b="0">
                <a:solidFill>
                  <a:srgbClr val="1D2330"/>
                </a:solidFill>
                <a:latin typeface="Calibri"/>
              </a:rPr>
              <a:t>, </a:t>
            </a:r>
            <a:r>
              <a:rPr sz="1800" b="0">
                <a:solidFill>
                  <a:srgbClr val="4B2E83"/>
                </a:solidFill>
                <a:latin typeface="Consolas"/>
              </a:rPr>
              <a:t>&gt;</a:t>
            </a:r>
            <a:r>
              <a:rPr sz="1800" b="0">
                <a:solidFill>
                  <a:srgbClr val="1D2330"/>
                </a:solidFill>
                <a:latin typeface="Calibri"/>
              </a:rPr>
              <a:t> from </a:t>
            </a:r>
            <a:r>
              <a:rPr sz="1800" b="0">
                <a:solidFill>
                  <a:srgbClr val="4B2E83"/>
                </a:solidFill>
                <a:latin typeface="Consolas"/>
              </a:rPr>
              <a:t>&lt;</a:t>
            </a:r>
            <a:r>
              <a:rPr sz="1800" b="0">
                <a:solidFill>
                  <a:srgbClr val="1D2330"/>
                </a:solidFill>
                <a:latin typeface="Calibri"/>
              </a:rPr>
              <a:t>; </a:t>
            </a:r>
            <a:r>
              <a:rPr sz="1800" b="0">
                <a:solidFill>
                  <a:srgbClr val="4B2E83"/>
                </a:solidFill>
                <a:latin typeface="Consolas"/>
              </a:rPr>
              <a:t>&lt;&lt;</a:t>
            </a:r>
            <a:r>
              <a:rPr sz="1800" b="0">
                <a:solidFill>
                  <a:srgbClr val="1D2330"/>
                </a:solidFill>
                <a:latin typeface="Calibri"/>
              </a:rPr>
              <a:t> returns the stream so calls chain</a:t>
            </a:r>
          </a:p>
        </p:txBody>
      </p:sp>
      <p:sp>
        <p:nvSpPr>
          <p:cNvPr id="7" name="Rounded Rectangle 6"/>
          <p:cNvSpPr/>
          <p:nvPr/>
        </p:nvSpPr>
        <p:spPr>
          <a:xfrm>
            <a:off x="5972110" y="1325880"/>
            <a:ext cx="5670944" cy="352044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00710" y="1508760"/>
            <a:ext cx="5213744" cy="3154680"/>
          </a:xfrm>
          <a:prstGeom prst="rect">
            <a:avLst/>
          </a:prstGeom>
          <a:noFill/>
        </p:spPr>
        <p:txBody>
          <a:bodyPr wrap="none" lIns="0" rIns="0" tIns="0" bIns="0" anchor="t">
            <a:spAutoFit/>
          </a:bodyPr>
          <a:lstStyle/>
          <a:p>
            <a:pPr>
              <a:spcAft>
                <a:spcPts val="0"/>
              </a:spcAft>
            </a:pPr>
            <a:r>
              <a:rPr sz="1200">
                <a:solidFill>
                  <a:srgbClr val="E6E6EF"/>
                </a:solidFill>
                <a:latin typeface="Consolas"/>
              </a:rPr>
              <a:t>Rational &amp;Rational::operator+=(const Rational &amp;rhs) {</a:t>
            </a:r>
          </a:p>
          <a:p>
            <a:pPr>
              <a:spcAft>
                <a:spcPts val="0"/>
              </a:spcAft>
            </a:pPr>
            <a:r>
              <a:rPr sz="1200">
                <a:solidFill>
                  <a:srgbClr val="E6E6EF"/>
                </a:solidFill>
                <a:latin typeface="Consolas"/>
              </a:rPr>
              <a:t>    num_ = num_ * rhs.den_ + rhs.num_ * den_;</a:t>
            </a:r>
          </a:p>
          <a:p>
            <a:pPr>
              <a:spcAft>
                <a:spcPts val="0"/>
              </a:spcAft>
            </a:pPr>
            <a:r>
              <a:rPr sz="1200">
                <a:solidFill>
                  <a:srgbClr val="E6E6EF"/>
                </a:solidFill>
                <a:latin typeface="Consolas"/>
              </a:rPr>
              <a:t>    den_ = den_ * rhs.den_;</a:t>
            </a:r>
          </a:p>
          <a:p>
            <a:pPr>
              <a:spcAft>
                <a:spcPts val="0"/>
              </a:spcAft>
            </a:pPr>
            <a:r>
              <a:rPr sz="1200">
                <a:solidFill>
                  <a:srgbClr val="E6E6EF"/>
                </a:solidFill>
                <a:latin typeface="Consolas"/>
              </a:rPr>
              <a:t>    normalize();</a:t>
            </a:r>
          </a:p>
          <a:p>
            <a:pPr>
              <a:spcAft>
                <a:spcPts val="0"/>
              </a:spcAft>
            </a:pPr>
            <a:r>
              <a:rPr sz="1200">
                <a:solidFill>
                  <a:srgbClr val="E6E6EF"/>
                </a:solidFill>
                <a:latin typeface="Consolas"/>
              </a:rPr>
              <a:t>    return *this;</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Rational operator+(const Rational &amp;a, const Rational &amp;b) {</a:t>
            </a:r>
          </a:p>
          <a:p>
            <a:pPr>
              <a:spcAft>
                <a:spcPts val="0"/>
              </a:spcAft>
            </a:pPr>
            <a:r>
              <a:rPr sz="1200">
                <a:solidFill>
                  <a:srgbClr val="E6E6EF"/>
                </a:solidFill>
                <a:latin typeface="Consolas"/>
              </a:rPr>
              <a:t>    Rational result = a;</a:t>
            </a:r>
          </a:p>
          <a:p>
            <a:pPr>
              <a:spcAft>
                <a:spcPts val="0"/>
              </a:spcAft>
            </a:pPr>
            <a:r>
              <a:rPr sz="1200">
                <a:solidFill>
                  <a:srgbClr val="E6E6EF"/>
                </a:solidFill>
                <a:latin typeface="Consolas"/>
              </a:rPr>
              <a:t>    result += b;</a:t>
            </a:r>
          </a:p>
          <a:p>
            <a:pPr>
              <a:spcAft>
                <a:spcPts val="0"/>
              </a:spcAft>
            </a:pPr>
            <a:r>
              <a:rPr sz="1200">
                <a:solidFill>
                  <a:srgbClr val="E6E6EF"/>
                </a:solidFill>
                <a:latin typeface="Consolas"/>
              </a:rPr>
              <a:t>    return result;</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ostream &amp;operator&lt;&lt;(ostream &amp;out,</a:t>
            </a:r>
          </a:p>
          <a:p>
            <a:pPr>
              <a:spcAft>
                <a:spcPts val="0"/>
              </a:spcAft>
            </a:pPr>
            <a:r>
              <a:rPr sz="1200">
                <a:solidFill>
                  <a:srgbClr val="E6E6EF"/>
                </a:solidFill>
                <a:latin typeface="Consolas"/>
              </a:rPr>
              <a:t>                         const Rational &amp;r) {</a:t>
            </a:r>
          </a:p>
          <a:p>
            <a:pPr>
              <a:spcAft>
                <a:spcPts val="0"/>
              </a:spcAft>
            </a:pPr>
            <a:r>
              <a:rPr sz="1200">
                <a:solidFill>
                  <a:srgbClr val="E6E6EF"/>
                </a:solidFill>
                <a:latin typeface="Consolas"/>
              </a:rPr>
              <a:t>    return out &lt;&lt; r.toString();</a:t>
            </a:r>
          </a:p>
          <a:p>
            <a:pPr>
              <a:spcAft>
                <a:spcPts val="0"/>
              </a:spcAft>
            </a:pPr>
            <a:r>
              <a:rPr sz="1200">
                <a:solidFill>
                  <a:srgbClr val="E6E6EF"/>
                </a:solidFill>
                <a:latin typeface="Consolas"/>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30</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Member or non-member?</a:t>
            </a:r>
          </a:p>
        </p:txBody>
      </p:sp>
      <p:sp>
        <p:nvSpPr>
          <p:cNvPr id="6" name="Rounded Rectangle 5"/>
          <p:cNvSpPr/>
          <p:nvPr/>
        </p:nvSpPr>
        <p:spPr>
          <a:xfrm>
            <a:off x="548640" y="1325880"/>
            <a:ext cx="5364327" cy="4800600"/>
          </a:xfrm>
          <a:prstGeom prst="roundRect">
            <a:avLst>
              <a:gd name="adj" fmla="val 4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08760"/>
            <a:ext cx="4815687" cy="457200"/>
          </a:xfrm>
          <a:prstGeom prst="rect">
            <a:avLst/>
          </a:prstGeom>
          <a:noFill/>
        </p:spPr>
        <p:txBody>
          <a:bodyPr wrap="square" lIns="0" rIns="0" tIns="0" bIns="0" anchor="t">
            <a:spAutoFit/>
          </a:bodyPr>
          <a:lstStyle/>
          <a:p>
            <a:pPr algn="l"/>
            <a:r>
              <a:rPr sz="2200" b="1">
                <a:solidFill>
                  <a:srgbClr val="4B2E83"/>
                </a:solidFill>
                <a:latin typeface="Calibri"/>
              </a:rPr>
              <a:t>Member</a:t>
            </a:r>
          </a:p>
        </p:txBody>
      </p:sp>
      <p:sp>
        <p:nvSpPr>
          <p:cNvPr id="8" name="TextBox 7"/>
          <p:cNvSpPr txBox="1"/>
          <p:nvPr/>
        </p:nvSpPr>
        <p:spPr>
          <a:xfrm>
            <a:off x="822960"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change the left operand; return </a:t>
            </a:r>
            <a:r>
              <a:rPr sz="1700" b="0">
                <a:solidFill>
                  <a:srgbClr val="4B2E83"/>
                </a:solidFill>
                <a:latin typeface="Consolas"/>
              </a:rPr>
              <a:t>T&amp;</a:t>
            </a:r>
          </a:p>
          <a:p>
            <a:pPr marL="256032" indent="-228600">
              <a:spcAft>
                <a:spcPts val="800"/>
              </a:spcAft>
              <a:buClr>
                <a:srgbClr val="5B6475"/>
              </a:buClr>
              <a:buChar char="•"/>
            </a:pPr>
            <a:r>
              <a:rPr sz="1700" b="0">
                <a:solidFill>
                  <a:srgbClr val="4B2E83"/>
                </a:solidFill>
                <a:latin typeface="Consolas"/>
              </a:rPr>
              <a:t>[]</a:t>
            </a:r>
            <a:r>
              <a:rPr sz="1700" b="0">
                <a:solidFill>
                  <a:srgbClr val="1D2330"/>
                </a:solidFill>
                <a:latin typeface="Calibri"/>
              </a:rPr>
              <a:t>: const and non-const versions</a:t>
            </a:r>
          </a:p>
          <a:p>
            <a:pPr marL="256032" indent="-228600">
              <a:spcAft>
                <a:spcPts val="800"/>
              </a:spcAft>
              <a:buClr>
                <a:srgbClr val="5B6475"/>
              </a:buClr>
              <a:buChar char="•"/>
            </a:pPr>
            <a:r>
              <a:rPr sz="1700" b="0">
                <a:solidFill>
                  <a:srgbClr val="1D2330"/>
                </a:solidFill>
                <a:latin typeface="Calibri"/>
              </a:rPr>
              <a:t>The left operand must already be your type: no conversion</a:t>
            </a:r>
          </a:p>
          <a:p>
            <a:pPr marL="256032" indent="-228600">
              <a:spcAft>
                <a:spcPts val="800"/>
              </a:spcAft>
              <a:buClr>
                <a:srgbClr val="5B6475"/>
              </a:buClr>
              <a:buChar char="•"/>
            </a:pPr>
            <a:r>
              <a:rPr sz="1700" b="0">
                <a:solidFill>
                  <a:srgbClr val="1D2330"/>
                </a:solidFill>
                <a:latin typeface="Calibri"/>
              </a:rPr>
              <a:t>Has access to private data</a:t>
            </a:r>
          </a:p>
        </p:txBody>
      </p:sp>
      <p:sp>
        <p:nvSpPr>
          <p:cNvPr id="9" name="Rounded Rectangle 8"/>
          <p:cNvSpPr/>
          <p:nvPr/>
        </p:nvSpPr>
        <p:spPr>
          <a:xfrm>
            <a:off x="6278727" y="1325880"/>
            <a:ext cx="5364327" cy="4800600"/>
          </a:xfrm>
          <a:prstGeom prst="roundRect">
            <a:avLst>
              <a:gd name="adj" fmla="val 4000"/>
            </a:avLst>
          </a:prstGeom>
          <a:solidFill>
            <a:srgbClr val="E8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508760"/>
            <a:ext cx="4815687" cy="457200"/>
          </a:xfrm>
          <a:prstGeom prst="rect">
            <a:avLst/>
          </a:prstGeom>
          <a:noFill/>
        </p:spPr>
        <p:txBody>
          <a:bodyPr wrap="square" lIns="0" rIns="0" tIns="0" bIns="0" anchor="t">
            <a:spAutoFit/>
          </a:bodyPr>
          <a:lstStyle/>
          <a:p>
            <a:pPr algn="l"/>
            <a:r>
              <a:rPr sz="2200" b="1">
                <a:solidFill>
                  <a:srgbClr val="2F6FDF"/>
                </a:solidFill>
                <a:latin typeface="Calibri"/>
              </a:rPr>
              <a:t>Non-member</a:t>
            </a:r>
          </a:p>
        </p:txBody>
      </p:sp>
      <p:sp>
        <p:nvSpPr>
          <p:cNvPr id="11" name="TextBox 10"/>
          <p:cNvSpPr txBox="1"/>
          <p:nvPr/>
        </p:nvSpPr>
        <p:spPr>
          <a:xfrm>
            <a:off x="6553047" y="2103120"/>
            <a:ext cx="4815687" cy="3931920"/>
          </a:xfrm>
          <a:prstGeom prst="rect">
            <a:avLst/>
          </a:prstGeom>
          <a:noFill/>
        </p:spPr>
        <p:txBody>
          <a:bodyPr wrap="square" lIns="0" rIns="0" tIns="0" bIns="0" anchor="t">
            <a:spAutoFit/>
          </a:bodyPr>
          <a:lstStyle/>
          <a:p>
            <a:pPr marL="256032" indent="-228600">
              <a:spcAft>
                <a:spcPts val="800"/>
              </a:spcAft>
              <a:buClr>
                <a:srgbClr val="5B6475"/>
              </a:buClr>
              <a:buChar char="•"/>
            </a:pP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return a new </a:t>
            </a:r>
            <a:r>
              <a:rPr sz="1700" b="0">
                <a:solidFill>
                  <a:srgbClr val="4B2E83"/>
                </a:solidFill>
                <a:latin typeface="Consolas"/>
              </a:rPr>
              <a:t>T</a:t>
            </a:r>
            <a:r>
              <a:rPr sz="1700" b="0">
                <a:solidFill>
                  <a:srgbClr val="1D2330"/>
                </a:solidFill>
                <a:latin typeface="Calibri"/>
              </a:rPr>
              <a:t> by value</a:t>
            </a:r>
          </a:p>
          <a:p>
            <a:pPr marL="256032" indent="-228600">
              <a:spcAft>
                <a:spcPts val="800"/>
              </a:spcAft>
              <a:buClr>
                <a:srgbClr val="5B6475"/>
              </a:buClr>
              <a:buChar char="•"/>
            </a:pP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&lt;</a:t>
            </a:r>
            <a:r>
              <a:rPr sz="1700" b="0">
                <a:solidFill>
                  <a:srgbClr val="1D2330"/>
                </a:solidFill>
                <a:latin typeface="Calibri"/>
              </a:rPr>
              <a:t>: return </a:t>
            </a:r>
            <a:r>
              <a:rPr sz="1700" b="0">
                <a:solidFill>
                  <a:srgbClr val="4B2E83"/>
                </a:solidFill>
                <a:latin typeface="Consolas"/>
              </a:rPr>
              <a:t>bool</a:t>
            </a:r>
          </a:p>
          <a:p>
            <a:pPr marL="256032" indent="-228600">
              <a:spcAft>
                <a:spcPts val="800"/>
              </a:spcAft>
              <a:buClr>
                <a:srgbClr val="5B6475"/>
              </a:buClr>
              <a:buChar char="•"/>
            </a:pPr>
            <a:r>
              <a:rPr sz="1700" b="0">
                <a:solidFill>
                  <a:srgbClr val="4B2E83"/>
                </a:solidFill>
                <a:latin typeface="Consolas"/>
              </a:rPr>
              <a:t>&lt;&lt;</a:t>
            </a:r>
            <a:r>
              <a:rPr sz="1700" b="0">
                <a:solidFill>
                  <a:srgbClr val="1D2330"/>
                </a:solidFill>
                <a:latin typeface="Calibri"/>
              </a:rPr>
              <a:t>: the left operand is a stream, not your class</a:t>
            </a:r>
          </a:p>
          <a:p>
            <a:pPr marL="256032" indent="-228600">
              <a:spcAft>
                <a:spcPts val="800"/>
              </a:spcAft>
              <a:buClr>
                <a:srgbClr val="5B6475"/>
              </a:buClr>
              <a:buChar char="•"/>
            </a:pPr>
            <a:r>
              <a:rPr sz="1700" b="0">
                <a:solidFill>
                  <a:srgbClr val="1D2330"/>
                </a:solidFill>
                <a:latin typeface="Calibri"/>
              </a:rPr>
              <a:t>Conversions work on both sides: </a:t>
            </a:r>
            <a:r>
              <a:rPr sz="1700" b="0">
                <a:solidFill>
                  <a:srgbClr val="4B2E83"/>
                </a:solidFill>
                <a:latin typeface="Consolas"/>
              </a:rPr>
              <a:t>2 + half</a:t>
            </a:r>
            <a:r>
              <a:rPr sz="1700" b="0">
                <a:solidFill>
                  <a:srgbClr val="1D2330"/>
                </a:solidFill>
                <a:latin typeface="Calibri"/>
              </a:rPr>
              <a:t> and </a:t>
            </a:r>
            <a:r>
              <a:rPr sz="1700" b="0">
                <a:solidFill>
                  <a:srgbClr val="4B2E83"/>
                </a:solidFill>
                <a:latin typeface="Consolas"/>
              </a:rPr>
              <a:t>half + 2</a:t>
            </a:r>
          </a:p>
          <a:p>
            <a:pPr marL="256032" indent="-228600">
              <a:spcAft>
                <a:spcPts val="800"/>
              </a:spcAft>
              <a:buClr>
                <a:srgbClr val="5B6475"/>
              </a:buClr>
              <a:buChar char="•"/>
            </a:pPr>
            <a:r>
              <a:rPr sz="1700" b="0">
                <a:solidFill>
                  <a:srgbClr val="1D2330"/>
                </a:solidFill>
                <a:latin typeface="Calibri"/>
              </a:rPr>
              <a:t>Needs </a:t>
            </a:r>
            <a:r>
              <a:rPr sz="1700" b="0">
                <a:solidFill>
                  <a:srgbClr val="4B2E83"/>
                </a:solidFill>
                <a:latin typeface="Consolas"/>
              </a:rPr>
              <a:t>friend</a:t>
            </a:r>
            <a:r>
              <a:rPr sz="1700" b="0">
                <a:solidFill>
                  <a:srgbClr val="1D2330"/>
                </a:solidFill>
                <a:latin typeface="Calibri"/>
              </a:rPr>
              <a:t> only if it must read private data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31</a:t>
            </a:r>
          </a:p>
        </p:txBody>
      </p:sp>
      <p:sp>
        <p:nvSpPr>
          <p:cNvPr id="4" name="Rounded Rectangle 3"/>
          <p:cNvSpPr/>
          <p:nvPr/>
        </p:nvSpPr>
        <p:spPr>
          <a:xfrm>
            <a:off x="548640" y="457200"/>
            <a:ext cx="1325880" cy="329184"/>
          </a:xfrm>
          <a:prstGeom prst="roundRect">
            <a:avLst>
              <a:gd name="adj" fmla="val 50000"/>
            </a:avLst>
          </a:prstGeom>
          <a:solidFill>
            <a:srgbClr val="2F6FD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LECTURE</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friend, and operator&lt;&lt;</a:t>
            </a:r>
          </a:p>
        </p:txBody>
      </p:sp>
      <p:sp>
        <p:nvSpPr>
          <p:cNvPr id="6" name="TextBox 5"/>
          <p:cNvSpPr txBox="1"/>
          <p:nvPr/>
        </p:nvSpPr>
        <p:spPr>
          <a:xfrm>
            <a:off x="548640" y="1325880"/>
            <a:ext cx="4659654" cy="4846320"/>
          </a:xfrm>
          <a:prstGeom prst="rect">
            <a:avLst/>
          </a:prstGeom>
          <a:noFill/>
        </p:spPr>
        <p:txBody>
          <a:bodyPr wrap="square" lIns="0" rIns="0" tIns="0" bIns="0" anchor="t">
            <a:spAutoFit/>
          </a:bodyPr>
          <a:lstStyle/>
          <a:p>
            <a:pPr marL="256032" indent="-228600">
              <a:spcAft>
                <a:spcPts val="800"/>
              </a:spcAft>
              <a:buClr>
                <a:srgbClr val="5B6475"/>
              </a:buClr>
              <a:buChar char="•"/>
            </a:pPr>
            <a:r>
              <a:rPr sz="1800" b="0">
                <a:solidFill>
                  <a:srgbClr val="4B2E83"/>
                </a:solidFill>
                <a:latin typeface="Consolas"/>
              </a:rPr>
              <a:t>operator&lt;&lt;</a:t>
            </a:r>
            <a:r>
              <a:rPr sz="1800" b="0">
                <a:solidFill>
                  <a:srgbClr val="1D2330"/>
                </a:solidFill>
                <a:latin typeface="Calibri"/>
              </a:rPr>
              <a:t> is always a non-member: its left operand is the stream</a:t>
            </a:r>
          </a:p>
          <a:p>
            <a:pPr marL="256032" indent="-228600">
              <a:spcAft>
                <a:spcPts val="800"/>
              </a:spcAft>
              <a:buClr>
                <a:srgbClr val="5B6475"/>
              </a:buClr>
              <a:buChar char="•"/>
            </a:pPr>
            <a:r>
              <a:rPr sz="1800" b="0">
                <a:solidFill>
                  <a:srgbClr val="1D2330"/>
                </a:solidFill>
                <a:latin typeface="Calibri"/>
              </a:rPr>
              <a:t>With public accessors it needs nothing special</a:t>
            </a:r>
          </a:p>
          <a:p>
            <a:pPr marL="256032" indent="-228600">
              <a:spcAft>
                <a:spcPts val="800"/>
              </a:spcAft>
              <a:buClr>
                <a:srgbClr val="5B6475"/>
              </a:buClr>
              <a:buChar char="•"/>
            </a:pPr>
            <a:r>
              <a:rPr sz="1800" b="0">
                <a:solidFill>
                  <a:srgbClr val="1D2330"/>
                </a:solidFill>
                <a:latin typeface="Calibri"/>
              </a:rPr>
              <a:t>Without them, the class declares it a </a:t>
            </a:r>
            <a:r>
              <a:rPr sz="1800" b="0">
                <a:solidFill>
                  <a:srgbClr val="4B2E83"/>
                </a:solidFill>
                <a:latin typeface="Consolas"/>
              </a:rPr>
              <a:t>friend</a:t>
            </a:r>
            <a:r>
              <a:rPr sz="1800" b="0">
                <a:solidFill>
                  <a:srgbClr val="1D2330"/>
                </a:solidFill>
                <a:latin typeface="Calibri"/>
              </a:rPr>
              <a:t>: "this global function may use my private members"</a:t>
            </a:r>
          </a:p>
          <a:p>
            <a:pPr marL="256032" indent="-228600">
              <a:spcAft>
                <a:spcPts val="800"/>
              </a:spcAft>
              <a:buClr>
                <a:srgbClr val="5B6475"/>
              </a:buClr>
              <a:buChar char="•"/>
            </a:pPr>
            <a:r>
              <a:rPr sz="1800" b="0">
                <a:solidFill>
                  <a:srgbClr val="4B2E83"/>
                </a:solidFill>
                <a:latin typeface="Consolas"/>
              </a:rPr>
              <a:t>friend</a:t>
            </a:r>
            <a:r>
              <a:rPr sz="1800" b="0">
                <a:solidFill>
                  <a:srgbClr val="1D2330"/>
                </a:solidFill>
                <a:latin typeface="Calibri"/>
              </a:rPr>
              <a:t> does NOT make it a member: the definition has no </a:t>
            </a:r>
            <a:r>
              <a:rPr sz="1800" b="0">
                <a:solidFill>
                  <a:srgbClr val="4B2E83"/>
                </a:solidFill>
                <a:latin typeface="Consolas"/>
              </a:rPr>
              <a:t>friend</a:t>
            </a:r>
            <a:r>
              <a:rPr sz="1800" b="0">
                <a:solidFill>
                  <a:srgbClr val="1D2330"/>
                </a:solidFill>
                <a:latin typeface="Calibri"/>
              </a:rPr>
              <a:t> and no </a:t>
            </a:r>
            <a:r>
              <a:rPr sz="1800" b="0">
                <a:solidFill>
                  <a:srgbClr val="4B2E83"/>
                </a:solidFill>
                <a:latin typeface="Consolas"/>
              </a:rPr>
              <a:t>Secret::</a:t>
            </a:r>
          </a:p>
          <a:p>
            <a:pPr marL="256032" indent="-228600">
              <a:spcAft>
                <a:spcPts val="800"/>
              </a:spcAft>
              <a:buClr>
                <a:srgbClr val="5B6475"/>
              </a:buClr>
              <a:buChar char="•"/>
            </a:pPr>
            <a:r>
              <a:rPr sz="1800" b="0">
                <a:solidFill>
                  <a:srgbClr val="1D2330"/>
                </a:solidFill>
                <a:latin typeface="Calibri"/>
              </a:rPr>
              <a:t>Use </a:t>
            </a:r>
            <a:r>
              <a:rPr sz="1800" b="0">
                <a:solidFill>
                  <a:srgbClr val="4B2E83"/>
                </a:solidFill>
                <a:latin typeface="Consolas"/>
              </a:rPr>
              <a:t>friend</a:t>
            </a:r>
            <a:r>
              <a:rPr sz="1800" b="0">
                <a:solidFill>
                  <a:srgbClr val="1D2330"/>
                </a:solidFill>
                <a:latin typeface="Calibri"/>
              </a:rPr>
              <a:t> only when accessors aren't enough</a:t>
            </a:r>
          </a:p>
        </p:txBody>
      </p:sp>
      <p:sp>
        <p:nvSpPr>
          <p:cNvPr id="7" name="Rounded Rectangle 6"/>
          <p:cNvSpPr/>
          <p:nvPr/>
        </p:nvSpPr>
        <p:spPr>
          <a:xfrm>
            <a:off x="5528334" y="1325880"/>
            <a:ext cx="6114720" cy="406908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6934" y="1508760"/>
            <a:ext cx="5657520" cy="3703320"/>
          </a:xfrm>
          <a:prstGeom prst="rect">
            <a:avLst/>
          </a:prstGeom>
          <a:noFill/>
        </p:spPr>
        <p:txBody>
          <a:bodyPr wrap="none" lIns="0" rIns="0" tIns="0" bIns="0" anchor="t">
            <a:spAutoFit/>
          </a:bodyPr>
          <a:lstStyle/>
          <a:p>
            <a:pPr>
              <a:spcAft>
                <a:spcPts val="0"/>
              </a:spcAft>
            </a:pPr>
            <a:r>
              <a:rPr sz="1200">
                <a:solidFill>
                  <a:srgbClr val="E6E6EF"/>
                </a:solidFill>
                <a:latin typeface="Consolas"/>
              </a:rPr>
              <a:t>class Point {                       </a:t>
            </a:r>
            <a:r>
              <a:rPr sz="1200">
                <a:solidFill>
                  <a:srgbClr val="9AA4B5"/>
                </a:solidFill>
                <a:latin typeface="Consolas"/>
              </a:rPr>
              <a:t>// accessors: no friend</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int x() const { return x_; }</a:t>
            </a:r>
          </a:p>
          <a:p>
            <a:pPr>
              <a:spcAft>
                <a:spcPts val="0"/>
              </a:spcAft>
            </a:pPr>
            <a:r>
              <a:rPr sz="1200">
                <a:solidFill>
                  <a:srgbClr val="E6E6EF"/>
                </a:solidFill>
                <a:latin typeface="Consolas"/>
              </a:rPr>
              <a:t>    int y() const { return y_; }</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int x_, y_;</a:t>
            </a:r>
          </a:p>
          <a:p>
            <a:pPr>
              <a:spcAft>
                <a:spcPts val="0"/>
              </a:spcAft>
            </a:pPr>
            <a:r>
              <a:rPr sz="1200">
                <a:solidFill>
                  <a:srgbClr val="E6E6EF"/>
                </a:solidFill>
                <a:latin typeface="Consolas"/>
              </a:rPr>
              <a:t>};</a:t>
            </a:r>
          </a:p>
          <a:p>
            <a:pPr>
              <a:spcAft>
                <a:spcPts val="0"/>
              </a:spcAft>
            </a:pPr>
            <a:r>
              <a:rPr sz="1200">
                <a:solidFill>
                  <a:srgbClr val="E6E6EF"/>
                </a:solidFill>
                <a:latin typeface="Consolas"/>
              </a:rPr>
              <a:t>ostream &amp;operator&lt;&lt;(ostream &amp;out, const Point &amp;p) {</a:t>
            </a:r>
          </a:p>
          <a:p>
            <a:pPr>
              <a:spcAft>
                <a:spcPts val="0"/>
              </a:spcAft>
            </a:pPr>
            <a:r>
              <a:rPr sz="1200">
                <a:solidFill>
                  <a:srgbClr val="E6E6EF"/>
                </a:solidFill>
                <a:latin typeface="Consolas"/>
              </a:rPr>
              <a:t>    return out &lt;&lt; "(" &lt;&lt; p.x() &lt;&lt; ", " &lt;&lt; p.y() &lt;&lt; ")";</a:t>
            </a:r>
          </a:p>
          <a:p>
            <a:pPr>
              <a:spcAft>
                <a:spcPts val="0"/>
              </a:spcAft>
            </a:pPr>
            <a:r>
              <a:rPr sz="1200">
                <a:solidFill>
                  <a:srgbClr val="E6E6EF"/>
                </a:solidFill>
                <a:latin typeface="Consolas"/>
              </a:rPr>
              <a:t>}</a:t>
            </a:r>
          </a:p>
          <a:p>
            <a:pPr>
              <a:spcAft>
                <a:spcPts val="0"/>
              </a:spcAft>
            </a:pPr>
            <a:r>
              <a:rPr sz="1200">
                <a:latin typeface="Consolas"/>
              </a:rPr>
              <a:t> </a:t>
            </a:r>
          </a:p>
          <a:p>
            <a:pPr>
              <a:spcAft>
                <a:spcPts val="0"/>
              </a:spcAft>
            </a:pPr>
            <a:r>
              <a:rPr sz="1200">
                <a:solidFill>
                  <a:srgbClr val="E6E6EF"/>
                </a:solidFill>
                <a:latin typeface="Consolas"/>
              </a:rPr>
              <a:t>class Secret {                      </a:t>
            </a:r>
            <a:r>
              <a:rPr sz="1200">
                <a:solidFill>
                  <a:srgbClr val="9AA4B5"/>
                </a:solidFill>
                <a:latin typeface="Consolas"/>
              </a:rPr>
              <a:t>// no accessors: friend</a:t>
            </a:r>
          </a:p>
          <a:p>
            <a:pPr>
              <a:spcAft>
                <a:spcPts val="0"/>
              </a:spcAft>
            </a:pPr>
            <a:r>
              <a:rPr sz="1200">
                <a:solidFill>
                  <a:srgbClr val="E6E6EF"/>
                </a:solidFill>
                <a:latin typeface="Consolas"/>
              </a:rPr>
              <a:t>public:</a:t>
            </a:r>
          </a:p>
          <a:p>
            <a:pPr>
              <a:spcAft>
                <a:spcPts val="0"/>
              </a:spcAft>
            </a:pPr>
            <a:r>
              <a:rPr sz="1200">
                <a:solidFill>
                  <a:srgbClr val="E6E6EF"/>
                </a:solidFill>
                <a:latin typeface="Consolas"/>
              </a:rPr>
              <a:t>    friend ostream &amp;operator&lt;&lt;(ostream &amp;out, const Secret &amp;s);</a:t>
            </a:r>
          </a:p>
          <a:p>
            <a:pPr>
              <a:spcAft>
                <a:spcPts val="0"/>
              </a:spcAft>
            </a:pPr>
            <a:r>
              <a:rPr sz="1200">
                <a:solidFill>
                  <a:srgbClr val="E6E6EF"/>
                </a:solidFill>
                <a:latin typeface="Consolas"/>
              </a:rPr>
              <a:t>private:</a:t>
            </a:r>
          </a:p>
          <a:p>
            <a:pPr>
              <a:spcAft>
                <a:spcPts val="0"/>
              </a:spcAft>
            </a:pPr>
            <a:r>
              <a:rPr sz="1200">
                <a:solidFill>
                  <a:srgbClr val="E6E6EF"/>
                </a:solidFill>
                <a:latin typeface="Consolas"/>
              </a:rPr>
              <a:t>    int code_;</a:t>
            </a:r>
          </a:p>
          <a:p>
            <a:pPr>
              <a:spcAft>
                <a:spcPts val="0"/>
              </a:spcAft>
            </a:pPr>
            <a:r>
              <a:rPr sz="1200">
                <a:solidFill>
                  <a:srgbClr val="E6E6EF"/>
                </a:solidFill>
                <a:latin typeface="Consolas"/>
              </a:rPr>
              <a:t>};</a:t>
            </a:r>
          </a:p>
          <a:p>
            <a:pPr>
              <a:spcAft>
                <a:spcPts val="0"/>
              </a:spcAft>
            </a:pPr>
            <a:r>
              <a:rPr sz="1200">
                <a:solidFill>
                  <a:srgbClr val="E6E6EF"/>
                </a:solidFill>
                <a:latin typeface="Consolas"/>
              </a:rPr>
              <a:t>ostream &amp;operator&lt;&lt;(ostream &amp;out, const Secret &amp;s) {</a:t>
            </a:r>
          </a:p>
          <a:p>
            <a:pPr>
              <a:spcAft>
                <a:spcPts val="0"/>
              </a:spcAft>
            </a:pPr>
            <a:r>
              <a:rPr sz="1200">
                <a:solidFill>
                  <a:srgbClr val="E6E6EF"/>
                </a:solidFill>
                <a:latin typeface="Consolas"/>
              </a:rPr>
              <a:t>    return out &lt;&lt; "Secret #" &lt;&lt; s.code_;   </a:t>
            </a:r>
            <a:r>
              <a:rPr sz="1200">
                <a:solidFill>
                  <a:srgbClr val="9AA4B5"/>
                </a:solidFill>
                <a:latin typeface="Consolas"/>
              </a:rPr>
              <a:t>// a global function</a:t>
            </a:r>
          </a:p>
          <a:p>
            <a:pPr>
              <a:spcAft>
                <a:spcPts val="0"/>
              </a:spcAft>
            </a:pPr>
            <a:r>
              <a:rPr sz="1200">
                <a:solidFill>
                  <a:srgbClr val="E6E6EF"/>
                </a:solidFill>
                <a:latin typeface="Consolas"/>
              </a:rPr>
              <a: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32</a:t>
            </a:r>
          </a:p>
        </p:txBody>
      </p:sp>
      <p:sp>
        <p:nvSpPr>
          <p:cNvPr id="4" name="Rounded Rectangle 3"/>
          <p:cNvSpPr/>
          <p:nvPr/>
        </p:nvSpPr>
        <p:spPr>
          <a:xfrm>
            <a:off x="548640" y="457200"/>
            <a:ext cx="1325880" cy="329184"/>
          </a:xfrm>
          <a:prstGeom prst="roundRect">
            <a:avLst>
              <a:gd name="adj" fmla="val 50000"/>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HANDS-ON</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Exercise 4: Rational operators</a:t>
            </a:r>
          </a:p>
        </p:txBody>
      </p:sp>
      <p:sp>
        <p:nvSpPr>
          <p:cNvPr id="6" name="Rounded Rectangle 5"/>
          <p:cNvSpPr/>
          <p:nvPr/>
        </p:nvSpPr>
        <p:spPr>
          <a:xfrm>
            <a:off x="548640" y="1325880"/>
            <a:ext cx="3108960" cy="4800600"/>
          </a:xfrm>
          <a:prstGeom prst="roundRect">
            <a:avLst>
              <a:gd name="adj" fmla="val 5000"/>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54480"/>
            <a:ext cx="2560320" cy="365760"/>
          </a:xfrm>
          <a:prstGeom prst="rect">
            <a:avLst/>
          </a:prstGeom>
          <a:noFill/>
        </p:spPr>
        <p:txBody>
          <a:bodyPr wrap="square" lIns="0" rIns="0" tIns="0" bIns="0" anchor="t">
            <a:spAutoFit/>
          </a:bodyPr>
          <a:lstStyle/>
          <a:p>
            <a:pPr algn="l"/>
            <a:r>
              <a:rPr sz="1200" b="1">
                <a:solidFill>
                  <a:srgbClr val="5B6475"/>
                </a:solidFill>
                <a:latin typeface="Calibri"/>
              </a:rPr>
              <a:t>TIME</a:t>
            </a:r>
          </a:p>
        </p:txBody>
      </p:sp>
      <p:sp>
        <p:nvSpPr>
          <p:cNvPr id="8" name="TextBox 7"/>
          <p:cNvSpPr txBox="1"/>
          <p:nvPr/>
        </p:nvSpPr>
        <p:spPr>
          <a:xfrm>
            <a:off x="822960" y="1828800"/>
            <a:ext cx="2560320" cy="731520"/>
          </a:xfrm>
          <a:prstGeom prst="rect">
            <a:avLst/>
          </a:prstGeom>
          <a:noFill/>
        </p:spPr>
        <p:txBody>
          <a:bodyPr wrap="square" lIns="0" rIns="0" tIns="0" bIns="0" anchor="t">
            <a:spAutoFit/>
          </a:bodyPr>
          <a:lstStyle/>
          <a:p>
            <a:pPr algn="l"/>
            <a:r>
              <a:rPr sz="3600" b="1">
                <a:solidFill>
                  <a:srgbClr val="1F9D55"/>
                </a:solidFill>
                <a:latin typeface="Calibri"/>
              </a:rPr>
              <a:t>30 min</a:t>
            </a:r>
          </a:p>
        </p:txBody>
      </p:sp>
      <p:sp>
        <p:nvSpPr>
          <p:cNvPr id="9" name="TextBox 8"/>
          <p:cNvSpPr txBox="1"/>
          <p:nvPr/>
        </p:nvSpPr>
        <p:spPr>
          <a:xfrm>
            <a:off x="822960" y="2788920"/>
            <a:ext cx="2560320" cy="365760"/>
          </a:xfrm>
          <a:prstGeom prst="rect">
            <a:avLst/>
          </a:prstGeom>
          <a:noFill/>
        </p:spPr>
        <p:txBody>
          <a:bodyPr wrap="square" lIns="0" rIns="0" tIns="0" bIns="0" anchor="t">
            <a:spAutoFit/>
          </a:bodyPr>
          <a:lstStyle/>
          <a:p>
            <a:pPr algn="l"/>
            <a:r>
              <a:rPr sz="1200" b="1">
                <a:solidFill>
                  <a:srgbClr val="5B6475"/>
                </a:solidFill>
                <a:latin typeface="Calibri"/>
              </a:rPr>
              <a:t>FOLDER</a:t>
            </a:r>
          </a:p>
        </p:txBody>
      </p:sp>
      <p:sp>
        <p:nvSpPr>
          <p:cNvPr id="10" name="TextBox 9"/>
          <p:cNvSpPr txBox="1"/>
          <p:nvPr/>
        </p:nvSpPr>
        <p:spPr>
          <a:xfrm>
            <a:off x="822960" y="3063240"/>
            <a:ext cx="2560320" cy="822960"/>
          </a:xfrm>
          <a:prstGeom prst="rect">
            <a:avLst/>
          </a:prstGeom>
          <a:noFill/>
        </p:spPr>
        <p:txBody>
          <a:bodyPr wrap="square" lIns="0" rIns="0" tIns="0" bIns="0" anchor="t">
            <a:spAutoFit/>
          </a:bodyPr>
          <a:lstStyle/>
          <a:p>
            <a:pPr algn="l"/>
            <a:r>
              <a:rPr sz="1600" b="0">
                <a:solidFill>
                  <a:srgbClr val="4B2E83"/>
                </a:solidFill>
                <a:latin typeface="Consolas"/>
              </a:rPr>
              <a:t>Lab2/exercises/ex4-operators/</a:t>
            </a:r>
          </a:p>
        </p:txBody>
      </p:sp>
      <p:sp>
        <p:nvSpPr>
          <p:cNvPr id="11" name="TextBox 10"/>
          <p:cNvSpPr txBox="1"/>
          <p:nvPr/>
        </p:nvSpPr>
        <p:spPr>
          <a:xfrm>
            <a:off x="822960" y="3977639"/>
            <a:ext cx="2560320" cy="365760"/>
          </a:xfrm>
          <a:prstGeom prst="rect">
            <a:avLst/>
          </a:prstGeom>
          <a:noFill/>
        </p:spPr>
        <p:txBody>
          <a:bodyPr wrap="square" lIns="0" rIns="0" tIns="0" bIns="0" anchor="t">
            <a:spAutoFit/>
          </a:bodyPr>
          <a:lstStyle/>
          <a:p>
            <a:pPr algn="l"/>
            <a:r>
              <a:rPr sz="1200" b="1">
                <a:solidFill>
                  <a:srgbClr val="5B6475"/>
                </a:solidFill>
                <a:latin typeface="Calibri"/>
              </a:rPr>
              <a:t>SELF-CHECK</a:t>
            </a:r>
          </a:p>
        </p:txBody>
      </p:sp>
      <p:sp>
        <p:nvSpPr>
          <p:cNvPr id="12" name="TextBox 11"/>
          <p:cNvSpPr txBox="1"/>
          <p:nvPr/>
        </p:nvSpPr>
        <p:spPr>
          <a:xfrm>
            <a:off x="822960" y="4251960"/>
            <a:ext cx="2560320" cy="1737360"/>
          </a:xfrm>
          <a:prstGeom prst="rect">
            <a:avLst/>
          </a:prstGeom>
          <a:noFill/>
        </p:spPr>
        <p:txBody>
          <a:bodyPr wrap="square" lIns="0" rIns="0" tIns="0" bIns="0" anchor="t">
            <a:spAutoFit/>
          </a:bodyPr>
          <a:lstStyle/>
          <a:p>
            <a:pPr algn="l"/>
            <a:r>
              <a:rPr sz="1500" b="0">
                <a:solidFill>
                  <a:srgbClr val="1D2330"/>
                </a:solidFill>
                <a:latin typeface="Calibri"/>
              </a:rPr>
              <a:t>Confirm that </a:t>
            </a:r>
            <a:r>
              <a:rPr sz="1500" b="0">
                <a:solidFill>
                  <a:srgbClr val="4B2E83"/>
                </a:solidFill>
                <a:latin typeface="Consolas"/>
              </a:rPr>
              <a:t>./test_operators</a:t>
            </a:r>
            <a:r>
              <a:rPr sz="1500" b="0">
                <a:solidFill>
                  <a:srgbClr val="1D2330"/>
                </a:solidFill>
                <a:latin typeface="Calibri"/>
              </a:rPr>
              <a:t> reports 0 failures with every test uncommented.</a:t>
            </a:r>
          </a:p>
        </p:txBody>
      </p:sp>
      <p:sp>
        <p:nvSpPr>
          <p:cNvPr id="13" name="Oval 12"/>
          <p:cNvSpPr/>
          <p:nvPr/>
        </p:nvSpPr>
        <p:spPr>
          <a:xfrm>
            <a:off x="4023360" y="138988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14" name="TextBox 13"/>
          <p:cNvSpPr txBox="1"/>
          <p:nvPr/>
        </p:nvSpPr>
        <p:spPr>
          <a:xfrm>
            <a:off x="4572000" y="1371600"/>
            <a:ext cx="7071055" cy="868680"/>
          </a:xfrm>
          <a:prstGeom prst="rect">
            <a:avLst/>
          </a:prstGeom>
          <a:noFill/>
        </p:spPr>
        <p:txBody>
          <a:bodyPr wrap="square" lIns="0" rIns="0" tIns="0" bIns="0" anchor="t">
            <a:spAutoFit/>
          </a:bodyPr>
          <a:lstStyle/>
          <a:p>
            <a:pPr algn="l"/>
            <a:r>
              <a:rPr sz="1700" b="0">
                <a:solidFill>
                  <a:srgbClr val="1D2330"/>
                </a:solidFill>
                <a:latin typeface="Calibri"/>
              </a:rPr>
              <a:t>Implement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&lt;</a:t>
            </a:r>
            <a:r>
              <a:rPr sz="1700" b="0">
                <a:solidFill>
                  <a:srgbClr val="1D2330"/>
                </a:solidFill>
                <a:latin typeface="Calibri"/>
              </a:rPr>
              <a:t>, </a:t>
            </a:r>
            <a:r>
              <a:rPr sz="1700" b="0">
                <a:solidFill>
                  <a:srgbClr val="4B2E83"/>
                </a:solidFill>
                <a:latin typeface="Consolas"/>
              </a:rPr>
              <a:t>&lt;&lt;</a:t>
            </a:r>
            <a:r>
              <a:rPr sz="1700" b="0">
                <a:solidFill>
                  <a:srgbClr val="1D2330"/>
                </a:solidFill>
                <a:latin typeface="Calibri"/>
              </a:rPr>
              <a:t> in </a:t>
            </a:r>
            <a:r>
              <a:rPr sz="1700" b="0">
                <a:solidFill>
                  <a:srgbClr val="4B2E83"/>
                </a:solidFill>
                <a:latin typeface="Consolas"/>
              </a:rPr>
              <a:t>rational.cpp</a:t>
            </a:r>
            <a:r>
              <a:rPr sz="1700" b="0">
                <a:solidFill>
                  <a:srgbClr val="1D2330"/>
                </a:solidFill>
                <a:latin typeface="Calibri"/>
              </a:rPr>
              <a:t>; </a:t>
            </a:r>
            <a:r>
              <a:rPr sz="1700" b="0">
                <a:solidFill>
                  <a:srgbClr val="4B2E83"/>
                </a:solidFill>
                <a:latin typeface="Consolas"/>
              </a:rPr>
              <a:t>make</a:t>
            </a:r>
            <a:r>
              <a:rPr sz="1700" b="0">
                <a:solidFill>
                  <a:srgbClr val="1D2330"/>
                </a:solidFill>
                <a:latin typeface="Calibri"/>
              </a:rPr>
              <a:t> and run </a:t>
            </a:r>
            <a:r>
              <a:rPr sz="1700" b="0">
                <a:solidFill>
                  <a:srgbClr val="4B2E83"/>
                </a:solidFill>
                <a:latin typeface="Consolas"/>
              </a:rPr>
              <a:t>./test_operators</a:t>
            </a:r>
          </a:p>
        </p:txBody>
      </p:sp>
      <p:sp>
        <p:nvSpPr>
          <p:cNvPr id="15" name="Oval 14"/>
          <p:cNvSpPr/>
          <p:nvPr/>
        </p:nvSpPr>
        <p:spPr>
          <a:xfrm>
            <a:off x="4023360" y="225856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16" name="TextBox 15"/>
          <p:cNvSpPr txBox="1"/>
          <p:nvPr/>
        </p:nvSpPr>
        <p:spPr>
          <a:xfrm>
            <a:off x="4572000" y="2240280"/>
            <a:ext cx="7071055" cy="868680"/>
          </a:xfrm>
          <a:prstGeom prst="rect">
            <a:avLst/>
          </a:prstGeom>
          <a:noFill/>
        </p:spPr>
        <p:txBody>
          <a:bodyPr wrap="square" lIns="0" rIns="0" tIns="0" bIns="0" anchor="t">
            <a:spAutoFit/>
          </a:bodyPr>
          <a:lstStyle/>
          <a:p>
            <a:pPr algn="l"/>
            <a:r>
              <a:rPr sz="1700" b="0">
                <a:solidFill>
                  <a:srgbClr val="1D2330"/>
                </a:solidFill>
                <a:latin typeface="Calibri"/>
              </a:rPr>
              <a:t>Declare and define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a:t>
            </a:r>
            <a:r>
              <a:rPr sz="1700" b="0">
                <a:solidFill>
                  <a:srgbClr val="4B2E83"/>
                </a:solidFill>
                <a:latin typeface="Consolas"/>
              </a:rPr>
              <a:t>*=</a:t>
            </a:r>
            <a:r>
              <a:rPr sz="1700" b="0">
                <a:solidFill>
                  <a:srgbClr val="1D2330"/>
                </a:solidFill>
                <a:latin typeface="Calibri"/>
              </a:rPr>
              <a:t> yourself</a:t>
            </a:r>
          </a:p>
        </p:txBody>
      </p:sp>
      <p:sp>
        <p:nvSpPr>
          <p:cNvPr id="17" name="Oval 16"/>
          <p:cNvSpPr/>
          <p:nvPr/>
        </p:nvSpPr>
        <p:spPr>
          <a:xfrm>
            <a:off x="4023360" y="3127248"/>
            <a:ext cx="384048" cy="384048"/>
          </a:xfrm>
          <a:prstGeom prst="ellipse">
            <a:avLst/>
          </a:prstGeom>
          <a:solidFill>
            <a:srgbClr val="1F9D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8" name="TextBox 17"/>
          <p:cNvSpPr txBox="1"/>
          <p:nvPr/>
        </p:nvSpPr>
        <p:spPr>
          <a:xfrm>
            <a:off x="4572000" y="3108960"/>
            <a:ext cx="7071055" cy="868680"/>
          </a:xfrm>
          <a:prstGeom prst="rect">
            <a:avLst/>
          </a:prstGeom>
          <a:noFill/>
        </p:spPr>
        <p:txBody>
          <a:bodyPr wrap="square" lIns="0" rIns="0" tIns="0" bIns="0" anchor="t">
            <a:spAutoFit/>
          </a:bodyPr>
          <a:lstStyle/>
          <a:p>
            <a:pPr algn="l"/>
            <a:r>
              <a:rPr sz="1700" b="0">
                <a:solidFill>
                  <a:srgbClr val="1D2330"/>
                </a:solidFill>
                <a:latin typeface="Calibri"/>
              </a:rPr>
              <a:t>Uncomment the remaining tests and get all of them to pass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33</a:t>
            </a:r>
          </a:p>
        </p:txBody>
      </p:sp>
      <p:sp>
        <p:nvSpPr>
          <p:cNvPr id="4" name="Rounded Rectangle 3"/>
          <p:cNvSpPr/>
          <p:nvPr/>
        </p:nvSpPr>
        <p:spPr>
          <a:xfrm>
            <a:off x="548640" y="457200"/>
            <a:ext cx="1325880" cy="329184"/>
          </a:xfrm>
          <a:prstGeom prst="roundRect">
            <a:avLst>
              <a:gd name="adj" fmla="val 50000"/>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SOLUTIONS</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Walkthrough 4</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4B2E83"/>
                </a:solidFill>
                <a:latin typeface="Consolas"/>
              </a:rPr>
              <a:t>2 + half</a:t>
            </a:r>
            <a:r>
              <a:rPr sz="2000" b="0">
                <a:solidFill>
                  <a:srgbClr val="1D2330"/>
                </a:solidFill>
                <a:latin typeface="Calibri"/>
              </a:rPr>
              <a:t> works because </a:t>
            </a:r>
            <a:r>
              <a:rPr sz="2000" b="0">
                <a:solidFill>
                  <a:srgbClr val="4B2E83"/>
                </a:solidFill>
                <a:latin typeface="Consolas"/>
              </a:rPr>
              <a:t>+</a:t>
            </a:r>
            <a:r>
              <a:rPr sz="2000" b="0">
                <a:solidFill>
                  <a:srgbClr val="1D2330"/>
                </a:solidFill>
                <a:latin typeface="Calibri"/>
              </a:rPr>
              <a:t> is a non-member and </a:t>
            </a:r>
            <a:r>
              <a:rPr sz="2000" b="0">
                <a:solidFill>
                  <a:srgbClr val="4B2E83"/>
                </a:solidFill>
                <a:latin typeface="Consolas"/>
              </a:rPr>
              <a:t>Rational(int)</a:t>
            </a:r>
            <a:r>
              <a:rPr sz="2000" b="0">
                <a:solidFill>
                  <a:srgbClr val="1D2330"/>
                </a:solidFill>
                <a:latin typeface="Calibri"/>
              </a:rPr>
              <a:t> converts the </a:t>
            </a:r>
            <a:r>
              <a:rPr sz="2000" b="0">
                <a:solidFill>
                  <a:srgbClr val="4B2E83"/>
                </a:solidFill>
                <a:latin typeface="Consolas"/>
              </a:rPr>
              <a:t>2</a:t>
            </a:r>
          </a:p>
          <a:p>
            <a:pPr marL="256032" indent="-228600">
              <a:spcAft>
                <a:spcPts val="800"/>
              </a:spcAft>
              <a:buClr>
                <a:srgbClr val="5B6475"/>
              </a:buClr>
              <a:buChar char="•"/>
            </a:pPr>
            <a:r>
              <a:rPr sz="2000" b="0">
                <a:solidFill>
                  <a:srgbClr val="4B2E83"/>
                </a:solidFill>
                <a:latin typeface="Consolas"/>
              </a:rPr>
              <a:t>(t += a) += b</a:t>
            </a:r>
            <a:r>
              <a:rPr sz="2000" b="0">
                <a:solidFill>
                  <a:srgbClr val="1D2330"/>
                </a:solidFill>
                <a:latin typeface="Calibri"/>
              </a:rPr>
              <a:t> works because </a:t>
            </a:r>
            <a:r>
              <a:rPr sz="2000" b="0">
                <a:solidFill>
                  <a:srgbClr val="4B2E83"/>
                </a:solidFill>
                <a:latin typeface="Consolas"/>
              </a:rPr>
              <a:t>+=</a:t>
            </a:r>
            <a:r>
              <a:rPr sz="2000" b="0">
                <a:solidFill>
                  <a:srgbClr val="1D2330"/>
                </a:solidFill>
                <a:latin typeface="Calibri"/>
              </a:rPr>
              <a:t> returns </a:t>
            </a:r>
            <a:r>
              <a:rPr sz="2000" b="0">
                <a:solidFill>
                  <a:srgbClr val="4B2E83"/>
                </a:solidFill>
                <a:latin typeface="Consolas"/>
              </a:rPr>
              <a:t>*this</a:t>
            </a:r>
            <a:r>
              <a:rPr sz="2000" b="0">
                <a:solidFill>
                  <a:srgbClr val="1D2330"/>
                </a:solidFill>
                <a:latin typeface="Calibri"/>
              </a:rPr>
              <a:t> by reference</a:t>
            </a:r>
          </a:p>
          <a:p>
            <a:pPr marL="256032" indent="-228600">
              <a:spcAft>
                <a:spcPts val="800"/>
              </a:spcAft>
              <a:buClr>
                <a:srgbClr val="5B6475"/>
              </a:buClr>
              <a:buChar char="•"/>
            </a:pPr>
            <a:r>
              <a:rPr sz="2000" b="0">
                <a:solidFill>
                  <a:srgbClr val="4B2E83"/>
                </a:solidFill>
                <a:latin typeface="Consolas"/>
              </a:rPr>
              <a:t>cout &lt;&lt; a &lt;&lt; b</a:t>
            </a:r>
            <a:r>
              <a:rPr sz="2000" b="0">
                <a:solidFill>
                  <a:srgbClr val="1D2330"/>
                </a:solidFill>
                <a:latin typeface="Calibri"/>
              </a:rPr>
              <a:t> is </a:t>
            </a:r>
            <a:r>
              <a:rPr sz="2000" b="0">
                <a:solidFill>
                  <a:srgbClr val="4B2E83"/>
                </a:solidFill>
                <a:latin typeface="Consolas"/>
              </a:rPr>
              <a:t>(cout &lt;&lt; a) &lt;&lt; b</a:t>
            </a:r>
            <a:r>
              <a:rPr sz="2000" b="0">
                <a:solidFill>
                  <a:srgbClr val="1D2330"/>
                </a:solidFill>
                <a:latin typeface="Calibri"/>
              </a:rPr>
              <a:t>, so </a:t>
            </a:r>
            <a:r>
              <a:rPr sz="2000" b="0">
                <a:solidFill>
                  <a:srgbClr val="4B2E83"/>
                </a:solidFill>
                <a:latin typeface="Consolas"/>
              </a:rPr>
              <a:t>&lt;&lt;</a:t>
            </a:r>
            <a:r>
              <a:rPr sz="2000" b="0">
                <a:solidFill>
                  <a:srgbClr val="1D2330"/>
                </a:solidFill>
                <a:latin typeface="Calibri"/>
              </a:rPr>
              <a:t> returns the stream</a:t>
            </a:r>
          </a:p>
          <a:p>
            <a:pPr marL="256032" indent="-228600">
              <a:spcAft>
                <a:spcPts val="800"/>
              </a:spcAft>
              <a:buClr>
                <a:srgbClr val="5B6475"/>
              </a:buClr>
              <a:buChar char="•"/>
            </a:pPr>
            <a:r>
              <a:rPr sz="2000" b="0">
                <a:solidFill>
                  <a:srgbClr val="1D2330"/>
                </a:solidFill>
                <a:latin typeface="Calibri"/>
              </a:rPr>
              <a:t>No </a:t>
            </a:r>
            <a:r>
              <a:rPr sz="2000" b="0">
                <a:solidFill>
                  <a:srgbClr val="4B2E83"/>
                </a:solidFill>
                <a:latin typeface="Consolas"/>
              </a:rPr>
              <a:t>friend</a:t>
            </a:r>
            <a:r>
              <a:rPr sz="2000" b="0">
                <a:solidFill>
                  <a:srgbClr val="1D2330"/>
                </a:solidFill>
                <a:latin typeface="Calibri"/>
              </a:rPr>
              <a:t> needed: the operators use </a:t>
            </a:r>
            <a:r>
              <a:rPr sz="2000" b="0">
                <a:solidFill>
                  <a:srgbClr val="4B2E83"/>
                </a:solidFill>
                <a:latin typeface="Consolas"/>
              </a:rPr>
              <a:t>numerator()</a:t>
            </a:r>
            <a:r>
              <a:rPr sz="2000" b="0">
                <a:solidFill>
                  <a:srgbClr val="1D2330"/>
                </a:solidFill>
                <a:latin typeface="Calibri"/>
              </a:rPr>
              <a:t> and </a:t>
            </a:r>
            <a:r>
              <a:rPr sz="2000" b="0">
                <a:solidFill>
                  <a:srgbClr val="4B2E83"/>
                </a:solidFill>
                <a:latin typeface="Consolas"/>
              </a:rPr>
              <a:t>denominator()</a:t>
            </a:r>
          </a:p>
          <a:p>
            <a:pPr marL="256032" indent="-228600">
              <a:spcAft>
                <a:spcPts val="800"/>
              </a:spcAft>
              <a:buClr>
                <a:srgbClr val="5B6475"/>
              </a:buClr>
              <a:buChar char="•"/>
            </a:pPr>
            <a:r>
              <a:rPr sz="2000" b="0">
                <a:solidFill>
                  <a:srgbClr val="1D2330"/>
                </a:solidFill>
                <a:latin typeface="Calibri"/>
              </a:rPr>
              <a:t>Marking </a:t>
            </a:r>
            <a:r>
              <a:rPr sz="2000" b="0">
                <a:solidFill>
                  <a:srgbClr val="4B2E83"/>
                </a:solidFill>
                <a:latin typeface="Consolas"/>
              </a:rPr>
              <a:t>Rational(int)</a:t>
            </a:r>
            <a:r>
              <a:rPr sz="2000" b="0">
                <a:solidFill>
                  <a:srgbClr val="1D2330"/>
                </a:solidFill>
                <a:latin typeface="Calibri"/>
              </a:rPr>
              <a:t> </a:t>
            </a:r>
            <a:r>
              <a:rPr sz="2000" b="0">
                <a:solidFill>
                  <a:srgbClr val="4B2E83"/>
                </a:solidFill>
                <a:latin typeface="Consolas"/>
              </a:rPr>
              <a:t>explicit</a:t>
            </a:r>
            <a:r>
              <a:rPr sz="2000" b="0">
                <a:solidFill>
                  <a:srgbClr val="1D2330"/>
                </a:solidFill>
                <a:latin typeface="Calibri"/>
              </a:rPr>
              <a:t> would break </a:t>
            </a:r>
            <a:r>
              <a:rPr sz="2000" b="0">
                <a:solidFill>
                  <a:srgbClr val="4B2E83"/>
                </a:solidFill>
                <a:latin typeface="Consolas"/>
              </a:rPr>
              <a:t>2 + half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34</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Self-test: Part 4</a:t>
            </a:r>
          </a:p>
        </p:txBody>
      </p:sp>
      <p:sp>
        <p:nvSpPr>
          <p:cNvPr id="5" name="Oval 4"/>
          <p:cNvSpPr/>
          <p:nvPr/>
        </p:nvSpPr>
        <p:spPr>
          <a:xfrm>
            <a:off x="548640" y="137160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Q1</a:t>
            </a:r>
          </a:p>
        </p:txBody>
      </p:sp>
      <p:sp>
        <p:nvSpPr>
          <p:cNvPr id="6" name="TextBox 5"/>
          <p:cNvSpPr txBox="1"/>
          <p:nvPr/>
        </p:nvSpPr>
        <p:spPr>
          <a:xfrm>
            <a:off x="1234440" y="1371600"/>
            <a:ext cx="10408615" cy="1188720"/>
          </a:xfrm>
          <a:prstGeom prst="rect">
            <a:avLst/>
          </a:prstGeom>
          <a:noFill/>
        </p:spPr>
        <p:txBody>
          <a:bodyPr wrap="square" lIns="0" rIns="0" tIns="0" bIns="0" anchor="t">
            <a:spAutoFit/>
          </a:bodyPr>
          <a:lstStyle/>
          <a:p>
            <a:pPr algn="l"/>
            <a:r>
              <a:rPr sz="1800" b="0">
                <a:solidFill>
                  <a:srgbClr val="4B2E83"/>
                </a:solidFill>
                <a:latin typeface="Consolas"/>
              </a:rPr>
              <a:t>Card</a:t>
            </a:r>
            <a:r>
              <a:rPr sz="1800" b="0">
                <a:solidFill>
                  <a:srgbClr val="1D2330"/>
                </a:solidFill>
                <a:latin typeface="Calibri"/>
              </a:rPr>
              <a:t> has private </a:t>
            </a:r>
            <a:r>
              <a:rPr sz="1800" b="0">
                <a:solidFill>
                  <a:srgbClr val="4B2E83"/>
                </a:solidFill>
                <a:latin typeface="Consolas"/>
              </a:rPr>
              <a:t>rank_</a:t>
            </a:r>
            <a:r>
              <a:rPr sz="1800" b="0">
                <a:solidFill>
                  <a:srgbClr val="1D2330"/>
                </a:solidFill>
                <a:latin typeface="Calibri"/>
              </a:rPr>
              <a:t>, </a:t>
            </a:r>
            <a:r>
              <a:rPr sz="1800" b="0">
                <a:solidFill>
                  <a:srgbClr val="4B2E83"/>
                </a:solidFill>
                <a:latin typeface="Consolas"/>
              </a:rPr>
              <a:t>suit_</a:t>
            </a:r>
            <a:r>
              <a:rPr sz="1800" b="0">
                <a:solidFill>
                  <a:srgbClr val="1D2330"/>
                </a:solidFill>
                <a:latin typeface="Calibri"/>
              </a:rPr>
              <a:t>, no accessors. How do you declare </a:t>
            </a:r>
            <a:r>
              <a:rPr sz="1800" b="0">
                <a:solidFill>
                  <a:srgbClr val="4B2E83"/>
                </a:solidFill>
                <a:latin typeface="Consolas"/>
              </a:rPr>
              <a:t>operator==</a:t>
            </a:r>
            <a:r>
              <a:rPr sz="1800" b="0">
                <a:solidFill>
                  <a:srgbClr val="1D2330"/>
                </a:solidFill>
                <a:latin typeface="Calibri"/>
              </a:rPr>
              <a:t> so it can read them?</a:t>
            </a:r>
          </a:p>
        </p:txBody>
      </p:sp>
      <p:sp>
        <p:nvSpPr>
          <p:cNvPr id="7" name="Oval 6"/>
          <p:cNvSpPr/>
          <p:nvPr/>
        </p:nvSpPr>
        <p:spPr>
          <a:xfrm>
            <a:off x="548640" y="256032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Q2</a:t>
            </a:r>
          </a:p>
        </p:txBody>
      </p:sp>
      <p:sp>
        <p:nvSpPr>
          <p:cNvPr id="8" name="TextBox 7"/>
          <p:cNvSpPr txBox="1"/>
          <p:nvPr/>
        </p:nvSpPr>
        <p:spPr>
          <a:xfrm>
            <a:off x="1234440" y="2560320"/>
            <a:ext cx="10408615" cy="1188720"/>
          </a:xfrm>
          <a:prstGeom prst="rect">
            <a:avLst/>
          </a:prstGeom>
          <a:noFill/>
        </p:spPr>
        <p:txBody>
          <a:bodyPr wrap="square" lIns="0" rIns="0" tIns="0" bIns="0" anchor="t">
            <a:spAutoFit/>
          </a:bodyPr>
          <a:lstStyle/>
          <a:p>
            <a:pPr algn="l"/>
            <a:r>
              <a:rPr sz="1800" b="0">
                <a:solidFill>
                  <a:srgbClr val="1D2330"/>
                </a:solidFill>
                <a:latin typeface="Calibri"/>
              </a:rPr>
              <a:t>With </a:t>
            </a:r>
            <a:r>
              <a:rPr sz="1800" b="0">
                <a:solidFill>
                  <a:srgbClr val="4B2E83"/>
                </a:solidFill>
                <a:latin typeface="Consolas"/>
              </a:rPr>
              <a:t>+</a:t>
            </a:r>
            <a:r>
              <a:rPr sz="1800" b="0">
                <a:solidFill>
                  <a:srgbClr val="1D2330"/>
                </a:solidFill>
                <a:latin typeface="Calibri"/>
              </a:rPr>
              <a:t> written as a member, which compile: </a:t>
            </a:r>
            <a:r>
              <a:rPr sz="1800" b="0">
                <a:solidFill>
                  <a:srgbClr val="4B2E83"/>
                </a:solidFill>
                <a:latin typeface="Consolas"/>
              </a:rPr>
              <a:t>half + 2</a:t>
            </a:r>
            <a:r>
              <a:rPr sz="1800" b="0">
                <a:solidFill>
                  <a:srgbClr val="1D2330"/>
                </a:solidFill>
                <a:latin typeface="Calibri"/>
              </a:rPr>
              <a:t>, </a:t>
            </a:r>
            <a:r>
              <a:rPr sz="1800" b="0">
                <a:solidFill>
                  <a:srgbClr val="4B2E83"/>
                </a:solidFill>
                <a:latin typeface="Consolas"/>
              </a:rPr>
              <a:t>2 + half</a:t>
            </a:r>
            <a:r>
              <a:rPr sz="1800" b="0">
                <a:solidFill>
                  <a:srgbClr val="1D2330"/>
                </a:solidFill>
                <a:latin typeface="Calibri"/>
              </a:rPr>
              <a:t>?</a:t>
            </a:r>
          </a:p>
        </p:txBody>
      </p:sp>
      <p:sp>
        <p:nvSpPr>
          <p:cNvPr id="9" name="Oval 8"/>
          <p:cNvSpPr/>
          <p:nvPr/>
        </p:nvSpPr>
        <p:spPr>
          <a:xfrm>
            <a:off x="548640" y="374904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Q3</a:t>
            </a:r>
          </a:p>
        </p:txBody>
      </p:sp>
      <p:sp>
        <p:nvSpPr>
          <p:cNvPr id="10" name="TextBox 9"/>
          <p:cNvSpPr txBox="1"/>
          <p:nvPr/>
        </p:nvSpPr>
        <p:spPr>
          <a:xfrm>
            <a:off x="1234440" y="3749040"/>
            <a:ext cx="10408615" cy="1188720"/>
          </a:xfrm>
          <a:prstGeom prst="rect">
            <a:avLst/>
          </a:prstGeom>
          <a:noFill/>
        </p:spPr>
        <p:txBody>
          <a:bodyPr wrap="square" lIns="0" rIns="0" tIns="0" bIns="0" anchor="t">
            <a:spAutoFit/>
          </a:bodyPr>
          <a:lstStyle/>
          <a:p>
            <a:pPr algn="l"/>
            <a:r>
              <a:rPr sz="1800" b="0">
                <a:solidFill>
                  <a:srgbClr val="4B2E83"/>
                </a:solidFill>
                <a:latin typeface="Consolas"/>
              </a:rPr>
              <a:t>Rational &amp;operator+(...)</a:t>
            </a:r>
            <a:r>
              <a:rPr sz="1800" b="0">
                <a:solidFill>
                  <a:srgbClr val="1D2330"/>
                </a:solidFill>
                <a:latin typeface="Calibri"/>
              </a:rPr>
              <a:t> builds a local </a:t>
            </a:r>
            <a:r>
              <a:rPr sz="1800" b="0">
                <a:solidFill>
                  <a:srgbClr val="4B2E83"/>
                </a:solidFill>
                <a:latin typeface="Consolas"/>
              </a:rPr>
              <a:t>r</a:t>
            </a:r>
            <a:r>
              <a:rPr sz="1800" b="0">
                <a:solidFill>
                  <a:srgbClr val="1D2330"/>
                </a:solidFill>
                <a:latin typeface="Calibri"/>
              </a:rPr>
              <a:t> and returns it. What's wrong?</a:t>
            </a:r>
          </a:p>
        </p:txBody>
      </p:sp>
      <p:sp>
        <p:nvSpPr>
          <p:cNvPr id="11" name="Oval 10"/>
          <p:cNvSpPr/>
          <p:nvPr/>
        </p:nvSpPr>
        <p:spPr>
          <a:xfrm>
            <a:off x="548640" y="4937760"/>
            <a:ext cx="457200" cy="457200"/>
          </a:xfrm>
          <a:prstGeom prst="ellipse">
            <a:avLst/>
          </a:prstGeom>
          <a:solidFill>
            <a:srgbClr val="F3F1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4B2E83"/>
                </a:solidFill>
                <a:latin typeface="Calibri"/>
              </a:rPr>
              <a:t>Q4</a:t>
            </a:r>
          </a:p>
        </p:txBody>
      </p:sp>
      <p:sp>
        <p:nvSpPr>
          <p:cNvPr id="12" name="TextBox 11"/>
          <p:cNvSpPr txBox="1"/>
          <p:nvPr/>
        </p:nvSpPr>
        <p:spPr>
          <a:xfrm>
            <a:off x="1234440" y="4937760"/>
            <a:ext cx="10408615" cy="1188720"/>
          </a:xfrm>
          <a:prstGeom prst="rect">
            <a:avLst/>
          </a:prstGeom>
          <a:noFill/>
        </p:spPr>
        <p:txBody>
          <a:bodyPr wrap="square" lIns="0" rIns="0" tIns="0" bIns="0" anchor="t">
            <a:spAutoFit/>
          </a:bodyPr>
          <a:lstStyle/>
          <a:p>
            <a:pPr algn="l"/>
            <a:r>
              <a:rPr sz="1800" b="0">
                <a:solidFill>
                  <a:srgbClr val="1D2330"/>
                </a:solidFill>
                <a:latin typeface="Calibri"/>
              </a:rPr>
              <a:t>Why must </a:t>
            </a:r>
            <a:r>
              <a:rPr sz="1800" b="0">
                <a:solidFill>
                  <a:srgbClr val="4B2E83"/>
                </a:solidFill>
                <a:latin typeface="Consolas"/>
              </a:rPr>
              <a:t>operator&lt;&lt;</a:t>
            </a:r>
            <a:r>
              <a:rPr sz="1800" b="0">
                <a:solidFill>
                  <a:srgbClr val="1D2330"/>
                </a:solidFill>
                <a:latin typeface="Calibri"/>
              </a:rPr>
              <a:t> return the stream for </a:t>
            </a:r>
            <a:r>
              <a:rPr sz="1800" b="0">
                <a:solidFill>
                  <a:srgbClr val="4B2E83"/>
                </a:solidFill>
                <a:latin typeface="Consolas"/>
              </a:rPr>
              <a:t>cout &lt;&lt; a &lt;&lt; b</a:t>
            </a:r>
            <a:r>
              <a:rPr sz="1800" b="0">
                <a:solidFill>
                  <a:srgbClr val="1D2330"/>
                </a:solidFill>
                <a:latin typeface="Calibri"/>
              </a:rPr>
              <a:t> to work?</a:t>
            </a:r>
          </a:p>
        </p:txBody>
      </p:sp>
      <p:sp>
        <p:nvSpPr>
          <p:cNvPr id="13" name="TextBox 12"/>
          <p:cNvSpPr txBox="1"/>
          <p:nvPr/>
        </p:nvSpPr>
        <p:spPr>
          <a:xfrm>
            <a:off x="548640" y="5989320"/>
            <a:ext cx="11094415" cy="320040"/>
          </a:xfrm>
          <a:prstGeom prst="rect">
            <a:avLst/>
          </a:prstGeom>
          <a:noFill/>
        </p:spPr>
        <p:txBody>
          <a:bodyPr wrap="square" lIns="0" rIns="0" tIns="0" bIns="0" anchor="t">
            <a:spAutoFit/>
          </a:bodyPr>
          <a:lstStyle/>
          <a:p>
            <a:pPr algn="l"/>
            <a:r>
              <a:rPr sz="1300" b="0">
                <a:solidFill>
                  <a:srgbClr val="5B6475"/>
                </a:solidFill>
                <a:latin typeface="Calibri"/>
              </a:rPr>
              <a:t>Answers are on the lab page: click “Show answer” under each question.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35</a:t>
            </a:r>
          </a:p>
        </p:txBody>
      </p:sp>
      <p:sp>
        <p:nvSpPr>
          <p:cNvPr id="4" name="Rounded Rectangle 3"/>
          <p:cNvSpPr/>
          <p:nvPr/>
        </p:nvSpPr>
        <p:spPr>
          <a:xfrm>
            <a:off x="548640" y="457200"/>
            <a:ext cx="1325880" cy="329184"/>
          </a:xfrm>
          <a:prstGeom prst="roundRect">
            <a:avLst>
              <a:gd name="adj" fmla="val 50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QUIZ</a:t>
            </a:r>
          </a:p>
        </p:txBody>
      </p:sp>
      <p:sp>
        <p:nvSpPr>
          <p:cNvPr id="5" name="TextBox 4"/>
          <p:cNvSpPr txBox="1"/>
          <p:nvPr/>
        </p:nvSpPr>
        <p:spPr>
          <a:xfrm>
            <a:off x="2057400" y="347472"/>
            <a:ext cx="9585655" cy="640080"/>
          </a:xfrm>
          <a:prstGeom prst="rect">
            <a:avLst/>
          </a:prstGeom>
          <a:noFill/>
        </p:spPr>
        <p:txBody>
          <a:bodyPr wrap="square" lIns="0" rIns="0" tIns="0" bIns="0" anchor="ctr">
            <a:spAutoFit/>
          </a:bodyPr>
          <a:lstStyle/>
          <a:p>
            <a:pPr algn="l"/>
            <a:r>
              <a:rPr sz="3200" b="1">
                <a:solidFill>
                  <a:srgbClr val="1D2330"/>
                </a:solidFill>
                <a:latin typeface="Calibri"/>
              </a:rPr>
              <a:t>Section Quiz on Canvas</a:t>
            </a:r>
          </a:p>
        </p:txBody>
      </p:sp>
      <p:sp>
        <p:nvSpPr>
          <p:cNvPr id="6" name="TextBox 5"/>
          <p:cNvSpPr txBox="1"/>
          <p:nvPr/>
        </p:nvSpPr>
        <p:spPr>
          <a:xfrm>
            <a:off x="548640" y="1280160"/>
            <a:ext cx="11094415" cy="4846320"/>
          </a:xfrm>
          <a:prstGeom prst="rect">
            <a:avLst/>
          </a:prstGeom>
          <a:noFill/>
        </p:spPr>
        <p:txBody>
          <a:bodyPr wrap="square" lIns="0" rIns="0" tIns="0" bIns="0" anchor="t">
            <a:spAutoFit/>
          </a:bodyPr>
          <a:lstStyle/>
          <a:p>
            <a:pPr marL="256032" indent="-228600">
              <a:spcAft>
                <a:spcPts val="800"/>
              </a:spcAft>
              <a:buClr>
                <a:srgbClr val="5B6475"/>
              </a:buClr>
              <a:buChar char="•"/>
            </a:pPr>
            <a:r>
              <a:rPr sz="2000" b="0">
                <a:solidFill>
                  <a:srgbClr val="1D2330"/>
                </a:solidFill>
                <a:latin typeface="Calibri"/>
              </a:rPr>
              <a:t>Open the quiz “Lab 2 Exercise 4 Quiz” on Canvas: your instructor makes it available now</a:t>
            </a:r>
          </a:p>
          <a:p>
            <a:pPr marL="256032" indent="-228600">
              <a:spcAft>
                <a:spcPts val="800"/>
              </a:spcAft>
              <a:buClr>
                <a:srgbClr val="5B6475"/>
              </a:buClr>
              <a:buChar char="•"/>
            </a:pPr>
            <a:r>
              <a:rPr sz="2000" b="0">
                <a:solidFill>
                  <a:srgbClr val="1D2330"/>
                </a:solidFill>
                <a:latin typeface="Calibri"/>
              </a:rPr>
              <a:t>10 minutes, multiple choice: the questions about Exercise 4</a:t>
            </a:r>
          </a:p>
          <a:p>
            <a:pPr marL="256032" indent="-228600">
              <a:spcAft>
                <a:spcPts val="800"/>
              </a:spcAft>
              <a:buClr>
                <a:srgbClr val="5B6475"/>
              </a:buClr>
              <a:buChar char="•"/>
            </a:pPr>
            <a:r>
              <a:rPr sz="2000" b="0">
                <a:solidFill>
                  <a:srgbClr val="1D2330"/>
                </a:solidFill>
                <a:latin typeface="Calibri"/>
              </a:rPr>
              <a:t>The last thing in this part, after the walkthrough and the self-test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00800"/>
            <a:ext cx="7315200" cy="274320"/>
          </a:xfrm>
          <a:prstGeom prst="rect">
            <a:avLst/>
          </a:prstGeom>
          <a:noFill/>
        </p:spPr>
        <p:txBody>
          <a:bodyPr wrap="square" lIns="0" rIns="0" tIns="0" bIns="0" anchor="t">
            <a:spAutoFit/>
          </a:bodyPr>
          <a:lstStyle/>
          <a:p>
            <a:r>
              <a:rPr sz="1100" b="0">
                <a:solidFill>
                  <a:srgbClr val="5B6475"/>
                </a:solidFill>
                <a:latin typeface="Calibri"/>
              </a:rPr>
              <a:t>CSS SKL 342 · Lab 2: Debugging, Classes, and Operators</a:t>
            </a:r>
          </a:p>
        </p:txBody>
      </p:sp>
      <p:sp>
        <p:nvSpPr>
          <p:cNvPr id="3" name="TextBox 2"/>
          <p:cNvSpPr txBox="1"/>
          <p:nvPr/>
        </p:nvSpPr>
        <p:spPr>
          <a:xfrm>
            <a:off x="10698480" y="6400800"/>
            <a:ext cx="914400" cy="274320"/>
          </a:xfrm>
          <a:prstGeom prst="rect">
            <a:avLst/>
          </a:prstGeom>
          <a:noFill/>
        </p:spPr>
        <p:txBody>
          <a:bodyPr wrap="square" lIns="0" rIns="0" tIns="0" bIns="0" anchor="t">
            <a:spAutoFit/>
          </a:bodyPr>
          <a:lstStyle/>
          <a:p>
            <a:pPr algn="r"/>
            <a:r>
              <a:rPr sz="1100" b="0">
                <a:solidFill>
                  <a:srgbClr val="5B6475"/>
                </a:solidFill>
                <a:latin typeface="Calibri"/>
              </a:rPr>
              <a:t>36</a:t>
            </a:r>
          </a:p>
        </p:txBody>
      </p:sp>
      <p:sp>
        <p:nvSpPr>
          <p:cNvPr id="4" name="TextBox 3"/>
          <p:cNvSpPr txBox="1"/>
          <p:nvPr/>
        </p:nvSpPr>
        <p:spPr>
          <a:xfrm>
            <a:off x="548640" y="347472"/>
            <a:ext cx="11094415" cy="640080"/>
          </a:xfrm>
          <a:prstGeom prst="rect">
            <a:avLst/>
          </a:prstGeom>
          <a:noFill/>
        </p:spPr>
        <p:txBody>
          <a:bodyPr wrap="square" lIns="0" rIns="0" tIns="0" bIns="0" anchor="ctr">
            <a:spAutoFit/>
          </a:bodyPr>
          <a:lstStyle/>
          <a:p>
            <a:pPr algn="l"/>
            <a:r>
              <a:rPr sz="3200" b="1">
                <a:solidFill>
                  <a:srgbClr val="1D2330"/>
                </a:solidFill>
                <a:latin typeface="Calibri"/>
              </a:rPr>
              <a:t>What to submit: one zip, once</a:t>
            </a:r>
          </a:p>
        </p:txBody>
      </p:sp>
      <p:sp>
        <p:nvSpPr>
          <p:cNvPr id="5" name="Oval 4"/>
          <p:cNvSpPr/>
          <p:nvPr/>
        </p:nvSpPr>
        <p:spPr>
          <a:xfrm>
            <a:off x="548640" y="13716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6" name="TextBox 5"/>
          <p:cNvSpPr txBox="1"/>
          <p:nvPr/>
        </p:nvSpPr>
        <p:spPr>
          <a:xfrm>
            <a:off x="1097280" y="1353312"/>
            <a:ext cx="4998567" cy="914400"/>
          </a:xfrm>
          <a:prstGeom prst="rect">
            <a:avLst/>
          </a:prstGeom>
          <a:noFill/>
        </p:spPr>
        <p:txBody>
          <a:bodyPr wrap="square" lIns="0" rIns="0" tIns="0" bIns="0" anchor="t">
            <a:spAutoFit/>
          </a:bodyPr>
          <a:lstStyle/>
          <a:p>
            <a:pPr algn="l"/>
            <a:r>
              <a:rPr sz="1700" b="0">
                <a:solidFill>
                  <a:srgbClr val="1D2330"/>
                </a:solidFill>
                <a:latin typeface="Calibri"/>
              </a:rPr>
              <a:t>Your work is in </a:t>
            </a:r>
            <a:r>
              <a:rPr sz="1700" b="0">
                <a:solidFill>
                  <a:srgbClr val="4B2E83"/>
                </a:solidFill>
                <a:latin typeface="Consolas"/>
              </a:rPr>
              <a:t>Lab2/exercises</a:t>
            </a:r>
            <a:r>
              <a:rPr sz="1700" b="0">
                <a:solidFill>
                  <a:srgbClr val="1D2330"/>
                </a:solidFill>
                <a:latin typeface="Calibri"/>
              </a:rPr>
              <a:t>, with subfolders named like the starter folders</a:t>
            </a:r>
          </a:p>
        </p:txBody>
      </p:sp>
      <p:sp>
        <p:nvSpPr>
          <p:cNvPr id="7" name="Oval 6"/>
          <p:cNvSpPr/>
          <p:nvPr/>
        </p:nvSpPr>
        <p:spPr>
          <a:xfrm>
            <a:off x="548640" y="22860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267712"/>
            <a:ext cx="4998567" cy="914400"/>
          </a:xfrm>
          <a:prstGeom prst="rect">
            <a:avLst/>
          </a:prstGeom>
          <a:noFill/>
        </p:spPr>
        <p:txBody>
          <a:bodyPr wrap="square" lIns="0" rIns="0" tIns="0" bIns="0" anchor="t">
            <a:spAutoFit/>
          </a:bodyPr>
          <a:lstStyle/>
          <a:p>
            <a:pPr algn="l"/>
            <a:r>
              <a:rPr sz="1700" b="0">
                <a:solidFill>
                  <a:srgbClr val="1D2330"/>
                </a:solidFill>
                <a:latin typeface="Calibri"/>
              </a:rPr>
              <a:t>Run </a:t>
            </a:r>
            <a:r>
              <a:rPr sz="1700" b="0">
                <a:solidFill>
                  <a:srgbClr val="4B2E83"/>
                </a:solidFill>
                <a:latin typeface="Consolas"/>
              </a:rPr>
              <a:t>make clean</a:t>
            </a:r>
            <a:r>
              <a:rPr sz="1700" b="0">
                <a:solidFill>
                  <a:srgbClr val="1D2330"/>
                </a:solidFill>
                <a:latin typeface="Calibri"/>
              </a:rPr>
              <a:t> in each; delete </a:t>
            </a:r>
            <a:r>
              <a:rPr sz="1700" b="0">
                <a:solidFill>
                  <a:srgbClr val="4B2E83"/>
                </a:solidFill>
                <a:latin typeface="Consolas"/>
              </a:rPr>
              <a:t>.o</a:t>
            </a:r>
            <a:r>
              <a:rPr sz="1700" b="0">
                <a:solidFill>
                  <a:srgbClr val="1D2330"/>
                </a:solidFill>
                <a:latin typeface="Calibri"/>
              </a:rPr>
              <a:t> files, executables, </a:t>
            </a:r>
            <a:r>
              <a:rPr sz="1700" b="0">
                <a:solidFill>
                  <a:srgbClr val="4B2E83"/>
                </a:solidFill>
                <a:latin typeface="Consolas"/>
              </a:rPr>
              <a:t>out.txt</a:t>
            </a:r>
            <a:r>
              <a:rPr sz="1700" b="0">
                <a:solidFill>
                  <a:srgbClr val="1D2330"/>
                </a:solidFill>
                <a:latin typeface="Calibri"/>
              </a:rPr>
              <a:t>; delete the </a:t>
            </a:r>
            <a:r>
              <a:rPr sz="1700" b="0">
                <a:solidFill>
                  <a:srgbClr val="4B2E83"/>
                </a:solidFill>
                <a:latin typeface="Consolas"/>
              </a:rPr>
              <a:t>examples</a:t>
            </a:r>
            <a:r>
              <a:rPr sz="1700" b="0">
                <a:solidFill>
                  <a:srgbClr val="1D2330"/>
                </a:solidFill>
                <a:latin typeface="Calibri"/>
              </a:rPr>
              <a:t> folder</a:t>
            </a:r>
          </a:p>
        </p:txBody>
      </p:sp>
      <p:sp>
        <p:nvSpPr>
          <p:cNvPr id="9" name="Oval 8"/>
          <p:cNvSpPr/>
          <p:nvPr/>
        </p:nvSpPr>
        <p:spPr>
          <a:xfrm>
            <a:off x="548640" y="32004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0" name="TextBox 9"/>
          <p:cNvSpPr txBox="1"/>
          <p:nvPr/>
        </p:nvSpPr>
        <p:spPr>
          <a:xfrm>
            <a:off x="1097280" y="3182112"/>
            <a:ext cx="4998567" cy="914400"/>
          </a:xfrm>
          <a:prstGeom prst="rect">
            <a:avLst/>
          </a:prstGeom>
          <a:noFill/>
        </p:spPr>
        <p:txBody>
          <a:bodyPr wrap="square" lIns="0" rIns="0" tIns="0" bIns="0" anchor="t">
            <a:spAutoFit/>
          </a:bodyPr>
          <a:lstStyle/>
          <a:p>
            <a:pPr algn="l"/>
            <a:r>
              <a:rPr sz="1700" b="0">
                <a:solidFill>
                  <a:srgbClr val="1D2330"/>
                </a:solidFill>
                <a:latin typeface="Calibri"/>
              </a:rPr>
              <a:t>Check: compiles with </a:t>
            </a:r>
            <a:r>
              <a:rPr sz="1700" b="0">
                <a:solidFill>
                  <a:srgbClr val="4B2E83"/>
                </a:solidFill>
                <a:latin typeface="Consolas"/>
              </a:rPr>
              <a:t>-Wall -Wextra</a:t>
            </a:r>
            <a:r>
              <a:rPr sz="1700" b="0">
                <a:solidFill>
                  <a:srgbClr val="1D2330"/>
                </a:solidFill>
                <a:latin typeface="Calibri"/>
              </a:rPr>
              <a:t>; only the planted </a:t>
            </a:r>
            <a:r>
              <a:rPr sz="1700" b="0">
                <a:solidFill>
                  <a:srgbClr val="4B2E83"/>
                </a:solidFill>
                <a:latin typeface="Consolas"/>
              </a:rPr>
              <a:t>-Wreorder</a:t>
            </a:r>
            <a:r>
              <a:rPr sz="1700" b="0">
                <a:solidFill>
                  <a:srgbClr val="1D2330"/>
                </a:solidFill>
                <a:latin typeface="Calibri"/>
              </a:rPr>
              <a:t> warning</a:t>
            </a:r>
          </a:p>
        </p:txBody>
      </p:sp>
      <p:sp>
        <p:nvSpPr>
          <p:cNvPr id="11" name="Oval 10"/>
          <p:cNvSpPr/>
          <p:nvPr/>
        </p:nvSpPr>
        <p:spPr>
          <a:xfrm>
            <a:off x="548640" y="41148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2" name="TextBox 11"/>
          <p:cNvSpPr txBox="1"/>
          <p:nvPr/>
        </p:nvSpPr>
        <p:spPr>
          <a:xfrm>
            <a:off x="1097280" y="4096512"/>
            <a:ext cx="4998567" cy="914400"/>
          </a:xfrm>
          <a:prstGeom prst="rect">
            <a:avLst/>
          </a:prstGeom>
          <a:noFill/>
        </p:spPr>
        <p:txBody>
          <a:bodyPr wrap="square" lIns="0" rIns="0" tIns="0" bIns="0" anchor="t">
            <a:spAutoFit/>
          </a:bodyPr>
          <a:lstStyle/>
          <a:p>
            <a:pPr algn="l"/>
            <a:r>
              <a:rPr sz="1700" b="0">
                <a:solidFill>
                  <a:srgbClr val="1D2330"/>
                </a:solidFill>
                <a:latin typeface="Calibri"/>
              </a:rPr>
              <a:t>Zip the whole folder: </a:t>
            </a:r>
            <a:r>
              <a:rPr sz="1700" b="0">
                <a:solidFill>
                  <a:srgbClr val="4B2E83"/>
                </a:solidFill>
                <a:latin typeface="Consolas"/>
              </a:rPr>
              <a:t>zip -r Lab2-netid.zip Lab2</a:t>
            </a:r>
          </a:p>
        </p:txBody>
      </p:sp>
      <p:sp>
        <p:nvSpPr>
          <p:cNvPr id="13" name="Oval 12"/>
          <p:cNvSpPr/>
          <p:nvPr/>
        </p:nvSpPr>
        <p:spPr>
          <a:xfrm>
            <a:off x="548640" y="5029200"/>
            <a:ext cx="384048" cy="384048"/>
          </a:xfrm>
          <a:prstGeom prst="ellipse">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4" name="TextBox 13"/>
          <p:cNvSpPr txBox="1"/>
          <p:nvPr/>
        </p:nvSpPr>
        <p:spPr>
          <a:xfrm>
            <a:off x="1097280" y="5010912"/>
            <a:ext cx="4998567" cy="914400"/>
          </a:xfrm>
          <a:prstGeom prst="rect">
            <a:avLst/>
          </a:prstGeom>
          <a:noFill/>
        </p:spPr>
        <p:txBody>
          <a:bodyPr wrap="square" lIns="0" rIns="0" tIns="0" bIns="0" anchor="t">
            <a:spAutoFit/>
          </a:bodyPr>
          <a:lstStyle/>
          <a:p>
            <a:pPr algn="l"/>
            <a:r>
              <a:rPr sz="1700" b="0">
                <a:solidFill>
                  <a:srgbClr val="1D2330"/>
                </a:solidFill>
                <a:latin typeface="Calibri"/>
              </a:rPr>
              <a:t>Upload that one zip to the Lab 2 assignment on Canvas</a:t>
            </a:r>
          </a:p>
        </p:txBody>
      </p:sp>
      <p:sp>
        <p:nvSpPr>
          <p:cNvPr id="15" name="Rounded Rectangle 14"/>
          <p:cNvSpPr/>
          <p:nvPr/>
        </p:nvSpPr>
        <p:spPr>
          <a:xfrm>
            <a:off x="6415887" y="1325880"/>
            <a:ext cx="5227167" cy="3398520"/>
          </a:xfrm>
          <a:prstGeom prst="roundRect">
            <a:avLst>
              <a:gd name="adj" fmla="val 3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44487" y="1508760"/>
            <a:ext cx="4769967" cy="3032760"/>
          </a:xfrm>
          <a:prstGeom prst="rect">
            <a:avLst/>
          </a:prstGeom>
          <a:noFill/>
        </p:spPr>
        <p:txBody>
          <a:bodyPr wrap="none" lIns="0" rIns="0" tIns="0" bIns="0" anchor="t">
            <a:spAutoFit/>
          </a:bodyPr>
          <a:lstStyle/>
          <a:p>
            <a:pPr>
              <a:spcAft>
                <a:spcPts val="0"/>
              </a:spcAft>
            </a:pPr>
            <a:r>
              <a:rPr sz="1400">
                <a:solidFill>
                  <a:srgbClr val="E6E6EF"/>
                </a:solidFill>
                <a:latin typeface="Consolas"/>
              </a:rPr>
              <a:t>Lab2/</a:t>
            </a:r>
          </a:p>
          <a:p>
            <a:pPr>
              <a:spcAft>
                <a:spcPts val="0"/>
              </a:spcAft>
            </a:pPr>
            <a:r>
              <a:rPr sz="1400">
                <a:solidFill>
                  <a:srgbClr val="E6E6EF"/>
                </a:solidFill>
                <a:latin typeface="Consolas"/>
              </a:rPr>
              <a:t>└── exercises/</a:t>
            </a:r>
          </a:p>
          <a:p>
            <a:pPr>
              <a:spcAft>
                <a:spcPts val="0"/>
              </a:spcAft>
            </a:pPr>
            <a:r>
              <a:rPr sz="1400">
                <a:solidFill>
                  <a:srgbClr val="E6E6EF"/>
                </a:solidFill>
                <a:latin typeface="Consolas"/>
              </a:rPr>
              <a:t>    ├── ex1-debug/</a:t>
            </a:r>
          </a:p>
          <a:p>
            <a:pPr>
              <a:spcAft>
                <a:spcPts val="0"/>
              </a:spcAft>
            </a:pPr>
            <a:r>
              <a:rPr sz="1400">
                <a:solidFill>
                  <a:srgbClr val="E6E6EF"/>
                </a:solidFill>
                <a:latin typeface="Consolas"/>
              </a:rPr>
              <a:t>    │     grades.cpp Makefile</a:t>
            </a:r>
          </a:p>
          <a:p>
            <a:pPr>
              <a:spcAft>
                <a:spcPts val="0"/>
              </a:spcAft>
            </a:pPr>
            <a:r>
              <a:rPr sz="1400">
                <a:solidFill>
                  <a:srgbClr val="E6E6EF"/>
                </a:solidFill>
                <a:latin typeface="Consolas"/>
              </a:rPr>
              <a:t>    ├── ex2-classes/</a:t>
            </a:r>
          </a:p>
          <a:p>
            <a:pPr>
              <a:spcAft>
                <a:spcPts val="0"/>
              </a:spcAft>
            </a:pPr>
            <a:r>
              <a:rPr sz="1400">
                <a:solidFill>
                  <a:srgbClr val="E6E6EF"/>
                </a:solidFill>
                <a:latin typeface="Consolas"/>
              </a:rPr>
              <a:t>    │     rational.h rational.cpp main.cpp</a:t>
            </a:r>
          </a:p>
          <a:p>
            <a:pPr>
              <a:spcAft>
                <a:spcPts val="0"/>
              </a:spcAft>
            </a:pPr>
            <a:r>
              <a:rPr sz="1400">
                <a:solidFill>
                  <a:srgbClr val="E6E6EF"/>
                </a:solidFill>
                <a:latin typeface="Consolas"/>
              </a:rPr>
              <a:t>    │     Makefile</a:t>
            </a:r>
          </a:p>
          <a:p>
            <a:pPr>
              <a:spcAft>
                <a:spcPts val="0"/>
              </a:spcAft>
            </a:pPr>
            <a:r>
              <a:rPr sz="1400">
                <a:solidFill>
                  <a:srgbClr val="E6E6EF"/>
                </a:solidFill>
                <a:latin typeface="Consolas"/>
              </a:rPr>
              <a:t>    ├── ex3-lifetime/</a:t>
            </a:r>
          </a:p>
          <a:p>
            <a:pPr>
              <a:spcAft>
                <a:spcPts val="0"/>
              </a:spcAft>
            </a:pPr>
            <a:r>
              <a:rPr sz="1400">
                <a:solidFill>
                  <a:srgbClr val="E6E6EF"/>
                </a:solidFill>
                <a:latin typeface="Consolas"/>
              </a:rPr>
              <a:t>    │     tracer.h tracer.cpp lifetime.cpp</a:t>
            </a:r>
          </a:p>
          <a:p>
            <a:pPr>
              <a:spcAft>
                <a:spcPts val="0"/>
              </a:spcAft>
            </a:pPr>
            <a:r>
              <a:rPr sz="1400">
                <a:solidFill>
                  <a:srgbClr val="E6E6EF"/>
                </a:solidFill>
                <a:latin typeface="Consolas"/>
              </a:rPr>
              <a:t>    │     predictions.txt counter.h</a:t>
            </a:r>
          </a:p>
          <a:p>
            <a:pPr>
              <a:spcAft>
                <a:spcPts val="0"/>
              </a:spcAft>
            </a:pPr>
            <a:r>
              <a:rPr sz="1400">
                <a:solidFill>
                  <a:srgbClr val="E6E6EF"/>
                </a:solidFill>
                <a:latin typeface="Consolas"/>
              </a:rPr>
              <a:t>    │     counter_test.cpp Makefile</a:t>
            </a:r>
          </a:p>
          <a:p>
            <a:pPr>
              <a:spcAft>
                <a:spcPts val="0"/>
              </a:spcAft>
            </a:pPr>
            <a:r>
              <a:rPr sz="1400">
                <a:solidFill>
                  <a:srgbClr val="E6E6EF"/>
                </a:solidFill>
                <a:latin typeface="Consolas"/>
              </a:rPr>
              <a:t>    └── ex4-operators/</a:t>
            </a:r>
          </a:p>
          <a:p>
            <a:pPr>
              <a:spcAft>
                <a:spcPts val="0"/>
              </a:spcAft>
            </a:pPr>
            <a:r>
              <a:rPr sz="1400">
                <a:solidFill>
                  <a:srgbClr val="E6E6EF"/>
                </a:solidFill>
                <a:latin typeface="Consolas"/>
              </a:rPr>
              <a:t>          rational.h rational.cpp</a:t>
            </a:r>
          </a:p>
          <a:p>
            <a:pPr>
              <a:spcAft>
                <a:spcPts val="0"/>
              </a:spcAft>
            </a:pPr>
            <a:r>
              <a:rPr sz="1400">
                <a:solidFill>
                  <a:srgbClr val="E6E6EF"/>
                </a:solidFill>
                <a:latin typeface="Consolas"/>
              </a:rPr>
              <a:t>          test_operators.cpp Makefile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E1438"/>
        </a:solidFill>
        <a:effectLst/>
      </p:bgPr>
    </p:bg>
    <p:spTree>
      <p:nvGrpSpPr>
        <p:cNvPr id="1" name=""/>
        <p:cNvGrpSpPr/>
        <p:nvPr/>
      </p:nvGrpSpPr>
      <p:grpSpPr/>
      <p:sp>
        <p:nvSpPr>
          <p:cNvPr id="2" name="TextBox 1"/>
          <p:cNvSpPr txBox="1"/>
          <p:nvPr/>
        </p:nvSpPr>
        <p:spPr>
          <a:xfrm>
            <a:off x="548640" y="548640"/>
            <a:ext cx="10972800" cy="822960"/>
          </a:xfrm>
          <a:prstGeom prst="rect">
            <a:avLst/>
          </a:prstGeom>
          <a:noFill/>
        </p:spPr>
        <p:txBody>
          <a:bodyPr wrap="square" lIns="0" rIns="0" tIns="0" bIns="0" anchor="t">
            <a:spAutoFit/>
          </a:bodyPr>
          <a:lstStyle/>
          <a:p>
            <a:pPr algn="l"/>
            <a:r>
              <a:rPr sz="4000" b="1">
                <a:solidFill>
                  <a:srgbClr val="FFFFFF"/>
                </a:solidFill>
                <a:latin typeface="Calibri"/>
              </a:rPr>
              <a:t>Takeaways</a:t>
            </a:r>
          </a:p>
        </p:txBody>
      </p:sp>
      <p:sp>
        <p:nvSpPr>
          <p:cNvPr id="3" name="Rounded Rectangle 2"/>
          <p:cNvSpPr/>
          <p:nvPr/>
        </p:nvSpPr>
        <p:spPr>
          <a:xfrm>
            <a:off x="548640"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22960"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1</a:t>
            </a:r>
          </a:p>
        </p:txBody>
      </p:sp>
      <p:sp>
        <p:nvSpPr>
          <p:cNvPr id="5" name="TextBox 4"/>
          <p:cNvSpPr txBox="1"/>
          <p:nvPr/>
        </p:nvSpPr>
        <p:spPr>
          <a:xfrm>
            <a:off x="1463040" y="1783080"/>
            <a:ext cx="4175607" cy="1691640"/>
          </a:xfrm>
          <a:prstGeom prst="rect">
            <a:avLst/>
          </a:prstGeom>
          <a:noFill/>
        </p:spPr>
        <p:txBody>
          <a:bodyPr wrap="square" lIns="0" rIns="0" tIns="0" bIns="0" anchor="ctr">
            <a:spAutoFit/>
          </a:bodyPr>
          <a:lstStyle/>
          <a:p>
            <a:r>
              <a:rPr sz="2200" b="0">
                <a:solidFill>
                  <a:srgbClr val="FFFFFF"/>
                </a:solidFill>
                <a:latin typeface="Calibri"/>
              </a:rPr>
              <a:t>Debug messages go to </a:t>
            </a:r>
            <a:r>
              <a:rPr sz="2200" b="0">
                <a:solidFill>
                  <a:srgbClr val="C5B4E3"/>
                </a:solidFill>
                <a:latin typeface="Consolas"/>
              </a:rPr>
              <a:t>cerr</a:t>
            </a:r>
            <a:r>
              <a:rPr sz="2200" b="0">
                <a:solidFill>
                  <a:srgbClr val="FFFFFF"/>
                </a:solidFill>
                <a:latin typeface="Calibri"/>
              </a:rPr>
              <a:t>. After a crash: run it in the debugger and read </a:t>
            </a:r>
            <a:r>
              <a:rPr sz="2200" b="0">
                <a:solidFill>
                  <a:srgbClr val="C5B4E3"/>
                </a:solidFill>
                <a:latin typeface="Consolas"/>
              </a:rPr>
              <a:t>bt</a:t>
            </a:r>
            <a:r>
              <a:rPr sz="2200" b="0">
                <a:solidFill>
                  <a:srgbClr val="FFFFFF"/>
                </a:solidFill>
                <a:latin typeface="Calibri"/>
              </a:rPr>
              <a:t>; for wrong output, break and step.</a:t>
            </a:r>
          </a:p>
        </p:txBody>
      </p:sp>
      <p:sp>
        <p:nvSpPr>
          <p:cNvPr id="6" name="Rounded Rectangle 5"/>
          <p:cNvSpPr/>
          <p:nvPr/>
        </p:nvSpPr>
        <p:spPr>
          <a:xfrm>
            <a:off x="6278727" y="155448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53047" y="182880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2</a:t>
            </a:r>
          </a:p>
        </p:txBody>
      </p:sp>
      <p:sp>
        <p:nvSpPr>
          <p:cNvPr id="8" name="TextBox 7"/>
          <p:cNvSpPr txBox="1"/>
          <p:nvPr/>
        </p:nvSpPr>
        <p:spPr>
          <a:xfrm>
            <a:off x="7193127" y="1783080"/>
            <a:ext cx="4175607" cy="1691640"/>
          </a:xfrm>
          <a:prstGeom prst="rect">
            <a:avLst/>
          </a:prstGeom>
          <a:noFill/>
        </p:spPr>
        <p:txBody>
          <a:bodyPr wrap="square" lIns="0" rIns="0" tIns="0" bIns="0" anchor="ctr">
            <a:spAutoFit/>
          </a:bodyPr>
          <a:lstStyle/>
          <a:p>
            <a:r>
              <a:rPr sz="2200" b="0">
                <a:solidFill>
                  <a:srgbClr val="FFFFFF"/>
                </a:solidFill>
                <a:latin typeface="Calibri"/>
              </a:rPr>
              <a:t>Class in the </a:t>
            </a:r>
            <a:r>
              <a:rPr sz="2200" b="0">
                <a:solidFill>
                  <a:srgbClr val="C5B4E3"/>
                </a:solidFill>
                <a:latin typeface="Consolas"/>
              </a:rPr>
              <a:t>.h</a:t>
            </a:r>
            <a:r>
              <a:rPr sz="2200" b="0">
                <a:solidFill>
                  <a:srgbClr val="FFFFFF"/>
                </a:solidFill>
                <a:latin typeface="Calibri"/>
              </a:rPr>
              <a:t>, members in the </a:t>
            </a:r>
            <a:r>
              <a:rPr sz="2200" b="0">
                <a:solidFill>
                  <a:srgbClr val="C5B4E3"/>
                </a:solidFill>
                <a:latin typeface="Consolas"/>
              </a:rPr>
              <a:t>.cpp</a:t>
            </a:r>
            <a:r>
              <a:rPr sz="2200" b="0">
                <a:solidFill>
                  <a:srgbClr val="FFFFFF"/>
                </a:solidFill>
                <a:latin typeface="Calibri"/>
              </a:rPr>
              <a:t>, initializer lists, and </a:t>
            </a:r>
            <a:r>
              <a:rPr sz="2200" b="0">
                <a:solidFill>
                  <a:srgbClr val="C5B4E3"/>
                </a:solidFill>
                <a:latin typeface="Consolas"/>
              </a:rPr>
              <a:t>const</a:t>
            </a:r>
            <a:r>
              <a:rPr sz="2200" b="0">
                <a:solidFill>
                  <a:srgbClr val="FFFFFF"/>
                </a:solidFill>
                <a:latin typeface="Calibri"/>
              </a:rPr>
              <a:t> on every read-only member.</a:t>
            </a:r>
          </a:p>
        </p:txBody>
      </p:sp>
      <p:sp>
        <p:nvSpPr>
          <p:cNvPr id="9" name="Rounded Rectangle 8"/>
          <p:cNvSpPr/>
          <p:nvPr/>
        </p:nvSpPr>
        <p:spPr>
          <a:xfrm>
            <a:off x="548640"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3</a:t>
            </a:r>
          </a:p>
        </p:txBody>
      </p:sp>
      <p:sp>
        <p:nvSpPr>
          <p:cNvPr id="11" name="TextBox 10"/>
          <p:cNvSpPr txBox="1"/>
          <p:nvPr/>
        </p:nvSpPr>
        <p:spPr>
          <a:xfrm>
            <a:off x="1463040" y="4206240"/>
            <a:ext cx="4175607" cy="1691640"/>
          </a:xfrm>
          <a:prstGeom prst="rect">
            <a:avLst/>
          </a:prstGeom>
          <a:noFill/>
        </p:spPr>
        <p:txBody>
          <a:bodyPr wrap="square" lIns="0" rIns="0" tIns="0" bIns="0" anchor="ctr">
            <a:spAutoFit/>
          </a:bodyPr>
          <a:lstStyle/>
          <a:p>
            <a:r>
              <a:rPr sz="2200" b="0">
                <a:solidFill>
                  <a:srgbClr val="FFFFFF"/>
                </a:solidFill>
                <a:latin typeface="Calibri"/>
              </a:rPr>
              <a:t>Objects die at the end of their scope, in reverse order. Pass objects by </a:t>
            </a:r>
            <a:r>
              <a:rPr sz="2200" b="0">
                <a:solidFill>
                  <a:srgbClr val="C5B4E3"/>
                </a:solidFill>
                <a:latin typeface="Consolas"/>
              </a:rPr>
              <a:t>const&amp;</a:t>
            </a:r>
            <a:r>
              <a:rPr sz="2200" b="0">
                <a:solidFill>
                  <a:srgbClr val="FFFFFF"/>
                </a:solidFill>
                <a:latin typeface="Calibri"/>
              </a:rPr>
              <a:t> to avoid copies.</a:t>
            </a:r>
          </a:p>
        </p:txBody>
      </p:sp>
      <p:sp>
        <p:nvSpPr>
          <p:cNvPr id="12" name="Rounded Rectangle 11"/>
          <p:cNvSpPr/>
          <p:nvPr/>
        </p:nvSpPr>
        <p:spPr>
          <a:xfrm>
            <a:off x="6278727" y="3977640"/>
            <a:ext cx="5364327" cy="2148840"/>
          </a:xfrm>
          <a:prstGeom prst="roundRect">
            <a:avLst>
              <a:gd name="adj" fmla="val 6000"/>
            </a:avLst>
          </a:prstGeom>
          <a:solidFill>
            <a:srgbClr val="4B2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53047" y="4251960"/>
            <a:ext cx="457200" cy="457200"/>
          </a:xfrm>
          <a:prstGeom prst="ellipse">
            <a:avLst/>
          </a:prstGeom>
          <a:solidFill>
            <a:srgbClr val="1E14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5B4E3"/>
                </a:solidFill>
                <a:latin typeface="Calibri"/>
              </a:rPr>
              <a:t>4</a:t>
            </a:r>
          </a:p>
        </p:txBody>
      </p:sp>
      <p:sp>
        <p:nvSpPr>
          <p:cNvPr id="14" name="TextBox 13"/>
          <p:cNvSpPr txBox="1"/>
          <p:nvPr/>
        </p:nvSpPr>
        <p:spPr>
          <a:xfrm>
            <a:off x="7193127" y="4206240"/>
            <a:ext cx="4175607" cy="1691640"/>
          </a:xfrm>
          <a:prstGeom prst="rect">
            <a:avLst/>
          </a:prstGeom>
          <a:noFill/>
        </p:spPr>
        <p:txBody>
          <a:bodyPr wrap="square" lIns="0" rIns="0" tIns="0" bIns="0" anchor="ctr">
            <a:spAutoFit/>
          </a:bodyPr>
          <a:lstStyle/>
          <a:p>
            <a:r>
              <a:rPr sz="2200" b="0">
                <a:solidFill>
                  <a:srgbClr val="FFFFFF"/>
                </a:solidFill>
                <a:latin typeface="Calibri"/>
              </a:rPr>
              <a:t>Compound operators are members returning </a:t>
            </a:r>
            <a:r>
              <a:rPr sz="2200" b="0">
                <a:solidFill>
                  <a:srgbClr val="C5B4E3"/>
                </a:solidFill>
                <a:latin typeface="Consolas"/>
              </a:rPr>
              <a:t>*this</a:t>
            </a:r>
            <a:r>
              <a:rPr sz="2200" b="0">
                <a:solidFill>
                  <a:srgbClr val="FFFFFF"/>
                </a:solidFill>
                <a:latin typeface="Calibri"/>
              </a:rPr>
              <a:t> by reference; </a:t>
            </a:r>
            <a:r>
              <a:rPr sz="2200" b="0">
                <a:solidFill>
                  <a:srgbClr val="C5B4E3"/>
                </a:solidFill>
                <a:latin typeface="Consolas"/>
              </a:rPr>
              <a:t>+</a:t>
            </a:r>
            <a:r>
              <a:rPr sz="2200" b="0">
                <a:solidFill>
                  <a:srgbClr val="FFFFFF"/>
                </a:solidFill>
                <a:latin typeface="Calibri"/>
              </a:rPr>
              <a:t>, </a:t>
            </a:r>
            <a:r>
              <a:rPr sz="2200" b="0">
                <a:solidFill>
                  <a:srgbClr val="C5B4E3"/>
                </a:solidFill>
                <a:latin typeface="Consolas"/>
              </a:rPr>
              <a:t>==</a:t>
            </a:r>
            <a:r>
              <a:rPr sz="2200" b="0">
                <a:solidFill>
                  <a:srgbClr val="FFFFFF"/>
                </a:solidFill>
                <a:latin typeface="Calibri"/>
              </a:rPr>
              <a:t>, </a:t>
            </a:r>
            <a:r>
              <a:rPr sz="2200" b="0">
                <a:solidFill>
                  <a:srgbClr val="C5B4E3"/>
                </a:solidFill>
                <a:latin typeface="Consolas"/>
              </a:rPr>
              <a:t>&lt;&lt;</a:t>
            </a:r>
            <a:r>
              <a:rPr sz="2200" b="0">
                <a:solidFill>
                  <a:srgbClr val="FFFFFF"/>
                </a:solidFill>
                <a:latin typeface="Calibri"/>
              </a:rPr>
              <a:t> are non-members.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