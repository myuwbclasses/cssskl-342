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Array-based and linked bags, stacks, and lists in CSS 342 are built from exactly these pieces: pointers, arrays, new/delete, and nodes.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3:05-3:15. 5:05-5:15 is catch-up and wrap-up. Students need valgrind working today. The lecture examples are in each lab's examples/ folder (they come with the starter zip).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 hides addresses: every object variable is a reference the language manages for you. C++ lets you hold an address yourself, in a pointer, and that is how you reach memory you allocate while the program runs and how you build structures that grow and change shape, such as linked lists and trees. Pointers are also the most common cause of C++ crashes, so it pays to be exact about what `&amp;` and `*` mean.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two boxes: a (value 5) and p (value = a's address), with an arrow from p to a. This course writes int *p, like Carrano: the star sits next to the name it belongs 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from the instructor's two tables. Both columns are DECLARATIONS: a name is being introduced. Never return a reference or a pointer to one of the function's own locals. Example: Lab3/examples/1.1.amp_and_star uses every row of both tables.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columns are STATEMENTS (code that runs). g++ for &amp;aVar = ...: error: lvalue required as left operand of assignment. An address can appear anywhere a value can (f(&amp;aVar), aPtr == &amp;aVar), just never on the left of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page's Context and meaning of &amp; / of * tables; the rare rows are collapsed there. const int *p: can't change the int through p, p can move. int *const p: the reverse. Example: Lab3/examples/1.2.const_and_pointers.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3 Exercise 1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array is the simplest and fastest container: elements side by side in memory, each reached by its index in one step. Underneath `vector`, `string`, and the array-based containers you'll write for CSS 342 is a plain C++ array. Unlike a Java array, it carries no length and checks no index, so knowing what it is in memory is how you avoid writing past its end.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Lab3/examples/2.1.index_is_pointer_arithmetic (a[3] and *(a + 3); p[-2] from a[2]). Carrano's ArrayBag keeps an itemCount for exactly this reason: the array can't tell you its length.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 ends with b[4] = 10 and b[-1] = 5: exit code 0, valgrind ERROR SUMMARY: 0 errors. Exercise 2's TODO 7 shows an off-by-one overwriting a neighbor.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 2.2.array_of_objects (prints each constructor call), 2.3.array_2d (g++: cannot convert 'int (*)[3]' to 'int**'; the memory sketch is at the end of the file).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3 Exercise 2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local variable dies at the end of its scope, and a local array's size must be known when you compile. Many programs need memory whose size is only known at run time (room for every line of a file) or that must outlive the function that made it (a node added to a list). The heap provides that memory, but in C++ you, not a garbage collector, decide when it's released, and `valgrind` checks that you got it right.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Lab3/examples/3.1.new_and_delete: stack array, one int and one Point on the heap, three ways to start a heap array, passing it to a function, releasing it in main or in a function.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message comes with a stack trace: the line where it happened and where the block was allocated. Compile with -g. Example: Lab3/examples/3.2.dangling_and_leak (a dangling pointer, an overwritten pointer, and a local pointer that dies while its block doesn't).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3 Exercise 3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array is one fixed block, so growing it or inserting in the middle means moving or copying everything. A chain of nodes linked by pointers grows one node at a time, and inserting anywhere means changing just a couple of pointers. The linked stacks, queues, lists, and trees in CSS 342 are all built from such nodes, so these pointer patterns come back in almost every assignment.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Lab3/examples/4.1.build_and_walk (all in main, no functions).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Lab3/examples/4.2.change_and_remove (all in main). Draw boxes and arrows for each step.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3 Exercise 4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8503920" y="-1097280"/>
            <a:ext cx="4754880" cy="47548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9144000" cy="457200"/>
          </a:xfrm>
          <a:prstGeom prst="rect">
            <a:avLst/>
          </a:prstGeom>
          <a:noFill/>
        </p:spPr>
        <p:txBody>
          <a:bodyPr wrap="square" lIns="0" rIns="0" tIns="0" bIns="0" anchor="t">
            <a:spAutoFit/>
          </a:bodyPr>
          <a:lstStyle/>
          <a:p>
            <a:pPr algn="l"/>
            <a:r>
              <a:rPr sz="1600" b="1">
                <a:solidFill>
                  <a:srgbClr val="C5B4E3"/>
                </a:solidFill>
                <a:latin typeface="Calibri"/>
              </a:rPr>
              <a:t>CSS SKL 342 · LAB 3</a:t>
            </a:r>
          </a:p>
        </p:txBody>
      </p:sp>
      <p:sp>
        <p:nvSpPr>
          <p:cNvPr id="4" name="TextBox 3"/>
          <p:cNvSpPr txBox="1"/>
          <p:nvPr/>
        </p:nvSpPr>
        <p:spPr>
          <a:xfrm>
            <a:off x="548640" y="2514600"/>
            <a:ext cx="9601200" cy="1280160"/>
          </a:xfrm>
          <a:prstGeom prst="rect">
            <a:avLst/>
          </a:prstGeom>
          <a:noFill/>
        </p:spPr>
        <p:txBody>
          <a:bodyPr wrap="square" lIns="0" rIns="0" tIns="0" bIns="0" anchor="t">
            <a:spAutoFit/>
          </a:bodyPr>
          <a:lstStyle/>
          <a:p>
            <a:pPr algn="l"/>
            <a:r>
              <a:rPr sz="4000" b="1">
                <a:solidFill>
                  <a:srgbClr val="FFFFFF"/>
                </a:solidFill>
                <a:latin typeface="Calibri"/>
              </a:rPr>
              <a:t>Pointers, Arrays, and Dynamic Memory</a:t>
            </a:r>
          </a:p>
        </p:txBody>
      </p:sp>
      <p:sp>
        <p:nvSpPr>
          <p:cNvPr id="5" name="TextBox 4"/>
          <p:cNvSpPr txBox="1"/>
          <p:nvPr/>
        </p:nvSpPr>
        <p:spPr>
          <a:xfrm>
            <a:off x="548640" y="3886200"/>
            <a:ext cx="8686800" cy="1097280"/>
          </a:xfrm>
          <a:prstGeom prst="rect">
            <a:avLst/>
          </a:prstGeom>
          <a:noFill/>
        </p:spPr>
        <p:txBody>
          <a:bodyPr wrap="square" lIns="0" rIns="0" tIns="0" bIns="0" anchor="t">
            <a:spAutoFit/>
          </a:bodyPr>
          <a:lstStyle/>
          <a:p>
            <a:pPr algn="l"/>
            <a:r>
              <a:rPr sz="2000" b="0">
                <a:solidFill>
                  <a:srgbClr val="C5B4E3"/>
                </a:solidFill>
                <a:latin typeface="Calibri"/>
              </a:rPr>
              <a:t>Addresses · &amp; and * · arrays · new and delete · linked nodes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Today's plan</a:t>
            </a:r>
          </a:p>
        </p:txBody>
      </p:sp>
      <p:sp>
        <p:nvSpPr>
          <p:cNvPr id="5" name="Rounded Rectangle 4"/>
          <p:cNvSpPr/>
          <p:nvPr/>
        </p:nvSpPr>
        <p:spPr>
          <a:xfrm>
            <a:off x="548640"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7" name="TextBox 6"/>
          <p:cNvSpPr txBox="1"/>
          <p:nvPr/>
        </p:nvSpPr>
        <p:spPr>
          <a:xfrm>
            <a:off x="777240"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Pointers</a:t>
            </a:r>
          </a:p>
        </p:txBody>
      </p:sp>
      <p:sp>
        <p:nvSpPr>
          <p:cNvPr id="8" name="Rounded Rectangle 7"/>
          <p:cNvSpPr/>
          <p:nvPr/>
        </p:nvSpPr>
        <p:spPr>
          <a:xfrm>
            <a:off x="777240"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9" name="TextBox 8"/>
          <p:cNvSpPr txBox="1"/>
          <p:nvPr/>
        </p:nvSpPr>
        <p:spPr>
          <a:xfrm>
            <a:off x="2011680"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1:15 · 25 min</a:t>
            </a:r>
          </a:p>
        </p:txBody>
      </p:sp>
      <p:sp>
        <p:nvSpPr>
          <p:cNvPr id="10" name="TextBox 9"/>
          <p:cNvSpPr txBox="1"/>
          <p:nvPr/>
        </p:nvSpPr>
        <p:spPr>
          <a:xfrm>
            <a:off x="777240"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Addresses; &amp; and * at a glance</a:t>
            </a:r>
          </a:p>
        </p:txBody>
      </p:sp>
      <p:sp>
        <p:nvSpPr>
          <p:cNvPr id="11" name="Rounded Rectangle 10"/>
          <p:cNvSpPr/>
          <p:nvPr/>
        </p:nvSpPr>
        <p:spPr>
          <a:xfrm>
            <a:off x="777240"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12" name="TextBox 11"/>
          <p:cNvSpPr txBox="1"/>
          <p:nvPr/>
        </p:nvSpPr>
        <p:spPr>
          <a:xfrm>
            <a:off x="2011680"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1:40 · 20 min</a:t>
            </a:r>
          </a:p>
        </p:txBody>
      </p:sp>
      <p:sp>
        <p:nvSpPr>
          <p:cNvPr id="13" name="TextBox 12"/>
          <p:cNvSpPr txBox="1"/>
          <p:nvPr/>
        </p:nvSpPr>
        <p:spPr>
          <a:xfrm>
            <a:off x="777240"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Pointer basics</a:t>
            </a:r>
          </a:p>
        </p:txBody>
      </p:sp>
      <p:sp>
        <p:nvSpPr>
          <p:cNvPr id="14" name="Rounded Rectangle 13"/>
          <p:cNvSpPr/>
          <p:nvPr/>
        </p:nvSpPr>
        <p:spPr>
          <a:xfrm>
            <a:off x="777240"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15" name="TextBox 14"/>
          <p:cNvSpPr txBox="1"/>
          <p:nvPr/>
        </p:nvSpPr>
        <p:spPr>
          <a:xfrm>
            <a:off x="2011680"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2:00 · 10 min</a:t>
            </a:r>
          </a:p>
        </p:txBody>
      </p:sp>
      <p:sp>
        <p:nvSpPr>
          <p:cNvPr id="16" name="TextBox 15"/>
          <p:cNvSpPr txBox="1"/>
          <p:nvPr/>
        </p:nvSpPr>
        <p:spPr>
          <a:xfrm>
            <a:off x="777240"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 self-test</a:t>
            </a:r>
          </a:p>
        </p:txBody>
      </p:sp>
      <p:sp>
        <p:nvSpPr>
          <p:cNvPr id="17" name="Rounded Rectangle 16"/>
          <p:cNvSpPr/>
          <p:nvPr/>
        </p:nvSpPr>
        <p:spPr>
          <a:xfrm>
            <a:off x="3390823"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19423"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9" name="TextBox 18"/>
          <p:cNvSpPr txBox="1"/>
          <p:nvPr/>
        </p:nvSpPr>
        <p:spPr>
          <a:xfrm>
            <a:off x="3619423"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Arrays</a:t>
            </a:r>
          </a:p>
        </p:txBody>
      </p:sp>
      <p:sp>
        <p:nvSpPr>
          <p:cNvPr id="20" name="Rounded Rectangle 19"/>
          <p:cNvSpPr/>
          <p:nvPr/>
        </p:nvSpPr>
        <p:spPr>
          <a:xfrm>
            <a:off x="3619423"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21" name="TextBox 20"/>
          <p:cNvSpPr txBox="1"/>
          <p:nvPr/>
        </p:nvSpPr>
        <p:spPr>
          <a:xfrm>
            <a:off x="4853863"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2:10 · 15 min</a:t>
            </a:r>
          </a:p>
        </p:txBody>
      </p:sp>
      <p:sp>
        <p:nvSpPr>
          <p:cNvPr id="22" name="TextBox 21"/>
          <p:cNvSpPr txBox="1"/>
          <p:nvPr/>
        </p:nvSpPr>
        <p:spPr>
          <a:xfrm>
            <a:off x="3619423"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Arrays are memory</a:t>
            </a:r>
          </a:p>
        </p:txBody>
      </p:sp>
      <p:sp>
        <p:nvSpPr>
          <p:cNvPr id="23" name="Rounded Rectangle 22"/>
          <p:cNvSpPr/>
          <p:nvPr/>
        </p:nvSpPr>
        <p:spPr>
          <a:xfrm>
            <a:off x="3619423"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24" name="TextBox 23"/>
          <p:cNvSpPr txBox="1"/>
          <p:nvPr/>
        </p:nvSpPr>
        <p:spPr>
          <a:xfrm>
            <a:off x="4853863"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2:25 · 30 min</a:t>
            </a:r>
          </a:p>
        </p:txBody>
      </p:sp>
      <p:sp>
        <p:nvSpPr>
          <p:cNvPr id="25" name="TextBox 24"/>
          <p:cNvSpPr txBox="1"/>
          <p:nvPr/>
        </p:nvSpPr>
        <p:spPr>
          <a:xfrm>
            <a:off x="3619423"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Arrays and pointers</a:t>
            </a:r>
          </a:p>
        </p:txBody>
      </p:sp>
      <p:sp>
        <p:nvSpPr>
          <p:cNvPr id="26" name="Rounded Rectangle 25"/>
          <p:cNvSpPr/>
          <p:nvPr/>
        </p:nvSpPr>
        <p:spPr>
          <a:xfrm>
            <a:off x="3619423"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27" name="TextBox 26"/>
          <p:cNvSpPr txBox="1"/>
          <p:nvPr/>
        </p:nvSpPr>
        <p:spPr>
          <a:xfrm>
            <a:off x="4853863"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2:55 · 10 min</a:t>
            </a:r>
          </a:p>
        </p:txBody>
      </p:sp>
      <p:sp>
        <p:nvSpPr>
          <p:cNvPr id="28" name="TextBox 27"/>
          <p:cNvSpPr txBox="1"/>
          <p:nvPr/>
        </p:nvSpPr>
        <p:spPr>
          <a:xfrm>
            <a:off x="3619423"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 self-test</a:t>
            </a:r>
          </a:p>
        </p:txBody>
      </p:sp>
      <p:sp>
        <p:nvSpPr>
          <p:cNvPr id="29" name="Rounded Rectangle 28"/>
          <p:cNvSpPr/>
          <p:nvPr/>
        </p:nvSpPr>
        <p:spPr>
          <a:xfrm>
            <a:off x="6233007"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61607"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31" name="TextBox 30"/>
          <p:cNvSpPr txBox="1"/>
          <p:nvPr/>
        </p:nvSpPr>
        <p:spPr>
          <a:xfrm>
            <a:off x="6461607"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Dynamic memory</a:t>
            </a:r>
          </a:p>
        </p:txBody>
      </p:sp>
      <p:sp>
        <p:nvSpPr>
          <p:cNvPr id="32" name="Rounded Rectangle 31"/>
          <p:cNvSpPr/>
          <p:nvPr/>
        </p:nvSpPr>
        <p:spPr>
          <a:xfrm>
            <a:off x="6461607"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33" name="TextBox 32"/>
          <p:cNvSpPr txBox="1"/>
          <p:nvPr/>
        </p:nvSpPr>
        <p:spPr>
          <a:xfrm>
            <a:off x="7696047"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3:15 · 15 min</a:t>
            </a:r>
          </a:p>
        </p:txBody>
      </p:sp>
      <p:sp>
        <p:nvSpPr>
          <p:cNvPr id="34" name="TextBox 33"/>
          <p:cNvSpPr txBox="1"/>
          <p:nvPr/>
        </p:nvSpPr>
        <p:spPr>
          <a:xfrm>
            <a:off x="6461607"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new and delete</a:t>
            </a:r>
          </a:p>
        </p:txBody>
      </p:sp>
      <p:sp>
        <p:nvSpPr>
          <p:cNvPr id="35" name="Rounded Rectangle 34"/>
          <p:cNvSpPr/>
          <p:nvPr/>
        </p:nvSpPr>
        <p:spPr>
          <a:xfrm>
            <a:off x="6461607"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36" name="TextBox 35"/>
          <p:cNvSpPr txBox="1"/>
          <p:nvPr/>
        </p:nvSpPr>
        <p:spPr>
          <a:xfrm>
            <a:off x="7696047"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3:30 · 25 min</a:t>
            </a:r>
          </a:p>
        </p:txBody>
      </p:sp>
      <p:sp>
        <p:nvSpPr>
          <p:cNvPr id="37" name="TextBox 36"/>
          <p:cNvSpPr txBox="1"/>
          <p:nvPr/>
        </p:nvSpPr>
        <p:spPr>
          <a:xfrm>
            <a:off x="6461607"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new[], valgrind</a:t>
            </a:r>
          </a:p>
        </p:txBody>
      </p:sp>
      <p:sp>
        <p:nvSpPr>
          <p:cNvPr id="38" name="Rounded Rectangle 37"/>
          <p:cNvSpPr/>
          <p:nvPr/>
        </p:nvSpPr>
        <p:spPr>
          <a:xfrm>
            <a:off x="6461607"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39" name="TextBox 38"/>
          <p:cNvSpPr txBox="1"/>
          <p:nvPr/>
        </p:nvSpPr>
        <p:spPr>
          <a:xfrm>
            <a:off x="7696047"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3:55 · 10 min</a:t>
            </a:r>
          </a:p>
        </p:txBody>
      </p:sp>
      <p:sp>
        <p:nvSpPr>
          <p:cNvPr id="40" name="TextBox 39"/>
          <p:cNvSpPr txBox="1"/>
          <p:nvPr/>
        </p:nvSpPr>
        <p:spPr>
          <a:xfrm>
            <a:off x="6461607"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 self-test</a:t>
            </a:r>
          </a:p>
        </p:txBody>
      </p:sp>
      <p:sp>
        <p:nvSpPr>
          <p:cNvPr id="41" name="Rounded Rectangle 40"/>
          <p:cNvSpPr/>
          <p:nvPr/>
        </p:nvSpPr>
        <p:spPr>
          <a:xfrm>
            <a:off x="9075191"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303791"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43" name="TextBox 42"/>
          <p:cNvSpPr txBox="1"/>
          <p:nvPr/>
        </p:nvSpPr>
        <p:spPr>
          <a:xfrm>
            <a:off x="9303791"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Linked nodes</a:t>
            </a:r>
          </a:p>
        </p:txBody>
      </p:sp>
      <p:sp>
        <p:nvSpPr>
          <p:cNvPr id="44" name="Rounded Rectangle 43"/>
          <p:cNvSpPr/>
          <p:nvPr/>
        </p:nvSpPr>
        <p:spPr>
          <a:xfrm>
            <a:off x="9303791"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45" name="TextBox 44"/>
          <p:cNvSpPr txBox="1"/>
          <p:nvPr/>
        </p:nvSpPr>
        <p:spPr>
          <a:xfrm>
            <a:off x="10538231"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4:05 · 15 min</a:t>
            </a:r>
          </a:p>
        </p:txBody>
      </p:sp>
      <p:sp>
        <p:nvSpPr>
          <p:cNvPr id="46" name="TextBox 45"/>
          <p:cNvSpPr txBox="1"/>
          <p:nvPr/>
        </p:nvSpPr>
        <p:spPr>
          <a:xfrm>
            <a:off x="9303791"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Chains of nodes</a:t>
            </a:r>
          </a:p>
        </p:txBody>
      </p:sp>
      <p:sp>
        <p:nvSpPr>
          <p:cNvPr id="47" name="Rounded Rectangle 46"/>
          <p:cNvSpPr/>
          <p:nvPr/>
        </p:nvSpPr>
        <p:spPr>
          <a:xfrm>
            <a:off x="9303791"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48" name="TextBox 47"/>
          <p:cNvSpPr txBox="1"/>
          <p:nvPr/>
        </p:nvSpPr>
        <p:spPr>
          <a:xfrm>
            <a:off x="10538231"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4:20 · 35 min</a:t>
            </a:r>
          </a:p>
        </p:txBody>
      </p:sp>
      <p:sp>
        <p:nvSpPr>
          <p:cNvPr id="49" name="TextBox 48"/>
          <p:cNvSpPr txBox="1"/>
          <p:nvPr/>
        </p:nvSpPr>
        <p:spPr>
          <a:xfrm>
            <a:off x="9303791"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Node functions</a:t>
            </a:r>
          </a:p>
        </p:txBody>
      </p:sp>
      <p:sp>
        <p:nvSpPr>
          <p:cNvPr id="50" name="Rounded Rectangle 49"/>
          <p:cNvSpPr/>
          <p:nvPr/>
        </p:nvSpPr>
        <p:spPr>
          <a:xfrm>
            <a:off x="9303791"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51" name="TextBox 50"/>
          <p:cNvSpPr txBox="1"/>
          <p:nvPr/>
        </p:nvSpPr>
        <p:spPr>
          <a:xfrm>
            <a:off x="10538231"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4:55 · 10 min</a:t>
            </a:r>
          </a:p>
        </p:txBody>
      </p:sp>
      <p:sp>
        <p:nvSpPr>
          <p:cNvPr id="52" name="TextBox 51"/>
          <p:cNvSpPr txBox="1"/>
          <p:nvPr/>
        </p:nvSpPr>
        <p:spPr>
          <a:xfrm>
            <a:off x="9303791"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catch-up 5:05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1</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Pointers</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Pointers reach memory made at run time and build structures that grow, like lists and trees</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Take an address with </a:t>
            </a:r>
            <a:r>
              <a:rPr sz="2000" b="0">
                <a:solidFill>
                  <a:srgbClr val="C5B4E3"/>
                </a:solidFill>
                <a:latin typeface="Consolas"/>
              </a:rPr>
              <a:t>&amp;</a:t>
            </a:r>
            <a:r>
              <a:rPr sz="2000" b="0">
                <a:solidFill>
                  <a:srgbClr val="FFFFFF"/>
                </a:solidFill>
                <a:latin typeface="Calibri"/>
              </a:rPr>
              <a:t> and follow it with </a:t>
            </a:r>
            <a:r>
              <a:rPr sz="2000" b="0">
                <a:solidFill>
                  <a:srgbClr val="C5B4E3"/>
                </a:solidFill>
                <a:latin typeface="Consolas"/>
              </a:rPr>
              <a:t>*</a:t>
            </a:r>
          </a:p>
          <a:p>
            <a:pPr marL="256032" indent="-228600">
              <a:spcAft>
                <a:spcPts val="600"/>
              </a:spcAft>
              <a:buClr>
                <a:srgbClr val="5B6475"/>
              </a:buClr>
              <a:buChar char="›"/>
            </a:pPr>
            <a:r>
              <a:rPr sz="2000" b="0">
                <a:solidFill>
                  <a:srgbClr val="FFFFFF"/>
                </a:solidFill>
                <a:latin typeface="Calibri"/>
              </a:rPr>
              <a:t>Tell the jobs of </a:t>
            </a:r>
            <a:r>
              <a:rPr sz="2000" b="0">
                <a:solidFill>
                  <a:srgbClr val="C5B4E3"/>
                </a:solidFill>
                <a:latin typeface="Consolas"/>
              </a:rPr>
              <a:t>&amp;</a:t>
            </a:r>
            <a:r>
              <a:rPr sz="2000" b="0">
                <a:solidFill>
                  <a:srgbClr val="FFFFFF"/>
                </a:solidFill>
                <a:latin typeface="Calibri"/>
              </a:rPr>
              <a:t> and </a:t>
            </a:r>
            <a:r>
              <a:rPr sz="2000" b="0">
                <a:solidFill>
                  <a:srgbClr val="C5B4E3"/>
                </a:solidFill>
                <a:latin typeface="Consolas"/>
              </a:rPr>
              <a:t>*</a:t>
            </a:r>
            <a:r>
              <a:rPr sz="2000" b="0">
                <a:solidFill>
                  <a:srgbClr val="FFFFFF"/>
                </a:solidFill>
                <a:latin typeface="Calibri"/>
              </a:rPr>
              <a:t> apart wherever you see them</a:t>
            </a:r>
          </a:p>
          <a:p>
            <a:pPr marL="256032" indent="-228600">
              <a:spcAft>
                <a:spcPts val="600"/>
              </a:spcAft>
              <a:buClr>
                <a:srgbClr val="5B6475"/>
              </a:buClr>
              <a:buChar char="›"/>
            </a:pPr>
            <a:r>
              <a:rPr sz="2000" b="0">
                <a:solidFill>
                  <a:srgbClr val="FFFFFF"/>
                </a:solidFill>
                <a:latin typeface="Calibri"/>
              </a:rPr>
              <a:t>Use </a:t>
            </a:r>
            <a:r>
              <a:rPr sz="2000" b="0">
                <a:solidFill>
                  <a:srgbClr val="C5B4E3"/>
                </a:solidFill>
                <a:latin typeface="Consolas"/>
              </a:rPr>
              <a:t>nullptr</a:t>
            </a:r>
            <a:r>
              <a:rPr sz="2000" b="0">
                <a:solidFill>
                  <a:srgbClr val="FFFFFF"/>
                </a:solidFill>
                <a:latin typeface="Calibri"/>
              </a:rPr>
              <a:t> and </a:t>
            </a:r>
            <a:r>
              <a:rPr sz="2000" b="0">
                <a:solidFill>
                  <a:srgbClr val="C5B4E3"/>
                </a:solidFill>
                <a:latin typeface="Consolas"/>
              </a:rPr>
              <a:t>-&gt;</a:t>
            </a:r>
            <a:r>
              <a:rPr sz="2000" b="0">
                <a:solidFill>
                  <a:srgbClr val="FFFFFF"/>
                </a:solidFill>
                <a:latin typeface="Calibri"/>
              </a:rPr>
              <a:t> correctly, and find a crash with gdb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4</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A pointer holds an address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&amp;a</a:t>
            </a:r>
            <a:r>
              <a:rPr sz="1800" b="0">
                <a:solidFill>
                  <a:srgbClr val="1D2330"/>
                </a:solidFill>
                <a:latin typeface="Calibri"/>
              </a:rPr>
              <a:t> is the address of </a:t>
            </a:r>
            <a:r>
              <a:rPr sz="1800" b="0">
                <a:solidFill>
                  <a:srgbClr val="4B2E83"/>
                </a:solidFill>
                <a:latin typeface="Consolas"/>
              </a:rPr>
              <a:t>a</a:t>
            </a:r>
            <a:r>
              <a:rPr sz="1800" b="0">
                <a:solidFill>
                  <a:srgbClr val="1D2330"/>
                </a:solidFill>
                <a:latin typeface="Calibri"/>
              </a:rPr>
              <a:t>; </a:t>
            </a:r>
            <a:r>
              <a:rPr sz="1800" b="0">
                <a:solidFill>
                  <a:srgbClr val="4B2E83"/>
                </a:solidFill>
                <a:latin typeface="Consolas"/>
              </a:rPr>
              <a:t>int *p = &amp;a;</a:t>
            </a:r>
            <a:r>
              <a:rPr sz="1800" b="0">
                <a:solidFill>
                  <a:srgbClr val="1D2330"/>
                </a:solidFill>
                <a:latin typeface="Calibri"/>
              </a:rPr>
              <a:t> stores it</a:t>
            </a:r>
          </a:p>
          <a:p>
            <a:pPr marL="256032" indent="-228600">
              <a:spcAft>
                <a:spcPts val="800"/>
              </a:spcAft>
              <a:buClr>
                <a:srgbClr val="5B6475"/>
              </a:buClr>
              <a:buChar char="•"/>
            </a:pPr>
            <a:r>
              <a:rPr sz="1800" b="0">
                <a:solidFill>
                  <a:srgbClr val="4B2E83"/>
                </a:solidFill>
                <a:latin typeface="Consolas"/>
              </a:rPr>
              <a:t>*p</a:t>
            </a:r>
            <a:r>
              <a:rPr sz="1800" b="0">
                <a:solidFill>
                  <a:srgbClr val="1D2330"/>
                </a:solidFill>
                <a:latin typeface="Calibri"/>
              </a:rPr>
              <a:t> is the thing </a:t>
            </a:r>
            <a:r>
              <a:rPr sz="1800" b="0">
                <a:solidFill>
                  <a:srgbClr val="4B2E83"/>
                </a:solidFill>
                <a:latin typeface="Consolas"/>
              </a:rPr>
              <a:t>p</a:t>
            </a:r>
            <a:r>
              <a:rPr sz="1800" b="0">
                <a:solidFill>
                  <a:srgbClr val="1D2330"/>
                </a:solidFill>
                <a:latin typeface="Calibri"/>
              </a:rPr>
              <a:t> points to: </a:t>
            </a:r>
            <a:r>
              <a:rPr sz="1800" b="0">
                <a:solidFill>
                  <a:srgbClr val="4B2E83"/>
                </a:solidFill>
                <a:latin typeface="Consolas"/>
              </a:rPr>
              <a:t>*p = 7</a:t>
            </a:r>
            <a:r>
              <a:rPr sz="1800" b="0">
                <a:solidFill>
                  <a:srgbClr val="1D2330"/>
                </a:solidFill>
                <a:latin typeface="Calibri"/>
              </a:rPr>
              <a:t> changes </a:t>
            </a:r>
            <a:r>
              <a:rPr sz="1800" b="0">
                <a:solidFill>
                  <a:srgbClr val="4B2E83"/>
                </a:solidFill>
                <a:latin typeface="Consolas"/>
              </a:rPr>
              <a:t>a</a:t>
            </a:r>
          </a:p>
          <a:p>
            <a:pPr marL="256032" indent="-228600">
              <a:spcAft>
                <a:spcPts val="800"/>
              </a:spcAft>
              <a:buClr>
                <a:srgbClr val="5B6475"/>
              </a:buClr>
              <a:buChar char="•"/>
            </a:pPr>
            <a:r>
              <a:rPr sz="1800" b="0">
                <a:solidFill>
                  <a:srgbClr val="4B2E83"/>
                </a:solidFill>
                <a:latin typeface="Consolas"/>
              </a:rPr>
              <a:t>int *q(&amp;a);</a:t>
            </a:r>
            <a:r>
              <a:rPr sz="1800" b="0">
                <a:solidFill>
                  <a:srgbClr val="1D2330"/>
                </a:solidFill>
                <a:latin typeface="Calibri"/>
              </a:rPr>
              <a:t> initializes the same way</a:t>
            </a:r>
          </a:p>
          <a:p>
            <a:pPr marL="256032" indent="-228600">
              <a:spcAft>
                <a:spcPts val="800"/>
              </a:spcAft>
              <a:buClr>
                <a:srgbClr val="5B6475"/>
              </a:buClr>
              <a:buChar char="•"/>
            </a:pPr>
            <a:r>
              <a:rPr sz="1800" b="0">
                <a:solidFill>
                  <a:srgbClr val="4B2E83"/>
                </a:solidFill>
                <a:latin typeface="Consolas"/>
              </a:rPr>
              <a:t>p</a:t>
            </a:r>
            <a:r>
              <a:rPr sz="1800" b="0">
                <a:solidFill>
                  <a:srgbClr val="1D2330"/>
                </a:solidFill>
                <a:latin typeface="Calibri"/>
              </a:rPr>
              <a:t> is a variable too: </a:t>
            </a:r>
            <a:r>
              <a:rPr sz="1800" b="0">
                <a:solidFill>
                  <a:srgbClr val="4B2E83"/>
                </a:solidFill>
                <a:latin typeface="Consolas"/>
              </a:rPr>
              <a:t>&amp;p</a:t>
            </a:r>
            <a:r>
              <a:rPr sz="1800" b="0">
                <a:solidFill>
                  <a:srgbClr val="1D2330"/>
                </a:solidFill>
                <a:latin typeface="Calibri"/>
              </a:rPr>
              <a:t> is a different address</a:t>
            </a:r>
          </a:p>
          <a:p>
            <a:pPr marL="256032" indent="-228600">
              <a:spcAft>
                <a:spcPts val="800"/>
              </a:spcAft>
              <a:buClr>
                <a:srgbClr val="5B6475"/>
              </a:buClr>
              <a:buChar char="•"/>
            </a:pPr>
            <a:r>
              <a:rPr sz="1800" b="0">
                <a:solidFill>
                  <a:srgbClr val="1D2330"/>
                </a:solidFill>
                <a:latin typeface="Calibri"/>
              </a:rPr>
              <a:t>In </a:t>
            </a:r>
            <a:r>
              <a:rPr sz="1800" b="0">
                <a:solidFill>
                  <a:srgbClr val="4B2E83"/>
                </a:solidFill>
                <a:latin typeface="Consolas"/>
              </a:rPr>
              <a:t>int* p, r;</a:t>
            </a:r>
            <a:r>
              <a:rPr sz="1800" b="0">
                <a:solidFill>
                  <a:srgbClr val="1D2330"/>
                </a:solidFill>
                <a:latin typeface="Calibri"/>
              </a:rPr>
              <a:t>, </a:t>
            </a:r>
            <a:r>
              <a:rPr sz="1800" b="0">
                <a:solidFill>
                  <a:srgbClr val="4B2E83"/>
                </a:solidFill>
                <a:latin typeface="Consolas"/>
              </a:rPr>
              <a:t>r</a:t>
            </a:r>
            <a:r>
              <a:rPr sz="1800" b="0">
                <a:solidFill>
                  <a:srgbClr val="1D2330"/>
                </a:solidFill>
                <a:latin typeface="Calibri"/>
              </a:rPr>
              <a:t> is a plain </a:t>
            </a:r>
            <a:r>
              <a:rPr sz="1800" b="0">
                <a:solidFill>
                  <a:srgbClr val="4B2E83"/>
                </a:solidFill>
                <a:latin typeface="Consolas"/>
              </a:rPr>
              <a:t>int</a:t>
            </a:r>
            <a:r>
              <a:rPr sz="1800" b="0">
                <a:solidFill>
                  <a:srgbClr val="1D2330"/>
                </a:solidFill>
                <a:latin typeface="Calibri"/>
              </a:rPr>
              <a:t>: the </a:t>
            </a:r>
            <a:r>
              <a:rPr sz="1800" b="0">
                <a:solidFill>
                  <a:srgbClr val="4B2E83"/>
                </a:solidFill>
                <a:latin typeface="Consolas"/>
              </a:rPr>
              <a:t>*</a:t>
            </a:r>
            <a:r>
              <a:rPr sz="1800" b="0">
                <a:solidFill>
                  <a:srgbClr val="1D2330"/>
                </a:solidFill>
                <a:latin typeface="Calibri"/>
              </a:rPr>
              <a:t> belongs to the name</a:t>
            </a:r>
          </a:p>
        </p:txBody>
      </p:sp>
      <p:sp>
        <p:nvSpPr>
          <p:cNvPr id="7" name="Rounded Rectangle 6"/>
          <p:cNvSpPr/>
          <p:nvPr/>
        </p:nvSpPr>
        <p:spPr>
          <a:xfrm>
            <a:off x="5972110" y="1325880"/>
            <a:ext cx="5670944" cy="259080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225040"/>
          </a:xfrm>
          <a:prstGeom prst="rect">
            <a:avLst/>
          </a:prstGeom>
          <a:noFill/>
        </p:spPr>
        <p:txBody>
          <a:bodyPr wrap="none" lIns="0" rIns="0" tIns="0" bIns="0" anchor="t">
            <a:spAutoFit/>
          </a:bodyPr>
          <a:lstStyle/>
          <a:p>
            <a:pPr>
              <a:spcAft>
                <a:spcPts val="0"/>
              </a:spcAft>
            </a:pPr>
            <a:r>
              <a:rPr sz="1300">
                <a:solidFill>
                  <a:srgbClr val="E6E6EF"/>
                </a:solidFill>
                <a:latin typeface="Consolas"/>
              </a:rPr>
              <a:t>int a = 5;</a:t>
            </a:r>
          </a:p>
          <a:p>
            <a:pPr>
              <a:spcAft>
                <a:spcPts val="0"/>
              </a:spcAft>
            </a:pPr>
            <a:r>
              <a:rPr sz="1300">
                <a:solidFill>
                  <a:srgbClr val="E6E6EF"/>
                </a:solidFill>
                <a:latin typeface="Consolas"/>
              </a:rPr>
              <a:t>int *p = &amp;a;</a:t>
            </a:r>
          </a:p>
          <a:p>
            <a:pPr>
              <a:spcAft>
                <a:spcPts val="0"/>
              </a:spcAft>
            </a:pPr>
            <a:r>
              <a:rPr sz="1300">
                <a:solidFill>
                  <a:srgbClr val="E6E6EF"/>
                </a:solidFill>
                <a:latin typeface="Consolas"/>
              </a:rPr>
              <a:t>int *q(&amp;a);          </a:t>
            </a:r>
            <a:r>
              <a:rPr sz="1300">
                <a:solidFill>
                  <a:srgbClr val="9AA4B5"/>
                </a:solidFill>
                <a:latin typeface="Consolas"/>
              </a:rPr>
              <a:t>// same: q also holds a's address</a:t>
            </a:r>
          </a:p>
          <a:p>
            <a:pPr>
              <a:spcAft>
                <a:spcPts val="0"/>
              </a:spcAft>
            </a:pPr>
            <a:r>
              <a:rPr sz="1300">
                <a:latin typeface="Consolas"/>
              </a:rPr>
              <a:t> </a:t>
            </a:r>
          </a:p>
          <a:p>
            <a:pPr>
              <a:spcAft>
                <a:spcPts val="0"/>
              </a:spcAft>
            </a:pPr>
            <a:r>
              <a:rPr sz="1300">
                <a:solidFill>
                  <a:srgbClr val="E6E6EF"/>
                </a:solidFill>
                <a:latin typeface="Consolas"/>
              </a:rPr>
              <a:t>a    </a:t>
            </a:r>
            <a:r>
              <a:rPr sz="1300">
                <a:solidFill>
                  <a:srgbClr val="9AA4B5"/>
                </a:solidFill>
                <a:latin typeface="Consolas"/>
              </a:rPr>
              <a:t>// 5</a:t>
            </a:r>
          </a:p>
          <a:p>
            <a:pPr>
              <a:spcAft>
                <a:spcPts val="0"/>
              </a:spcAft>
            </a:pPr>
            <a:r>
              <a:rPr sz="1300">
                <a:solidFill>
                  <a:srgbClr val="E6E6EF"/>
                </a:solidFill>
                <a:latin typeface="Consolas"/>
              </a:rPr>
              <a:t>&amp;a   </a:t>
            </a:r>
            <a:r>
              <a:rPr sz="1300">
                <a:solidFill>
                  <a:srgbClr val="9AA4B5"/>
                </a:solidFill>
                <a:latin typeface="Consolas"/>
              </a:rPr>
              <a:t>// 0x7ffdec2be760</a:t>
            </a:r>
          </a:p>
          <a:p>
            <a:pPr>
              <a:spcAft>
                <a:spcPts val="0"/>
              </a:spcAft>
            </a:pPr>
            <a:r>
              <a:rPr sz="1300">
                <a:solidFill>
                  <a:srgbClr val="E6E6EF"/>
                </a:solidFill>
                <a:latin typeface="Consolas"/>
              </a:rPr>
              <a:t>p    </a:t>
            </a:r>
            <a:r>
              <a:rPr sz="1300">
                <a:solidFill>
                  <a:srgbClr val="9AA4B5"/>
                </a:solidFill>
                <a:latin typeface="Consolas"/>
              </a:rPr>
              <a:t>// 0x7ffdec2be760</a:t>
            </a:r>
          </a:p>
          <a:p>
            <a:pPr>
              <a:spcAft>
                <a:spcPts val="0"/>
              </a:spcAft>
            </a:pPr>
            <a:r>
              <a:rPr sz="1300">
                <a:solidFill>
                  <a:srgbClr val="E6E6EF"/>
                </a:solidFill>
                <a:latin typeface="Consolas"/>
              </a:rPr>
              <a:t>*p   </a:t>
            </a:r>
            <a:r>
              <a:rPr sz="1300">
                <a:solidFill>
                  <a:srgbClr val="9AA4B5"/>
                </a:solidFill>
                <a:latin typeface="Consolas"/>
              </a:rPr>
              <a:t>// 5</a:t>
            </a:r>
          </a:p>
          <a:p>
            <a:pPr>
              <a:spcAft>
                <a:spcPts val="0"/>
              </a:spcAft>
            </a:pPr>
            <a:r>
              <a:rPr sz="1300">
                <a:solidFill>
                  <a:srgbClr val="E6E6EF"/>
                </a:solidFill>
                <a:latin typeface="Consolas"/>
              </a:rPr>
              <a:t>&amp;p   </a:t>
            </a:r>
            <a:r>
              <a:rPr sz="1300">
                <a:solidFill>
                  <a:srgbClr val="9AA4B5"/>
                </a:solidFill>
                <a:latin typeface="Consolas"/>
              </a:rPr>
              <a:t>// 0x7ffdec2be758</a:t>
            </a:r>
          </a:p>
          <a:p>
            <a:pPr>
              <a:spcAft>
                <a:spcPts val="0"/>
              </a:spcAft>
            </a:pPr>
            <a:r>
              <a:rPr sz="1300">
                <a:latin typeface="Consolas"/>
              </a:rPr>
              <a:t> </a:t>
            </a:r>
          </a:p>
          <a:p>
            <a:pPr>
              <a:spcAft>
                <a:spcPts val="0"/>
              </a:spcAft>
            </a:pPr>
            <a:r>
              <a:rPr sz="1300">
                <a:solidFill>
                  <a:srgbClr val="E6E6EF"/>
                </a:solidFill>
                <a:latin typeface="Consolas"/>
              </a:rPr>
              <a:t>*p = 7;              </a:t>
            </a:r>
            <a:r>
              <a:rPr sz="1300">
                <a:solidFill>
                  <a:srgbClr val="9AA4B5"/>
                </a:solidFill>
                <a:latin typeface="Consolas"/>
              </a:rPr>
              <a:t>// a is now 7 (so *q is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5</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nullptr, -&gt;, and pointer parameters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nullptr</a:t>
            </a:r>
            <a:r>
              <a:rPr sz="1800" b="0">
                <a:solidFill>
                  <a:srgbClr val="1D2330"/>
                </a:solidFill>
                <a:latin typeface="Calibri"/>
              </a:rPr>
              <a:t> points at nothing; following it crashes (Segmentation fault, exit 139)</a:t>
            </a:r>
          </a:p>
          <a:p>
            <a:pPr marL="256032" indent="-228600">
              <a:spcAft>
                <a:spcPts val="800"/>
              </a:spcAft>
              <a:buClr>
                <a:srgbClr val="5B6475"/>
              </a:buClr>
              <a:buChar char="•"/>
            </a:pPr>
            <a:r>
              <a:rPr sz="1800" b="0">
                <a:solidFill>
                  <a:srgbClr val="1D2330"/>
                </a:solidFill>
                <a:latin typeface="Calibri"/>
              </a:rPr>
              <a:t>gdb: </a:t>
            </a:r>
            <a:r>
              <a:rPr sz="1800" b="0">
                <a:solidFill>
                  <a:srgbClr val="4B2E83"/>
                </a:solidFill>
                <a:latin typeface="Consolas"/>
              </a:rPr>
              <a:t>run</a:t>
            </a:r>
            <a:r>
              <a:rPr sz="1800" b="0">
                <a:solidFill>
                  <a:srgbClr val="1D2330"/>
                </a:solidFill>
                <a:latin typeface="Calibri"/>
              </a:rPr>
              <a:t>, then </a:t>
            </a:r>
            <a:r>
              <a:rPr sz="1800" b="0">
                <a:solidFill>
                  <a:srgbClr val="4B2E83"/>
                </a:solidFill>
                <a:latin typeface="Consolas"/>
              </a:rPr>
              <a:t>bt</a:t>
            </a:r>
            <a:r>
              <a:rPr sz="1800" b="0">
                <a:solidFill>
                  <a:srgbClr val="1D2330"/>
                </a:solidFill>
                <a:latin typeface="Calibri"/>
              </a:rPr>
              <a:t> shows the line that crashed</a:t>
            </a:r>
          </a:p>
          <a:p>
            <a:pPr marL="256032" indent="-228600">
              <a:spcAft>
                <a:spcPts val="800"/>
              </a:spcAft>
              <a:buClr>
                <a:srgbClr val="5B6475"/>
              </a:buClr>
              <a:buChar char="•"/>
            </a:pPr>
            <a:r>
              <a:rPr sz="1800" b="0">
                <a:solidFill>
                  <a:srgbClr val="1D2330"/>
                </a:solidFill>
                <a:latin typeface="Calibri"/>
              </a:rPr>
              <a:t>An uninitialized pointer is worse: it points somewhere random</a:t>
            </a:r>
          </a:p>
          <a:p>
            <a:pPr marL="256032" indent="-228600">
              <a:spcAft>
                <a:spcPts val="800"/>
              </a:spcAft>
              <a:buClr>
                <a:srgbClr val="5B6475"/>
              </a:buClr>
              <a:buChar char="•"/>
            </a:pPr>
            <a:r>
              <a:rPr sz="1800" b="0">
                <a:solidFill>
                  <a:srgbClr val="4B2E83"/>
                </a:solidFill>
                <a:latin typeface="Consolas"/>
              </a:rPr>
              <a:t>p-&gt;x</a:t>
            </a:r>
            <a:r>
              <a:rPr sz="1800" b="0">
                <a:solidFill>
                  <a:srgbClr val="1D2330"/>
                </a:solidFill>
                <a:latin typeface="Calibri"/>
              </a:rPr>
              <a:t> is short for </a:t>
            </a:r>
            <a:r>
              <a:rPr sz="1800" b="0">
                <a:solidFill>
                  <a:srgbClr val="4B2E83"/>
                </a:solidFill>
                <a:latin typeface="Consolas"/>
              </a:rPr>
              <a:t>(*p).x</a:t>
            </a:r>
          </a:p>
          <a:p>
            <a:pPr marL="256032" indent="-228600">
              <a:spcAft>
                <a:spcPts val="800"/>
              </a:spcAft>
              <a:buClr>
                <a:srgbClr val="5B6475"/>
              </a:buClr>
              <a:buChar char="•"/>
            </a:pPr>
            <a:r>
              <a:rPr sz="1800" b="0">
                <a:solidFill>
                  <a:srgbClr val="1D2330"/>
                </a:solidFill>
                <a:latin typeface="Calibri"/>
              </a:rPr>
              <a:t>Prefer a reference parameter, unless "nothing" is valid or the pointer itself must move</a:t>
            </a:r>
          </a:p>
        </p:txBody>
      </p:sp>
      <p:sp>
        <p:nvSpPr>
          <p:cNvPr id="7" name="Rounded Rectangle 6"/>
          <p:cNvSpPr/>
          <p:nvPr/>
        </p:nvSpPr>
        <p:spPr>
          <a:xfrm>
            <a:off x="5972110" y="1325880"/>
            <a:ext cx="5670944" cy="297180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606040"/>
          </a:xfrm>
          <a:prstGeom prst="rect">
            <a:avLst/>
          </a:prstGeom>
          <a:noFill/>
        </p:spPr>
        <p:txBody>
          <a:bodyPr wrap="none" lIns="0" rIns="0" tIns="0" bIns="0" anchor="t">
            <a:spAutoFit/>
          </a:bodyPr>
          <a:lstStyle/>
          <a:p>
            <a:pPr>
              <a:spcAft>
                <a:spcPts val="0"/>
              </a:spcAft>
            </a:pPr>
            <a:r>
              <a:rPr sz="1400">
                <a:solidFill>
                  <a:srgbClr val="E6E6EF"/>
                </a:solidFill>
                <a:latin typeface="Consolas"/>
              </a:rPr>
              <a:t>int *q = nullptr;</a:t>
            </a:r>
          </a:p>
          <a:p>
            <a:pPr>
              <a:spcAft>
                <a:spcPts val="0"/>
              </a:spcAft>
            </a:pPr>
            <a:r>
              <a:rPr sz="1400">
                <a:solidFill>
                  <a:srgbClr val="E6E6EF"/>
                </a:solidFill>
                <a:latin typeface="Consolas"/>
              </a:rPr>
              <a:t>*q = 1;              </a:t>
            </a:r>
            <a:r>
              <a:rPr sz="1400">
                <a:solidFill>
                  <a:srgbClr val="9AA4B5"/>
                </a:solidFill>
                <a:latin typeface="Consolas"/>
              </a:rPr>
              <a:t>// crash</a:t>
            </a:r>
          </a:p>
          <a:p>
            <a:pPr>
              <a:spcAft>
                <a:spcPts val="0"/>
              </a:spcAft>
            </a:pPr>
            <a:r>
              <a:rPr sz="1400">
                <a:latin typeface="Consolas"/>
              </a:rPr>
              <a:t> </a:t>
            </a:r>
          </a:p>
          <a:p>
            <a:pPr>
              <a:spcAft>
                <a:spcPts val="0"/>
              </a:spcAft>
            </a:pPr>
            <a:r>
              <a:rPr sz="1400">
                <a:solidFill>
                  <a:srgbClr val="E6E6EF"/>
                </a:solidFill>
                <a:latin typeface="Consolas"/>
              </a:rPr>
              <a:t>struct Point { int x; int y; };</a:t>
            </a:r>
          </a:p>
          <a:p>
            <a:pPr>
              <a:spcAft>
                <a:spcPts val="0"/>
              </a:spcAft>
            </a:pPr>
            <a:r>
              <a:rPr sz="1400">
                <a:solidFill>
                  <a:srgbClr val="E6E6EF"/>
                </a:solidFill>
                <a:latin typeface="Consolas"/>
              </a:rPr>
              <a:t>Point pt = {1, 2};</a:t>
            </a:r>
          </a:p>
          <a:p>
            <a:pPr>
              <a:spcAft>
                <a:spcPts val="0"/>
              </a:spcAft>
            </a:pPr>
            <a:r>
              <a:rPr sz="1400">
                <a:solidFill>
                  <a:srgbClr val="E6E6EF"/>
                </a:solidFill>
                <a:latin typeface="Consolas"/>
              </a:rPr>
              <a:t>Point *pp = &amp;pt;</a:t>
            </a:r>
          </a:p>
          <a:p>
            <a:pPr>
              <a:spcAft>
                <a:spcPts val="0"/>
              </a:spcAft>
            </a:pPr>
            <a:r>
              <a:rPr sz="1400">
                <a:solidFill>
                  <a:srgbClr val="E6E6EF"/>
                </a:solidFill>
                <a:latin typeface="Consolas"/>
              </a:rPr>
              <a:t>pp-&gt;x = 10;          </a:t>
            </a:r>
            <a:r>
              <a:rPr sz="1400">
                <a:solidFill>
                  <a:srgbClr val="9AA4B5"/>
                </a:solidFill>
                <a:latin typeface="Consolas"/>
              </a:rPr>
              <a:t>// same as (*pp).x = 10</a:t>
            </a:r>
          </a:p>
          <a:p>
            <a:pPr>
              <a:spcAft>
                <a:spcPts val="0"/>
              </a:spcAft>
            </a:pPr>
            <a:r>
              <a:rPr sz="1400">
                <a:latin typeface="Consolas"/>
              </a:rPr>
              <a:t> </a:t>
            </a:r>
          </a:p>
          <a:p>
            <a:pPr>
              <a:spcAft>
                <a:spcPts val="0"/>
              </a:spcAft>
            </a:pPr>
            <a:r>
              <a:rPr sz="1400">
                <a:solidFill>
                  <a:srgbClr val="E6E6EF"/>
                </a:solidFill>
                <a:latin typeface="Consolas"/>
              </a:rPr>
              <a:t>void set(int *p, int v) { *p = v; }</a:t>
            </a:r>
          </a:p>
          <a:p>
            <a:pPr>
              <a:spcAft>
                <a:spcPts val="0"/>
              </a:spcAft>
            </a:pPr>
            <a:r>
              <a:rPr sz="1400">
                <a:solidFill>
                  <a:srgbClr val="E6E6EF"/>
                </a:solidFill>
                <a:latin typeface="Consolas"/>
              </a:rPr>
              <a:t>void set(int &amp;r, int v) { r = v; }</a:t>
            </a:r>
          </a:p>
          <a:p>
            <a:pPr>
              <a:spcAft>
                <a:spcPts val="0"/>
              </a:spcAft>
            </a:pPr>
            <a:r>
              <a:rPr sz="1400">
                <a:solidFill>
                  <a:srgbClr val="E6E6EF"/>
                </a:solidFill>
                <a:latin typeface="Consolas"/>
              </a:rPr>
              <a:t>set(&amp;a, 3);          </a:t>
            </a:r>
            <a:r>
              <a:rPr sz="1400">
                <a:solidFill>
                  <a:srgbClr val="9AA4B5"/>
                </a:solidFill>
                <a:latin typeface="Consolas"/>
              </a:rPr>
              <a:t>// pointer version</a:t>
            </a:r>
          </a:p>
          <a:p>
            <a:pPr>
              <a:spcAft>
                <a:spcPts val="0"/>
              </a:spcAft>
            </a:pPr>
            <a:r>
              <a:rPr sz="1400">
                <a:solidFill>
                  <a:srgbClr val="E6E6EF"/>
                </a:solidFill>
                <a:latin typeface="Consolas"/>
              </a:rPr>
              <a:t>set(a, 3);           </a:t>
            </a:r>
            <a:r>
              <a:rPr sz="1400">
                <a:solidFill>
                  <a:srgbClr val="9AA4B5"/>
                </a:solidFill>
                <a:latin typeface="Consolas"/>
              </a:rPr>
              <a:t>// reference version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6</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&amp; and * in declarations</a:t>
            </a:r>
          </a:p>
        </p:txBody>
      </p:sp>
      <p:sp>
        <p:nvSpPr>
          <p:cNvPr id="6" name="Rounded Rectangle 5"/>
          <p:cNvSpPr/>
          <p:nvPr/>
        </p:nvSpPr>
        <p:spPr>
          <a:xfrm>
            <a:off x="548640" y="1325880"/>
            <a:ext cx="5364327" cy="4800600"/>
          </a:xfrm>
          <a:prstGeom prst="roundRect">
            <a:avLst>
              <a:gd name="adj" fmla="val 4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4815687" cy="457200"/>
          </a:xfrm>
          <a:prstGeom prst="rect">
            <a:avLst/>
          </a:prstGeom>
          <a:noFill/>
        </p:spPr>
        <p:txBody>
          <a:bodyPr wrap="square" lIns="0" rIns="0" tIns="0" bIns="0" anchor="t">
            <a:spAutoFit/>
          </a:bodyPr>
          <a:lstStyle/>
          <a:p>
            <a:pPr algn="l"/>
            <a:r>
              <a:rPr sz="2200" b="1">
                <a:solidFill>
                  <a:srgbClr val="4B2E83"/>
                </a:solidFill>
                <a:latin typeface="Calibri"/>
              </a:rPr>
              <a:t>Reference: &amp;</a:t>
            </a:r>
          </a:p>
        </p:txBody>
      </p:sp>
      <p:sp>
        <p:nvSpPr>
          <p:cNvPr id="8" name="TextBox 7"/>
          <p:cNvSpPr txBox="1"/>
          <p:nvPr/>
        </p:nvSpPr>
        <p:spPr>
          <a:xfrm>
            <a:off x="822960"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DataType &amp;r(aVar);</a:t>
            </a:r>
            <a:r>
              <a:rPr sz="1700" b="0">
                <a:solidFill>
                  <a:srgbClr val="1D2330"/>
                </a:solidFill>
                <a:latin typeface="Calibri"/>
              </a:rPr>
              <a:t>  another name for </a:t>
            </a:r>
            <a:r>
              <a:rPr sz="1700" b="0">
                <a:solidFill>
                  <a:srgbClr val="4B2E83"/>
                </a:solidFill>
                <a:latin typeface="Consolas"/>
              </a:rPr>
              <a:t>aVar</a:t>
            </a:r>
            <a:r>
              <a:rPr sz="1700" b="0">
                <a:solidFill>
                  <a:srgbClr val="1D2330"/>
                </a:solidFill>
                <a:latin typeface="Calibri"/>
              </a:rPr>
              <a:t>; always initialized, never re-seated</a:t>
            </a:r>
          </a:p>
          <a:p>
            <a:pPr marL="256032" indent="-228600">
              <a:spcAft>
                <a:spcPts val="800"/>
              </a:spcAft>
              <a:buClr>
                <a:srgbClr val="5B6475"/>
              </a:buClr>
              <a:buChar char="•"/>
            </a:pPr>
            <a:r>
              <a:rPr sz="1700" b="0">
                <a:solidFill>
                  <a:srgbClr val="4B2E83"/>
                </a:solidFill>
                <a:latin typeface="Consolas"/>
              </a:rPr>
              <a:t>DataType &amp;MyFunc();</a:t>
            </a:r>
            <a:r>
              <a:rPr sz="1700" b="0">
                <a:solidFill>
                  <a:srgbClr val="1D2330"/>
                </a:solidFill>
                <a:latin typeface="Calibri"/>
              </a:rPr>
              <a:t>  returns a reference</a:t>
            </a:r>
          </a:p>
          <a:p>
            <a:pPr marL="256032" indent="-228600">
              <a:spcAft>
                <a:spcPts val="800"/>
              </a:spcAft>
              <a:buClr>
                <a:srgbClr val="5B6475"/>
              </a:buClr>
              <a:buChar char="•"/>
            </a:pPr>
            <a:r>
              <a:rPr sz="1700" b="0">
                <a:solidFill>
                  <a:srgbClr val="4B2E83"/>
                </a:solidFill>
                <a:latin typeface="Consolas"/>
              </a:rPr>
              <a:t>void YourFunc(DataType &amp;v);</a:t>
            </a:r>
            <a:r>
              <a:rPr sz="1700" b="0">
                <a:solidFill>
                  <a:srgbClr val="1D2330"/>
                </a:solidFill>
                <a:latin typeface="Calibri"/>
              </a:rPr>
              <a:t>  can change the caller's variable</a:t>
            </a:r>
          </a:p>
          <a:p>
            <a:pPr marL="256032" indent="-228600">
              <a:spcAft>
                <a:spcPts val="800"/>
              </a:spcAft>
              <a:buClr>
                <a:srgbClr val="5B6475"/>
              </a:buClr>
              <a:buChar char="•"/>
            </a:pPr>
            <a:r>
              <a:rPr sz="1700" b="0">
                <a:solidFill>
                  <a:srgbClr val="4B2E83"/>
                </a:solidFill>
                <a:latin typeface="Consolas"/>
              </a:rPr>
              <a:t>void HerFunc(const DataType &amp;v);</a:t>
            </a:r>
            <a:r>
              <a:rPr sz="1700" b="0">
                <a:solidFill>
                  <a:srgbClr val="1D2330"/>
                </a:solidFill>
                <a:latin typeface="Calibri"/>
              </a:rPr>
              <a:t>  reads it, no copy</a:t>
            </a:r>
          </a:p>
        </p:txBody>
      </p:sp>
      <p:sp>
        <p:nvSpPr>
          <p:cNvPr id="9" name="Rounded Rectangle 8"/>
          <p:cNvSpPr/>
          <p:nvPr/>
        </p:nvSpPr>
        <p:spPr>
          <a:xfrm>
            <a:off x="6278727" y="1325880"/>
            <a:ext cx="5364327" cy="4800600"/>
          </a:xfrm>
          <a:prstGeom prst="roundRect">
            <a:avLst>
              <a:gd name="adj" fmla="val 4000"/>
            </a:avLst>
          </a:prstGeom>
          <a:solidFill>
            <a:srgbClr val="E8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508760"/>
            <a:ext cx="4815687" cy="457200"/>
          </a:xfrm>
          <a:prstGeom prst="rect">
            <a:avLst/>
          </a:prstGeom>
          <a:noFill/>
        </p:spPr>
        <p:txBody>
          <a:bodyPr wrap="square" lIns="0" rIns="0" tIns="0" bIns="0" anchor="t">
            <a:spAutoFit/>
          </a:bodyPr>
          <a:lstStyle/>
          <a:p>
            <a:pPr algn="l"/>
            <a:r>
              <a:rPr sz="2200" b="1">
                <a:solidFill>
                  <a:srgbClr val="2F6FDF"/>
                </a:solidFill>
                <a:latin typeface="Calibri"/>
              </a:rPr>
              <a:t>Pointer: *</a:t>
            </a:r>
          </a:p>
        </p:txBody>
      </p:sp>
      <p:sp>
        <p:nvSpPr>
          <p:cNvPr id="11" name="TextBox 10"/>
          <p:cNvSpPr txBox="1"/>
          <p:nvPr/>
        </p:nvSpPr>
        <p:spPr>
          <a:xfrm>
            <a:off x="6553047"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DataType *bPtr(aPtr);</a:t>
            </a:r>
            <a:r>
              <a:rPr sz="1700" b="0">
                <a:solidFill>
                  <a:srgbClr val="1D2330"/>
                </a:solidFill>
                <a:latin typeface="Calibri"/>
              </a:rPr>
              <a:t>  holds an address; can point elsewhere later</a:t>
            </a:r>
          </a:p>
          <a:p>
            <a:pPr marL="256032" indent="-228600">
              <a:spcAft>
                <a:spcPts val="800"/>
              </a:spcAft>
              <a:buClr>
                <a:srgbClr val="5B6475"/>
              </a:buClr>
              <a:buChar char="•"/>
            </a:pPr>
            <a:r>
              <a:rPr sz="1700" b="0">
                <a:solidFill>
                  <a:srgbClr val="4B2E83"/>
                </a:solidFill>
                <a:latin typeface="Consolas"/>
              </a:rPr>
              <a:t>DataType* MyFunc();</a:t>
            </a:r>
            <a:r>
              <a:rPr sz="1700" b="0">
                <a:solidFill>
                  <a:srgbClr val="1D2330"/>
                </a:solidFill>
                <a:latin typeface="Calibri"/>
              </a:rPr>
              <a:t>  returns a pointer</a:t>
            </a:r>
          </a:p>
          <a:p>
            <a:pPr marL="256032" indent="-228600">
              <a:spcAft>
                <a:spcPts val="800"/>
              </a:spcAft>
              <a:buClr>
                <a:srgbClr val="5B6475"/>
              </a:buClr>
              <a:buChar char="•"/>
            </a:pPr>
            <a:r>
              <a:rPr sz="1700" b="0">
                <a:solidFill>
                  <a:srgbClr val="4B2E83"/>
                </a:solidFill>
                <a:latin typeface="Consolas"/>
              </a:rPr>
              <a:t>void YourFunc(DataType *v);</a:t>
            </a:r>
            <a:r>
              <a:rPr sz="1700" b="0">
                <a:solidFill>
                  <a:srgbClr val="1D2330"/>
                </a:solidFill>
                <a:latin typeface="Calibri"/>
              </a:rPr>
              <a:t>  can change </a:t>
            </a:r>
            <a:r>
              <a:rPr sz="1700" b="0">
                <a:solidFill>
                  <a:srgbClr val="4B2E83"/>
                </a:solidFill>
                <a:latin typeface="Consolas"/>
              </a:rPr>
              <a:t>*v</a:t>
            </a:r>
            <a:r>
              <a:rPr sz="1700" b="0">
                <a:solidFill>
                  <a:srgbClr val="1D2330"/>
                </a:solidFill>
                <a:latin typeface="Calibri"/>
              </a:rPr>
              <a:t>; call with </a:t>
            </a:r>
            <a:r>
              <a:rPr sz="1700" b="0">
                <a:solidFill>
                  <a:srgbClr val="4B2E83"/>
                </a:solidFill>
                <a:latin typeface="Consolas"/>
              </a:rPr>
              <a:t>&amp;aVar</a:t>
            </a:r>
          </a:p>
          <a:p>
            <a:pPr marL="256032" indent="-228600">
              <a:spcAft>
                <a:spcPts val="800"/>
              </a:spcAft>
              <a:buClr>
                <a:srgbClr val="5B6475"/>
              </a:buClr>
              <a:buChar char="•"/>
            </a:pPr>
            <a:r>
              <a:rPr sz="1700" b="0">
                <a:solidFill>
                  <a:srgbClr val="4B2E83"/>
                </a:solidFill>
                <a:latin typeface="Consolas"/>
              </a:rPr>
              <a:t>void HerFunc(const DataType *v);</a:t>
            </a:r>
            <a:r>
              <a:rPr sz="1700" b="0">
                <a:solidFill>
                  <a:srgbClr val="1D2330"/>
                </a:solidFill>
                <a:latin typeface="Calibri"/>
              </a:rPr>
              <a:t>  reads </a:t>
            </a:r>
            <a:r>
              <a:rPr sz="1700" b="0">
                <a:solidFill>
                  <a:srgbClr val="4B2E83"/>
                </a:solidFill>
                <a:latin typeface="Consolas"/>
              </a:rPr>
              <a:t>*v</a:t>
            </a:r>
            <a:r>
              <a:rPr sz="1700" b="0">
                <a:solidFill>
                  <a:srgbClr val="1D2330"/>
                </a:solidFill>
                <a:latin typeface="Calibri"/>
              </a:rPr>
              <a:t>, doesn't change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7</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&amp; and * in statements</a:t>
            </a:r>
          </a:p>
        </p:txBody>
      </p:sp>
      <p:sp>
        <p:nvSpPr>
          <p:cNvPr id="6" name="Rounded Rectangle 5"/>
          <p:cNvSpPr/>
          <p:nvPr/>
        </p:nvSpPr>
        <p:spPr>
          <a:xfrm>
            <a:off x="548640" y="1325880"/>
            <a:ext cx="5364327" cy="4800600"/>
          </a:xfrm>
          <a:prstGeom prst="roundRect">
            <a:avLst>
              <a:gd name="adj" fmla="val 4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4815687" cy="457200"/>
          </a:xfrm>
          <a:prstGeom prst="rect">
            <a:avLst/>
          </a:prstGeom>
          <a:noFill/>
        </p:spPr>
        <p:txBody>
          <a:bodyPr wrap="square" lIns="0" rIns="0" tIns="0" bIns="0" anchor="t">
            <a:spAutoFit/>
          </a:bodyPr>
          <a:lstStyle/>
          <a:p>
            <a:pPr algn="l"/>
            <a:r>
              <a:rPr sz="2200" b="1">
                <a:solidFill>
                  <a:srgbClr val="4B2E83"/>
                </a:solidFill>
                <a:latin typeface="Calibri"/>
              </a:rPr>
              <a:t>Address: &amp;</a:t>
            </a:r>
          </a:p>
        </p:txBody>
      </p:sp>
      <p:sp>
        <p:nvSpPr>
          <p:cNvPr id="8" name="TextBox 7"/>
          <p:cNvSpPr txBox="1"/>
          <p:nvPr/>
        </p:nvSpPr>
        <p:spPr>
          <a:xfrm>
            <a:off x="822960"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DataType *aPtr = &amp;aVar;</a:t>
            </a:r>
            <a:r>
              <a:rPr sz="1700" b="0">
                <a:solidFill>
                  <a:srgbClr val="1D2330"/>
                </a:solidFill>
                <a:latin typeface="Calibri"/>
              </a:rPr>
              <a:t>  a pointer initialized with </a:t>
            </a:r>
            <a:r>
              <a:rPr sz="1700" b="0">
                <a:solidFill>
                  <a:srgbClr val="4B2E83"/>
                </a:solidFill>
                <a:latin typeface="Consolas"/>
              </a:rPr>
              <a:t>aVar</a:t>
            </a:r>
            <a:r>
              <a:rPr sz="1700" b="0">
                <a:solidFill>
                  <a:srgbClr val="1D2330"/>
                </a:solidFill>
                <a:latin typeface="Calibri"/>
              </a:rPr>
              <a:t>'s address</a:t>
            </a:r>
          </a:p>
          <a:p>
            <a:pPr marL="256032" indent="-228600">
              <a:spcAft>
                <a:spcPts val="800"/>
              </a:spcAft>
              <a:buClr>
                <a:srgbClr val="5B6475"/>
              </a:buClr>
              <a:buChar char="•"/>
            </a:pPr>
            <a:r>
              <a:rPr sz="1700" b="0">
                <a:solidFill>
                  <a:srgbClr val="4B2E83"/>
                </a:solidFill>
                <a:latin typeface="Consolas"/>
              </a:rPr>
              <a:t>aPtr = &amp;aVar;</a:t>
            </a:r>
            <a:r>
              <a:rPr sz="1700" b="0">
                <a:solidFill>
                  <a:srgbClr val="1D2330"/>
                </a:solidFill>
                <a:latin typeface="Calibri"/>
              </a:rPr>
              <a:t>  assigns the address</a:t>
            </a:r>
          </a:p>
          <a:p>
            <a:pPr marL="256032" indent="-228600">
              <a:spcAft>
                <a:spcPts val="800"/>
              </a:spcAft>
              <a:buClr>
                <a:srgbClr val="5B6475"/>
              </a:buClr>
              <a:buChar char="•"/>
            </a:pPr>
            <a:r>
              <a:rPr sz="1700" b="0">
                <a:solidFill>
                  <a:srgbClr val="4B2E83"/>
                </a:solidFill>
                <a:latin typeface="Consolas"/>
              </a:rPr>
              <a:t>&amp;aVar = ...;</a:t>
            </a:r>
            <a:r>
              <a:rPr sz="1700" b="0">
                <a:solidFill>
                  <a:srgbClr val="1D2330"/>
                </a:solidFill>
                <a:latin typeface="Calibri"/>
              </a:rPr>
              <a:t>  NOT legal: an address can't be assigned to</a:t>
            </a:r>
          </a:p>
          <a:p>
            <a:pPr marL="256032" indent="-228600">
              <a:spcAft>
                <a:spcPts val="800"/>
              </a:spcAft>
              <a:buClr>
                <a:srgbClr val="5B6475"/>
              </a:buClr>
              <a:buChar char="•"/>
            </a:pPr>
            <a:r>
              <a:rPr sz="1700" b="0">
                <a:solidFill>
                  <a:srgbClr val="4B2E83"/>
                </a:solidFill>
                <a:latin typeface="Consolas"/>
              </a:rPr>
              <a:t>return &amp;aVar;</a:t>
            </a:r>
            <a:r>
              <a:rPr sz="1700" b="0">
                <a:solidFill>
                  <a:srgbClr val="1D2330"/>
                </a:solidFill>
                <a:latin typeface="Calibri"/>
              </a:rPr>
              <a:t>  dangles if </a:t>
            </a:r>
            <a:r>
              <a:rPr sz="1700" b="0">
                <a:solidFill>
                  <a:srgbClr val="4B2E83"/>
                </a:solidFill>
                <a:latin typeface="Consolas"/>
              </a:rPr>
              <a:t>aVar</a:t>
            </a:r>
            <a:r>
              <a:rPr sz="1700" b="0">
                <a:solidFill>
                  <a:srgbClr val="1D2330"/>
                </a:solidFill>
                <a:latin typeface="Calibri"/>
              </a:rPr>
              <a:t> is a local</a:t>
            </a:r>
          </a:p>
        </p:txBody>
      </p:sp>
      <p:sp>
        <p:nvSpPr>
          <p:cNvPr id="9" name="Rounded Rectangle 8"/>
          <p:cNvSpPr/>
          <p:nvPr/>
        </p:nvSpPr>
        <p:spPr>
          <a:xfrm>
            <a:off x="6278727" y="1325880"/>
            <a:ext cx="5364327" cy="4800600"/>
          </a:xfrm>
          <a:prstGeom prst="roundRect">
            <a:avLst>
              <a:gd name="adj" fmla="val 4000"/>
            </a:avLst>
          </a:prstGeom>
          <a:solidFill>
            <a:srgbClr val="E8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508760"/>
            <a:ext cx="4815687" cy="457200"/>
          </a:xfrm>
          <a:prstGeom prst="rect">
            <a:avLst/>
          </a:prstGeom>
          <a:noFill/>
        </p:spPr>
        <p:txBody>
          <a:bodyPr wrap="square" lIns="0" rIns="0" tIns="0" bIns="0" anchor="t">
            <a:spAutoFit/>
          </a:bodyPr>
          <a:lstStyle/>
          <a:p>
            <a:pPr algn="l"/>
            <a:r>
              <a:rPr sz="2200" b="1">
                <a:solidFill>
                  <a:srgbClr val="2F6FDF"/>
                </a:solidFill>
                <a:latin typeface="Calibri"/>
              </a:rPr>
              <a:t>Dereferencing: *</a:t>
            </a:r>
          </a:p>
        </p:txBody>
      </p:sp>
      <p:sp>
        <p:nvSpPr>
          <p:cNvPr id="11" name="TextBox 10"/>
          <p:cNvSpPr txBox="1"/>
          <p:nvPr/>
        </p:nvSpPr>
        <p:spPr>
          <a:xfrm>
            <a:off x="6553047"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DataType bVar = *aPtr;</a:t>
            </a:r>
            <a:r>
              <a:rPr sz="1700" b="0">
                <a:solidFill>
                  <a:srgbClr val="1D2330"/>
                </a:solidFill>
                <a:latin typeface="Calibri"/>
              </a:rPr>
              <a:t>  the value </a:t>
            </a:r>
            <a:r>
              <a:rPr sz="1700" b="0">
                <a:solidFill>
                  <a:srgbClr val="4B2E83"/>
                </a:solidFill>
                <a:latin typeface="Consolas"/>
              </a:rPr>
              <a:t>aPtr</a:t>
            </a:r>
            <a:r>
              <a:rPr sz="1700" b="0">
                <a:solidFill>
                  <a:srgbClr val="1D2330"/>
                </a:solidFill>
                <a:latin typeface="Calibri"/>
              </a:rPr>
              <a:t> points to</a:t>
            </a:r>
          </a:p>
          <a:p>
            <a:pPr marL="256032" indent="-228600">
              <a:spcAft>
                <a:spcPts val="800"/>
              </a:spcAft>
              <a:buClr>
                <a:srgbClr val="5B6475"/>
              </a:buClr>
              <a:buChar char="•"/>
            </a:pPr>
            <a:r>
              <a:rPr sz="1700" b="0">
                <a:solidFill>
                  <a:srgbClr val="4B2E83"/>
                </a:solidFill>
                <a:latin typeface="Consolas"/>
              </a:rPr>
              <a:t>bVar = *aPtr;</a:t>
            </a:r>
            <a:r>
              <a:rPr sz="1700" b="0">
                <a:solidFill>
                  <a:srgbClr val="1D2330"/>
                </a:solidFill>
                <a:latin typeface="Calibri"/>
              </a:rPr>
              <a:t>  read through the pointer</a:t>
            </a:r>
          </a:p>
          <a:p>
            <a:pPr marL="256032" indent="-228600">
              <a:spcAft>
                <a:spcPts val="800"/>
              </a:spcAft>
              <a:buClr>
                <a:srgbClr val="5B6475"/>
              </a:buClr>
              <a:buChar char="•"/>
            </a:pPr>
            <a:r>
              <a:rPr sz="1700" b="0">
                <a:solidFill>
                  <a:srgbClr val="4B2E83"/>
                </a:solidFill>
                <a:latin typeface="Consolas"/>
              </a:rPr>
              <a:t>*aPtr = aVar;</a:t>
            </a:r>
            <a:r>
              <a:rPr sz="1700" b="0">
                <a:solidFill>
                  <a:srgbClr val="1D2330"/>
                </a:solidFill>
                <a:latin typeface="Calibri"/>
              </a:rPr>
              <a:t>  legal: write through the pointer</a:t>
            </a:r>
          </a:p>
          <a:p>
            <a:pPr marL="256032" indent="-228600">
              <a:spcAft>
                <a:spcPts val="800"/>
              </a:spcAft>
              <a:buClr>
                <a:srgbClr val="5B6475"/>
              </a:buClr>
              <a:buChar char="•"/>
            </a:pPr>
            <a:r>
              <a:rPr sz="1700" b="0">
                <a:solidFill>
                  <a:srgbClr val="4B2E83"/>
                </a:solidFill>
                <a:latin typeface="Consolas"/>
              </a:rPr>
              <a:t>return *aPtr;</a:t>
            </a:r>
            <a:r>
              <a:rPr sz="1700" b="0">
                <a:solidFill>
                  <a:srgbClr val="1D2330"/>
                </a:solidFill>
                <a:latin typeface="Calibri"/>
              </a:rPr>
              <a:t>  </a:t>
            </a:r>
            <a:r>
              <a:rPr sz="1700" b="0">
                <a:solidFill>
                  <a:srgbClr val="4B2E83"/>
                </a:solidFill>
                <a:latin typeface="Consolas"/>
              </a:rPr>
              <a:t>aPtr</a:t>
            </a:r>
            <a:r>
              <a:rPr sz="1700" b="0">
                <a:solidFill>
                  <a:srgbClr val="1D2330"/>
                </a:solidFill>
                <a:latin typeface="Calibri"/>
              </a:rPr>
              <a:t> must point at something alive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8</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Reading &amp; and * in code: where is it?</a:t>
            </a:r>
          </a:p>
        </p:txBody>
      </p:sp>
      <p:sp>
        <p:nvSpPr>
          <p:cNvPr id="6" name="Rounded Rectangle 5"/>
          <p:cNvSpPr/>
          <p:nvPr/>
        </p:nvSpPr>
        <p:spPr>
          <a:xfrm>
            <a:off x="548640" y="1325880"/>
            <a:ext cx="5364327" cy="4800600"/>
          </a:xfrm>
          <a:prstGeom prst="roundRect">
            <a:avLst>
              <a:gd name="adj" fmla="val 4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4815687" cy="457200"/>
          </a:xfrm>
          <a:prstGeom prst="rect">
            <a:avLst/>
          </a:prstGeom>
          <a:noFill/>
        </p:spPr>
        <p:txBody>
          <a:bodyPr wrap="square" lIns="0" rIns="0" tIns="0" bIns="0" anchor="t">
            <a:spAutoFit/>
          </a:bodyPr>
          <a:lstStyle/>
          <a:p>
            <a:pPr algn="l"/>
            <a:r>
              <a:rPr sz="2200" b="1">
                <a:solidFill>
                  <a:srgbClr val="4B2E83"/>
                </a:solidFill>
                <a:latin typeface="Calibri"/>
              </a:rPr>
              <a:t>&amp;</a:t>
            </a:r>
          </a:p>
        </p:txBody>
      </p:sp>
      <p:sp>
        <p:nvSpPr>
          <p:cNvPr id="8" name="TextBox 7"/>
          <p:cNvSpPr txBox="1"/>
          <p:nvPr/>
        </p:nvSpPr>
        <p:spPr>
          <a:xfrm>
            <a:off x="822960"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1D2330"/>
                </a:solidFill>
                <a:latin typeface="Calibri"/>
              </a:rPr>
              <a:t>After a type (declaration): reference</a:t>
            </a:r>
          </a:p>
          <a:p>
            <a:pPr marL="256032" indent="-228600">
              <a:spcAft>
                <a:spcPts val="800"/>
              </a:spcAft>
              <a:buClr>
                <a:srgbClr val="5B6475"/>
              </a:buClr>
              <a:buChar char="•"/>
            </a:pPr>
            <a:r>
              <a:rPr sz="1700" b="0">
                <a:solidFill>
                  <a:srgbClr val="1D2330"/>
                </a:solidFill>
                <a:latin typeface="Calibri"/>
              </a:rPr>
              <a:t>In front of one variable: address of</a:t>
            </a:r>
          </a:p>
          <a:p>
            <a:pPr marL="256032" indent="-228600">
              <a:spcAft>
                <a:spcPts val="800"/>
              </a:spcAft>
              <a:buClr>
                <a:srgbClr val="5B6475"/>
              </a:buClr>
              <a:buChar char="•"/>
            </a:pPr>
            <a:r>
              <a:rPr sz="1700" b="0">
                <a:solidFill>
                  <a:srgbClr val="1D2330"/>
                </a:solidFill>
                <a:latin typeface="Calibri"/>
              </a:rPr>
              <a:t>Between two integers: bitwise AND, </a:t>
            </a:r>
            <a:r>
              <a:rPr sz="1700" b="0">
                <a:solidFill>
                  <a:srgbClr val="4B2E83"/>
                </a:solidFill>
                <a:latin typeface="Consolas"/>
              </a:rPr>
              <a:t>6 &amp; 3</a:t>
            </a:r>
            <a:r>
              <a:rPr sz="1700" b="0">
                <a:solidFill>
                  <a:srgbClr val="1D2330"/>
                </a:solidFill>
                <a:latin typeface="Calibri"/>
              </a:rPr>
              <a:t> is 2</a:t>
            </a:r>
          </a:p>
          <a:p>
            <a:pPr marL="256032" indent="-228600">
              <a:spcAft>
                <a:spcPts val="800"/>
              </a:spcAft>
              <a:buClr>
                <a:srgbClr val="5B6475"/>
              </a:buClr>
              <a:buChar char="•"/>
            </a:pPr>
            <a:r>
              <a:rPr sz="1700" b="0">
                <a:solidFill>
                  <a:srgbClr val="4B2E83"/>
                </a:solidFill>
                <a:latin typeface="Consolas"/>
              </a:rPr>
              <a:t>&amp;&amp;</a:t>
            </a:r>
            <a:r>
              <a:rPr sz="1700" b="0">
                <a:solidFill>
                  <a:srgbClr val="1D2330"/>
                </a:solidFill>
                <a:latin typeface="Calibri"/>
              </a:rPr>
              <a:t> between conditions: logical AND</a:t>
            </a:r>
          </a:p>
          <a:p>
            <a:pPr marL="256032" indent="-228600">
              <a:spcAft>
                <a:spcPts val="800"/>
              </a:spcAft>
              <a:buClr>
                <a:srgbClr val="5B6475"/>
              </a:buClr>
              <a:buChar char="•"/>
            </a:pPr>
            <a:r>
              <a:rPr sz="1700" b="0">
                <a:solidFill>
                  <a:srgbClr val="1D2330"/>
                </a:solidFill>
                <a:latin typeface="Calibri"/>
              </a:rPr>
              <a:t>Also seen: </a:t>
            </a:r>
            <a:r>
              <a:rPr sz="1700" b="0">
                <a:solidFill>
                  <a:srgbClr val="4B2E83"/>
                </a:solidFill>
                <a:latin typeface="Consolas"/>
              </a:rPr>
              <a:t>T&amp;&amp;</a:t>
            </a:r>
            <a:r>
              <a:rPr sz="1700" b="0">
                <a:solidFill>
                  <a:srgbClr val="1D2330"/>
                </a:solidFill>
                <a:latin typeface="Calibri"/>
              </a:rPr>
              <a:t>, </a:t>
            </a:r>
            <a:r>
              <a:rPr sz="1700" b="0">
                <a:solidFill>
                  <a:srgbClr val="4B2E83"/>
                </a:solidFill>
                <a:latin typeface="Consolas"/>
              </a:rPr>
              <a:t>[&amp;]</a:t>
            </a:r>
            <a:r>
              <a:rPr sz="1700" b="0">
                <a:solidFill>
                  <a:srgbClr val="1D2330"/>
                </a:solidFill>
                <a:latin typeface="Calibri"/>
              </a:rPr>
              <a:t> (later)</a:t>
            </a:r>
          </a:p>
        </p:txBody>
      </p:sp>
      <p:sp>
        <p:nvSpPr>
          <p:cNvPr id="9" name="Rounded Rectangle 8"/>
          <p:cNvSpPr/>
          <p:nvPr/>
        </p:nvSpPr>
        <p:spPr>
          <a:xfrm>
            <a:off x="6278727" y="1325880"/>
            <a:ext cx="5364327" cy="4800600"/>
          </a:xfrm>
          <a:prstGeom prst="roundRect">
            <a:avLst>
              <a:gd name="adj" fmla="val 4000"/>
            </a:avLst>
          </a:prstGeom>
          <a:solidFill>
            <a:srgbClr val="E8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508760"/>
            <a:ext cx="4815687" cy="457200"/>
          </a:xfrm>
          <a:prstGeom prst="rect">
            <a:avLst/>
          </a:prstGeom>
          <a:noFill/>
        </p:spPr>
        <p:txBody>
          <a:bodyPr wrap="square" lIns="0" rIns="0" tIns="0" bIns="0" anchor="t">
            <a:spAutoFit/>
          </a:bodyPr>
          <a:lstStyle/>
          <a:p>
            <a:pPr algn="l"/>
            <a:r>
              <a:rPr sz="2200" b="1">
                <a:solidFill>
                  <a:srgbClr val="2F6FDF"/>
                </a:solidFill>
                <a:latin typeface="Calibri"/>
              </a:rPr>
              <a:t>*</a:t>
            </a:r>
          </a:p>
        </p:txBody>
      </p:sp>
      <p:sp>
        <p:nvSpPr>
          <p:cNvPr id="11" name="TextBox 10"/>
          <p:cNvSpPr txBox="1"/>
          <p:nvPr/>
        </p:nvSpPr>
        <p:spPr>
          <a:xfrm>
            <a:off x="6553047"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1D2330"/>
                </a:solidFill>
                <a:latin typeface="Calibri"/>
              </a:rPr>
              <a:t>After a type (declaration): pointer; </a:t>
            </a:r>
            <a:r>
              <a:rPr sz="1700" b="0">
                <a:solidFill>
                  <a:srgbClr val="4B2E83"/>
                </a:solidFill>
                <a:latin typeface="Consolas"/>
              </a:rPr>
              <a:t>int **pp</a:t>
            </a:r>
            <a:r>
              <a:rPr sz="1700" b="0">
                <a:solidFill>
                  <a:srgbClr val="1D2330"/>
                </a:solidFill>
                <a:latin typeface="Calibri"/>
              </a:rPr>
              <a:t> points to a pointer</a:t>
            </a:r>
          </a:p>
          <a:p>
            <a:pPr marL="256032" indent="-228600">
              <a:spcAft>
                <a:spcPts val="800"/>
              </a:spcAft>
              <a:buClr>
                <a:srgbClr val="5B6475"/>
              </a:buClr>
              <a:buChar char="•"/>
            </a:pPr>
            <a:r>
              <a:rPr sz="1700" b="0">
                <a:solidFill>
                  <a:srgbClr val="1D2330"/>
                </a:solidFill>
                <a:latin typeface="Calibri"/>
              </a:rPr>
              <a:t>In front of one pointer: dereference (</a:t>
            </a:r>
            <a:r>
              <a:rPr sz="1700" b="0">
                <a:solidFill>
                  <a:srgbClr val="4B2E83"/>
                </a:solidFill>
                <a:latin typeface="Consolas"/>
              </a:rPr>
              <a:t>*this</a:t>
            </a:r>
            <a:r>
              <a:rPr sz="1700" b="0">
                <a:solidFill>
                  <a:srgbClr val="1D2330"/>
                </a:solidFill>
                <a:latin typeface="Calibri"/>
              </a:rPr>
              <a:t> is the current object)</a:t>
            </a:r>
          </a:p>
          <a:p>
            <a:pPr marL="256032" indent="-228600">
              <a:spcAft>
                <a:spcPts val="800"/>
              </a:spcAft>
              <a:buClr>
                <a:srgbClr val="5B6475"/>
              </a:buClr>
              <a:buChar char="•"/>
            </a:pPr>
            <a:r>
              <a:rPr sz="1700" b="0">
                <a:solidFill>
                  <a:srgbClr val="1D2330"/>
                </a:solidFill>
                <a:latin typeface="Calibri"/>
              </a:rPr>
              <a:t>Between two values: multiplication; in </a:t>
            </a:r>
            <a:r>
              <a:rPr sz="1700" b="0">
                <a:solidFill>
                  <a:srgbClr val="4B2E83"/>
                </a:solidFill>
                <a:latin typeface="Consolas"/>
              </a:rPr>
              <a:t>*p * 2</a:t>
            </a:r>
            <a:r>
              <a:rPr sz="1700" b="0">
                <a:solidFill>
                  <a:srgbClr val="1D2330"/>
                </a:solidFill>
                <a:latin typeface="Calibri"/>
              </a:rPr>
              <a:t> the first </a:t>
            </a:r>
            <a:r>
              <a:rPr sz="1700" b="0">
                <a:solidFill>
                  <a:srgbClr val="4B2E83"/>
                </a:solidFill>
                <a:latin typeface="Consolas"/>
              </a:rPr>
              <a:t>*</a:t>
            </a:r>
            <a:r>
              <a:rPr sz="1700" b="0">
                <a:solidFill>
                  <a:srgbClr val="1D2330"/>
                </a:solidFill>
                <a:latin typeface="Calibri"/>
              </a:rPr>
              <a:t> dereferences</a:t>
            </a:r>
          </a:p>
          <a:p>
            <a:pPr marL="256032" indent="-228600">
              <a:spcAft>
                <a:spcPts val="800"/>
              </a:spcAft>
              <a:buClr>
                <a:srgbClr val="5B6475"/>
              </a:buClr>
              <a:buChar char="•"/>
            </a:pPr>
            <a:r>
              <a:rPr sz="1700" b="0">
                <a:solidFill>
                  <a:srgbClr val="4B2E83"/>
                </a:solidFill>
                <a:latin typeface="Consolas"/>
              </a:rPr>
              <a:t>/* ... */</a:t>
            </a:r>
            <a:r>
              <a:rPr sz="1700" b="0">
                <a:solidFill>
                  <a:srgbClr val="1D2330"/>
                </a:solidFill>
                <a:latin typeface="Calibri"/>
              </a:rPr>
              <a:t>: a comment</a:t>
            </a:r>
          </a:p>
          <a:p>
            <a:pPr marL="256032" indent="-228600">
              <a:spcAft>
                <a:spcPts val="800"/>
              </a:spcAft>
              <a:buClr>
                <a:srgbClr val="5B6475"/>
              </a:buClr>
              <a:buChar char="•"/>
            </a:pPr>
            <a:r>
              <a:rPr sz="1700" b="0">
                <a:solidFill>
                  <a:srgbClr val="4B2E83"/>
                </a:solidFill>
                <a:latin typeface="Consolas"/>
              </a:rPr>
              <a:t>*p++</a:t>
            </a:r>
            <a:r>
              <a:rPr sz="1700" b="0">
                <a:solidFill>
                  <a:srgbClr val="1D2330"/>
                </a:solidFill>
                <a:latin typeface="Calibri"/>
              </a:rPr>
              <a:t> is </a:t>
            </a:r>
            <a:r>
              <a:rPr sz="1700" b="0">
                <a:solidFill>
                  <a:srgbClr val="4B2E83"/>
                </a:solidFill>
                <a:latin typeface="Consolas"/>
              </a:rPr>
              <a:t>*(p++)</a:t>
            </a:r>
            <a:r>
              <a:rPr sz="1700" b="0">
                <a:solidFill>
                  <a:srgbClr val="1D2330"/>
                </a:solidFill>
                <a:latin typeface="Calibri"/>
              </a:rPr>
              <a:t>; use </a:t>
            </a:r>
            <a:r>
              <a:rPr sz="1700" b="0">
                <a:solidFill>
                  <a:srgbClr val="4B2E83"/>
                </a:solidFill>
                <a:latin typeface="Consolas"/>
              </a:rPr>
              <a:t>(*p)++</a:t>
            </a:r>
            <a:r>
              <a:rPr sz="1700" b="0">
                <a:solidFill>
                  <a:srgbClr val="1D2330"/>
                </a:solidFill>
                <a:latin typeface="Calibri"/>
              </a:rPr>
              <a:t> to add to the value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9</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Coming from Java</a:t>
            </a:r>
          </a:p>
        </p:txBody>
      </p:sp>
      <p:sp>
        <p:nvSpPr>
          <p:cNvPr id="6" name="Rounded Rectangle 5"/>
          <p:cNvSpPr/>
          <p:nvPr/>
        </p:nvSpPr>
        <p:spPr>
          <a:xfrm>
            <a:off x="548640" y="1325880"/>
            <a:ext cx="5364327" cy="4800600"/>
          </a:xfrm>
          <a:prstGeom prst="roundRect">
            <a:avLst>
              <a:gd name="adj" fmla="val 4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4815687" cy="457200"/>
          </a:xfrm>
          <a:prstGeom prst="rect">
            <a:avLst/>
          </a:prstGeom>
          <a:noFill/>
        </p:spPr>
        <p:txBody>
          <a:bodyPr wrap="square" lIns="0" rIns="0" tIns="0" bIns="0" anchor="t">
            <a:spAutoFit/>
          </a:bodyPr>
          <a:lstStyle/>
          <a:p>
            <a:pPr algn="l"/>
            <a:r>
              <a:rPr sz="2200" b="1">
                <a:solidFill>
                  <a:srgbClr val="4B2E83"/>
                </a:solidFill>
                <a:latin typeface="Calibri"/>
              </a:rPr>
              <a:t>Java</a:t>
            </a:r>
          </a:p>
        </p:txBody>
      </p:sp>
      <p:sp>
        <p:nvSpPr>
          <p:cNvPr id="8" name="TextBox 7"/>
          <p:cNvSpPr txBox="1"/>
          <p:nvPr/>
        </p:nvSpPr>
        <p:spPr>
          <a:xfrm>
            <a:off x="822960"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1D2330"/>
                </a:solidFill>
                <a:latin typeface="Calibri"/>
              </a:rPr>
              <a:t>Every object variable is secretly a pointer</a:t>
            </a:r>
          </a:p>
          <a:p>
            <a:pPr marL="256032" indent="-228600">
              <a:spcAft>
                <a:spcPts val="800"/>
              </a:spcAft>
              <a:buClr>
                <a:srgbClr val="5B6475"/>
              </a:buClr>
              <a:buChar char="•"/>
            </a:pPr>
            <a:r>
              <a:rPr sz="1700" b="0">
                <a:solidFill>
                  <a:srgbClr val="4B2E83"/>
                </a:solidFill>
                <a:latin typeface="Consolas"/>
              </a:rPr>
              <a:t>null</a:t>
            </a:r>
          </a:p>
          <a:p>
            <a:pPr marL="256032" indent="-228600">
              <a:spcAft>
                <a:spcPts val="800"/>
              </a:spcAft>
              <a:buClr>
                <a:srgbClr val="5B6475"/>
              </a:buClr>
              <a:buChar char="•"/>
            </a:pPr>
            <a:r>
              <a:rPr sz="1700" b="0">
                <a:solidFill>
                  <a:srgbClr val="1D2330"/>
                </a:solidFill>
                <a:latin typeface="Calibri"/>
              </a:rPr>
              <a:t>No pointers to </a:t>
            </a:r>
            <a:r>
              <a:rPr sz="1700" b="0">
                <a:solidFill>
                  <a:srgbClr val="4B2E83"/>
                </a:solidFill>
                <a:latin typeface="Consolas"/>
              </a:rPr>
              <a:t>int</a:t>
            </a:r>
            <a:r>
              <a:rPr sz="1700" b="0">
                <a:solidFill>
                  <a:srgbClr val="1D2330"/>
                </a:solidFill>
                <a:latin typeface="Calibri"/>
              </a:rPr>
              <a:t>s or other primitives</a:t>
            </a:r>
          </a:p>
          <a:p>
            <a:pPr marL="256032" indent="-228600">
              <a:spcAft>
                <a:spcPts val="800"/>
              </a:spcAft>
              <a:buClr>
                <a:srgbClr val="5B6475"/>
              </a:buClr>
              <a:buChar char="•"/>
            </a:pPr>
            <a:r>
              <a:rPr sz="1700" b="0">
                <a:solidFill>
                  <a:srgbClr val="1D2330"/>
                </a:solidFill>
                <a:latin typeface="Calibri"/>
              </a:rPr>
              <a:t>No pointer arithmetic, no address-of</a:t>
            </a:r>
          </a:p>
          <a:p>
            <a:pPr marL="256032" indent="-228600">
              <a:spcAft>
                <a:spcPts val="800"/>
              </a:spcAft>
              <a:buClr>
                <a:srgbClr val="5B6475"/>
              </a:buClr>
              <a:buChar char="•"/>
            </a:pPr>
            <a:r>
              <a:rPr sz="1700" b="0">
                <a:solidFill>
                  <a:srgbClr val="1D2330"/>
                </a:solidFill>
                <a:latin typeface="Calibri"/>
              </a:rPr>
              <a:t>Null dereference: </a:t>
            </a:r>
            <a:r>
              <a:rPr sz="1700" b="0">
                <a:solidFill>
                  <a:srgbClr val="4B2E83"/>
                </a:solidFill>
                <a:latin typeface="Consolas"/>
              </a:rPr>
              <a:t>NullPointerException</a:t>
            </a:r>
          </a:p>
        </p:txBody>
      </p:sp>
      <p:sp>
        <p:nvSpPr>
          <p:cNvPr id="9" name="Rounded Rectangle 8"/>
          <p:cNvSpPr/>
          <p:nvPr/>
        </p:nvSpPr>
        <p:spPr>
          <a:xfrm>
            <a:off x="6278727" y="1325880"/>
            <a:ext cx="5364327" cy="4800600"/>
          </a:xfrm>
          <a:prstGeom prst="roundRect">
            <a:avLst>
              <a:gd name="adj" fmla="val 4000"/>
            </a:avLst>
          </a:prstGeom>
          <a:solidFill>
            <a:srgbClr val="E8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508760"/>
            <a:ext cx="4815687" cy="457200"/>
          </a:xfrm>
          <a:prstGeom prst="rect">
            <a:avLst/>
          </a:prstGeom>
          <a:noFill/>
        </p:spPr>
        <p:txBody>
          <a:bodyPr wrap="square" lIns="0" rIns="0" tIns="0" bIns="0" anchor="t">
            <a:spAutoFit/>
          </a:bodyPr>
          <a:lstStyle/>
          <a:p>
            <a:pPr algn="l"/>
            <a:r>
              <a:rPr sz="2200" b="1">
                <a:solidFill>
                  <a:srgbClr val="2F6FDF"/>
                </a:solidFill>
                <a:latin typeface="Calibri"/>
              </a:rPr>
              <a:t>C++</a:t>
            </a:r>
          </a:p>
        </p:txBody>
      </p:sp>
      <p:sp>
        <p:nvSpPr>
          <p:cNvPr id="11" name="TextBox 10"/>
          <p:cNvSpPr txBox="1"/>
          <p:nvPr/>
        </p:nvSpPr>
        <p:spPr>
          <a:xfrm>
            <a:off x="6553047"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1D2330"/>
                </a:solidFill>
                <a:latin typeface="Calibri"/>
              </a:rPr>
              <a:t>Pointers are explicit: </a:t>
            </a:r>
            <a:r>
              <a:rPr sz="1700" b="0">
                <a:solidFill>
                  <a:srgbClr val="4B2E83"/>
                </a:solidFill>
                <a:latin typeface="Consolas"/>
              </a:rPr>
              <a:t>Node *head</a:t>
            </a:r>
          </a:p>
          <a:p>
            <a:pPr marL="256032" indent="-228600">
              <a:spcAft>
                <a:spcPts val="800"/>
              </a:spcAft>
              <a:buClr>
                <a:srgbClr val="5B6475"/>
              </a:buClr>
              <a:buChar char="•"/>
            </a:pPr>
            <a:r>
              <a:rPr sz="1700" b="0">
                <a:solidFill>
                  <a:srgbClr val="4B2E83"/>
                </a:solidFill>
                <a:latin typeface="Consolas"/>
              </a:rPr>
              <a:t>nullptr</a:t>
            </a:r>
          </a:p>
          <a:p>
            <a:pPr marL="256032" indent="-228600">
              <a:spcAft>
                <a:spcPts val="800"/>
              </a:spcAft>
              <a:buClr>
                <a:srgbClr val="5B6475"/>
              </a:buClr>
              <a:buChar char="•"/>
            </a:pPr>
            <a:r>
              <a:rPr sz="1700" b="0">
                <a:solidFill>
                  <a:srgbClr val="1D2330"/>
                </a:solidFill>
                <a:latin typeface="Calibri"/>
              </a:rPr>
              <a:t>Point at anything: </a:t>
            </a:r>
            <a:r>
              <a:rPr sz="1700" b="0">
                <a:solidFill>
                  <a:srgbClr val="4B2E83"/>
                </a:solidFill>
                <a:latin typeface="Consolas"/>
              </a:rPr>
              <a:t>int *</a:t>
            </a:r>
            <a:r>
              <a:rPr sz="1700" b="0">
                <a:solidFill>
                  <a:srgbClr val="1D2330"/>
                </a:solidFill>
                <a:latin typeface="Calibri"/>
              </a:rPr>
              <a:t>, </a:t>
            </a:r>
            <a:r>
              <a:rPr sz="1700" b="0">
                <a:solidFill>
                  <a:srgbClr val="4B2E83"/>
                </a:solidFill>
                <a:latin typeface="Consolas"/>
              </a:rPr>
              <a:t>Point *</a:t>
            </a:r>
            <a:r>
              <a:rPr sz="1700" b="0">
                <a:solidFill>
                  <a:srgbClr val="1D2330"/>
                </a:solidFill>
                <a:latin typeface="Calibri"/>
              </a:rPr>
              <a:t>, </a:t>
            </a:r>
            <a:r>
              <a:rPr sz="1700" b="0">
                <a:solidFill>
                  <a:srgbClr val="4B2E83"/>
                </a:solidFill>
                <a:latin typeface="Consolas"/>
              </a:rPr>
              <a:t>Node *</a:t>
            </a:r>
          </a:p>
          <a:p>
            <a:pPr marL="256032" indent="-228600">
              <a:spcAft>
                <a:spcPts val="800"/>
              </a:spcAft>
              <a:buClr>
                <a:srgbClr val="5B6475"/>
              </a:buClr>
              <a:buChar char="•"/>
            </a:pPr>
            <a:r>
              <a:rPr sz="1700" b="0">
                <a:solidFill>
                  <a:srgbClr val="4B2E83"/>
                </a:solidFill>
                <a:latin typeface="Consolas"/>
              </a:rPr>
              <a:t>&amp;</a:t>
            </a:r>
            <a:r>
              <a:rPr sz="1700" b="0">
                <a:solidFill>
                  <a:srgbClr val="1D2330"/>
                </a:solidFill>
                <a:latin typeface="Calibri"/>
              </a:rPr>
              <a:t> takes addresses; </a:t>
            </a:r>
            <a:r>
              <a:rPr sz="1700" b="0">
                <a:solidFill>
                  <a:srgbClr val="4B2E83"/>
                </a:solidFill>
                <a:latin typeface="Consolas"/>
              </a:rPr>
              <a:t>p + 1</a:t>
            </a:r>
            <a:r>
              <a:rPr sz="1700" b="0">
                <a:solidFill>
                  <a:srgbClr val="1D2330"/>
                </a:solidFill>
                <a:latin typeface="Calibri"/>
              </a:rPr>
              <a:t> moves along an array</a:t>
            </a:r>
          </a:p>
          <a:p>
            <a:pPr marL="256032" indent="-228600">
              <a:spcAft>
                <a:spcPts val="800"/>
              </a:spcAft>
              <a:buClr>
                <a:srgbClr val="5B6475"/>
              </a:buClr>
              <a:buChar char="•"/>
            </a:pPr>
            <a:r>
              <a:rPr sz="1700" b="0">
                <a:solidFill>
                  <a:srgbClr val="1D2330"/>
                </a:solidFill>
                <a:latin typeface="Calibri"/>
              </a:rPr>
              <a:t>Null dereference: undefined behavior, usually a crash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10</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1: Pointer basics</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20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Lab3/exercises/ex1-pointers/</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the output, including the five address/value lines, is what you expect, and that you can explain each line.</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4B2E83"/>
                </a:solidFill>
                <a:latin typeface="Consolas"/>
              </a:rPr>
              <a:t>make</a:t>
            </a:r>
            <a:r>
              <a:rPr sz="1700" b="0">
                <a:solidFill>
                  <a:srgbClr val="1D2330"/>
                </a:solidFill>
                <a:latin typeface="Calibri"/>
              </a:rPr>
              <a:t>: one call doesn't compile. Fix the call, not the function</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1D2330"/>
                </a:solidFill>
                <a:latin typeface="Calibri"/>
              </a:rPr>
              <a:t>Print </a:t>
            </a:r>
            <a:r>
              <a:rPr sz="1700" b="0">
                <a:solidFill>
                  <a:srgbClr val="4B2E83"/>
                </a:solidFill>
                <a:latin typeface="Consolas"/>
              </a:rPr>
              <a:t>a</a:t>
            </a:r>
            <a:r>
              <a:rPr sz="1700" b="0">
                <a:solidFill>
                  <a:srgbClr val="1D2330"/>
                </a:solidFill>
                <a:latin typeface="Calibri"/>
              </a:rPr>
              <a:t>, </a:t>
            </a:r>
            <a:r>
              <a:rPr sz="1700" b="0">
                <a:solidFill>
                  <a:srgbClr val="4B2E83"/>
                </a:solidFill>
                <a:latin typeface="Consolas"/>
              </a:rPr>
              <a:t>&amp;a</a:t>
            </a:r>
            <a:r>
              <a:rPr sz="1700" b="0">
                <a:solidFill>
                  <a:srgbClr val="1D2330"/>
                </a:solidFill>
                <a:latin typeface="Calibri"/>
              </a:rPr>
              <a:t>, </a:t>
            </a:r>
            <a:r>
              <a:rPr sz="1700" b="0">
                <a:solidFill>
                  <a:srgbClr val="4B2E83"/>
                </a:solidFill>
                <a:latin typeface="Consolas"/>
              </a:rPr>
              <a:t>p</a:t>
            </a:r>
            <a:r>
              <a:rPr sz="1700" b="0">
                <a:solidFill>
                  <a:srgbClr val="1D2330"/>
                </a:solidFill>
                <a:latin typeface="Calibri"/>
              </a:rPr>
              <a:t>, </a:t>
            </a:r>
            <a:r>
              <a:rPr sz="1700" b="0">
                <a:solidFill>
                  <a:srgbClr val="4B2E83"/>
                </a:solidFill>
                <a:latin typeface="Consolas"/>
              </a:rPr>
              <a:t>*p</a:t>
            </a:r>
            <a:r>
              <a:rPr sz="1700" b="0">
                <a:solidFill>
                  <a:srgbClr val="1D2330"/>
                </a:solidFill>
                <a:latin typeface="Calibri"/>
              </a:rPr>
              <a:t>, </a:t>
            </a:r>
            <a:r>
              <a:rPr sz="1700" b="0">
                <a:solidFill>
                  <a:srgbClr val="4B2E83"/>
                </a:solidFill>
                <a:latin typeface="Consolas"/>
              </a:rPr>
              <a:t>&amp;p</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1D2330"/>
                </a:solidFill>
                <a:latin typeface="Calibri"/>
              </a:rPr>
              <a:t>Write </a:t>
            </a:r>
            <a:r>
              <a:rPr sz="1700" b="0">
                <a:solidFill>
                  <a:srgbClr val="4B2E83"/>
                </a:solidFill>
                <a:latin typeface="Consolas"/>
              </a:rPr>
              <a:t>setThroughPointer</a:t>
            </a:r>
            <a:r>
              <a:rPr sz="1700" b="0">
                <a:solidFill>
                  <a:srgbClr val="1D2330"/>
                </a:solidFill>
                <a:latin typeface="Calibri"/>
              </a:rPr>
              <a:t>, </a:t>
            </a:r>
            <a:r>
              <a:rPr sz="1700" b="0">
                <a:solidFill>
                  <a:srgbClr val="4B2E83"/>
                </a:solidFill>
                <a:latin typeface="Consolas"/>
              </a:rPr>
              <a:t>swapThroughPointers</a:t>
            </a:r>
            <a:r>
              <a:rPr sz="1700" b="0">
                <a:solidFill>
                  <a:srgbClr val="1D2330"/>
                </a:solidFill>
                <a:latin typeface="Calibri"/>
              </a:rPr>
              <a:t>, </a:t>
            </a:r>
            <a:r>
              <a:rPr sz="1700" b="0">
                <a:solidFill>
                  <a:srgbClr val="4B2E83"/>
                </a:solidFill>
                <a:latin typeface="Consolas"/>
              </a:rPr>
              <a:t>largerOf</a:t>
            </a:r>
            <a:r>
              <a:rPr sz="1700" b="0">
                <a:solidFill>
                  <a:srgbClr val="1D2330"/>
                </a:solidFill>
                <a:latin typeface="Calibri"/>
              </a:rPr>
              <a:t>, </a:t>
            </a:r>
            <a:r>
              <a:rPr sz="1700" b="0">
                <a:solidFill>
                  <a:srgbClr val="4B2E83"/>
                </a:solidFill>
                <a:latin typeface="Consolas"/>
              </a:rPr>
              <a:t>movePoint</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1D2330"/>
                </a:solidFill>
                <a:latin typeface="Calibri"/>
              </a:rPr>
              <a:t>Call </a:t>
            </a:r>
            <a:r>
              <a:rPr sz="1700" b="0">
                <a:solidFill>
                  <a:srgbClr val="4B2E83"/>
                </a:solidFill>
                <a:latin typeface="Consolas"/>
              </a:rPr>
              <a:t>showThroughPointer(nothing)</a:t>
            </a:r>
            <a:r>
              <a:rPr sz="1700" b="0">
                <a:solidFill>
                  <a:srgbClr val="1D2330"/>
                </a:solidFill>
                <a:latin typeface="Calibri"/>
              </a:rPr>
              <a:t>; run it in gdb, </a:t>
            </a:r>
            <a:r>
              <a:rPr sz="1700" b="0">
                <a:solidFill>
                  <a:srgbClr val="4B2E83"/>
                </a:solidFill>
                <a:latin typeface="Consolas"/>
              </a:rPr>
              <a:t>bt</a:t>
            </a:r>
            <a:r>
              <a:rPr sz="1700" b="0">
                <a:solidFill>
                  <a:srgbClr val="1D2330"/>
                </a:solidFill>
                <a:latin typeface="Calibri"/>
              </a:rPr>
              <a:t>; remove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11</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1</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showThroughPointer(a)</a:t>
            </a:r>
            <a:r>
              <a:rPr sz="1800" b="0">
                <a:solidFill>
                  <a:srgbClr val="1D2330"/>
                </a:solidFill>
                <a:latin typeface="Calibri"/>
              </a:rPr>
              <a:t>: invalid conversion from </a:t>
            </a:r>
            <a:r>
              <a:rPr sz="1800" b="0">
                <a:solidFill>
                  <a:srgbClr val="4B2E83"/>
                </a:solidFill>
                <a:latin typeface="Consolas"/>
              </a:rPr>
              <a:t>int</a:t>
            </a:r>
            <a:r>
              <a:rPr sz="1800" b="0">
                <a:solidFill>
                  <a:srgbClr val="1D2330"/>
                </a:solidFill>
                <a:latin typeface="Calibri"/>
              </a:rPr>
              <a:t> to </a:t>
            </a:r>
            <a:r>
              <a:rPr sz="1800" b="0">
                <a:solidFill>
                  <a:srgbClr val="4B2E83"/>
                </a:solidFill>
                <a:latin typeface="Consolas"/>
              </a:rPr>
              <a:t>const int*</a:t>
            </a:r>
            <a:r>
              <a:rPr sz="1800" b="0">
                <a:solidFill>
                  <a:srgbClr val="1D2330"/>
                </a:solidFill>
                <a:latin typeface="Calibri"/>
              </a:rPr>
              <a:t>. Pass </a:t>
            </a:r>
            <a:r>
              <a:rPr sz="1800" b="0">
                <a:solidFill>
                  <a:srgbClr val="4B2E83"/>
                </a:solidFill>
                <a:latin typeface="Consolas"/>
              </a:rPr>
              <a:t>&amp;a</a:t>
            </a:r>
          </a:p>
          <a:p>
            <a:pPr marL="256032" indent="-228600">
              <a:spcAft>
                <a:spcPts val="800"/>
              </a:spcAft>
              <a:buClr>
                <a:srgbClr val="5B6475"/>
              </a:buClr>
              <a:buChar char="•"/>
            </a:pPr>
            <a:r>
              <a:rPr sz="1800" b="0">
                <a:solidFill>
                  <a:srgbClr val="4B2E83"/>
                </a:solidFill>
                <a:latin typeface="Consolas"/>
              </a:rPr>
              <a:t>&amp;a == p</a:t>
            </a:r>
            <a:r>
              <a:rPr sz="1800" b="0">
                <a:solidFill>
                  <a:srgbClr val="1D2330"/>
                </a:solidFill>
                <a:latin typeface="Calibri"/>
              </a:rPr>
              <a:t>, </a:t>
            </a:r>
            <a:r>
              <a:rPr sz="1800" b="0">
                <a:solidFill>
                  <a:srgbClr val="4B2E83"/>
                </a:solidFill>
                <a:latin typeface="Consolas"/>
              </a:rPr>
              <a:t>*p == a</a:t>
            </a:r>
            <a:r>
              <a:rPr sz="1800" b="0">
                <a:solidFill>
                  <a:srgbClr val="1D2330"/>
                </a:solidFill>
                <a:latin typeface="Calibri"/>
              </a:rPr>
              <a:t>; </a:t>
            </a:r>
            <a:r>
              <a:rPr sz="1800" b="0">
                <a:solidFill>
                  <a:srgbClr val="4B2E83"/>
                </a:solidFill>
                <a:latin typeface="Consolas"/>
              </a:rPr>
              <a:t>&amp;p</a:t>
            </a:r>
            <a:r>
              <a:rPr sz="1800" b="0">
                <a:solidFill>
                  <a:srgbClr val="1D2330"/>
                </a:solidFill>
                <a:latin typeface="Calibri"/>
              </a:rPr>
              <a:t> is the pointer's own address</a:t>
            </a:r>
          </a:p>
          <a:p>
            <a:pPr marL="256032" indent="-228600">
              <a:spcAft>
                <a:spcPts val="800"/>
              </a:spcAft>
              <a:buClr>
                <a:srgbClr val="5B6475"/>
              </a:buClr>
              <a:buChar char="•"/>
            </a:pPr>
            <a:r>
              <a:rPr sz="1800" b="0">
                <a:solidFill>
                  <a:srgbClr val="4B2E83"/>
                </a:solidFill>
                <a:latin typeface="Consolas"/>
              </a:rPr>
              <a:t>largerOf</a:t>
            </a:r>
            <a:r>
              <a:rPr sz="1800" b="0">
                <a:solidFill>
                  <a:srgbClr val="1D2330"/>
                </a:solidFill>
                <a:latin typeface="Calibri"/>
              </a:rPr>
              <a:t> returns the address of the caller's </a:t>
            </a:r>
            <a:r>
              <a:rPr sz="1800" b="0">
                <a:solidFill>
                  <a:srgbClr val="4B2E83"/>
                </a:solidFill>
                <a:latin typeface="Consolas"/>
              </a:rPr>
              <a:t>y</a:t>
            </a:r>
            <a:r>
              <a:rPr sz="1800" b="0">
                <a:solidFill>
                  <a:srgbClr val="1D2330"/>
                </a:solidFill>
                <a:latin typeface="Calibri"/>
              </a:rPr>
              <a:t>, so </a:t>
            </a:r>
            <a:r>
              <a:rPr sz="1800" b="0">
                <a:solidFill>
                  <a:srgbClr val="4B2E83"/>
                </a:solidFill>
                <a:latin typeface="Consolas"/>
              </a:rPr>
              <a:t>*bigger = 0</a:t>
            </a:r>
            <a:r>
              <a:rPr sz="1800" b="0">
                <a:solidFill>
                  <a:srgbClr val="1D2330"/>
                </a:solidFill>
                <a:latin typeface="Calibri"/>
              </a:rPr>
              <a:t> changes </a:t>
            </a:r>
            <a:r>
              <a:rPr sz="1800" b="0">
                <a:solidFill>
                  <a:srgbClr val="4B2E83"/>
                </a:solidFill>
                <a:latin typeface="Consolas"/>
              </a:rPr>
              <a:t>y</a:t>
            </a:r>
          </a:p>
          <a:p>
            <a:pPr marL="256032" indent="-228600">
              <a:spcAft>
                <a:spcPts val="800"/>
              </a:spcAft>
              <a:buClr>
                <a:srgbClr val="5B6475"/>
              </a:buClr>
              <a:buChar char="•"/>
            </a:pPr>
            <a:r>
              <a:rPr sz="1800" b="0">
                <a:solidFill>
                  <a:srgbClr val="4B2E83"/>
                </a:solidFill>
                <a:latin typeface="Consolas"/>
              </a:rPr>
              <a:t>showThroughPointer(nullptr)</a:t>
            </a:r>
            <a:r>
              <a:rPr sz="1800" b="0">
                <a:solidFill>
                  <a:srgbClr val="1D2330"/>
                </a:solidFill>
                <a:latin typeface="Calibri"/>
              </a:rPr>
              <a:t>: exit 139; gdb </a:t>
            </a:r>
            <a:r>
              <a:rPr sz="1800" b="0">
                <a:solidFill>
                  <a:srgbClr val="4B2E83"/>
                </a:solidFill>
                <a:latin typeface="Consolas"/>
              </a:rPr>
              <a:t>bt</a:t>
            </a:r>
            <a:r>
              <a:rPr sz="1800" b="0">
                <a:solidFill>
                  <a:srgbClr val="1D2330"/>
                </a:solidFill>
                <a:latin typeface="Calibri"/>
              </a:rPr>
              <a:t> points at </a:t>
            </a:r>
            <a:r>
              <a:rPr sz="1800" b="0">
                <a:solidFill>
                  <a:srgbClr val="4B2E83"/>
                </a:solidFill>
                <a:latin typeface="Consolas"/>
              </a:rPr>
              <a:t>*p</a:t>
            </a:r>
            <a:r>
              <a:rPr sz="1800" b="0">
                <a:solidFill>
                  <a:srgbClr val="1D2330"/>
                </a:solidFill>
                <a:latin typeface="Calibri"/>
              </a:rPr>
              <a:t> with </a:t>
            </a:r>
            <a:r>
              <a:rPr sz="1800" b="0">
                <a:solidFill>
                  <a:srgbClr val="4B2E83"/>
                </a:solidFill>
                <a:latin typeface="Consolas"/>
              </a:rPr>
              <a:t>p=0x0</a:t>
            </a:r>
          </a:p>
        </p:txBody>
      </p:sp>
      <p:sp>
        <p:nvSpPr>
          <p:cNvPr id="7" name="Rounded Rectangle 6"/>
          <p:cNvSpPr/>
          <p:nvPr/>
        </p:nvSpPr>
        <p:spPr>
          <a:xfrm>
            <a:off x="5972110" y="1325880"/>
            <a:ext cx="5670944" cy="27584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392680"/>
          </a:xfrm>
          <a:prstGeom prst="rect">
            <a:avLst/>
          </a:prstGeom>
          <a:noFill/>
        </p:spPr>
        <p:txBody>
          <a:bodyPr wrap="none" lIns="0" rIns="0" tIns="0" bIns="0" anchor="t">
            <a:spAutoFit/>
          </a:bodyPr>
          <a:lstStyle/>
          <a:p>
            <a:pPr>
              <a:spcAft>
                <a:spcPts val="0"/>
              </a:spcAft>
            </a:pPr>
            <a:r>
              <a:rPr sz="1400">
                <a:solidFill>
                  <a:srgbClr val="E6E6EF"/>
                </a:solidFill>
                <a:latin typeface="Consolas"/>
              </a:rPr>
              <a:t>int *largerOf(int *a, int *b) {</a:t>
            </a:r>
          </a:p>
          <a:p>
            <a:pPr>
              <a:spcAft>
                <a:spcPts val="0"/>
              </a:spcAft>
            </a:pPr>
            <a:r>
              <a:rPr sz="1400">
                <a:solidFill>
                  <a:srgbClr val="E6E6EF"/>
                </a:solidFill>
                <a:latin typeface="Consolas"/>
              </a:rPr>
              <a:t>    if (*b &gt; *a) {</a:t>
            </a:r>
          </a:p>
          <a:p>
            <a:pPr>
              <a:spcAft>
                <a:spcPts val="0"/>
              </a:spcAft>
            </a:pPr>
            <a:r>
              <a:rPr sz="1400">
                <a:solidFill>
                  <a:srgbClr val="E6E6EF"/>
                </a:solidFill>
                <a:latin typeface="Consolas"/>
              </a:rPr>
              <a:t>        return b;</a:t>
            </a:r>
          </a:p>
          <a:p>
            <a:pPr>
              <a:spcAft>
                <a:spcPts val="0"/>
              </a:spcAft>
            </a:pPr>
            <a:r>
              <a:rPr sz="1400">
                <a:solidFill>
                  <a:srgbClr val="E6E6EF"/>
                </a:solidFill>
                <a:latin typeface="Consolas"/>
              </a:rPr>
              <a:t>    }</a:t>
            </a:r>
          </a:p>
          <a:p>
            <a:pPr>
              <a:spcAft>
                <a:spcPts val="0"/>
              </a:spcAft>
            </a:pPr>
            <a:r>
              <a:rPr sz="1400">
                <a:solidFill>
                  <a:srgbClr val="E6E6EF"/>
                </a:solidFill>
                <a:latin typeface="Consolas"/>
              </a:rPr>
              <a:t>    return a;</a:t>
            </a:r>
          </a:p>
          <a:p>
            <a:pPr>
              <a:spcAft>
                <a:spcPts val="0"/>
              </a:spcAft>
            </a:pPr>
            <a:r>
              <a:rPr sz="1400">
                <a:solidFill>
                  <a:srgbClr val="E6E6EF"/>
                </a:solidFill>
                <a:latin typeface="Consolas"/>
              </a:rPr>
              <a:t>}</a:t>
            </a:r>
          </a:p>
          <a:p>
            <a:pPr>
              <a:spcAft>
                <a:spcPts val="0"/>
              </a:spcAft>
            </a:pPr>
            <a:r>
              <a:rPr sz="1400">
                <a:latin typeface="Consolas"/>
              </a:rPr>
              <a:t> </a:t>
            </a:r>
          </a:p>
          <a:p>
            <a:pPr>
              <a:spcAft>
                <a:spcPts val="0"/>
              </a:spcAft>
            </a:pPr>
            <a:r>
              <a:rPr sz="1400">
                <a:solidFill>
                  <a:srgbClr val="E6E6EF"/>
                </a:solidFill>
                <a:latin typeface="Consolas"/>
              </a:rPr>
              <a:t>int x = 4;</a:t>
            </a:r>
          </a:p>
          <a:p>
            <a:pPr>
              <a:spcAft>
                <a:spcPts val="0"/>
              </a:spcAft>
            </a:pPr>
            <a:r>
              <a:rPr sz="1400">
                <a:solidFill>
                  <a:srgbClr val="E6E6EF"/>
                </a:solidFill>
                <a:latin typeface="Consolas"/>
              </a:rPr>
              <a:t>int y = 9;</a:t>
            </a:r>
          </a:p>
          <a:p>
            <a:pPr>
              <a:spcAft>
                <a:spcPts val="0"/>
              </a:spcAft>
            </a:pPr>
            <a:r>
              <a:rPr sz="1400">
                <a:solidFill>
                  <a:srgbClr val="E6E6EF"/>
                </a:solidFill>
                <a:latin typeface="Consolas"/>
              </a:rPr>
              <a:t>int *bigger = largerOf(&amp;x, &amp;y);</a:t>
            </a:r>
          </a:p>
          <a:p>
            <a:pPr>
              <a:spcAft>
                <a:spcPts val="0"/>
              </a:spcAft>
            </a:pPr>
            <a:r>
              <a:rPr sz="1400">
                <a:solidFill>
                  <a:srgbClr val="E6E6EF"/>
                </a:solidFill>
                <a:latin typeface="Consolas"/>
              </a:rPr>
              <a:t>*bigger = 0;        </a:t>
            </a:r>
            <a:r>
              <a:rPr sz="1400">
                <a:solidFill>
                  <a:srgbClr val="9AA4B5"/>
                </a:solidFill>
                <a:latin typeface="Consolas"/>
              </a:rPr>
              <a:t>// y is now 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12</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1</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1D2330"/>
                </a:solidFill>
                <a:latin typeface="Calibri"/>
              </a:rPr>
              <a:t>After </a:t>
            </a:r>
            <a:r>
              <a:rPr sz="1800" b="0">
                <a:solidFill>
                  <a:srgbClr val="4B2E83"/>
                </a:solidFill>
                <a:latin typeface="Consolas"/>
              </a:rPr>
              <a:t>int x = 3; int *p = &amp;x; int **pp = &amp;p; **pp = 9;</a:t>
            </a:r>
            <a:r>
              <a:rPr sz="1800" b="0">
                <a:solidFill>
                  <a:srgbClr val="1D2330"/>
                </a:solidFill>
                <a:latin typeface="Calibri"/>
              </a:rPr>
              <a:t>, what is </a:t>
            </a:r>
            <a:r>
              <a:rPr sz="1800" b="0">
                <a:solidFill>
                  <a:srgbClr val="4B2E83"/>
                </a:solidFill>
                <a:latin typeface="Consolas"/>
              </a:rPr>
              <a:t>x</a:t>
            </a:r>
            <a:r>
              <a:rPr sz="1800" b="0">
                <a:solidFill>
                  <a:srgbClr val="1D2330"/>
                </a:solidFill>
                <a:latin typeface="Calibri"/>
              </a:rPr>
              <a:t>?</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1D2330"/>
                </a:solidFill>
                <a:latin typeface="Calibri"/>
              </a:rPr>
              <a:t>What is wrong with </a:t>
            </a:r>
            <a:r>
              <a:rPr sz="1800" b="0">
                <a:solidFill>
                  <a:srgbClr val="4B2E83"/>
                </a:solidFill>
                <a:latin typeface="Consolas"/>
              </a:rPr>
              <a:t>int *p; *p = 5;</a:t>
            </a:r>
            <a:r>
              <a:rPr sz="1800" b="0">
                <a:solidFill>
                  <a:srgbClr val="1D2330"/>
                </a:solidFill>
                <a:latin typeface="Calibri"/>
              </a:rPr>
              <a:t>?</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1D2330"/>
                </a:solidFill>
                <a:latin typeface="Calibri"/>
              </a:rPr>
              <a:t>In </a:t>
            </a:r>
            <a:r>
              <a:rPr sz="1800" b="0">
                <a:solidFill>
                  <a:srgbClr val="4B2E83"/>
                </a:solidFill>
                <a:latin typeface="Consolas"/>
              </a:rPr>
              <a:t>int* a, b;</a:t>
            </a:r>
            <a:r>
              <a:rPr sz="1800" b="0">
                <a:solidFill>
                  <a:srgbClr val="1D2330"/>
                </a:solidFill>
                <a:latin typeface="Calibri"/>
              </a:rPr>
              <a:t>, what are the types of </a:t>
            </a:r>
            <a:r>
              <a:rPr sz="1800" b="0">
                <a:solidFill>
                  <a:srgbClr val="4B2E83"/>
                </a:solidFill>
                <a:latin typeface="Consolas"/>
              </a:rPr>
              <a:t>a</a:t>
            </a:r>
            <a:r>
              <a:rPr sz="1800" b="0">
                <a:solidFill>
                  <a:srgbClr val="1D2330"/>
                </a:solidFill>
                <a:latin typeface="Calibri"/>
              </a:rPr>
              <a:t> and </a:t>
            </a:r>
            <a:r>
              <a:rPr sz="1800" b="0">
                <a:solidFill>
                  <a:srgbClr val="4B2E83"/>
                </a:solidFill>
                <a:latin typeface="Consolas"/>
              </a:rPr>
              <a:t>b</a:t>
            </a:r>
            <a:r>
              <a:rPr sz="1800" b="0">
                <a:solidFill>
                  <a:srgbClr val="1D2330"/>
                </a:solidFill>
                <a:latin typeface="Calibri"/>
              </a:rPr>
              <a:t>?</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1D2330"/>
                </a:solidFill>
                <a:latin typeface="Calibri"/>
              </a:rPr>
              <a:t>In </a:t>
            </a:r>
            <a:r>
              <a:rPr sz="1800" b="0">
                <a:solidFill>
                  <a:srgbClr val="4B2E83"/>
                </a:solidFill>
                <a:latin typeface="Consolas"/>
              </a:rPr>
              <a:t>int n = 4; int &amp;r = n; int *p = &amp;r; *p = *p * 2;</a:t>
            </a:r>
            <a:r>
              <a:rPr sz="1800" b="0">
                <a:solidFill>
                  <a:srgbClr val="1D2330"/>
                </a:solidFill>
                <a:latin typeface="Calibri"/>
              </a:rPr>
              <a:t>, name each </a:t>
            </a:r>
            <a:r>
              <a:rPr sz="1800" b="0">
                <a:solidFill>
                  <a:srgbClr val="4B2E83"/>
                </a:solidFill>
                <a:latin typeface="Consolas"/>
              </a:rPr>
              <a:t>&amp;</a:t>
            </a:r>
            <a:r>
              <a:rPr sz="1800" b="0">
                <a:solidFill>
                  <a:srgbClr val="1D2330"/>
                </a:solidFill>
                <a:latin typeface="Calibri"/>
              </a:rPr>
              <a:t> and </a:t>
            </a:r>
            <a:r>
              <a:rPr sz="1800" b="0">
                <a:solidFill>
                  <a:srgbClr val="4B2E83"/>
                </a:solidFill>
                <a:latin typeface="Consolas"/>
              </a:rPr>
              <a:t>*</a:t>
            </a:r>
            <a:r>
              <a:rPr sz="1800" b="0">
                <a:solidFill>
                  <a:srgbClr val="1D2330"/>
                </a:solidFill>
                <a:latin typeface="Calibri"/>
              </a:rPr>
              <a:t>. What is </a:t>
            </a:r>
            <a:r>
              <a:rPr sz="1800" b="0">
                <a:solidFill>
                  <a:srgbClr val="4B2E83"/>
                </a:solidFill>
                <a:latin typeface="Consolas"/>
              </a:rPr>
              <a:t>n</a:t>
            </a:r>
            <a:r>
              <a:rPr sz="1800" b="0">
                <a:solidFill>
                  <a:srgbClr val="1D2330"/>
                </a:solidFill>
                <a:latin typeface="Calibri"/>
              </a:rPr>
              <a:t>?</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13</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3 Exercise 1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1</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2</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Arrays</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The fastest container, under </a:t>
            </a:r>
            <a:r>
              <a:rPr sz="2000" b="0">
                <a:solidFill>
                  <a:srgbClr val="FFFFFF"/>
                </a:solidFill>
                <a:latin typeface="Consolas"/>
              </a:rPr>
              <a:t>vector</a:t>
            </a:r>
            <a:r>
              <a:rPr sz="2000" b="0">
                <a:solidFill>
                  <a:srgbClr val="C5B4E3"/>
                </a:solidFill>
                <a:latin typeface="Calibri"/>
              </a:rPr>
              <a:t> and </a:t>
            </a:r>
            <a:r>
              <a:rPr sz="2000" b="0">
                <a:solidFill>
                  <a:srgbClr val="FFFFFF"/>
                </a:solidFill>
                <a:latin typeface="Consolas"/>
              </a:rPr>
              <a:t>string</a:t>
            </a:r>
            <a:r>
              <a:rPr sz="2000" b="0">
                <a:solidFill>
                  <a:srgbClr val="C5B4E3"/>
                </a:solidFill>
                <a:latin typeface="Calibri"/>
              </a:rPr>
              <a:t>, with no length and no bounds checks</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See an array as what it is: one block of memory, no length, no bounds checks</a:t>
            </a:r>
          </a:p>
          <a:p>
            <a:pPr marL="256032" indent="-228600">
              <a:spcAft>
                <a:spcPts val="600"/>
              </a:spcAft>
              <a:buClr>
                <a:srgbClr val="5B6475"/>
              </a:buClr>
              <a:buChar char="›"/>
            </a:pPr>
            <a:r>
              <a:rPr sz="2000" b="0">
                <a:solidFill>
                  <a:srgbClr val="FFFFFF"/>
                </a:solidFill>
                <a:latin typeface="Calibri"/>
              </a:rPr>
              <a:t>Use indexing and pointer arithmetic interchangeably, even negative indexes</a:t>
            </a:r>
          </a:p>
          <a:p>
            <a:pPr marL="256032" indent="-228600">
              <a:spcAft>
                <a:spcPts val="600"/>
              </a:spcAft>
              <a:buClr>
                <a:srgbClr val="5B6475"/>
              </a:buClr>
              <a:buChar char="›"/>
            </a:pPr>
            <a:r>
              <a:rPr sz="2000" b="0">
                <a:solidFill>
                  <a:srgbClr val="FFFFFF"/>
                </a:solidFill>
                <a:latin typeface="Calibri"/>
              </a:rPr>
              <a:t>Work with arrays of objects and 2D arrays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15</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Arrays are memory</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One contiguous block: </a:t>
            </a:r>
            <a:r>
              <a:rPr sz="1800" b="0">
                <a:solidFill>
                  <a:srgbClr val="4B2E83"/>
                </a:solidFill>
                <a:latin typeface="Consolas"/>
              </a:rPr>
              <a:t>int a[8];</a:t>
            </a:r>
            <a:r>
              <a:rPr sz="1800" b="0">
                <a:solidFill>
                  <a:srgbClr val="1D2330"/>
                </a:solidFill>
                <a:latin typeface="Calibri"/>
              </a:rPr>
              <a:t> is 32 bytes, nothing else</a:t>
            </a:r>
          </a:p>
          <a:p>
            <a:pPr marL="256032" indent="-228600">
              <a:spcAft>
                <a:spcPts val="800"/>
              </a:spcAft>
              <a:buClr>
                <a:srgbClr val="5B6475"/>
              </a:buClr>
              <a:buChar char="•"/>
            </a:pPr>
            <a:r>
              <a:rPr sz="1800" b="0">
                <a:solidFill>
                  <a:srgbClr val="1D2330"/>
                </a:solidFill>
                <a:latin typeface="Calibri"/>
              </a:rPr>
              <a:t>The name is the address of the first element: </a:t>
            </a:r>
            <a:r>
              <a:rPr sz="1800" b="0">
                <a:solidFill>
                  <a:srgbClr val="4B2E83"/>
                </a:solidFill>
                <a:latin typeface="Consolas"/>
              </a:rPr>
              <a:t>a</a:t>
            </a:r>
            <a:r>
              <a:rPr sz="1800" b="0">
                <a:solidFill>
                  <a:srgbClr val="1D2330"/>
                </a:solidFill>
                <a:latin typeface="Calibri"/>
              </a:rPr>
              <a:t> is </a:t>
            </a:r>
            <a:r>
              <a:rPr sz="1800" b="0">
                <a:solidFill>
                  <a:srgbClr val="4B2E83"/>
                </a:solidFill>
                <a:latin typeface="Consolas"/>
              </a:rPr>
              <a:t>&amp;a[0]</a:t>
            </a:r>
          </a:p>
          <a:p>
            <a:pPr marL="256032" indent="-228600">
              <a:spcAft>
                <a:spcPts val="800"/>
              </a:spcAft>
              <a:buClr>
                <a:srgbClr val="5B6475"/>
              </a:buClr>
              <a:buChar char="•"/>
            </a:pPr>
            <a:r>
              <a:rPr sz="1800" b="0">
                <a:solidFill>
                  <a:srgbClr val="1D2330"/>
                </a:solidFill>
                <a:latin typeface="Calibri"/>
              </a:rPr>
              <a:t>But </a:t>
            </a:r>
            <a:r>
              <a:rPr sz="1800" b="0">
                <a:solidFill>
                  <a:srgbClr val="4B2E83"/>
                </a:solidFill>
                <a:latin typeface="Consolas"/>
              </a:rPr>
              <a:t>sizeof(a)</a:t>
            </a:r>
            <a:r>
              <a:rPr sz="1800" b="0">
                <a:solidFill>
                  <a:srgbClr val="1D2330"/>
                </a:solidFill>
                <a:latin typeface="Calibri"/>
              </a:rPr>
              <a:t> is 32, </a:t>
            </a:r>
            <a:r>
              <a:rPr sz="1800" b="0">
                <a:solidFill>
                  <a:srgbClr val="4B2E83"/>
                </a:solidFill>
                <a:latin typeface="Consolas"/>
              </a:rPr>
              <a:t>sizeof(p)</a:t>
            </a:r>
            <a:r>
              <a:rPr sz="1800" b="0">
                <a:solidFill>
                  <a:srgbClr val="1D2330"/>
                </a:solidFill>
                <a:latin typeface="Calibri"/>
              </a:rPr>
              <a:t> is 8</a:t>
            </a:r>
          </a:p>
          <a:p>
            <a:pPr marL="256032" indent="-228600">
              <a:spcAft>
                <a:spcPts val="800"/>
              </a:spcAft>
              <a:buClr>
                <a:srgbClr val="5B6475"/>
              </a:buClr>
              <a:buChar char="•"/>
            </a:pPr>
            <a:r>
              <a:rPr sz="1800" b="0">
                <a:solidFill>
                  <a:srgbClr val="4B2E83"/>
                </a:solidFill>
                <a:latin typeface="Consolas"/>
              </a:rPr>
              <a:t>a[i]</a:t>
            </a:r>
            <a:r>
              <a:rPr sz="1800" b="0">
                <a:solidFill>
                  <a:srgbClr val="1D2330"/>
                </a:solidFill>
                <a:latin typeface="Calibri"/>
              </a:rPr>
              <a:t> is defined as </a:t>
            </a:r>
            <a:r>
              <a:rPr sz="1800" b="0">
                <a:solidFill>
                  <a:srgbClr val="4B2E83"/>
                </a:solidFill>
                <a:latin typeface="Consolas"/>
              </a:rPr>
              <a:t>*(a + i)</a:t>
            </a:r>
            <a:r>
              <a:rPr sz="1800" b="0">
                <a:solidFill>
                  <a:srgbClr val="1D2330"/>
                </a:solidFill>
                <a:latin typeface="Calibri"/>
              </a:rPr>
              <a:t>; </a:t>
            </a:r>
            <a:r>
              <a:rPr sz="1800" b="0">
                <a:solidFill>
                  <a:srgbClr val="4B2E83"/>
                </a:solidFill>
                <a:latin typeface="Consolas"/>
              </a:rPr>
              <a:t>p + 1</a:t>
            </a:r>
            <a:r>
              <a:rPr sz="1800" b="0">
                <a:solidFill>
                  <a:srgbClr val="1D2330"/>
                </a:solidFill>
                <a:latin typeface="Calibri"/>
              </a:rPr>
              <a:t> moves one element</a:t>
            </a:r>
          </a:p>
          <a:p>
            <a:pPr marL="256032" indent="-228600">
              <a:spcAft>
                <a:spcPts val="800"/>
              </a:spcAft>
              <a:buClr>
                <a:srgbClr val="5B6475"/>
              </a:buClr>
              <a:buChar char="•"/>
            </a:pPr>
            <a:r>
              <a:rPr sz="1800" b="0">
                <a:solidFill>
                  <a:srgbClr val="1D2330"/>
                </a:solidFill>
                <a:latin typeface="Calibri"/>
              </a:rPr>
              <a:t>From a pointer into the middle, an index can be negative</a:t>
            </a:r>
          </a:p>
          <a:p>
            <a:pPr marL="256032" indent="-228600">
              <a:spcAft>
                <a:spcPts val="800"/>
              </a:spcAft>
              <a:buClr>
                <a:srgbClr val="5B6475"/>
              </a:buClr>
              <a:buChar char="•"/>
            </a:pPr>
            <a:r>
              <a:rPr sz="1800" b="0">
                <a:solidFill>
                  <a:srgbClr val="1D2330"/>
                </a:solidFill>
                <a:latin typeface="Calibri"/>
              </a:rPr>
              <a:t>An array parameter is a pointer: always pass the count</a:t>
            </a:r>
          </a:p>
        </p:txBody>
      </p:sp>
      <p:sp>
        <p:nvSpPr>
          <p:cNvPr id="7" name="Rounded Rectangle 6"/>
          <p:cNvSpPr/>
          <p:nvPr/>
        </p:nvSpPr>
        <p:spPr>
          <a:xfrm>
            <a:off x="5972110" y="1325880"/>
            <a:ext cx="5670944" cy="1691639"/>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1325879"/>
          </a:xfrm>
          <a:prstGeom prst="rect">
            <a:avLst/>
          </a:prstGeom>
          <a:noFill/>
        </p:spPr>
        <p:txBody>
          <a:bodyPr wrap="none" lIns="0" rIns="0" tIns="0" bIns="0" anchor="t">
            <a:spAutoFit/>
          </a:bodyPr>
          <a:lstStyle/>
          <a:p>
            <a:pPr>
              <a:spcAft>
                <a:spcPts val="0"/>
              </a:spcAft>
            </a:pPr>
            <a:r>
              <a:rPr sz="1400">
                <a:solidFill>
                  <a:srgbClr val="E6E6EF"/>
                </a:solidFill>
                <a:latin typeface="Consolas"/>
              </a:rPr>
              <a:t>int a[8] = {10, 11, 12, 13, 14, 15, 16, 17};</a:t>
            </a:r>
          </a:p>
          <a:p>
            <a:pPr>
              <a:spcAft>
                <a:spcPts val="0"/>
              </a:spcAft>
            </a:pPr>
            <a:r>
              <a:rPr sz="1400">
                <a:solidFill>
                  <a:srgbClr val="E6E6EF"/>
                </a:solidFill>
                <a:latin typeface="Consolas"/>
              </a:rPr>
              <a:t>int *p = &amp;(a[5]);   </a:t>
            </a:r>
            <a:r>
              <a:rPr sz="1400">
                <a:solidFill>
                  <a:srgbClr val="9AA4B5"/>
                </a:solidFill>
                <a:latin typeface="Consolas"/>
              </a:rPr>
              <a:t>// *p is 15</a:t>
            </a:r>
          </a:p>
          <a:p>
            <a:pPr>
              <a:spcAft>
                <a:spcPts val="0"/>
              </a:spcAft>
            </a:pPr>
            <a:r>
              <a:rPr sz="1400">
                <a:solidFill>
                  <a:srgbClr val="E6E6EF"/>
                </a:solidFill>
                <a:latin typeface="Consolas"/>
              </a:rPr>
              <a:t>p[1];               </a:t>
            </a:r>
            <a:r>
              <a:rPr sz="1400">
                <a:solidFill>
                  <a:srgbClr val="9AA4B5"/>
                </a:solidFill>
                <a:latin typeface="Consolas"/>
              </a:rPr>
              <a:t>// 16: *(p + 1), a[6]</a:t>
            </a:r>
          </a:p>
          <a:p>
            <a:pPr>
              <a:spcAft>
                <a:spcPts val="0"/>
              </a:spcAft>
            </a:pPr>
            <a:r>
              <a:rPr sz="1400">
                <a:solidFill>
                  <a:srgbClr val="E6E6EF"/>
                </a:solidFill>
                <a:latin typeface="Consolas"/>
              </a:rPr>
              <a:t>p[-2];              </a:t>
            </a:r>
            <a:r>
              <a:rPr sz="1400">
                <a:solidFill>
                  <a:srgbClr val="9AA4B5"/>
                </a:solidFill>
                <a:latin typeface="Consolas"/>
              </a:rPr>
              <a:t>// 13: *(p - 2), a[3]</a:t>
            </a:r>
          </a:p>
          <a:p>
            <a:pPr>
              <a:spcAft>
                <a:spcPts val="0"/>
              </a:spcAft>
            </a:pPr>
            <a:r>
              <a:rPr sz="1400">
                <a:latin typeface="Consolas"/>
              </a:rPr>
              <a:t> </a:t>
            </a:r>
          </a:p>
          <a:p>
            <a:pPr>
              <a:spcAft>
                <a:spcPts val="0"/>
              </a:spcAft>
            </a:pPr>
            <a:r>
              <a:rPr sz="1400">
                <a:solidFill>
                  <a:srgbClr val="E6E6EF"/>
                </a:solidFill>
                <a:latin typeface="Consolas"/>
              </a:rPr>
              <a:t>void f(int values[]);   </a:t>
            </a:r>
            <a:r>
              <a:rPr sz="1400">
                <a:solidFill>
                  <a:srgbClr val="9AA4B5"/>
                </a:solidFill>
                <a:latin typeface="Consolas"/>
              </a:rPr>
              <a:t>// means void f(int *values)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16</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Warning: C++ does not check array bounds</a:t>
            </a:r>
          </a:p>
        </p:txBody>
      </p:sp>
      <p:sp>
        <p:nvSpPr>
          <p:cNvPr id="6" name="TextBox 5"/>
          <p:cNvSpPr txBox="1"/>
          <p:nvPr/>
        </p:nvSpPr>
        <p:spPr>
          <a:xfrm>
            <a:off x="548640" y="1280160"/>
            <a:ext cx="11094415" cy="34747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4B2E83"/>
                </a:solidFill>
                <a:latin typeface="Consolas"/>
              </a:rPr>
              <a:t>int b[4];</a:t>
            </a:r>
            <a:r>
              <a:rPr sz="2000" b="0">
                <a:solidFill>
                  <a:srgbClr val="1D2330"/>
                </a:solidFill>
                <a:latin typeface="Calibri"/>
              </a:rPr>
              <a:t> has </a:t>
            </a:r>
            <a:r>
              <a:rPr sz="2000" b="0">
                <a:solidFill>
                  <a:srgbClr val="4B2E83"/>
                </a:solidFill>
                <a:latin typeface="Consolas"/>
              </a:rPr>
              <a:t>b[0]</a:t>
            </a:r>
            <a:r>
              <a:rPr sz="2000" b="0">
                <a:solidFill>
                  <a:srgbClr val="1D2330"/>
                </a:solidFill>
                <a:latin typeface="Calibri"/>
              </a:rPr>
              <a:t> to </a:t>
            </a:r>
            <a:r>
              <a:rPr sz="2000" b="0">
                <a:solidFill>
                  <a:srgbClr val="4B2E83"/>
                </a:solidFill>
                <a:latin typeface="Consolas"/>
              </a:rPr>
              <a:t>b[3]</a:t>
            </a:r>
          </a:p>
          <a:p>
            <a:pPr marL="256032" indent="-228600">
              <a:spcAft>
                <a:spcPts val="800"/>
              </a:spcAft>
              <a:buClr>
                <a:srgbClr val="5B6475"/>
              </a:buClr>
              <a:buChar char="•"/>
            </a:pPr>
            <a:r>
              <a:rPr sz="2000" b="0">
                <a:solidFill>
                  <a:srgbClr val="4B2E83"/>
                </a:solidFill>
                <a:latin typeface="Consolas"/>
              </a:rPr>
              <a:t>b[4] = 10;</a:t>
            </a:r>
            <a:r>
              <a:rPr sz="2000" b="0">
                <a:solidFill>
                  <a:srgbClr val="1D2330"/>
                </a:solidFill>
                <a:latin typeface="Calibri"/>
              </a:rPr>
              <a:t> and </a:t>
            </a:r>
            <a:r>
              <a:rPr sz="2000" b="0">
                <a:solidFill>
                  <a:srgbClr val="4B2E83"/>
                </a:solidFill>
                <a:latin typeface="Consolas"/>
              </a:rPr>
              <a:t>b[-1] = 5;</a:t>
            </a:r>
            <a:r>
              <a:rPr sz="2000" b="0">
                <a:solidFill>
                  <a:srgbClr val="1D2330"/>
                </a:solidFill>
                <a:latin typeface="Calibri"/>
              </a:rPr>
              <a:t> compile with no warning and run with no crash</a:t>
            </a:r>
          </a:p>
          <a:p>
            <a:pPr marL="256032" indent="-228600">
              <a:spcAft>
                <a:spcPts val="800"/>
              </a:spcAft>
              <a:buClr>
                <a:srgbClr val="5B6475"/>
              </a:buClr>
              <a:buChar char="•"/>
            </a:pPr>
            <a:r>
              <a:rPr sz="2000" b="0">
                <a:solidFill>
                  <a:srgbClr val="1D2330"/>
                </a:solidFill>
                <a:latin typeface="Calibri"/>
              </a:rPr>
              <a:t>They silently overwrite whatever memory is next to </a:t>
            </a:r>
            <a:r>
              <a:rPr sz="2000" b="0">
                <a:solidFill>
                  <a:srgbClr val="4B2E83"/>
                </a:solidFill>
                <a:latin typeface="Consolas"/>
              </a:rPr>
              <a:t>b</a:t>
            </a:r>
          </a:p>
          <a:p>
            <a:pPr marL="256032" indent="-228600">
              <a:spcAft>
                <a:spcPts val="800"/>
              </a:spcAft>
              <a:buClr>
                <a:srgbClr val="5B6475"/>
              </a:buClr>
              <a:buChar char="•"/>
            </a:pPr>
            <a:r>
              <a:rPr sz="2000" b="0">
                <a:solidFill>
                  <a:srgbClr val="1D2330"/>
                </a:solidFill>
                <a:latin typeface="Calibri"/>
              </a:rPr>
              <a:t>valgrind doesn't see it either, for a local array (it checks heap memory)</a:t>
            </a:r>
          </a:p>
          <a:p>
            <a:pPr marL="256032" indent="-228600">
              <a:spcAft>
                <a:spcPts val="800"/>
              </a:spcAft>
              <a:buClr>
                <a:srgbClr val="5B6475"/>
              </a:buClr>
              <a:buChar char="•"/>
            </a:pPr>
            <a:r>
              <a:rPr sz="2000" b="0">
                <a:solidFill>
                  <a:srgbClr val="1D2330"/>
                </a:solidFill>
                <a:latin typeface="Calibri"/>
              </a:rPr>
              <a:t>Java throws </a:t>
            </a:r>
            <a:r>
              <a:rPr sz="2000" b="0">
                <a:solidFill>
                  <a:srgbClr val="4B2E83"/>
                </a:solidFill>
                <a:latin typeface="Consolas"/>
              </a:rPr>
              <a:t>ArrayIndexOutOfBoundsException</a:t>
            </a:r>
            <a:r>
              <a:rPr sz="2000" b="0">
                <a:solidFill>
                  <a:srgbClr val="1D2330"/>
                </a:solidFill>
                <a:latin typeface="Calibri"/>
              </a:rPr>
              <a:t>; C++ says nothing</a:t>
            </a:r>
          </a:p>
        </p:txBody>
      </p:sp>
      <p:sp>
        <p:nvSpPr>
          <p:cNvPr id="7" name="Rounded Rectangle 6"/>
          <p:cNvSpPr/>
          <p:nvPr/>
        </p:nvSpPr>
        <p:spPr>
          <a:xfrm>
            <a:off x="548640" y="4892040"/>
            <a:ext cx="11094415" cy="1280160"/>
          </a:xfrm>
          <a:prstGeom prst="roundRect">
            <a:avLst>
              <a:gd name="adj" fmla="val 8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029200"/>
            <a:ext cx="10637215" cy="1005840"/>
          </a:xfrm>
          <a:prstGeom prst="rect">
            <a:avLst/>
          </a:prstGeom>
          <a:noFill/>
        </p:spPr>
        <p:txBody>
          <a:bodyPr wrap="square" lIns="0" rIns="0" tIns="0" bIns="0" anchor="ctr">
            <a:spAutoFit/>
          </a:bodyPr>
          <a:lstStyle/>
          <a:p>
            <a:r>
              <a:rPr sz="1600" b="1">
                <a:solidFill>
                  <a:srgbClr val="4B2E83"/>
                </a:solidFill>
                <a:latin typeface="Calibri"/>
              </a:rPr>
              <a:t>Keeping every index between 0 and size - 1 is YOUR job</a:t>
            </a:r>
          </a:p>
          <a:p>
            <a:pPr>
              <a:spcBef>
                <a:spcPts val="400"/>
              </a:spcBef>
            </a:pPr>
            <a:r>
              <a:rPr sz="1600" b="0">
                <a:solidFill>
                  <a:srgbClr val="1D2330"/>
                </a:solidFill>
                <a:latin typeface="Calibri"/>
              </a:rPr>
              <a:t>The damage may show up much later, somewhere else, or only in the grader's run.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17</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Arrays of objects and 2D arrays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Point pts[3];</a:t>
            </a:r>
            <a:r>
              <a:rPr sz="1800" b="0">
                <a:solidFill>
                  <a:srgbClr val="1D2330"/>
                </a:solidFill>
                <a:latin typeface="Calibri"/>
              </a:rPr>
              <a:t> makes three real </a:t>
            </a:r>
            <a:r>
              <a:rPr sz="1800" b="0">
                <a:solidFill>
                  <a:srgbClr val="4B2E83"/>
                </a:solidFill>
                <a:latin typeface="Consolas"/>
              </a:rPr>
              <a:t>Point</a:t>
            </a:r>
            <a:r>
              <a:rPr sz="1800" b="0">
                <a:solidFill>
                  <a:srgbClr val="1D2330"/>
                </a:solidFill>
                <a:latin typeface="Calibri"/>
              </a:rPr>
              <a:t> objects (default constructor each)</a:t>
            </a:r>
          </a:p>
          <a:p>
            <a:pPr marL="256032" indent="-228600">
              <a:spcAft>
                <a:spcPts val="800"/>
              </a:spcAft>
              <a:buClr>
                <a:srgbClr val="5B6475"/>
              </a:buClr>
              <a:buChar char="•"/>
            </a:pPr>
            <a:r>
              <a:rPr sz="1800" b="0">
                <a:solidFill>
                  <a:srgbClr val="1D2330"/>
                </a:solidFill>
                <a:latin typeface="Calibri"/>
              </a:rPr>
              <a:t>Java's </a:t>
            </a:r>
            <a:r>
              <a:rPr sz="1800" b="0">
                <a:solidFill>
                  <a:srgbClr val="4B2E83"/>
                </a:solidFill>
                <a:latin typeface="Consolas"/>
              </a:rPr>
              <a:t>new Point[3]</a:t>
            </a:r>
            <a:r>
              <a:rPr sz="1800" b="0">
                <a:solidFill>
                  <a:srgbClr val="1D2330"/>
                </a:solidFill>
                <a:latin typeface="Calibri"/>
              </a:rPr>
              <a:t> makes three </a:t>
            </a:r>
            <a:r>
              <a:rPr sz="1800" b="0">
                <a:solidFill>
                  <a:srgbClr val="4B2E83"/>
                </a:solidFill>
                <a:latin typeface="Consolas"/>
              </a:rPr>
              <a:t>null</a:t>
            </a:r>
            <a:r>
              <a:rPr sz="1800" b="0">
                <a:solidFill>
                  <a:srgbClr val="1D2330"/>
                </a:solidFill>
                <a:latin typeface="Calibri"/>
              </a:rPr>
              <a:t> references</a:t>
            </a:r>
          </a:p>
          <a:p>
            <a:pPr marL="256032" indent="-228600">
              <a:spcAft>
                <a:spcPts val="800"/>
              </a:spcAft>
              <a:buClr>
                <a:srgbClr val="5B6475"/>
              </a:buClr>
              <a:buChar char="•"/>
            </a:pPr>
            <a:r>
              <a:rPr sz="1800" b="0">
                <a:solidFill>
                  <a:srgbClr val="4B2E83"/>
                </a:solidFill>
                <a:latin typeface="Consolas"/>
              </a:rPr>
              <a:t>int a[2][3]</a:t>
            </a:r>
            <a:r>
              <a:rPr sz="1800" b="0">
                <a:solidFill>
                  <a:srgbClr val="1D2330"/>
                </a:solidFill>
                <a:latin typeface="Calibri"/>
              </a:rPr>
              <a:t>: 2 rows of 3 ints, ONE block, row after row</a:t>
            </a:r>
          </a:p>
          <a:p>
            <a:pPr marL="256032" indent="-228600">
              <a:spcAft>
                <a:spcPts val="800"/>
              </a:spcAft>
              <a:buClr>
                <a:srgbClr val="5B6475"/>
              </a:buClr>
              <a:buChar char="•"/>
            </a:pPr>
            <a:r>
              <a:rPr sz="1800" b="0">
                <a:solidFill>
                  <a:srgbClr val="4B2E83"/>
                </a:solidFill>
                <a:latin typeface="Consolas"/>
              </a:rPr>
              <a:t>int **p(a);</a:t>
            </a:r>
            <a:r>
              <a:rPr sz="1800" b="0">
                <a:solidFill>
                  <a:srgbClr val="1D2330"/>
                </a:solidFill>
                <a:latin typeface="Calibri"/>
              </a:rPr>
              <a:t> doesn't compile: </a:t>
            </a:r>
            <a:r>
              <a:rPr sz="1800" b="0">
                <a:solidFill>
                  <a:srgbClr val="4B2E83"/>
                </a:solidFill>
                <a:latin typeface="Consolas"/>
              </a:rPr>
              <a:t>a</a:t>
            </a:r>
            <a:r>
              <a:rPr sz="1800" b="0">
                <a:solidFill>
                  <a:srgbClr val="1D2330"/>
                </a:solidFill>
                <a:latin typeface="Calibri"/>
              </a:rPr>
              <a:t> holds ints, not pointers</a:t>
            </a:r>
          </a:p>
          <a:p>
            <a:pPr marL="256032" indent="-228600">
              <a:spcAft>
                <a:spcPts val="800"/>
              </a:spcAft>
              <a:buClr>
                <a:srgbClr val="5B6475"/>
              </a:buClr>
              <a:buChar char="•"/>
            </a:pPr>
            <a:r>
              <a:rPr sz="1800" b="0">
                <a:solidFill>
                  <a:srgbClr val="1D2330"/>
                </a:solidFill>
                <a:latin typeface="Calibri"/>
              </a:rPr>
              <a:t>Put row pointers in the middle, and </a:t>
            </a:r>
            <a:r>
              <a:rPr sz="1800" b="0">
                <a:solidFill>
                  <a:srgbClr val="4B2E83"/>
                </a:solidFill>
                <a:latin typeface="Consolas"/>
              </a:rPr>
              <a:t>int **</a:t>
            </a:r>
            <a:r>
              <a:rPr sz="1800" b="0">
                <a:solidFill>
                  <a:srgbClr val="1D2330"/>
                </a:solidFill>
                <a:latin typeface="Calibri"/>
              </a:rPr>
              <a:t> works</a:t>
            </a:r>
          </a:p>
        </p:txBody>
      </p:sp>
      <p:sp>
        <p:nvSpPr>
          <p:cNvPr id="7" name="Rounded Rectangle 6"/>
          <p:cNvSpPr/>
          <p:nvPr/>
        </p:nvSpPr>
        <p:spPr>
          <a:xfrm>
            <a:off x="5972110" y="1325880"/>
            <a:ext cx="5670944" cy="27584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392680"/>
          </a:xfrm>
          <a:prstGeom prst="rect">
            <a:avLst/>
          </a:prstGeom>
          <a:noFill/>
        </p:spPr>
        <p:txBody>
          <a:bodyPr wrap="none" lIns="0" rIns="0" tIns="0" bIns="0" anchor="t">
            <a:spAutoFit/>
          </a:bodyPr>
          <a:lstStyle/>
          <a:p>
            <a:pPr>
              <a:spcAft>
                <a:spcPts val="0"/>
              </a:spcAft>
            </a:pPr>
            <a:r>
              <a:rPr sz="1400">
                <a:solidFill>
                  <a:srgbClr val="E6E6EF"/>
                </a:solidFill>
                <a:latin typeface="Consolas"/>
              </a:rPr>
              <a:t>int a[2][3] = {{1, 2, 3}, {4, 5, 6}};</a:t>
            </a:r>
          </a:p>
          <a:p>
            <a:pPr>
              <a:spcAft>
                <a:spcPts val="0"/>
              </a:spcAft>
            </a:pPr>
            <a:r>
              <a:rPr sz="1400">
                <a:solidFill>
                  <a:srgbClr val="E6E6EF"/>
                </a:solidFill>
                <a:latin typeface="Consolas"/>
              </a:rPr>
              <a:t>a[1][2] = 60;                  </a:t>
            </a:r>
            <a:r>
              <a:rPr sz="1400">
                <a:solidFill>
                  <a:srgbClr val="9AA4B5"/>
                </a:solidFill>
                <a:latin typeface="Consolas"/>
              </a:rPr>
              <a:t>// (a[1])[2]</a:t>
            </a:r>
          </a:p>
          <a:p>
            <a:pPr>
              <a:spcAft>
                <a:spcPts val="0"/>
              </a:spcAft>
            </a:pPr>
            <a:r>
              <a:rPr sz="1400">
                <a:latin typeface="Consolas"/>
              </a:rPr>
              <a:t> </a:t>
            </a:r>
          </a:p>
          <a:p>
            <a:pPr>
              <a:spcAft>
                <a:spcPts val="0"/>
              </a:spcAft>
            </a:pPr>
            <a:r>
              <a:rPr sz="1400">
                <a:solidFill>
                  <a:srgbClr val="E6E6EF"/>
                </a:solidFill>
                <a:latin typeface="Consolas"/>
              </a:rPr>
              <a:t>int *rows[2] = {a[0], a[1]};</a:t>
            </a:r>
          </a:p>
          <a:p>
            <a:pPr>
              <a:spcAft>
                <a:spcPts val="0"/>
              </a:spcAft>
            </a:pPr>
            <a:r>
              <a:rPr sz="1400">
                <a:solidFill>
                  <a:srgbClr val="E6E6EF"/>
                </a:solidFill>
                <a:latin typeface="Consolas"/>
              </a:rPr>
              <a:t>int **p(rows);                 </a:t>
            </a:r>
            <a:r>
              <a:rPr sz="1400">
                <a:solidFill>
                  <a:srgbClr val="9AA4B5"/>
                </a:solidFill>
                <a:latin typeface="Consolas"/>
              </a:rPr>
              <a:t>// legal</a:t>
            </a:r>
          </a:p>
          <a:p>
            <a:pPr>
              <a:spcAft>
                <a:spcPts val="0"/>
              </a:spcAft>
            </a:pPr>
            <a:r>
              <a:rPr sz="1400">
                <a:latin typeface="Consolas"/>
              </a:rPr>
              <a:t> </a:t>
            </a:r>
          </a:p>
          <a:p>
            <a:pPr>
              <a:spcAft>
                <a:spcPts val="0"/>
              </a:spcAft>
            </a:pPr>
            <a:r>
              <a:rPr sz="1400">
                <a:solidFill>
                  <a:srgbClr val="E6E6EF"/>
                </a:solidFill>
                <a:latin typeface="Consolas"/>
              </a:rPr>
              <a:t>  p          rows             a (one block)</a:t>
            </a:r>
          </a:p>
          <a:p>
            <a:pPr>
              <a:spcAft>
                <a:spcPts val="0"/>
              </a:spcAft>
            </a:pPr>
            <a:r>
              <a:rPr sz="1400">
                <a:solidFill>
                  <a:srgbClr val="E6E6EF"/>
                </a:solidFill>
                <a:latin typeface="Consolas"/>
              </a:rPr>
              <a:t>[ o-]--&gt; [ o-]------&gt; [ 1 | 2 | 3 ]</a:t>
            </a:r>
          </a:p>
          <a:p>
            <a:pPr>
              <a:spcAft>
                <a:spcPts val="0"/>
              </a:spcAft>
            </a:pPr>
            <a:r>
              <a:rPr sz="1400">
                <a:solidFill>
                  <a:srgbClr val="E6E6EF"/>
                </a:solidFill>
                <a:latin typeface="Consolas"/>
              </a:rPr>
              <a:t>         [ o-]------&gt; [ 4 | 5 |60 ]</a:t>
            </a:r>
          </a:p>
          <a:p>
            <a:pPr>
              <a:spcAft>
                <a:spcPts val="0"/>
              </a:spcAft>
            </a:pPr>
            <a:r>
              <a:rPr sz="1400">
                <a:latin typeface="Consolas"/>
              </a:rPr>
              <a:t> </a:t>
            </a:r>
          </a:p>
          <a:p>
            <a:pPr>
              <a:spcAft>
                <a:spcPts val="0"/>
              </a:spcAft>
            </a:pPr>
            <a:r>
              <a:rPr sz="1400">
                <a:solidFill>
                  <a:srgbClr val="E6E6EF"/>
                </a:solidFill>
                <a:latin typeface="Consolas"/>
              </a:rPr>
              <a:t>p[1][2]   </a:t>
            </a:r>
            <a:r>
              <a:rPr sz="1400">
                <a:solidFill>
                  <a:srgbClr val="9AA4B5"/>
                </a:solidFill>
                <a:latin typeface="Consolas"/>
              </a:rPr>
              <a:t>// p -&gt; rows[1] -&gt; 60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18</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2: Arrays and pointers</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30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Lab3/exercises/ex2-arrays/</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Sum 108; reversed 17 16 ... 10, then 0 16 ... 10 after findMax; points (11, 12) (13, 14) (10, 10); r.id back to 1234; make check clean.</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4B2E83"/>
                </a:solidFill>
                <a:latin typeface="Consolas"/>
              </a:rPr>
              <a:t>make</a:t>
            </a:r>
            <a:r>
              <a:rPr sz="1700" b="0">
                <a:solidFill>
                  <a:srgbClr val="1D2330"/>
                </a:solidFill>
                <a:latin typeface="Calibri"/>
              </a:rPr>
              <a:t>: read the </a:t>
            </a:r>
            <a:r>
              <a:rPr sz="1700" b="0">
                <a:solidFill>
                  <a:srgbClr val="4B2E83"/>
                </a:solidFill>
                <a:latin typeface="Consolas"/>
              </a:rPr>
              <a:t>sizeof</a:t>
            </a:r>
            <a:r>
              <a:rPr sz="1700" b="0">
                <a:solidFill>
                  <a:srgbClr val="1D2330"/>
                </a:solidFill>
                <a:latin typeface="Calibri"/>
              </a:rPr>
              <a:t> warning (on purpose), run, Q1, then delete </a:t>
            </a:r>
            <a:r>
              <a:rPr sz="1700" b="0">
                <a:solidFill>
                  <a:srgbClr val="4B2E83"/>
                </a:solidFill>
                <a:latin typeface="Consolas"/>
              </a:rPr>
              <a:t>sizeInside</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1D2330"/>
                </a:solidFill>
                <a:latin typeface="Calibri"/>
              </a:rPr>
              <a:t>TODO 1-2: element count, addresses, then </a:t>
            </a:r>
            <a:r>
              <a:rPr sz="1700" b="0">
                <a:solidFill>
                  <a:srgbClr val="4B2E83"/>
                </a:solidFill>
                <a:latin typeface="Consolas"/>
              </a:rPr>
              <a:t>p[-2]</a:t>
            </a:r>
            <a:r>
              <a:rPr sz="1700" b="0">
                <a:solidFill>
                  <a:srgbClr val="1D2330"/>
                </a:solidFill>
                <a:latin typeface="Calibri"/>
              </a:rPr>
              <a:t> from </a:t>
            </a:r>
            <a:r>
              <a:rPr sz="1700" b="0">
                <a:solidFill>
                  <a:srgbClr val="4B2E83"/>
                </a:solidFill>
                <a:latin typeface="Consolas"/>
              </a:rPr>
              <a:t>p = &amp;(a[5])</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1D2330"/>
                </a:solidFill>
                <a:latin typeface="Calibri"/>
              </a:rPr>
              <a:t>TODO 3-6: </a:t>
            </a:r>
            <a:r>
              <a:rPr sz="1700" b="0">
                <a:solidFill>
                  <a:srgbClr val="4B2E83"/>
                </a:solidFill>
                <a:latin typeface="Consolas"/>
              </a:rPr>
              <a:t>sumArray</a:t>
            </a:r>
            <a:r>
              <a:rPr sz="1700" b="0">
                <a:solidFill>
                  <a:srgbClr val="1D2330"/>
                </a:solidFill>
                <a:latin typeface="Calibri"/>
              </a:rPr>
              <a:t>, </a:t>
            </a:r>
            <a:r>
              <a:rPr sz="1700" b="0">
                <a:solidFill>
                  <a:srgbClr val="4B2E83"/>
                </a:solidFill>
                <a:latin typeface="Consolas"/>
              </a:rPr>
              <a:t>reverseArray</a:t>
            </a:r>
            <a:r>
              <a:rPr sz="1700" b="0">
                <a:solidFill>
                  <a:srgbClr val="1D2330"/>
                </a:solidFill>
                <a:latin typeface="Calibri"/>
              </a:rPr>
              <a:t>, </a:t>
            </a:r>
            <a:r>
              <a:rPr sz="1700" b="0">
                <a:solidFill>
                  <a:srgbClr val="4B2E83"/>
                </a:solidFill>
                <a:latin typeface="Consolas"/>
              </a:rPr>
              <a:t>findMax</a:t>
            </a:r>
            <a:r>
              <a:rPr sz="1700" b="0">
                <a:solidFill>
                  <a:srgbClr val="1D2330"/>
                </a:solidFill>
                <a:latin typeface="Calibri"/>
              </a:rPr>
              <a:t> with pointers and no </a:t>
            </a: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movePoints</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1D2330"/>
                </a:solidFill>
                <a:latin typeface="Calibri"/>
              </a:rPr>
              <a:t>TODO 7: uncomment the off-by-one loop; look at </a:t>
            </a:r>
            <a:r>
              <a:rPr sz="1700" b="0">
                <a:solidFill>
                  <a:srgbClr val="4B2E83"/>
                </a:solidFill>
                <a:latin typeface="Consolas"/>
              </a:rPr>
              <a:t>r.id</a:t>
            </a:r>
            <a:r>
              <a:rPr sz="1700" b="0">
                <a:solidFill>
                  <a:srgbClr val="1D2330"/>
                </a:solidFill>
                <a:latin typeface="Calibri"/>
              </a:rPr>
              <a:t>; run valgrind; comment it out</a:t>
            </a:r>
          </a:p>
        </p:txBody>
      </p:sp>
      <p:sp>
        <p:nvSpPr>
          <p:cNvPr id="21" name="Oval 20"/>
          <p:cNvSpPr/>
          <p:nvPr/>
        </p:nvSpPr>
        <p:spPr>
          <a:xfrm>
            <a:off x="4023360" y="486460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2" name="TextBox 21"/>
          <p:cNvSpPr txBox="1"/>
          <p:nvPr/>
        </p:nvSpPr>
        <p:spPr>
          <a:xfrm>
            <a:off x="4572000" y="4846320"/>
            <a:ext cx="7071055" cy="868680"/>
          </a:xfrm>
          <a:prstGeom prst="rect">
            <a:avLst/>
          </a:prstGeom>
          <a:noFill/>
        </p:spPr>
        <p:txBody>
          <a:bodyPr wrap="square" lIns="0" rIns="0" tIns="0" bIns="0" anchor="t">
            <a:spAutoFit/>
          </a:bodyPr>
          <a:lstStyle/>
          <a:p>
            <a:pPr algn="l"/>
            <a:r>
              <a:rPr sz="1700" b="0">
                <a:solidFill>
                  <a:srgbClr val="4B2E83"/>
                </a:solidFill>
                <a:latin typeface="Consolas"/>
              </a:rPr>
              <a:t>make check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19</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2</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sizeof(a)</a:t>
            </a:r>
            <a:r>
              <a:rPr sz="1800" b="0">
                <a:solidFill>
                  <a:srgbClr val="1D2330"/>
                </a:solidFill>
                <a:latin typeface="Calibri"/>
              </a:rPr>
              <a:t> is 32 in </a:t>
            </a:r>
            <a:r>
              <a:rPr sz="1800" b="0">
                <a:solidFill>
                  <a:srgbClr val="4B2E83"/>
                </a:solidFill>
                <a:latin typeface="Consolas"/>
              </a:rPr>
              <a:t>main</a:t>
            </a:r>
            <a:r>
              <a:rPr sz="1800" b="0">
                <a:solidFill>
                  <a:srgbClr val="1D2330"/>
                </a:solidFill>
                <a:latin typeface="Calibri"/>
              </a:rPr>
              <a:t>, </a:t>
            </a:r>
            <a:r>
              <a:rPr sz="1800" b="0">
                <a:solidFill>
                  <a:srgbClr val="4B2E83"/>
                </a:solidFill>
                <a:latin typeface="Consolas"/>
              </a:rPr>
              <a:t>sizeof(values)</a:t>
            </a:r>
            <a:r>
              <a:rPr sz="1800" b="0">
                <a:solidFill>
                  <a:srgbClr val="1D2330"/>
                </a:solidFill>
                <a:latin typeface="Calibri"/>
              </a:rPr>
              <a:t> is 8 in the function: g++ warns</a:t>
            </a:r>
          </a:p>
          <a:p>
            <a:pPr marL="256032" indent="-228600">
              <a:spcAft>
                <a:spcPts val="800"/>
              </a:spcAft>
              <a:buClr>
                <a:srgbClr val="5B6475"/>
              </a:buClr>
              <a:buChar char="•"/>
            </a:pPr>
            <a:r>
              <a:rPr sz="1800" b="0">
                <a:solidFill>
                  <a:srgbClr val="4B2E83"/>
                </a:solidFill>
                <a:latin typeface="Consolas"/>
              </a:rPr>
              <a:t>&amp;a[0]</a:t>
            </a:r>
            <a:r>
              <a:rPr sz="1800" b="0">
                <a:solidFill>
                  <a:srgbClr val="1D2330"/>
                </a:solidFill>
                <a:latin typeface="Calibri"/>
              </a:rPr>
              <a:t>, </a:t>
            </a:r>
            <a:r>
              <a:rPr sz="1800" b="0">
                <a:solidFill>
                  <a:srgbClr val="4B2E83"/>
                </a:solidFill>
                <a:latin typeface="Consolas"/>
              </a:rPr>
              <a:t>&amp;a[1]</a:t>
            </a:r>
            <a:r>
              <a:rPr sz="1800" b="0">
                <a:solidFill>
                  <a:srgbClr val="1D2330"/>
                </a:solidFill>
                <a:latin typeface="Calibri"/>
              </a:rPr>
              <a:t>, </a:t>
            </a:r>
            <a:r>
              <a:rPr sz="1800" b="0">
                <a:solidFill>
                  <a:srgbClr val="4B2E83"/>
                </a:solidFill>
                <a:latin typeface="Consolas"/>
              </a:rPr>
              <a:t>&amp;a[2]</a:t>
            </a:r>
            <a:r>
              <a:rPr sz="1800" b="0">
                <a:solidFill>
                  <a:srgbClr val="1D2330"/>
                </a:solidFill>
                <a:latin typeface="Calibri"/>
              </a:rPr>
              <a:t> are 4 bytes apart: one contiguous block</a:t>
            </a:r>
          </a:p>
          <a:p>
            <a:pPr marL="256032" indent="-228600">
              <a:spcAft>
                <a:spcPts val="800"/>
              </a:spcAft>
              <a:buClr>
                <a:srgbClr val="5B6475"/>
              </a:buClr>
              <a:buChar char="•"/>
            </a:pPr>
            <a:r>
              <a:rPr sz="1800" b="0">
                <a:solidFill>
                  <a:srgbClr val="4B2E83"/>
                </a:solidFill>
                <a:latin typeface="Consolas"/>
              </a:rPr>
              <a:t>p[-2]</a:t>
            </a:r>
            <a:r>
              <a:rPr sz="1800" b="0">
                <a:solidFill>
                  <a:srgbClr val="1D2330"/>
                </a:solidFill>
                <a:latin typeface="Calibri"/>
              </a:rPr>
              <a:t> and </a:t>
            </a:r>
            <a:r>
              <a:rPr sz="1800" b="0">
                <a:solidFill>
                  <a:srgbClr val="4B2E83"/>
                </a:solidFill>
                <a:latin typeface="Consolas"/>
              </a:rPr>
              <a:t>*(p - 2)</a:t>
            </a:r>
            <a:r>
              <a:rPr sz="1800" b="0">
                <a:solidFill>
                  <a:srgbClr val="1D2330"/>
                </a:solidFill>
                <a:latin typeface="Calibri"/>
              </a:rPr>
              <a:t> are both </a:t>
            </a:r>
            <a:r>
              <a:rPr sz="1800" b="0">
                <a:solidFill>
                  <a:srgbClr val="4B2E83"/>
                </a:solidFill>
                <a:latin typeface="Consolas"/>
              </a:rPr>
              <a:t>a[3]</a:t>
            </a:r>
            <a:r>
              <a:rPr sz="1800" b="0">
                <a:solidFill>
                  <a:srgbClr val="1D2330"/>
                </a:solidFill>
                <a:latin typeface="Calibri"/>
              </a:rPr>
              <a:t>, counted back from </a:t>
            </a:r>
            <a:r>
              <a:rPr sz="1800" b="0">
                <a:solidFill>
                  <a:srgbClr val="4B2E83"/>
                </a:solidFill>
                <a:latin typeface="Consolas"/>
              </a:rPr>
              <a:t>a[5]</a:t>
            </a:r>
          </a:p>
          <a:p>
            <a:pPr marL="256032" indent="-228600">
              <a:spcAft>
                <a:spcPts val="800"/>
              </a:spcAft>
              <a:buClr>
                <a:srgbClr val="5B6475"/>
              </a:buClr>
              <a:buChar char="•"/>
            </a:pPr>
            <a:r>
              <a:rPr sz="1800" b="0">
                <a:solidFill>
                  <a:srgbClr val="1D2330"/>
                </a:solidFill>
                <a:latin typeface="Calibri"/>
              </a:rPr>
              <a:t>TODO 7: </a:t>
            </a:r>
            <a:r>
              <a:rPr sz="1800" b="0">
                <a:solidFill>
                  <a:srgbClr val="4B2E83"/>
                </a:solidFill>
                <a:latin typeface="Consolas"/>
              </a:rPr>
              <a:t>r.id</a:t>
            </a:r>
            <a:r>
              <a:rPr sz="1800" b="0">
                <a:solidFill>
                  <a:srgbClr val="1D2330"/>
                </a:solidFill>
                <a:latin typeface="Calibri"/>
              </a:rPr>
              <a:t> became 0 and valgrind said 0 errors. No one reports it</a:t>
            </a:r>
          </a:p>
        </p:txBody>
      </p:sp>
      <p:sp>
        <p:nvSpPr>
          <p:cNvPr id="7" name="Rounded Rectangle 6"/>
          <p:cNvSpPr/>
          <p:nvPr/>
        </p:nvSpPr>
        <p:spPr>
          <a:xfrm>
            <a:off x="5972110" y="1325880"/>
            <a:ext cx="5670944" cy="27584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392680"/>
          </a:xfrm>
          <a:prstGeom prst="rect">
            <a:avLst/>
          </a:prstGeom>
          <a:noFill/>
        </p:spPr>
        <p:txBody>
          <a:bodyPr wrap="none" lIns="0" rIns="0" tIns="0" bIns="0" anchor="t">
            <a:spAutoFit/>
          </a:bodyPr>
          <a:lstStyle/>
          <a:p>
            <a:pPr>
              <a:spcAft>
                <a:spcPts val="0"/>
              </a:spcAft>
            </a:pPr>
            <a:r>
              <a:rPr sz="1400">
                <a:solidFill>
                  <a:srgbClr val="E6E6EF"/>
                </a:solidFill>
                <a:latin typeface="Consolas"/>
              </a:rPr>
              <a:t>void reverseArray(int *values, int count) {</a:t>
            </a:r>
          </a:p>
          <a:p>
            <a:pPr>
              <a:spcAft>
                <a:spcPts val="0"/>
              </a:spcAft>
            </a:pPr>
            <a:r>
              <a:rPr sz="1400">
                <a:solidFill>
                  <a:srgbClr val="E6E6EF"/>
                </a:solidFill>
                <a:latin typeface="Consolas"/>
              </a:rPr>
              <a:t>    int *front = values;</a:t>
            </a:r>
          </a:p>
          <a:p>
            <a:pPr>
              <a:spcAft>
                <a:spcPts val="0"/>
              </a:spcAft>
            </a:pPr>
            <a:r>
              <a:rPr sz="1400">
                <a:solidFill>
                  <a:srgbClr val="E6E6EF"/>
                </a:solidFill>
                <a:latin typeface="Consolas"/>
              </a:rPr>
              <a:t>    int *back = values + count - 1;</a:t>
            </a:r>
          </a:p>
          <a:p>
            <a:pPr>
              <a:spcAft>
                <a:spcPts val="0"/>
              </a:spcAft>
            </a:pPr>
            <a:r>
              <a:rPr sz="1400">
                <a:solidFill>
                  <a:srgbClr val="E6E6EF"/>
                </a:solidFill>
                <a:latin typeface="Consolas"/>
              </a:rPr>
              <a:t>    while (front &lt; back) {</a:t>
            </a:r>
          </a:p>
          <a:p>
            <a:pPr>
              <a:spcAft>
                <a:spcPts val="0"/>
              </a:spcAft>
            </a:pPr>
            <a:r>
              <a:rPr sz="1400">
                <a:solidFill>
                  <a:srgbClr val="E6E6EF"/>
                </a:solidFill>
                <a:latin typeface="Consolas"/>
              </a:rPr>
              <a:t>        int temp = *front;</a:t>
            </a:r>
          </a:p>
          <a:p>
            <a:pPr>
              <a:spcAft>
                <a:spcPts val="0"/>
              </a:spcAft>
            </a:pPr>
            <a:r>
              <a:rPr sz="1400">
                <a:solidFill>
                  <a:srgbClr val="E6E6EF"/>
                </a:solidFill>
                <a:latin typeface="Consolas"/>
              </a:rPr>
              <a:t>        *front = *back;</a:t>
            </a:r>
          </a:p>
          <a:p>
            <a:pPr>
              <a:spcAft>
                <a:spcPts val="0"/>
              </a:spcAft>
            </a:pPr>
            <a:r>
              <a:rPr sz="1400">
                <a:solidFill>
                  <a:srgbClr val="E6E6EF"/>
                </a:solidFill>
                <a:latin typeface="Consolas"/>
              </a:rPr>
              <a:t>        *back = temp;</a:t>
            </a:r>
          </a:p>
          <a:p>
            <a:pPr>
              <a:spcAft>
                <a:spcPts val="0"/>
              </a:spcAft>
            </a:pPr>
            <a:r>
              <a:rPr sz="1400">
                <a:solidFill>
                  <a:srgbClr val="E6E6EF"/>
                </a:solidFill>
                <a:latin typeface="Consolas"/>
              </a:rPr>
              <a:t>        front++;</a:t>
            </a:r>
          </a:p>
          <a:p>
            <a:pPr>
              <a:spcAft>
                <a:spcPts val="0"/>
              </a:spcAft>
            </a:pPr>
            <a:r>
              <a:rPr sz="1400">
                <a:solidFill>
                  <a:srgbClr val="E6E6EF"/>
                </a:solidFill>
                <a:latin typeface="Consolas"/>
              </a:rPr>
              <a:t>        back--;</a:t>
            </a:r>
          </a:p>
          <a:p>
            <a:pPr>
              <a:spcAft>
                <a:spcPts val="0"/>
              </a:spcAft>
            </a:pPr>
            <a:r>
              <a:rPr sz="1400">
                <a:solidFill>
                  <a:srgbClr val="E6E6EF"/>
                </a:solidFill>
                <a:latin typeface="Consolas"/>
              </a:rPr>
              <a:t>    }</a:t>
            </a:r>
          </a:p>
          <a:p>
            <a:pPr>
              <a:spcAft>
                <a:spcPts val="0"/>
              </a:spcAft>
            </a:pPr>
            <a:r>
              <a:rPr sz="1400">
                <a:solidFill>
                  <a:srgbClr val="E6E6EF"/>
                </a:solidFill>
                <a:latin typeface="Consolas"/>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20</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2</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1D2330"/>
                </a:solidFill>
                <a:latin typeface="Calibri"/>
              </a:rPr>
              <a:t>After </a:t>
            </a:r>
            <a:r>
              <a:rPr sz="1800" b="0">
                <a:solidFill>
                  <a:srgbClr val="4B2E83"/>
                </a:solidFill>
                <a:latin typeface="Consolas"/>
              </a:rPr>
              <a:t>int a[4] = {1, 2, 3, 4}; int *p = a + 1;</a:t>
            </a:r>
            <a:r>
              <a:rPr sz="1800" b="0">
                <a:solidFill>
                  <a:srgbClr val="1D2330"/>
                </a:solidFill>
                <a:latin typeface="Calibri"/>
              </a:rPr>
              <a:t>, what are </a:t>
            </a:r>
            <a:r>
              <a:rPr sz="1800" b="0">
                <a:solidFill>
                  <a:srgbClr val="4B2E83"/>
                </a:solidFill>
                <a:latin typeface="Consolas"/>
              </a:rPr>
              <a:t>p[2]</a:t>
            </a:r>
            <a:r>
              <a:rPr sz="1800" b="0">
                <a:solidFill>
                  <a:srgbClr val="1D2330"/>
                </a:solidFill>
                <a:latin typeface="Calibri"/>
              </a:rPr>
              <a:t> and </a:t>
            </a:r>
            <a:r>
              <a:rPr sz="1800" b="0">
                <a:solidFill>
                  <a:srgbClr val="4B2E83"/>
                </a:solidFill>
                <a:latin typeface="Consolas"/>
              </a:rPr>
              <a:t>p[-1]</a:t>
            </a:r>
            <a:r>
              <a:rPr sz="1800" b="0">
                <a:solidFill>
                  <a:srgbClr val="1D2330"/>
                </a:solidFill>
                <a:latin typeface="Calibri"/>
              </a:rPr>
              <a:t>?</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1D2330"/>
                </a:solidFill>
                <a:latin typeface="Calibri"/>
              </a:rPr>
              <a:t>What does </a:t>
            </a:r>
            <a:r>
              <a:rPr sz="1800" b="0">
                <a:solidFill>
                  <a:srgbClr val="4B2E83"/>
                </a:solidFill>
                <a:latin typeface="Consolas"/>
              </a:rPr>
              <a:t>int b[5] = {7};</a:t>
            </a:r>
            <a:r>
              <a:rPr sz="1800" b="0">
                <a:solidFill>
                  <a:srgbClr val="1D2330"/>
                </a:solidFill>
                <a:latin typeface="Calibri"/>
              </a:rPr>
              <a:t> contain?</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1D2330"/>
                </a:solidFill>
                <a:latin typeface="Calibri"/>
              </a:rPr>
              <a:t>In </a:t>
            </a:r>
            <a:r>
              <a:rPr sz="1800" b="0">
                <a:solidFill>
                  <a:srgbClr val="4B2E83"/>
                </a:solidFill>
                <a:latin typeface="Consolas"/>
              </a:rPr>
              <a:t>void f(int values[10])</a:t>
            </a:r>
            <a:r>
              <a:rPr sz="1800" b="0">
                <a:solidFill>
                  <a:srgbClr val="1D2330"/>
                </a:solidFill>
                <a:latin typeface="Calibri"/>
              </a:rPr>
              <a:t>, what is </a:t>
            </a:r>
            <a:r>
              <a:rPr sz="1800" b="0">
                <a:solidFill>
                  <a:srgbClr val="4B2E83"/>
                </a:solidFill>
                <a:latin typeface="Consolas"/>
              </a:rPr>
              <a:t>sizeof(values)</a:t>
            </a:r>
            <a:r>
              <a:rPr sz="1800" b="0">
                <a:solidFill>
                  <a:srgbClr val="1D2330"/>
                </a:solidFill>
                <a:latin typeface="Calibri"/>
              </a:rPr>
              <a:t>?</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4B2E83"/>
                </a:solidFill>
                <a:latin typeface="Consolas"/>
              </a:rPr>
              <a:t>int scores[3]; scores[3] = 100;</a:t>
            </a:r>
            <a:r>
              <a:rPr sz="1800" b="0">
                <a:solidFill>
                  <a:srgbClr val="1D2330"/>
                </a:solidFill>
                <a:latin typeface="Calibri"/>
              </a:rPr>
              <a:t> What happens?</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21</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3 Exercise 2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2</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3</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Dynamic memory</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Memory sized at run time, or that outlives a function, comes from the heap, and you free it</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Allocate and release memory with </a:t>
            </a:r>
            <a:r>
              <a:rPr sz="2000" b="0">
                <a:solidFill>
                  <a:srgbClr val="C5B4E3"/>
                </a:solidFill>
                <a:latin typeface="Consolas"/>
              </a:rPr>
              <a:t>new</a:t>
            </a:r>
            <a:r>
              <a:rPr sz="2000" b="0">
                <a:solidFill>
                  <a:srgbClr val="FFFFFF"/>
                </a:solidFill>
                <a:latin typeface="Calibri"/>
              </a:rPr>
              <a:t>/</a:t>
            </a:r>
            <a:r>
              <a:rPr sz="2000" b="0">
                <a:solidFill>
                  <a:srgbClr val="C5B4E3"/>
                </a:solidFill>
                <a:latin typeface="Consolas"/>
              </a:rPr>
              <a:t>delete</a:t>
            </a:r>
            <a:r>
              <a:rPr sz="2000" b="0">
                <a:solidFill>
                  <a:srgbClr val="FFFFFF"/>
                </a:solidFill>
                <a:latin typeface="Calibri"/>
              </a:rPr>
              <a:t> and </a:t>
            </a:r>
            <a:r>
              <a:rPr sz="2000" b="0">
                <a:solidFill>
                  <a:srgbClr val="C5B4E3"/>
                </a:solidFill>
                <a:latin typeface="Consolas"/>
              </a:rPr>
              <a:t>new[]</a:t>
            </a:r>
            <a:r>
              <a:rPr sz="2000" b="0">
                <a:solidFill>
                  <a:srgbClr val="FFFFFF"/>
                </a:solidFill>
                <a:latin typeface="Calibri"/>
              </a:rPr>
              <a:t>/</a:t>
            </a:r>
            <a:r>
              <a:rPr sz="2000" b="0">
                <a:solidFill>
                  <a:srgbClr val="C5B4E3"/>
                </a:solidFill>
                <a:latin typeface="Consolas"/>
              </a:rPr>
              <a:t>delete[]</a:t>
            </a:r>
          </a:p>
          <a:p>
            <a:pPr marL="256032" indent="-228600">
              <a:spcAft>
                <a:spcPts val="600"/>
              </a:spcAft>
              <a:buClr>
                <a:srgbClr val="5B6475"/>
              </a:buClr>
              <a:buChar char="›"/>
            </a:pPr>
            <a:r>
              <a:rPr sz="2000" b="0">
                <a:solidFill>
                  <a:srgbClr val="FFFFFF"/>
                </a:solidFill>
                <a:latin typeface="Calibri"/>
              </a:rPr>
              <a:t>Size and initialize an array at run time, and grow it</a:t>
            </a:r>
          </a:p>
          <a:p>
            <a:pPr marL="256032" indent="-228600">
              <a:spcAft>
                <a:spcPts val="600"/>
              </a:spcAft>
              <a:buClr>
                <a:srgbClr val="5B6475"/>
              </a:buClr>
              <a:buChar char="›"/>
            </a:pPr>
            <a:r>
              <a:rPr sz="2000" b="0">
                <a:solidFill>
                  <a:srgbClr val="FFFFFF"/>
                </a:solidFill>
                <a:latin typeface="Calibri"/>
              </a:rPr>
              <a:t>Find memory bugs with valgrind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23</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The heap: new and delete</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Locals live on the stack and die at the end of their scope</a:t>
            </a:r>
          </a:p>
          <a:p>
            <a:pPr marL="256032" indent="-228600">
              <a:spcAft>
                <a:spcPts val="800"/>
              </a:spcAft>
              <a:buClr>
                <a:srgbClr val="5B6475"/>
              </a:buClr>
              <a:buChar char="•"/>
            </a:pPr>
            <a:r>
              <a:rPr sz="1800" b="0">
                <a:solidFill>
                  <a:srgbClr val="4B2E83"/>
                </a:solidFill>
                <a:latin typeface="Consolas"/>
              </a:rPr>
              <a:t>new</a:t>
            </a:r>
            <a:r>
              <a:rPr sz="1800" b="0">
                <a:solidFill>
                  <a:srgbClr val="1D2330"/>
                </a:solidFill>
                <a:latin typeface="Calibri"/>
              </a:rPr>
              <a:t> allocates on the heap; it lives until YOU </a:t>
            </a:r>
            <a:r>
              <a:rPr sz="1800" b="0">
                <a:solidFill>
                  <a:srgbClr val="4B2E83"/>
                </a:solidFill>
                <a:latin typeface="Consolas"/>
              </a:rPr>
              <a:t>delete</a:t>
            </a:r>
            <a:r>
              <a:rPr sz="1800" b="0">
                <a:solidFill>
                  <a:srgbClr val="1D2330"/>
                </a:solidFill>
                <a:latin typeface="Calibri"/>
              </a:rPr>
              <a:t> it</a:t>
            </a:r>
          </a:p>
          <a:p>
            <a:pPr marL="256032" indent="-228600">
              <a:spcAft>
                <a:spcPts val="800"/>
              </a:spcAft>
              <a:buClr>
                <a:srgbClr val="5B6475"/>
              </a:buClr>
              <a:buChar char="•"/>
            </a:pPr>
            <a:r>
              <a:rPr sz="1800" b="0">
                <a:solidFill>
                  <a:srgbClr val="4B2E83"/>
                </a:solidFill>
                <a:latin typeface="Consolas"/>
              </a:rPr>
              <a:t>new</a:t>
            </a:r>
            <a:r>
              <a:rPr sz="1800" b="0">
                <a:solidFill>
                  <a:srgbClr val="1D2330"/>
                </a:solidFill>
                <a:latin typeface="Calibri"/>
              </a:rPr>
              <a:t> pairs with </a:t>
            </a:r>
            <a:r>
              <a:rPr sz="1800" b="0">
                <a:solidFill>
                  <a:srgbClr val="4B2E83"/>
                </a:solidFill>
                <a:latin typeface="Consolas"/>
              </a:rPr>
              <a:t>delete</a:t>
            </a:r>
            <a:r>
              <a:rPr sz="1800" b="0">
                <a:solidFill>
                  <a:srgbClr val="1D2330"/>
                </a:solidFill>
                <a:latin typeface="Calibri"/>
              </a:rPr>
              <a:t>, </a:t>
            </a:r>
            <a:r>
              <a:rPr sz="1800" b="0">
                <a:solidFill>
                  <a:srgbClr val="4B2E83"/>
                </a:solidFill>
                <a:latin typeface="Consolas"/>
              </a:rPr>
              <a:t>new[]</a:t>
            </a:r>
            <a:r>
              <a:rPr sz="1800" b="0">
                <a:solidFill>
                  <a:srgbClr val="1D2330"/>
                </a:solidFill>
                <a:latin typeface="Calibri"/>
              </a:rPr>
              <a:t> with </a:t>
            </a:r>
            <a:r>
              <a:rPr sz="1800" b="0">
                <a:solidFill>
                  <a:srgbClr val="4B2E83"/>
                </a:solidFill>
                <a:latin typeface="Consolas"/>
              </a:rPr>
              <a:t>delete[]</a:t>
            </a:r>
            <a:r>
              <a:rPr sz="1800" b="0">
                <a:solidFill>
                  <a:srgbClr val="1D2330"/>
                </a:solidFill>
                <a:latin typeface="Calibri"/>
              </a:rPr>
              <a:t>, exactly once</a:t>
            </a:r>
          </a:p>
          <a:p>
            <a:pPr marL="256032" indent="-228600">
              <a:spcAft>
                <a:spcPts val="800"/>
              </a:spcAft>
              <a:buClr>
                <a:srgbClr val="5B6475"/>
              </a:buClr>
              <a:buChar char="•"/>
            </a:pPr>
            <a:r>
              <a:rPr sz="1800" b="0">
                <a:solidFill>
                  <a:srgbClr val="1D2330"/>
                </a:solidFill>
                <a:latin typeface="Calibri"/>
              </a:rPr>
              <a:t>After </a:t>
            </a:r>
            <a:r>
              <a:rPr sz="1800" b="0">
                <a:solidFill>
                  <a:srgbClr val="4B2E83"/>
                </a:solidFill>
                <a:latin typeface="Consolas"/>
              </a:rPr>
              <a:t>delete</a:t>
            </a:r>
            <a:r>
              <a:rPr sz="1800" b="0">
                <a:solidFill>
                  <a:srgbClr val="1D2330"/>
                </a:solidFill>
                <a:latin typeface="Calibri"/>
              </a:rPr>
              <a:t>, set the pointer to </a:t>
            </a:r>
            <a:r>
              <a:rPr sz="1800" b="0">
                <a:solidFill>
                  <a:srgbClr val="4B2E83"/>
                </a:solidFill>
                <a:latin typeface="Consolas"/>
              </a:rPr>
              <a:t>nullptr</a:t>
            </a:r>
          </a:p>
          <a:p>
            <a:pPr marL="256032" indent="-228600">
              <a:spcAft>
                <a:spcPts val="800"/>
              </a:spcAft>
              <a:buClr>
                <a:srgbClr val="5B6475"/>
              </a:buClr>
              <a:buChar char="•"/>
            </a:pPr>
            <a:r>
              <a:rPr sz="1800" b="0">
                <a:solidFill>
                  <a:srgbClr val="1D2330"/>
                </a:solidFill>
                <a:latin typeface="Calibri"/>
              </a:rPr>
              <a:t>Java's garbage collector does this for you; C++ doesn't</a:t>
            </a:r>
          </a:p>
        </p:txBody>
      </p:sp>
      <p:sp>
        <p:nvSpPr>
          <p:cNvPr id="7" name="Rounded Rectangle 6"/>
          <p:cNvSpPr/>
          <p:nvPr/>
        </p:nvSpPr>
        <p:spPr>
          <a:xfrm>
            <a:off x="5972110" y="1325880"/>
            <a:ext cx="5670944" cy="233172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1965960"/>
          </a:xfrm>
          <a:prstGeom prst="rect">
            <a:avLst/>
          </a:prstGeom>
          <a:noFill/>
        </p:spPr>
        <p:txBody>
          <a:bodyPr wrap="none" lIns="0" rIns="0" tIns="0" bIns="0" anchor="t">
            <a:spAutoFit/>
          </a:bodyPr>
          <a:lstStyle/>
          <a:p>
            <a:pPr>
              <a:spcAft>
                <a:spcPts val="0"/>
              </a:spcAft>
            </a:pPr>
            <a:r>
              <a:rPr sz="1400">
                <a:solidFill>
                  <a:srgbClr val="E6E6EF"/>
                </a:solidFill>
                <a:latin typeface="Consolas"/>
              </a:rPr>
              <a:t>int *num = new int(5);           </a:t>
            </a:r>
            <a:r>
              <a:rPr sz="1400">
                <a:solidFill>
                  <a:srgbClr val="9AA4B5"/>
                </a:solidFill>
                <a:latin typeface="Consolas"/>
              </a:rPr>
              <a:t>// one int, set to 5</a:t>
            </a:r>
          </a:p>
          <a:p>
            <a:pPr>
              <a:spcAft>
                <a:spcPts val="0"/>
              </a:spcAft>
            </a:pPr>
            <a:r>
              <a:rPr sz="1400">
                <a:solidFill>
                  <a:srgbClr val="E6E6EF"/>
                </a:solidFill>
                <a:latin typeface="Consolas"/>
              </a:rPr>
              <a:t>Point *pt = new Point(1, 2);     </a:t>
            </a:r>
            <a:r>
              <a:rPr sz="1400">
                <a:solidFill>
                  <a:srgbClr val="9AA4B5"/>
                </a:solidFill>
                <a:latin typeface="Consolas"/>
              </a:rPr>
              <a:t>// one object</a:t>
            </a:r>
          </a:p>
          <a:p>
            <a:pPr>
              <a:spcAft>
                <a:spcPts val="0"/>
              </a:spcAft>
            </a:pPr>
            <a:r>
              <a:rPr sz="1400">
                <a:solidFill>
                  <a:srgbClr val="E6E6EF"/>
                </a:solidFill>
                <a:latin typeface="Consolas"/>
              </a:rPr>
              <a:t>delete num;  num = nullptr;</a:t>
            </a:r>
          </a:p>
          <a:p>
            <a:pPr>
              <a:spcAft>
                <a:spcPts val="0"/>
              </a:spcAft>
            </a:pPr>
            <a:r>
              <a:rPr sz="1400">
                <a:solidFill>
                  <a:srgbClr val="E6E6EF"/>
                </a:solidFill>
                <a:latin typeface="Consolas"/>
              </a:rPr>
              <a:t>delete pt;   pt = nullptr;       </a:t>
            </a:r>
            <a:r>
              <a:rPr sz="1400">
                <a:solidFill>
                  <a:srgbClr val="9AA4B5"/>
                </a:solidFill>
                <a:latin typeface="Consolas"/>
              </a:rPr>
              <a:t>// runs ~Point()</a:t>
            </a:r>
          </a:p>
          <a:p>
            <a:pPr>
              <a:spcAft>
                <a:spcPts val="0"/>
              </a:spcAft>
            </a:pPr>
            <a:r>
              <a:rPr sz="1400">
                <a:latin typeface="Consolas"/>
              </a:rPr>
              <a:t> </a:t>
            </a:r>
          </a:p>
          <a:p>
            <a:pPr>
              <a:spcAft>
                <a:spcPts val="0"/>
              </a:spcAft>
            </a:pPr>
            <a:r>
              <a:rPr sz="1400">
                <a:solidFill>
                  <a:srgbClr val="E6E6EF"/>
                </a:solidFill>
                <a:latin typeface="Consolas"/>
              </a:rPr>
              <a:t>int *four = new int[4]{10, 20, 30, 40};</a:t>
            </a:r>
          </a:p>
          <a:p>
            <a:pPr>
              <a:spcAft>
                <a:spcPts val="0"/>
              </a:spcAft>
            </a:pPr>
            <a:r>
              <a:rPr sz="1400">
                <a:solidFill>
                  <a:srgbClr val="E6E6EF"/>
                </a:solidFill>
                <a:latin typeface="Consolas"/>
              </a:rPr>
              <a:t>int *zeros = new int[n]();       </a:t>
            </a:r>
            <a:r>
              <a:rPr sz="1400">
                <a:solidFill>
                  <a:srgbClr val="9AA4B5"/>
                </a:solidFill>
                <a:latin typeface="Consolas"/>
              </a:rPr>
              <a:t>// all 0</a:t>
            </a:r>
          </a:p>
          <a:p>
            <a:pPr>
              <a:spcAft>
                <a:spcPts val="0"/>
              </a:spcAft>
            </a:pPr>
            <a:r>
              <a:rPr sz="1400">
                <a:solidFill>
                  <a:srgbClr val="E6E6EF"/>
                </a:solidFill>
                <a:latin typeface="Consolas"/>
              </a:rPr>
              <a:t>int *junk = new int[n];          </a:t>
            </a:r>
            <a:r>
              <a:rPr sz="1400">
                <a:solidFill>
                  <a:srgbClr val="9AA4B5"/>
                </a:solidFill>
                <a:latin typeface="Consolas"/>
              </a:rPr>
              <a:t>// garbage until set</a:t>
            </a:r>
          </a:p>
          <a:p>
            <a:pPr>
              <a:spcAft>
                <a:spcPts val="0"/>
              </a:spcAft>
            </a:pPr>
            <a:r>
              <a:rPr sz="1400">
                <a:solidFill>
                  <a:srgbClr val="E6E6EF"/>
                </a:solidFill>
                <a:latin typeface="Consolas"/>
              </a:rPr>
              <a:t>delete[] four;  four = nullptr;  </a:t>
            </a:r>
            <a:r>
              <a:rPr sz="1400">
                <a:solidFill>
                  <a:srgbClr val="9AA4B5"/>
                </a:solidFill>
                <a:latin typeface="Consolas"/>
              </a:rPr>
              <a:t>// [] because new[]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24</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Memory bugs, and how valgrind reports them</a:t>
            </a:r>
          </a:p>
        </p:txBody>
      </p:sp>
      <p:sp>
        <p:nvSpPr>
          <p:cNvPr id="6" name="Rounded Rectangle 5"/>
          <p:cNvSpPr/>
          <p:nvPr/>
        </p:nvSpPr>
        <p:spPr>
          <a:xfrm>
            <a:off x="548640" y="1325880"/>
            <a:ext cx="5364327" cy="4800600"/>
          </a:xfrm>
          <a:prstGeom prst="roundRect">
            <a:avLst>
              <a:gd name="adj" fmla="val 4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4815687" cy="457200"/>
          </a:xfrm>
          <a:prstGeom prst="rect">
            <a:avLst/>
          </a:prstGeom>
          <a:noFill/>
        </p:spPr>
        <p:txBody>
          <a:bodyPr wrap="square" lIns="0" rIns="0" tIns="0" bIns="0" anchor="t">
            <a:spAutoFit/>
          </a:bodyPr>
          <a:lstStyle/>
          <a:p>
            <a:pPr algn="l"/>
            <a:r>
              <a:rPr sz="2200" b="1">
                <a:solidFill>
                  <a:srgbClr val="4B2E83"/>
                </a:solidFill>
                <a:latin typeface="Calibri"/>
              </a:rPr>
              <a:t>The bug</a:t>
            </a:r>
          </a:p>
        </p:txBody>
      </p:sp>
      <p:sp>
        <p:nvSpPr>
          <p:cNvPr id="8" name="TextBox 7"/>
          <p:cNvSpPr txBox="1"/>
          <p:nvPr/>
        </p:nvSpPr>
        <p:spPr>
          <a:xfrm>
            <a:off x="822960"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1D2330"/>
                </a:solidFill>
                <a:latin typeface="Calibri"/>
              </a:rPr>
              <a:t>Leak: </a:t>
            </a:r>
            <a:r>
              <a:rPr sz="1700" b="0">
                <a:solidFill>
                  <a:srgbClr val="4B2E83"/>
                </a:solidFill>
                <a:latin typeface="Consolas"/>
              </a:rPr>
              <a:t>new</a:t>
            </a:r>
            <a:r>
              <a:rPr sz="1700" b="0">
                <a:solidFill>
                  <a:srgbClr val="1D2330"/>
                </a:solidFill>
                <a:latin typeface="Calibri"/>
              </a:rPr>
              <a:t> with no </a:t>
            </a:r>
            <a:r>
              <a:rPr sz="1700" b="0">
                <a:solidFill>
                  <a:srgbClr val="4B2E83"/>
                </a:solidFill>
                <a:latin typeface="Consolas"/>
              </a:rPr>
              <a:t>delete</a:t>
            </a:r>
          </a:p>
          <a:p>
            <a:pPr marL="256032" indent="-228600">
              <a:spcAft>
                <a:spcPts val="800"/>
              </a:spcAft>
              <a:buClr>
                <a:srgbClr val="5B6475"/>
              </a:buClr>
              <a:buChar char="•"/>
            </a:pPr>
            <a:r>
              <a:rPr sz="1700" b="0">
                <a:solidFill>
                  <a:srgbClr val="1D2330"/>
                </a:solidFill>
                <a:latin typeface="Calibri"/>
              </a:rPr>
              <a:t>Reading or writing past the end</a:t>
            </a:r>
          </a:p>
          <a:p>
            <a:pPr marL="256032" indent="-228600">
              <a:spcAft>
                <a:spcPts val="800"/>
              </a:spcAft>
              <a:buClr>
                <a:srgbClr val="5B6475"/>
              </a:buClr>
              <a:buChar char="•"/>
            </a:pPr>
            <a:r>
              <a:rPr sz="1700" b="0">
                <a:solidFill>
                  <a:srgbClr val="4B2E83"/>
                </a:solidFill>
                <a:latin typeface="Consolas"/>
              </a:rPr>
              <a:t>delete</a:t>
            </a:r>
            <a:r>
              <a:rPr sz="1700" b="0">
                <a:solidFill>
                  <a:srgbClr val="1D2330"/>
                </a:solidFill>
                <a:latin typeface="Calibri"/>
              </a:rPr>
              <a:t> for memory from </a:t>
            </a:r>
            <a:r>
              <a:rPr sz="1700" b="0">
                <a:solidFill>
                  <a:srgbClr val="4B2E83"/>
                </a:solidFill>
                <a:latin typeface="Consolas"/>
              </a:rPr>
              <a:t>new[]</a:t>
            </a:r>
          </a:p>
          <a:p>
            <a:pPr marL="256032" indent="-228600">
              <a:spcAft>
                <a:spcPts val="800"/>
              </a:spcAft>
              <a:buClr>
                <a:srgbClr val="5B6475"/>
              </a:buClr>
              <a:buChar char="•"/>
            </a:pPr>
            <a:r>
              <a:rPr sz="1700" b="0">
                <a:solidFill>
                  <a:srgbClr val="1D2330"/>
                </a:solidFill>
                <a:latin typeface="Calibri"/>
              </a:rPr>
              <a:t>Using memory after </a:t>
            </a:r>
            <a:r>
              <a:rPr sz="1700" b="0">
                <a:solidFill>
                  <a:srgbClr val="4B2E83"/>
                </a:solidFill>
                <a:latin typeface="Consolas"/>
              </a:rPr>
              <a:t>delete</a:t>
            </a:r>
            <a:r>
              <a:rPr sz="1700" b="0">
                <a:solidFill>
                  <a:srgbClr val="1D2330"/>
                </a:solidFill>
                <a:latin typeface="Calibri"/>
              </a:rPr>
              <a:t> (a dangling pointer)</a:t>
            </a:r>
          </a:p>
          <a:p>
            <a:pPr marL="256032" indent="-228600">
              <a:spcAft>
                <a:spcPts val="800"/>
              </a:spcAft>
              <a:buClr>
                <a:srgbClr val="5B6475"/>
              </a:buClr>
              <a:buChar char="•"/>
            </a:pPr>
            <a:r>
              <a:rPr sz="1700" b="0">
                <a:solidFill>
                  <a:srgbClr val="1D2330"/>
                </a:solidFill>
                <a:latin typeface="Calibri"/>
              </a:rPr>
              <a:t>Deleting twice</a:t>
            </a:r>
          </a:p>
        </p:txBody>
      </p:sp>
      <p:sp>
        <p:nvSpPr>
          <p:cNvPr id="9" name="Rounded Rectangle 8"/>
          <p:cNvSpPr/>
          <p:nvPr/>
        </p:nvSpPr>
        <p:spPr>
          <a:xfrm>
            <a:off x="6278727" y="1325880"/>
            <a:ext cx="5364327" cy="4800600"/>
          </a:xfrm>
          <a:prstGeom prst="roundRect">
            <a:avLst>
              <a:gd name="adj" fmla="val 4000"/>
            </a:avLst>
          </a:prstGeom>
          <a:solidFill>
            <a:srgbClr val="E8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508760"/>
            <a:ext cx="4815687" cy="457200"/>
          </a:xfrm>
          <a:prstGeom prst="rect">
            <a:avLst/>
          </a:prstGeom>
          <a:noFill/>
        </p:spPr>
        <p:txBody>
          <a:bodyPr wrap="square" lIns="0" rIns="0" tIns="0" bIns="0" anchor="t">
            <a:spAutoFit/>
          </a:bodyPr>
          <a:lstStyle/>
          <a:p>
            <a:pPr algn="l"/>
            <a:r>
              <a:rPr sz="2200" b="1">
                <a:solidFill>
                  <a:srgbClr val="2F6FDF"/>
                </a:solidFill>
                <a:latin typeface="Calibri"/>
              </a:rPr>
              <a:t>valgrind --leak-check=full ./prog</a:t>
            </a:r>
          </a:p>
        </p:txBody>
      </p:sp>
      <p:sp>
        <p:nvSpPr>
          <p:cNvPr id="11" name="TextBox 10"/>
          <p:cNvSpPr txBox="1"/>
          <p:nvPr/>
        </p:nvSpPr>
        <p:spPr>
          <a:xfrm>
            <a:off x="6553047"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definitely lost: 32 bytes in 1 blocks</a:t>
            </a:r>
          </a:p>
          <a:p>
            <a:pPr marL="256032" indent="-228600">
              <a:spcAft>
                <a:spcPts val="800"/>
              </a:spcAft>
              <a:buClr>
                <a:srgbClr val="5B6475"/>
              </a:buClr>
              <a:buChar char="•"/>
            </a:pPr>
            <a:r>
              <a:rPr sz="1700" b="0">
                <a:solidFill>
                  <a:srgbClr val="4B2E83"/>
                </a:solidFill>
                <a:latin typeface="Consolas"/>
              </a:rPr>
              <a:t>Invalid read of size 4</a:t>
            </a:r>
            <a:r>
              <a:rPr sz="1700" b="0">
                <a:solidFill>
                  <a:srgbClr val="1D2330"/>
                </a:solidFill>
                <a:latin typeface="Calibri"/>
              </a:rPr>
              <a:t> / </a:t>
            </a:r>
            <a:r>
              <a:rPr sz="1700" b="0">
                <a:solidFill>
                  <a:srgbClr val="4B2E83"/>
                </a:solidFill>
                <a:latin typeface="Consolas"/>
              </a:rPr>
              <a:t>Invalid write</a:t>
            </a:r>
          </a:p>
          <a:p>
            <a:pPr marL="256032" indent="-228600">
              <a:spcAft>
                <a:spcPts val="800"/>
              </a:spcAft>
              <a:buClr>
                <a:srgbClr val="5B6475"/>
              </a:buClr>
              <a:buChar char="•"/>
            </a:pPr>
            <a:r>
              <a:rPr sz="1700" b="0">
                <a:solidFill>
                  <a:srgbClr val="4B2E83"/>
                </a:solidFill>
                <a:latin typeface="Consolas"/>
              </a:rPr>
              <a:t>Mismatched free() / delete / delete []</a:t>
            </a:r>
          </a:p>
          <a:p>
            <a:pPr marL="256032" indent="-228600">
              <a:spcAft>
                <a:spcPts val="800"/>
              </a:spcAft>
              <a:buClr>
                <a:srgbClr val="5B6475"/>
              </a:buClr>
              <a:buChar char="•"/>
            </a:pPr>
            <a:r>
              <a:rPr sz="1700" b="0">
                <a:solidFill>
                  <a:srgbClr val="4B2E83"/>
                </a:solidFill>
                <a:latin typeface="Consolas"/>
              </a:rPr>
              <a:t>Invalid read</a:t>
            </a:r>
            <a:r>
              <a:rPr sz="1700" b="0">
                <a:solidFill>
                  <a:srgbClr val="1D2330"/>
                </a:solidFill>
                <a:latin typeface="Calibri"/>
              </a:rPr>
              <a:t> ... </a:t>
            </a:r>
            <a:r>
              <a:rPr sz="1700" b="0">
                <a:solidFill>
                  <a:srgbClr val="4B2E83"/>
                </a:solidFill>
                <a:latin typeface="Consolas"/>
              </a:rPr>
              <a:t>inside a block of size 4 free'd</a:t>
            </a:r>
          </a:p>
          <a:p>
            <a:pPr marL="256032" indent="-228600">
              <a:spcAft>
                <a:spcPts val="800"/>
              </a:spcAft>
              <a:buClr>
                <a:srgbClr val="5B6475"/>
              </a:buClr>
              <a:buChar char="•"/>
            </a:pPr>
            <a:r>
              <a:rPr sz="1700" b="0">
                <a:solidFill>
                  <a:srgbClr val="4B2E83"/>
                </a:solidFill>
                <a:latin typeface="Consolas"/>
              </a:rPr>
              <a:t>Invalid free() / delete / delete[]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25</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Growing an array: the steps</a:t>
            </a:r>
          </a:p>
        </p:txBody>
      </p:sp>
      <p:sp>
        <p:nvSpPr>
          <p:cNvPr id="6" name="TextBox 5"/>
          <p:cNvSpPr txBox="1"/>
          <p:nvPr/>
        </p:nvSpPr>
        <p:spPr>
          <a:xfrm>
            <a:off x="548640" y="1280160"/>
            <a:ext cx="11094415" cy="34747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An array can't change its size, so growing means moving to a bigger one, in this order:</a:t>
            </a:r>
          </a:p>
          <a:p>
            <a:pPr marL="256032" indent="-228600">
              <a:spcAft>
                <a:spcPts val="800"/>
              </a:spcAft>
              <a:buClr>
                <a:srgbClr val="5B6475"/>
              </a:buClr>
              <a:buChar char="•"/>
            </a:pPr>
            <a:r>
              <a:rPr sz="2000" b="0">
                <a:solidFill>
                  <a:srgbClr val="1D2330"/>
                </a:solidFill>
                <a:latin typeface="Calibri"/>
              </a:rPr>
              <a:t>Allocate a bigger array with </a:t>
            </a:r>
            <a:r>
              <a:rPr sz="2000" b="0">
                <a:solidFill>
                  <a:srgbClr val="4B2E83"/>
                </a:solidFill>
                <a:latin typeface="Consolas"/>
              </a:rPr>
              <a:t>new[]</a:t>
            </a:r>
          </a:p>
          <a:p>
            <a:pPr marL="256032" indent="-228600">
              <a:spcAft>
                <a:spcPts val="800"/>
              </a:spcAft>
              <a:buClr>
                <a:srgbClr val="5B6475"/>
              </a:buClr>
              <a:buChar char="•"/>
            </a:pPr>
            <a:r>
              <a:rPr sz="2000" b="0">
                <a:solidFill>
                  <a:srgbClr val="1D2330"/>
                </a:solidFill>
                <a:latin typeface="Calibri"/>
              </a:rPr>
              <a:t>Copy the items from the old array into it</a:t>
            </a:r>
          </a:p>
          <a:p>
            <a:pPr marL="256032" indent="-228600">
              <a:spcAft>
                <a:spcPts val="800"/>
              </a:spcAft>
              <a:buClr>
                <a:srgbClr val="5B6475"/>
              </a:buClr>
              <a:buChar char="•"/>
            </a:pPr>
            <a:r>
              <a:rPr sz="2000" b="0">
                <a:solidFill>
                  <a:srgbClr val="4B2E83"/>
                </a:solidFill>
                <a:latin typeface="Consolas"/>
              </a:rPr>
              <a:t>delete[]</a:t>
            </a:r>
            <a:r>
              <a:rPr sz="2000" b="0">
                <a:solidFill>
                  <a:srgbClr val="1D2330"/>
                </a:solidFill>
                <a:latin typeface="Calibri"/>
              </a:rPr>
              <a:t> the old array</a:t>
            </a:r>
          </a:p>
          <a:p>
            <a:pPr marL="256032" indent="-228600">
              <a:spcAft>
                <a:spcPts val="800"/>
              </a:spcAft>
              <a:buClr>
                <a:srgbClr val="5B6475"/>
              </a:buClr>
              <a:buChar char="•"/>
            </a:pPr>
            <a:r>
              <a:rPr sz="2000" b="0">
                <a:solidFill>
                  <a:srgbClr val="1D2330"/>
                </a:solidFill>
                <a:latin typeface="Calibri"/>
              </a:rPr>
              <a:t>Re-point the pointer at the new array (and update the capacity)</a:t>
            </a:r>
          </a:p>
          <a:p>
            <a:pPr marL="256032" indent="-228600">
              <a:spcAft>
                <a:spcPts val="800"/>
              </a:spcAft>
              <a:buClr>
                <a:srgbClr val="5B6475"/>
              </a:buClr>
              <a:buChar char="•"/>
            </a:pPr>
            <a:r>
              <a:rPr sz="2000" b="0">
                <a:solidFill>
                  <a:srgbClr val="1D2330"/>
                </a:solidFill>
                <a:latin typeface="Calibri"/>
              </a:rPr>
              <a:t>The function takes </a:t>
            </a:r>
            <a:r>
              <a:rPr sz="2000" b="0">
                <a:solidFill>
                  <a:srgbClr val="4B2E83"/>
                </a:solidFill>
                <a:latin typeface="Consolas"/>
              </a:rPr>
              <a:t>int *&amp;data</a:t>
            </a:r>
            <a:r>
              <a:rPr sz="2000" b="0">
                <a:solidFill>
                  <a:srgbClr val="1D2330"/>
                </a:solidFill>
                <a:latin typeface="Calibri"/>
              </a:rPr>
              <a:t>: the caller's pointer must move to the new array</a:t>
            </a:r>
          </a:p>
        </p:txBody>
      </p:sp>
      <p:sp>
        <p:nvSpPr>
          <p:cNvPr id="7" name="Rounded Rectangle 6"/>
          <p:cNvSpPr/>
          <p:nvPr/>
        </p:nvSpPr>
        <p:spPr>
          <a:xfrm>
            <a:off x="548640" y="4892040"/>
            <a:ext cx="11094415" cy="1280160"/>
          </a:xfrm>
          <a:prstGeom prst="roundRect">
            <a:avLst>
              <a:gd name="adj" fmla="val 8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029200"/>
            <a:ext cx="10637215" cy="1005840"/>
          </a:xfrm>
          <a:prstGeom prst="rect">
            <a:avLst/>
          </a:prstGeom>
          <a:noFill/>
        </p:spPr>
        <p:txBody>
          <a:bodyPr wrap="square" lIns="0" rIns="0" tIns="0" bIns="0" anchor="ctr">
            <a:spAutoFit/>
          </a:bodyPr>
          <a:lstStyle/>
          <a:p>
            <a:r>
              <a:rPr sz="1600" b="1">
                <a:solidFill>
                  <a:srgbClr val="4B2E83"/>
                </a:solidFill>
                <a:latin typeface="Calibri"/>
              </a:rPr>
              <a:t>Carrano's resizable ArrayBag does exactly this</a:t>
            </a:r>
          </a:p>
          <a:p>
            <a:pPr>
              <a:spcBef>
                <a:spcPts val="400"/>
              </a:spcBef>
            </a:pPr>
            <a:r>
              <a:rPr sz="1600" b="0">
                <a:solidFill>
                  <a:srgbClr val="1D2330"/>
                </a:solidFill>
                <a:latin typeface="Calibri"/>
              </a:rPr>
              <a:t>You write it yourself in Exercise 3 (TODO 2, grow).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26</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3: Dynamic arrays and memory bugs</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25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Lab3/exercises/ex3-dynamic/</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valgrind reports </a:t>
            </a:r>
            <a:r>
              <a:rPr sz="1500" b="0">
                <a:solidFill>
                  <a:srgbClr val="4B2E83"/>
                </a:solidFill>
                <a:latin typeface="Consolas"/>
              </a:rPr>
              <a:t>ERROR SUMMARY: 0 errors</a:t>
            </a:r>
            <a:r>
              <a:rPr sz="1500" b="0">
                <a:solidFill>
                  <a:srgbClr val="1D2330"/>
                </a:solidFill>
                <a:latin typeface="Calibri"/>
              </a:rPr>
              <a:t> and no leaks for both programs.</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4B2E83"/>
                </a:solidFill>
                <a:latin typeface="Consolas"/>
              </a:rPr>
              <a:t>growing.cpp</a:t>
            </a:r>
            <a:r>
              <a:rPr sz="1700" b="0">
                <a:solidFill>
                  <a:srgbClr val="1D2330"/>
                </a:solidFill>
                <a:latin typeface="Calibri"/>
              </a:rPr>
              <a:t>: write </a:t>
            </a:r>
            <a:r>
              <a:rPr sz="1700" b="0">
                <a:solidFill>
                  <a:srgbClr val="4B2E83"/>
                </a:solidFill>
                <a:latin typeface="Consolas"/>
              </a:rPr>
              <a:t>makeSquares</a:t>
            </a:r>
            <a:r>
              <a:rPr sz="1700" b="0">
                <a:solidFill>
                  <a:srgbClr val="1D2330"/>
                </a:solidFill>
                <a:latin typeface="Calibri"/>
              </a:rPr>
              <a:t> and </a:t>
            </a:r>
            <a:r>
              <a:rPr sz="1700" b="0">
                <a:solidFill>
                  <a:srgbClr val="4B2E83"/>
                </a:solidFill>
                <a:latin typeface="Consolas"/>
              </a:rPr>
              <a:t>grow</a:t>
            </a:r>
            <a:r>
              <a:rPr sz="1700" b="0">
                <a:solidFill>
                  <a:srgbClr val="1D2330"/>
                </a:solidFill>
                <a:latin typeface="Calibri"/>
              </a:rPr>
              <a:t> BEFORE running</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1D2330"/>
                </a:solidFill>
                <a:latin typeface="Calibri"/>
              </a:rPr>
              <a:t>Release both arrays; </a:t>
            </a:r>
            <a:r>
              <a:rPr sz="1700" b="0">
                <a:solidFill>
                  <a:srgbClr val="4B2E83"/>
                </a:solidFill>
                <a:latin typeface="Consolas"/>
              </a:rPr>
              <a:t>valgrind --leak-check=full ./growing</a:t>
            </a:r>
            <a:r>
              <a:rPr sz="1700" b="0">
                <a:solidFill>
                  <a:srgbClr val="1D2330"/>
                </a:solidFill>
                <a:latin typeface="Calibri"/>
              </a:rPr>
              <a:t> until clean</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4B2E83"/>
                </a:solidFill>
                <a:latin typeface="Consolas"/>
              </a:rPr>
              <a:t>leaky.cpp</a:t>
            </a:r>
            <a:r>
              <a:rPr sz="1700" b="0">
                <a:solidFill>
                  <a:srgbClr val="1D2330"/>
                </a:solidFill>
                <a:latin typeface="Calibri"/>
              </a:rPr>
              <a:t>: looks fine when run. Find and fix its 3 bugs with valgrind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27</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3</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4B2E83"/>
                </a:solidFill>
                <a:latin typeface="Consolas"/>
              </a:rPr>
              <a:t>makeSquares</a:t>
            </a:r>
            <a:r>
              <a:rPr sz="2000" b="0">
                <a:solidFill>
                  <a:srgbClr val="1D2330"/>
                </a:solidFill>
                <a:latin typeface="Calibri"/>
              </a:rPr>
              <a:t> must use </a:t>
            </a:r>
            <a:r>
              <a:rPr sz="2000" b="0">
                <a:solidFill>
                  <a:srgbClr val="4B2E83"/>
                </a:solidFill>
                <a:latin typeface="Consolas"/>
              </a:rPr>
              <a:t>new[]</a:t>
            </a:r>
            <a:r>
              <a:rPr sz="2000" b="0">
                <a:solidFill>
                  <a:srgbClr val="1D2330"/>
                </a:solidFill>
                <a:latin typeface="Calibri"/>
              </a:rPr>
              <a:t>: a local array dies when the function returns</a:t>
            </a:r>
          </a:p>
          <a:p>
            <a:pPr marL="256032" indent="-228600">
              <a:spcAft>
                <a:spcPts val="800"/>
              </a:spcAft>
              <a:buClr>
                <a:srgbClr val="5B6475"/>
              </a:buClr>
              <a:buChar char="•"/>
            </a:pPr>
            <a:r>
              <a:rPr sz="2000" b="0">
                <a:solidFill>
                  <a:srgbClr val="4B2E83"/>
                </a:solidFill>
                <a:latin typeface="Consolas"/>
              </a:rPr>
              <a:t>leaky</a:t>
            </a:r>
            <a:r>
              <a:rPr sz="2000" b="0">
                <a:solidFill>
                  <a:srgbClr val="1D2330"/>
                </a:solidFill>
                <a:latin typeface="Calibri"/>
              </a:rPr>
              <a:t> printed the right sum by luck; valgrind found all three bugs</a:t>
            </a:r>
          </a:p>
          <a:p>
            <a:pPr marL="256032" indent="-228600">
              <a:spcAft>
                <a:spcPts val="800"/>
              </a:spcAft>
              <a:buClr>
                <a:srgbClr val="5B6475"/>
              </a:buClr>
              <a:buChar char="•"/>
            </a:pPr>
            <a:r>
              <a:rPr sz="2000" b="0">
                <a:solidFill>
                  <a:srgbClr val="4B2E83"/>
                </a:solidFill>
                <a:latin typeface="Consolas"/>
              </a:rPr>
              <a:t>Invalid read of size 4</a:t>
            </a:r>
            <a:r>
              <a:rPr sz="2000" b="0">
                <a:solidFill>
                  <a:srgbClr val="1D2330"/>
                </a:solidFill>
                <a:latin typeface="Calibri"/>
              </a:rPr>
              <a:t>: the loop ran to </a:t>
            </a:r>
            <a:r>
              <a:rPr sz="2000" b="0">
                <a:solidFill>
                  <a:srgbClr val="4B2E83"/>
                </a:solidFill>
                <a:latin typeface="Consolas"/>
              </a:rPr>
              <a:t>i &lt;= n</a:t>
            </a:r>
          </a:p>
          <a:p>
            <a:pPr marL="256032" indent="-228600">
              <a:spcAft>
                <a:spcPts val="800"/>
              </a:spcAft>
              <a:buClr>
                <a:srgbClr val="5B6475"/>
              </a:buClr>
              <a:buChar char="•"/>
            </a:pPr>
            <a:r>
              <a:rPr sz="2000" b="0">
                <a:solidFill>
                  <a:srgbClr val="4B2E83"/>
                </a:solidFill>
                <a:latin typeface="Consolas"/>
              </a:rPr>
              <a:t>Mismatched free() / delete / delete []</a:t>
            </a:r>
            <a:r>
              <a:rPr sz="2000" b="0">
                <a:solidFill>
                  <a:srgbClr val="1D2330"/>
                </a:solidFill>
                <a:latin typeface="Calibri"/>
              </a:rPr>
              <a:t>: </a:t>
            </a:r>
            <a:r>
              <a:rPr sz="2000" b="0">
                <a:solidFill>
                  <a:srgbClr val="4B2E83"/>
                </a:solidFill>
                <a:latin typeface="Consolas"/>
              </a:rPr>
              <a:t>delete scores</a:t>
            </a:r>
            <a:r>
              <a:rPr sz="2000" b="0">
                <a:solidFill>
                  <a:srgbClr val="1D2330"/>
                </a:solidFill>
                <a:latin typeface="Calibri"/>
              </a:rPr>
              <a:t> for a </a:t>
            </a:r>
            <a:r>
              <a:rPr sz="2000" b="0">
                <a:solidFill>
                  <a:srgbClr val="4B2E83"/>
                </a:solidFill>
                <a:latin typeface="Consolas"/>
              </a:rPr>
              <a:t>new[]</a:t>
            </a:r>
            <a:r>
              <a:rPr sz="2000" b="0">
                <a:solidFill>
                  <a:srgbClr val="1D2330"/>
                </a:solidFill>
                <a:latin typeface="Calibri"/>
              </a:rPr>
              <a:t> array</a:t>
            </a:r>
          </a:p>
          <a:p>
            <a:pPr marL="256032" indent="-228600">
              <a:spcAft>
                <a:spcPts val="800"/>
              </a:spcAft>
              <a:buClr>
                <a:srgbClr val="5B6475"/>
              </a:buClr>
              <a:buChar char="•"/>
            </a:pPr>
            <a:r>
              <a:rPr sz="2000" b="0">
                <a:solidFill>
                  <a:srgbClr val="4B2E83"/>
                </a:solidFill>
                <a:latin typeface="Consolas"/>
              </a:rPr>
              <a:t>definitely lost</a:t>
            </a:r>
            <a:r>
              <a:rPr sz="2000" b="0">
                <a:solidFill>
                  <a:srgbClr val="1D2330"/>
                </a:solidFill>
                <a:latin typeface="Calibri"/>
              </a:rPr>
              <a:t>: </a:t>
            </a:r>
            <a:r>
              <a:rPr sz="2000" b="0">
                <a:solidFill>
                  <a:srgbClr val="4B2E83"/>
                </a:solidFill>
                <a:latin typeface="Consolas"/>
              </a:rPr>
              <a:t>greeting</a:t>
            </a:r>
            <a:r>
              <a:rPr sz="2000" b="0">
                <a:solidFill>
                  <a:srgbClr val="1D2330"/>
                </a:solidFill>
                <a:latin typeface="Calibri"/>
              </a:rPr>
              <a:t> was never deleted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28</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3</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584960"/>
          </a:xfrm>
          <a:prstGeom prst="rect">
            <a:avLst/>
          </a:prstGeom>
          <a:noFill/>
        </p:spPr>
        <p:txBody>
          <a:bodyPr wrap="square" lIns="0" rIns="0" tIns="0" bIns="0" anchor="t">
            <a:spAutoFit/>
          </a:bodyPr>
          <a:lstStyle/>
          <a:p>
            <a:pPr algn="l"/>
            <a:r>
              <a:rPr sz="1800" b="0">
                <a:solidFill>
                  <a:srgbClr val="1D2330"/>
                </a:solidFill>
                <a:latin typeface="Calibri"/>
              </a:rPr>
              <a:t>What is wrong with </a:t>
            </a:r>
            <a:r>
              <a:rPr sz="1800" b="0">
                <a:solidFill>
                  <a:srgbClr val="4B2E83"/>
                </a:solidFill>
                <a:latin typeface="Consolas"/>
              </a:rPr>
              <a:t>int *p = new int[10]; p++; delete[] p;</a:t>
            </a:r>
            <a:r>
              <a:rPr sz="1800" b="0">
                <a:solidFill>
                  <a:srgbClr val="1D2330"/>
                </a:solidFill>
                <a:latin typeface="Calibri"/>
              </a:rPr>
              <a:t>?</a:t>
            </a:r>
          </a:p>
        </p:txBody>
      </p:sp>
      <p:sp>
        <p:nvSpPr>
          <p:cNvPr id="7" name="Oval 6"/>
          <p:cNvSpPr/>
          <p:nvPr/>
        </p:nvSpPr>
        <p:spPr>
          <a:xfrm>
            <a:off x="548640" y="29565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956560"/>
            <a:ext cx="10408615" cy="1584960"/>
          </a:xfrm>
          <a:prstGeom prst="rect">
            <a:avLst/>
          </a:prstGeom>
          <a:noFill/>
        </p:spPr>
        <p:txBody>
          <a:bodyPr wrap="square" lIns="0" rIns="0" tIns="0" bIns="0" anchor="t">
            <a:spAutoFit/>
          </a:bodyPr>
          <a:lstStyle/>
          <a:p>
            <a:pPr algn="l"/>
            <a:r>
              <a:rPr sz="1800" b="0">
                <a:solidFill>
                  <a:srgbClr val="1D2330"/>
                </a:solidFill>
                <a:latin typeface="Calibri"/>
              </a:rPr>
              <a:t>A function </a:t>
            </a:r>
            <a:r>
              <a:rPr sz="1800" b="0">
                <a:solidFill>
                  <a:srgbClr val="4B2E83"/>
                </a:solidFill>
                <a:latin typeface="Consolas"/>
              </a:rPr>
              <a:t>new</a:t>
            </a:r>
            <a:r>
              <a:rPr sz="1800" b="0">
                <a:solidFill>
                  <a:srgbClr val="1D2330"/>
                </a:solidFill>
                <a:latin typeface="Calibri"/>
              </a:rPr>
              <a:t>s a buffer, </a:t>
            </a:r>
            <a:r>
              <a:rPr sz="1800" b="0">
                <a:solidFill>
                  <a:srgbClr val="4B2E83"/>
                </a:solidFill>
                <a:latin typeface="Consolas"/>
              </a:rPr>
              <a:t>return</a:t>
            </a:r>
            <a:r>
              <a:rPr sz="1800" b="0">
                <a:solidFill>
                  <a:srgbClr val="1D2330"/>
                </a:solidFill>
                <a:latin typeface="Calibri"/>
              </a:rPr>
              <a:t>s early if loading fails, and </a:t>
            </a:r>
            <a:r>
              <a:rPr sz="1800" b="0">
                <a:solidFill>
                  <a:srgbClr val="4B2E83"/>
                </a:solidFill>
                <a:latin typeface="Consolas"/>
              </a:rPr>
              <a:t>delete</a:t>
            </a:r>
            <a:r>
              <a:rPr sz="1800" b="0">
                <a:solidFill>
                  <a:srgbClr val="1D2330"/>
                </a:solidFill>
                <a:latin typeface="Calibri"/>
              </a:rPr>
              <a:t>s at the end. When does it leak?</a:t>
            </a:r>
          </a:p>
        </p:txBody>
      </p:sp>
      <p:sp>
        <p:nvSpPr>
          <p:cNvPr id="9" name="Oval 8"/>
          <p:cNvSpPr/>
          <p:nvPr/>
        </p:nvSpPr>
        <p:spPr>
          <a:xfrm>
            <a:off x="548640" y="45415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4541520"/>
            <a:ext cx="10408615" cy="1584960"/>
          </a:xfrm>
          <a:prstGeom prst="rect">
            <a:avLst/>
          </a:prstGeom>
          <a:noFill/>
        </p:spPr>
        <p:txBody>
          <a:bodyPr wrap="square" lIns="0" rIns="0" tIns="0" bIns="0" anchor="t">
            <a:spAutoFit/>
          </a:bodyPr>
          <a:lstStyle/>
          <a:p>
            <a:pPr algn="l"/>
            <a:r>
              <a:rPr sz="1800" b="0">
                <a:solidFill>
                  <a:srgbClr val="1D2330"/>
                </a:solidFill>
                <a:latin typeface="Calibri"/>
              </a:rPr>
              <a:t>After </a:t>
            </a:r>
            <a:r>
              <a:rPr sz="1800" b="0">
                <a:solidFill>
                  <a:srgbClr val="4B2E83"/>
                </a:solidFill>
                <a:latin typeface="Consolas"/>
              </a:rPr>
              <a:t>delete p;</a:t>
            </a:r>
            <a:r>
              <a:rPr sz="1800" b="0">
                <a:solidFill>
                  <a:srgbClr val="1D2330"/>
                </a:solidFill>
                <a:latin typeface="Calibri"/>
              </a:rPr>
              <a:t>, what does </a:t>
            </a:r>
            <a:r>
              <a:rPr sz="1800" b="0">
                <a:solidFill>
                  <a:srgbClr val="4B2E83"/>
                </a:solidFill>
                <a:latin typeface="Consolas"/>
              </a:rPr>
              <a:t>p</a:t>
            </a:r>
            <a:r>
              <a:rPr sz="1800" b="0">
                <a:solidFill>
                  <a:srgbClr val="1D2330"/>
                </a:solidFill>
                <a:latin typeface="Calibri"/>
              </a:rPr>
              <a:t> hold? Is a second </a:t>
            </a:r>
            <a:r>
              <a:rPr sz="1800" b="0">
                <a:solidFill>
                  <a:srgbClr val="4B2E83"/>
                </a:solidFill>
                <a:latin typeface="Consolas"/>
              </a:rPr>
              <a:t>delete p;</a:t>
            </a:r>
            <a:r>
              <a:rPr sz="1800" b="0">
                <a:solidFill>
                  <a:srgbClr val="1D2330"/>
                </a:solidFill>
                <a:latin typeface="Calibri"/>
              </a:rPr>
              <a:t> OK?</a:t>
            </a:r>
          </a:p>
        </p:txBody>
      </p:sp>
      <p:sp>
        <p:nvSpPr>
          <p:cNvPr id="11" name="TextBox 10"/>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29</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3 Exercise 3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3</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4</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Linked nodes</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Nodes linked by pointers grow and insert without moving everything: the base of CSS 342's lists</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Build, walk, and free a chain of nodes</a:t>
            </a:r>
          </a:p>
          <a:p>
            <a:pPr marL="256032" indent="-228600">
              <a:spcAft>
                <a:spcPts val="600"/>
              </a:spcAft>
              <a:buClr>
                <a:srgbClr val="5B6475"/>
              </a:buClr>
              <a:buChar char="›"/>
            </a:pPr>
            <a:r>
              <a:rPr sz="2000" b="0">
                <a:solidFill>
                  <a:srgbClr val="FFFFFF"/>
                </a:solidFill>
                <a:latin typeface="Calibri"/>
              </a:rPr>
              <a:t>Insert and remove anywhere, including the first node</a:t>
            </a:r>
          </a:p>
          <a:p>
            <a:pPr marL="256032" indent="-228600">
              <a:spcAft>
                <a:spcPts val="600"/>
              </a:spcAft>
              <a:buClr>
                <a:srgbClr val="5B6475"/>
              </a:buClr>
              <a:buChar char="›"/>
            </a:pPr>
            <a:r>
              <a:rPr sz="2000" b="0">
                <a:solidFill>
                  <a:srgbClr val="FFFFFF"/>
                </a:solidFill>
                <a:latin typeface="Calibri"/>
              </a:rPr>
              <a:t>Prove it with valgrind: no leaks, no invalid reads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31</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A chain of nodes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Each node holds an item and a pointer to the next node</a:t>
            </a:r>
          </a:p>
          <a:p>
            <a:pPr marL="256032" indent="-228600">
              <a:spcAft>
                <a:spcPts val="800"/>
              </a:spcAft>
              <a:buClr>
                <a:srgbClr val="5B6475"/>
              </a:buClr>
              <a:buChar char="•"/>
            </a:pPr>
            <a:r>
              <a:rPr sz="1800" b="0">
                <a:solidFill>
                  <a:srgbClr val="1D2330"/>
                </a:solidFill>
                <a:latin typeface="Calibri"/>
              </a:rPr>
              <a:t>The last node's </a:t>
            </a:r>
            <a:r>
              <a:rPr sz="1800" b="0">
                <a:solidFill>
                  <a:srgbClr val="4B2E83"/>
                </a:solidFill>
                <a:latin typeface="Consolas"/>
              </a:rPr>
              <a:t>next</a:t>
            </a:r>
            <a:r>
              <a:rPr sz="1800" b="0">
                <a:solidFill>
                  <a:srgbClr val="1D2330"/>
                </a:solidFill>
                <a:latin typeface="Calibri"/>
              </a:rPr>
              <a:t> is </a:t>
            </a:r>
            <a:r>
              <a:rPr sz="1800" b="0">
                <a:solidFill>
                  <a:srgbClr val="4B2E83"/>
                </a:solidFill>
                <a:latin typeface="Consolas"/>
              </a:rPr>
              <a:t>nullptr</a:t>
            </a:r>
            <a:r>
              <a:rPr sz="1800" b="0">
                <a:solidFill>
                  <a:srgbClr val="1D2330"/>
                </a:solidFill>
                <a:latin typeface="Calibri"/>
              </a:rPr>
              <a:t>; an empty chain has </a:t>
            </a:r>
            <a:r>
              <a:rPr sz="1800" b="0">
                <a:solidFill>
                  <a:srgbClr val="4B2E83"/>
                </a:solidFill>
                <a:latin typeface="Consolas"/>
              </a:rPr>
              <a:t>head == nullptr</a:t>
            </a:r>
          </a:p>
          <a:p>
            <a:pPr marL="256032" indent="-228600">
              <a:spcAft>
                <a:spcPts val="800"/>
              </a:spcAft>
              <a:buClr>
                <a:srgbClr val="5B6475"/>
              </a:buClr>
              <a:buChar char="•"/>
            </a:pPr>
            <a:r>
              <a:rPr sz="1800" b="0">
                <a:solidFill>
                  <a:srgbClr val="1D2330"/>
                </a:solidFill>
                <a:latin typeface="Calibri"/>
              </a:rPr>
              <a:t>Walk: start at </a:t>
            </a:r>
            <a:r>
              <a:rPr sz="1800" b="0">
                <a:solidFill>
                  <a:srgbClr val="4B2E83"/>
                </a:solidFill>
                <a:latin typeface="Consolas"/>
              </a:rPr>
              <a:t>head</a:t>
            </a:r>
            <a:r>
              <a:rPr sz="1800" b="0">
                <a:solidFill>
                  <a:srgbClr val="1D2330"/>
                </a:solidFill>
                <a:latin typeface="Calibri"/>
              </a:rPr>
              <a:t>, move to </a:t>
            </a:r>
            <a:r>
              <a:rPr sz="1800" b="0">
                <a:solidFill>
                  <a:srgbClr val="4B2E83"/>
                </a:solidFill>
                <a:latin typeface="Consolas"/>
              </a:rPr>
              <a:t>next</a:t>
            </a:r>
            <a:r>
              <a:rPr sz="1800" b="0">
                <a:solidFill>
                  <a:srgbClr val="1D2330"/>
                </a:solidFill>
                <a:latin typeface="Calibri"/>
              </a:rPr>
              <a:t> until </a:t>
            </a:r>
            <a:r>
              <a:rPr sz="1800" b="0">
                <a:solidFill>
                  <a:srgbClr val="4B2E83"/>
                </a:solidFill>
                <a:latin typeface="Consolas"/>
              </a:rPr>
              <a:t>nullptr</a:t>
            </a:r>
          </a:p>
          <a:p>
            <a:pPr marL="256032" indent="-228600">
              <a:spcAft>
                <a:spcPts val="800"/>
              </a:spcAft>
              <a:buClr>
                <a:srgbClr val="5B6475"/>
              </a:buClr>
              <a:buChar char="•"/>
            </a:pPr>
            <a:r>
              <a:rPr sz="1800" b="0">
                <a:solidFill>
                  <a:srgbClr val="1D2330"/>
                </a:solidFill>
                <a:latin typeface="Calibri"/>
              </a:rPr>
              <a:t>Every linked traversal in your CSS 342 assignments is this loop</a:t>
            </a:r>
          </a:p>
        </p:txBody>
      </p:sp>
      <p:sp>
        <p:nvSpPr>
          <p:cNvPr id="7" name="Rounded Rectangle 6"/>
          <p:cNvSpPr/>
          <p:nvPr/>
        </p:nvSpPr>
        <p:spPr>
          <a:xfrm>
            <a:off x="5972110" y="1325880"/>
            <a:ext cx="5670944" cy="315468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788920"/>
          </a:xfrm>
          <a:prstGeom prst="rect">
            <a:avLst/>
          </a:prstGeom>
          <a:noFill/>
        </p:spPr>
        <p:txBody>
          <a:bodyPr wrap="none" lIns="0" rIns="0" tIns="0" bIns="0" anchor="t">
            <a:spAutoFit/>
          </a:bodyPr>
          <a:lstStyle/>
          <a:p>
            <a:pPr>
              <a:spcAft>
                <a:spcPts val="0"/>
              </a:spcAft>
            </a:pPr>
            <a:r>
              <a:rPr sz="1200">
                <a:solidFill>
                  <a:srgbClr val="E6E6EF"/>
                </a:solidFill>
                <a:latin typeface="Consolas"/>
              </a:rPr>
              <a:t>struct Node {</a:t>
            </a:r>
          </a:p>
          <a:p>
            <a:pPr>
              <a:spcAft>
                <a:spcPts val="0"/>
              </a:spcAft>
            </a:pPr>
            <a:r>
              <a:rPr sz="1200">
                <a:solidFill>
                  <a:srgbClr val="E6E6EF"/>
                </a:solidFill>
                <a:latin typeface="Consolas"/>
              </a:rPr>
              <a:t>    int item;</a:t>
            </a:r>
          </a:p>
          <a:p>
            <a:pPr>
              <a:spcAft>
                <a:spcPts val="0"/>
              </a:spcAft>
            </a:pPr>
            <a:r>
              <a:rPr sz="1200">
                <a:solidFill>
                  <a:srgbClr val="E6E6EF"/>
                </a:solidFill>
                <a:latin typeface="Consolas"/>
              </a:rPr>
              <a:t>    Node *next;</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Node *n30 = new Node{30, nullptr};</a:t>
            </a:r>
          </a:p>
          <a:p>
            <a:pPr>
              <a:spcAft>
                <a:spcPts val="0"/>
              </a:spcAft>
            </a:pPr>
            <a:r>
              <a:rPr sz="1200">
                <a:solidFill>
                  <a:srgbClr val="E6E6EF"/>
                </a:solidFill>
                <a:latin typeface="Consolas"/>
              </a:rPr>
              <a:t>Node *n20 = new Node{20, n30};</a:t>
            </a:r>
          </a:p>
          <a:p>
            <a:pPr>
              <a:spcAft>
                <a:spcPts val="0"/>
              </a:spcAft>
            </a:pPr>
            <a:r>
              <a:rPr sz="1200">
                <a:solidFill>
                  <a:srgbClr val="E6E6EF"/>
                </a:solidFill>
                <a:latin typeface="Consolas"/>
              </a:rPr>
              <a:t>Node *head = new Node{10, n20};</a:t>
            </a:r>
          </a:p>
          <a:p>
            <a:pPr>
              <a:spcAft>
                <a:spcPts val="0"/>
              </a:spcAft>
            </a:pPr>
            <a:r>
              <a:rPr sz="1200">
                <a:solidFill>
                  <a:srgbClr val="9AA4B5"/>
                </a:solidFill>
                <a:latin typeface="Consolas"/>
              </a:rPr>
              <a:t>// head -&gt; 10 -&gt; 20 -&gt; 30 -&gt; nullptr</a:t>
            </a:r>
          </a:p>
          <a:p>
            <a:pPr>
              <a:spcAft>
                <a:spcPts val="0"/>
              </a:spcAft>
            </a:pPr>
            <a:r>
              <a:rPr sz="1200">
                <a:latin typeface="Consolas"/>
              </a:rPr>
              <a:t> </a:t>
            </a:r>
          </a:p>
          <a:p>
            <a:pPr>
              <a:spcAft>
                <a:spcPts val="0"/>
              </a:spcAft>
            </a:pPr>
            <a:r>
              <a:rPr sz="1200">
                <a:solidFill>
                  <a:srgbClr val="E6E6EF"/>
                </a:solidFill>
                <a:latin typeface="Consolas"/>
              </a:rPr>
              <a:t>Node *cur = head;</a:t>
            </a:r>
          </a:p>
          <a:p>
            <a:pPr>
              <a:spcAft>
                <a:spcPts val="0"/>
              </a:spcAft>
            </a:pPr>
            <a:r>
              <a:rPr sz="1200">
                <a:solidFill>
                  <a:srgbClr val="E6E6EF"/>
                </a:solidFill>
                <a:latin typeface="Consolas"/>
              </a:rPr>
              <a:t>while (cur != nullptr) {</a:t>
            </a:r>
          </a:p>
          <a:p>
            <a:pPr>
              <a:spcAft>
                <a:spcPts val="0"/>
              </a:spcAft>
            </a:pPr>
            <a:r>
              <a:rPr sz="1200">
                <a:solidFill>
                  <a:srgbClr val="E6E6EF"/>
                </a:solidFill>
                <a:latin typeface="Consolas"/>
              </a:rPr>
              <a:t>    cout &lt;&lt; cur-&gt;item &lt;&lt; " ";</a:t>
            </a:r>
          </a:p>
          <a:p>
            <a:pPr>
              <a:spcAft>
                <a:spcPts val="0"/>
              </a:spcAft>
            </a:pPr>
            <a:r>
              <a:rPr sz="1200">
                <a:solidFill>
                  <a:srgbClr val="E6E6EF"/>
                </a:solidFill>
                <a:latin typeface="Consolas"/>
              </a:rPr>
              <a:t>    cur = cur-&gt;next;</a:t>
            </a:r>
          </a:p>
          <a:p>
            <a:pPr>
              <a:spcAft>
                <a:spcPts val="0"/>
              </a:spcAft>
            </a:pPr>
            <a:r>
              <a:rPr sz="1200">
                <a:solidFill>
                  <a:srgbClr val="E6E6EF"/>
                </a:solidFill>
                <a:latin typeface="Consolas"/>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32</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Changing a chain means changing pointers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Remove a node: link the node BEFORE it around it, then </a:t>
            </a:r>
            <a:r>
              <a:rPr sz="1800" b="0">
                <a:solidFill>
                  <a:srgbClr val="4B2E83"/>
                </a:solidFill>
                <a:latin typeface="Consolas"/>
              </a:rPr>
              <a:t>delete</a:t>
            </a:r>
            <a:r>
              <a:rPr sz="1800" b="0">
                <a:solidFill>
                  <a:srgbClr val="1D2330"/>
                </a:solidFill>
                <a:latin typeface="Calibri"/>
              </a:rPr>
              <a:t> it</a:t>
            </a:r>
          </a:p>
          <a:p>
            <a:pPr marL="256032" indent="-228600">
              <a:spcAft>
                <a:spcPts val="800"/>
              </a:spcAft>
              <a:buClr>
                <a:srgbClr val="5B6475"/>
              </a:buClr>
              <a:buChar char="•"/>
            </a:pPr>
            <a:r>
              <a:rPr sz="1800" b="0">
                <a:solidFill>
                  <a:srgbClr val="1D2330"/>
                </a:solidFill>
                <a:latin typeface="Calibri"/>
              </a:rPr>
              <a:t>Removing the first node is a special case: </a:t>
            </a:r>
            <a:r>
              <a:rPr sz="1800" b="0">
                <a:solidFill>
                  <a:srgbClr val="4B2E83"/>
                </a:solidFill>
                <a:latin typeface="Consolas"/>
              </a:rPr>
              <a:t>head</a:t>
            </a:r>
            <a:r>
              <a:rPr sz="1800" b="0">
                <a:solidFill>
                  <a:srgbClr val="1D2330"/>
                </a:solidFill>
                <a:latin typeface="Calibri"/>
              </a:rPr>
              <a:t> itself moves</a:t>
            </a:r>
          </a:p>
          <a:p>
            <a:pPr marL="256032" indent="-228600">
              <a:spcAft>
                <a:spcPts val="800"/>
              </a:spcAft>
              <a:buClr>
                <a:srgbClr val="5B6475"/>
              </a:buClr>
              <a:buChar char="•"/>
            </a:pPr>
            <a:r>
              <a:rPr sz="1800" b="0">
                <a:solidFill>
                  <a:srgbClr val="1D2330"/>
                </a:solidFill>
                <a:latin typeface="Calibri"/>
              </a:rPr>
              <a:t>Add at the front: the new node points at the old first node</a:t>
            </a:r>
          </a:p>
          <a:p>
            <a:pPr marL="256032" indent="-228600">
              <a:spcAft>
                <a:spcPts val="800"/>
              </a:spcAft>
              <a:buClr>
                <a:srgbClr val="5B6475"/>
              </a:buClr>
              <a:buChar char="•"/>
            </a:pPr>
            <a:r>
              <a:rPr sz="1800" b="0">
                <a:solidFill>
                  <a:srgbClr val="1D2330"/>
                </a:solidFill>
                <a:latin typeface="Calibri"/>
              </a:rPr>
              <a:t>A function that can change the first node takes </a:t>
            </a:r>
            <a:r>
              <a:rPr sz="1800" b="0">
                <a:solidFill>
                  <a:srgbClr val="4B2E83"/>
                </a:solidFill>
                <a:latin typeface="Consolas"/>
              </a:rPr>
              <a:t>Node *&amp;head</a:t>
            </a:r>
          </a:p>
          <a:p>
            <a:pPr marL="256032" indent="-228600">
              <a:spcAft>
                <a:spcPts val="800"/>
              </a:spcAft>
              <a:buClr>
                <a:srgbClr val="5B6475"/>
              </a:buClr>
              <a:buChar char="•"/>
            </a:pPr>
            <a:r>
              <a:rPr sz="1800" b="0">
                <a:solidFill>
                  <a:srgbClr val="1D2330"/>
                </a:solidFill>
                <a:latin typeface="Calibri"/>
              </a:rPr>
              <a:t>Check three cases every time: empty, one node, many nodes</a:t>
            </a:r>
          </a:p>
        </p:txBody>
      </p:sp>
      <p:sp>
        <p:nvSpPr>
          <p:cNvPr id="7" name="Rounded Rectangle 6"/>
          <p:cNvSpPr/>
          <p:nvPr/>
        </p:nvSpPr>
        <p:spPr>
          <a:xfrm>
            <a:off x="5972110" y="1325880"/>
            <a:ext cx="5670944" cy="254508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179320"/>
          </a:xfrm>
          <a:prstGeom prst="rect">
            <a:avLst/>
          </a:prstGeom>
          <a:noFill/>
        </p:spPr>
        <p:txBody>
          <a:bodyPr wrap="none" lIns="0" rIns="0" tIns="0" bIns="0" anchor="t">
            <a:spAutoFit/>
          </a:bodyPr>
          <a:lstStyle/>
          <a:p>
            <a:pPr>
              <a:spcAft>
                <a:spcPts val="0"/>
              </a:spcAft>
            </a:pPr>
            <a:r>
              <a:rPr sz="1400">
                <a:solidFill>
                  <a:srgbClr val="9AA4B5"/>
                </a:solidFill>
                <a:latin typeface="Consolas"/>
              </a:rPr>
              <a:t>// head -&gt; 10 -&gt; 20 -&gt; 30</a:t>
            </a:r>
          </a:p>
          <a:p>
            <a:pPr>
              <a:spcAft>
                <a:spcPts val="0"/>
              </a:spcAft>
            </a:pPr>
            <a:r>
              <a:rPr sz="1400">
                <a:solidFill>
                  <a:srgbClr val="E6E6EF"/>
                </a:solidFill>
                <a:latin typeface="Consolas"/>
              </a:rPr>
              <a:t>Node *doomed = head-&gt;next;      </a:t>
            </a:r>
            <a:r>
              <a:rPr sz="1400">
                <a:solidFill>
                  <a:srgbClr val="9AA4B5"/>
                </a:solidFill>
                <a:latin typeface="Consolas"/>
              </a:rPr>
              <a:t>// remove 20</a:t>
            </a:r>
          </a:p>
          <a:p>
            <a:pPr>
              <a:spcAft>
                <a:spcPts val="0"/>
              </a:spcAft>
            </a:pPr>
            <a:r>
              <a:rPr sz="1400">
                <a:solidFill>
                  <a:srgbClr val="E6E6EF"/>
                </a:solidFill>
                <a:latin typeface="Consolas"/>
              </a:rPr>
              <a:t>head-&gt;next = doomed-&gt;next;</a:t>
            </a:r>
          </a:p>
          <a:p>
            <a:pPr>
              <a:spcAft>
                <a:spcPts val="0"/>
              </a:spcAft>
            </a:pPr>
            <a:r>
              <a:rPr sz="1400">
                <a:solidFill>
                  <a:srgbClr val="E6E6EF"/>
                </a:solidFill>
                <a:latin typeface="Consolas"/>
              </a:rPr>
              <a:t>delete doomed;                  </a:t>
            </a:r>
            <a:r>
              <a:rPr sz="1400">
                <a:solidFill>
                  <a:srgbClr val="9AA4B5"/>
                </a:solidFill>
                <a:latin typeface="Consolas"/>
              </a:rPr>
              <a:t>// head -&gt; 10 -&gt; 30</a:t>
            </a:r>
          </a:p>
          <a:p>
            <a:pPr>
              <a:spcAft>
                <a:spcPts val="0"/>
              </a:spcAft>
            </a:pPr>
            <a:r>
              <a:rPr sz="1400">
                <a:latin typeface="Consolas"/>
              </a:rPr>
              <a:t> </a:t>
            </a:r>
          </a:p>
          <a:p>
            <a:pPr>
              <a:spcAft>
                <a:spcPts val="0"/>
              </a:spcAft>
            </a:pPr>
            <a:r>
              <a:rPr sz="1400">
                <a:solidFill>
                  <a:srgbClr val="E6E6EF"/>
                </a:solidFill>
                <a:latin typeface="Consolas"/>
              </a:rPr>
              <a:t>Node *old = head;               </a:t>
            </a:r>
            <a:r>
              <a:rPr sz="1400">
                <a:solidFill>
                  <a:srgbClr val="9AA4B5"/>
                </a:solidFill>
                <a:latin typeface="Consolas"/>
              </a:rPr>
              <a:t>// remove 10</a:t>
            </a:r>
          </a:p>
          <a:p>
            <a:pPr>
              <a:spcAft>
                <a:spcPts val="0"/>
              </a:spcAft>
            </a:pPr>
            <a:r>
              <a:rPr sz="1400">
                <a:solidFill>
                  <a:srgbClr val="E6E6EF"/>
                </a:solidFill>
                <a:latin typeface="Consolas"/>
              </a:rPr>
              <a:t>head = head-&gt;next;              </a:t>
            </a:r>
            <a:r>
              <a:rPr sz="1400">
                <a:solidFill>
                  <a:srgbClr val="9AA4B5"/>
                </a:solidFill>
                <a:latin typeface="Consolas"/>
              </a:rPr>
              <a:t>// move head FIRST</a:t>
            </a:r>
          </a:p>
          <a:p>
            <a:pPr>
              <a:spcAft>
                <a:spcPts val="0"/>
              </a:spcAft>
            </a:pPr>
            <a:r>
              <a:rPr sz="1400">
                <a:solidFill>
                  <a:srgbClr val="E6E6EF"/>
                </a:solidFill>
                <a:latin typeface="Consolas"/>
              </a:rPr>
              <a:t>delete old;                     </a:t>
            </a:r>
            <a:r>
              <a:rPr sz="1400">
                <a:solidFill>
                  <a:srgbClr val="9AA4B5"/>
                </a:solidFill>
                <a:latin typeface="Consolas"/>
              </a:rPr>
              <a:t>// head -&gt; 30</a:t>
            </a:r>
          </a:p>
          <a:p>
            <a:pPr>
              <a:spcAft>
                <a:spcPts val="0"/>
              </a:spcAft>
            </a:pPr>
            <a:r>
              <a:rPr sz="1400">
                <a:latin typeface="Consolas"/>
              </a:rPr>
              <a:t> </a:t>
            </a:r>
          </a:p>
          <a:p>
            <a:pPr>
              <a:spcAft>
                <a:spcPts val="0"/>
              </a:spcAft>
            </a:pPr>
            <a:r>
              <a:rPr sz="1400">
                <a:solidFill>
                  <a:srgbClr val="E6E6EF"/>
                </a:solidFill>
                <a:latin typeface="Consolas"/>
              </a:rPr>
              <a:t>head = new Node{5, head};       </a:t>
            </a:r>
            <a:r>
              <a:rPr sz="1400">
                <a:solidFill>
                  <a:srgbClr val="9AA4B5"/>
                </a:solidFill>
                <a:latin typeface="Consolas"/>
              </a:rPr>
              <a:t>// head -&gt; 5 -&gt; 30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33</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4: Node functions</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35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Lab3/exercises/ex4-nodes/</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a:t>
            </a:r>
            <a:r>
              <a:rPr sz="1500" b="0">
                <a:solidFill>
                  <a:srgbClr val="4B2E83"/>
                </a:solidFill>
                <a:latin typeface="Consolas"/>
              </a:rPr>
              <a:t>./chain_test</a:t>
            </a:r>
            <a:r>
              <a:rPr sz="1500" b="0">
                <a:solidFill>
                  <a:srgbClr val="1D2330"/>
                </a:solidFill>
                <a:latin typeface="Calibri"/>
              </a:rPr>
              <a:t>'s output matches the comments, and that </a:t>
            </a:r>
            <a:r>
              <a:rPr sz="1500" b="0">
                <a:solidFill>
                  <a:srgbClr val="4B2E83"/>
                </a:solidFill>
                <a:latin typeface="Consolas"/>
              </a:rPr>
              <a:t>make check</a:t>
            </a:r>
            <a:r>
              <a:rPr sz="1500" b="0">
                <a:solidFill>
                  <a:srgbClr val="1D2330"/>
                </a:solidFill>
                <a:latin typeface="Calibri"/>
              </a:rPr>
              <a:t> is clean.</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1D2330"/>
                </a:solidFill>
                <a:latin typeface="Calibri"/>
              </a:rPr>
              <a:t>Draw each function first, with boxes and arrows</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1D2330"/>
                </a:solidFill>
                <a:latin typeface="Calibri"/>
              </a:rPr>
              <a:t>Write </a:t>
            </a:r>
            <a:r>
              <a:rPr sz="1700" b="0">
                <a:solidFill>
                  <a:srgbClr val="4B2E83"/>
                </a:solidFill>
                <a:latin typeface="Consolas"/>
              </a:rPr>
              <a:t>length</a:t>
            </a:r>
            <a:r>
              <a:rPr sz="1700" b="0">
                <a:solidFill>
                  <a:srgbClr val="1D2330"/>
                </a:solidFill>
                <a:latin typeface="Calibri"/>
              </a:rPr>
              <a:t>, </a:t>
            </a:r>
            <a:r>
              <a:rPr sz="1700" b="0">
                <a:solidFill>
                  <a:srgbClr val="4B2E83"/>
                </a:solidFill>
                <a:latin typeface="Consolas"/>
              </a:rPr>
              <a:t>contains</a:t>
            </a:r>
            <a:r>
              <a:rPr sz="1700" b="0">
                <a:solidFill>
                  <a:srgbClr val="1D2330"/>
                </a:solidFill>
                <a:latin typeface="Calibri"/>
              </a:rPr>
              <a:t>, </a:t>
            </a:r>
            <a:r>
              <a:rPr sz="1700" b="0">
                <a:solidFill>
                  <a:srgbClr val="4B2E83"/>
                </a:solidFill>
                <a:latin typeface="Consolas"/>
              </a:rPr>
              <a:t>pushBack</a:t>
            </a:r>
            <a:r>
              <a:rPr sz="1700" b="0">
                <a:solidFill>
                  <a:srgbClr val="1D2330"/>
                </a:solidFill>
                <a:latin typeface="Calibri"/>
              </a:rPr>
              <a:t>, </a:t>
            </a:r>
            <a:r>
              <a:rPr sz="1700" b="0">
                <a:solidFill>
                  <a:srgbClr val="4B2E83"/>
                </a:solidFill>
                <a:latin typeface="Consolas"/>
              </a:rPr>
              <a:t>removeFirst</a:t>
            </a:r>
            <a:r>
              <a:rPr sz="1700" b="0">
                <a:solidFill>
                  <a:srgbClr val="1D2330"/>
                </a:solidFill>
                <a:latin typeface="Calibri"/>
              </a:rPr>
              <a:t>, </a:t>
            </a:r>
            <a:r>
              <a:rPr sz="1700" b="0">
                <a:solidFill>
                  <a:srgbClr val="4B2E83"/>
                </a:solidFill>
                <a:latin typeface="Consolas"/>
              </a:rPr>
              <a:t>deleteChain</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4B2E83"/>
                </a:solidFill>
                <a:latin typeface="Consolas"/>
              </a:rPr>
              <a:t>make</a:t>
            </a:r>
            <a:r>
              <a:rPr sz="1700" b="0">
                <a:solidFill>
                  <a:srgbClr val="1D2330"/>
                </a:solidFill>
                <a:latin typeface="Calibri"/>
              </a:rPr>
              <a:t> and </a:t>
            </a:r>
            <a:r>
              <a:rPr sz="1700" b="0">
                <a:solidFill>
                  <a:srgbClr val="4B2E83"/>
                </a:solidFill>
                <a:latin typeface="Consolas"/>
              </a:rPr>
              <a:t>./chain_test</a:t>
            </a:r>
            <a:r>
              <a:rPr sz="1700" b="0">
                <a:solidFill>
                  <a:srgbClr val="1D2330"/>
                </a:solidFill>
                <a:latin typeface="Calibri"/>
              </a:rPr>
              <a:t>; compare with the comments</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4B2E83"/>
                </a:solidFill>
                <a:latin typeface="Consolas"/>
              </a:rPr>
              <a:t>make check</a:t>
            </a:r>
            <a:r>
              <a:rPr sz="1700" b="0">
                <a:solidFill>
                  <a:srgbClr val="1D2330"/>
                </a:solidFill>
                <a:latin typeface="Calibri"/>
              </a:rPr>
              <a:t>: valgrind must show no errors and no leaks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34</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4</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pushBack</a:t>
            </a:r>
            <a:r>
              <a:rPr sz="1800" b="0">
                <a:solidFill>
                  <a:srgbClr val="1D2330"/>
                </a:solidFill>
                <a:latin typeface="Calibri"/>
              </a:rPr>
              <a:t> on an empty chain is a special case; otherwise walk to the last node</a:t>
            </a:r>
          </a:p>
          <a:p>
            <a:pPr marL="256032" indent="-228600">
              <a:spcAft>
                <a:spcPts val="800"/>
              </a:spcAft>
              <a:buClr>
                <a:srgbClr val="5B6475"/>
              </a:buClr>
              <a:buChar char="•"/>
            </a:pPr>
            <a:r>
              <a:rPr sz="1800" b="0">
                <a:solidFill>
                  <a:srgbClr val="1D2330"/>
                </a:solidFill>
                <a:latin typeface="Calibri"/>
              </a:rPr>
              <a:t>Removing the head changes </a:t>
            </a:r>
            <a:r>
              <a:rPr sz="1800" b="0">
                <a:solidFill>
                  <a:srgbClr val="4B2E83"/>
                </a:solidFill>
                <a:latin typeface="Consolas"/>
              </a:rPr>
              <a:t>head</a:t>
            </a:r>
            <a:r>
              <a:rPr sz="1800" b="0">
                <a:solidFill>
                  <a:srgbClr val="1D2330"/>
                </a:solidFill>
                <a:latin typeface="Calibri"/>
              </a:rPr>
              <a:t>; any other node changes </a:t>
            </a:r>
            <a:r>
              <a:rPr sz="1800" b="0">
                <a:solidFill>
                  <a:srgbClr val="4B2E83"/>
                </a:solidFill>
                <a:latin typeface="Consolas"/>
              </a:rPr>
              <a:t>prev-&gt;next</a:t>
            </a:r>
          </a:p>
          <a:p>
            <a:pPr marL="256032" indent="-228600">
              <a:spcAft>
                <a:spcPts val="800"/>
              </a:spcAft>
              <a:buClr>
                <a:srgbClr val="5B6475"/>
              </a:buClr>
              <a:buChar char="•"/>
            </a:pPr>
            <a:r>
              <a:rPr sz="1800" b="0">
                <a:solidFill>
                  <a:srgbClr val="4B2E83"/>
                </a:solidFill>
                <a:latin typeface="Consolas"/>
              </a:rPr>
              <a:t>delete cur; cur = cur-&gt;next;</a:t>
            </a:r>
            <a:r>
              <a:rPr sz="1800" b="0">
                <a:solidFill>
                  <a:srgbClr val="1D2330"/>
                </a:solidFill>
                <a:latin typeface="Calibri"/>
              </a:rPr>
              <a:t> reads freed memory: valgrind says </a:t>
            </a:r>
            <a:r>
              <a:rPr sz="1800" b="0">
                <a:solidFill>
                  <a:srgbClr val="4B2E83"/>
                </a:solidFill>
                <a:latin typeface="Consolas"/>
              </a:rPr>
              <a:t>Invalid read of size 8</a:t>
            </a:r>
          </a:p>
          <a:p>
            <a:pPr marL="256032" indent="-228600">
              <a:spcAft>
                <a:spcPts val="800"/>
              </a:spcAft>
              <a:buClr>
                <a:srgbClr val="5B6475"/>
              </a:buClr>
              <a:buChar char="•"/>
            </a:pPr>
            <a:r>
              <a:rPr sz="1800" b="0">
                <a:solidFill>
                  <a:srgbClr val="1D2330"/>
                </a:solidFill>
                <a:latin typeface="Calibri"/>
              </a:rPr>
              <a:t>Before </a:t>
            </a:r>
            <a:r>
              <a:rPr sz="1800" b="0">
                <a:solidFill>
                  <a:srgbClr val="4B2E83"/>
                </a:solidFill>
                <a:latin typeface="Consolas"/>
              </a:rPr>
              <a:t>deleteChain</a:t>
            </a:r>
            <a:r>
              <a:rPr sz="1800" b="0">
                <a:solidFill>
                  <a:srgbClr val="1D2330"/>
                </a:solidFill>
                <a:latin typeface="Calibri"/>
              </a:rPr>
              <a:t> worked: </a:t>
            </a:r>
            <a:r>
              <a:rPr sz="1800" b="0">
                <a:solidFill>
                  <a:srgbClr val="4B2E83"/>
                </a:solidFill>
                <a:latin typeface="Consolas"/>
              </a:rPr>
              <a:t>definitely lost</a:t>
            </a:r>
            <a:r>
              <a:rPr sz="1800" b="0">
                <a:solidFill>
                  <a:srgbClr val="1D2330"/>
                </a:solidFill>
                <a:latin typeface="Calibri"/>
              </a:rPr>
              <a:t> and </a:t>
            </a:r>
            <a:r>
              <a:rPr sz="1800" b="0">
                <a:solidFill>
                  <a:srgbClr val="4B2E83"/>
                </a:solidFill>
                <a:latin typeface="Consolas"/>
              </a:rPr>
              <a:t>indirectly lost</a:t>
            </a:r>
          </a:p>
        </p:txBody>
      </p:sp>
      <p:sp>
        <p:nvSpPr>
          <p:cNvPr id="7" name="Rounded Rectangle 6"/>
          <p:cNvSpPr/>
          <p:nvPr/>
        </p:nvSpPr>
        <p:spPr>
          <a:xfrm>
            <a:off x="5972110" y="1325880"/>
            <a:ext cx="5670944" cy="3886199"/>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3520439"/>
          </a:xfrm>
          <a:prstGeom prst="rect">
            <a:avLst/>
          </a:prstGeom>
          <a:noFill/>
        </p:spPr>
        <p:txBody>
          <a:bodyPr wrap="none" lIns="0" rIns="0" tIns="0" bIns="0" anchor="t">
            <a:spAutoFit/>
          </a:bodyPr>
          <a:lstStyle/>
          <a:p>
            <a:pPr>
              <a:spcAft>
                <a:spcPts val="0"/>
              </a:spcAft>
            </a:pPr>
            <a:r>
              <a:rPr sz="1200">
                <a:solidFill>
                  <a:srgbClr val="E6E6EF"/>
                </a:solidFill>
                <a:latin typeface="Consolas"/>
              </a:rPr>
              <a:t>bool removeFirst(Node *&amp;head, int value) {</a:t>
            </a:r>
          </a:p>
          <a:p>
            <a:pPr>
              <a:spcAft>
                <a:spcPts val="0"/>
              </a:spcAft>
            </a:pPr>
            <a:r>
              <a:rPr sz="1200">
                <a:solidFill>
                  <a:srgbClr val="E6E6EF"/>
                </a:solidFill>
                <a:latin typeface="Consolas"/>
              </a:rPr>
              <a:t>    if (head == nullptr) return false;</a:t>
            </a:r>
          </a:p>
          <a:p>
            <a:pPr>
              <a:spcAft>
                <a:spcPts val="0"/>
              </a:spcAft>
            </a:pPr>
            <a:r>
              <a:rPr sz="1200">
                <a:solidFill>
                  <a:srgbClr val="E6E6EF"/>
                </a:solidFill>
                <a:latin typeface="Consolas"/>
              </a:rPr>
              <a:t>    if (head-&gt;item == value) {</a:t>
            </a:r>
          </a:p>
          <a:p>
            <a:pPr>
              <a:spcAft>
                <a:spcPts val="0"/>
              </a:spcAft>
            </a:pPr>
            <a:r>
              <a:rPr sz="1200">
                <a:solidFill>
                  <a:srgbClr val="E6E6EF"/>
                </a:solidFill>
                <a:latin typeface="Consolas"/>
              </a:rPr>
              <a:t>        Node *doomed = head;</a:t>
            </a:r>
          </a:p>
          <a:p>
            <a:pPr>
              <a:spcAft>
                <a:spcPts val="0"/>
              </a:spcAft>
            </a:pPr>
            <a:r>
              <a:rPr sz="1200">
                <a:solidFill>
                  <a:srgbClr val="E6E6EF"/>
                </a:solidFill>
                <a:latin typeface="Consolas"/>
              </a:rPr>
              <a:t>        head = head-&gt;next;</a:t>
            </a:r>
          </a:p>
          <a:p>
            <a:pPr>
              <a:spcAft>
                <a:spcPts val="0"/>
              </a:spcAft>
            </a:pPr>
            <a:r>
              <a:rPr sz="1200">
                <a:solidFill>
                  <a:srgbClr val="E6E6EF"/>
                </a:solidFill>
                <a:latin typeface="Consolas"/>
              </a:rPr>
              <a:t>        delete doomed;</a:t>
            </a:r>
          </a:p>
          <a:p>
            <a:pPr>
              <a:spcAft>
                <a:spcPts val="0"/>
              </a:spcAft>
            </a:pPr>
            <a:r>
              <a:rPr sz="1200">
                <a:solidFill>
                  <a:srgbClr val="E6E6EF"/>
                </a:solidFill>
                <a:latin typeface="Consolas"/>
              </a:rPr>
              <a:t>        return true;</a:t>
            </a:r>
          </a:p>
          <a:p>
            <a:pPr>
              <a:spcAft>
                <a:spcPts val="0"/>
              </a:spcAft>
            </a:pPr>
            <a:r>
              <a:rPr sz="1200">
                <a:solidFill>
                  <a:srgbClr val="E6E6EF"/>
                </a:solidFill>
                <a:latin typeface="Consolas"/>
              </a:rPr>
              <a:t>    }</a:t>
            </a:r>
          </a:p>
          <a:p>
            <a:pPr>
              <a:spcAft>
                <a:spcPts val="0"/>
              </a:spcAft>
            </a:pPr>
            <a:r>
              <a:rPr sz="1200">
                <a:solidFill>
                  <a:srgbClr val="E6E6EF"/>
                </a:solidFill>
                <a:latin typeface="Consolas"/>
              </a:rPr>
              <a:t>    Node *prev = head;</a:t>
            </a:r>
          </a:p>
          <a:p>
            <a:pPr>
              <a:spcAft>
                <a:spcPts val="0"/>
              </a:spcAft>
            </a:pPr>
            <a:r>
              <a:rPr sz="1200">
                <a:solidFill>
                  <a:srgbClr val="E6E6EF"/>
                </a:solidFill>
                <a:latin typeface="Consolas"/>
              </a:rPr>
              <a:t>    while (prev-&gt;next != nullptr &amp;&amp;</a:t>
            </a:r>
          </a:p>
          <a:p>
            <a:pPr>
              <a:spcAft>
                <a:spcPts val="0"/>
              </a:spcAft>
            </a:pPr>
            <a:r>
              <a:rPr sz="1200">
                <a:solidFill>
                  <a:srgbClr val="E6E6EF"/>
                </a:solidFill>
                <a:latin typeface="Consolas"/>
              </a:rPr>
              <a:t>           prev-&gt;next-&gt;item != value) {</a:t>
            </a:r>
          </a:p>
          <a:p>
            <a:pPr>
              <a:spcAft>
                <a:spcPts val="0"/>
              </a:spcAft>
            </a:pPr>
            <a:r>
              <a:rPr sz="1200">
                <a:solidFill>
                  <a:srgbClr val="E6E6EF"/>
                </a:solidFill>
                <a:latin typeface="Consolas"/>
              </a:rPr>
              <a:t>        prev = prev-&gt;next;</a:t>
            </a:r>
          </a:p>
          <a:p>
            <a:pPr>
              <a:spcAft>
                <a:spcPts val="0"/>
              </a:spcAft>
            </a:pPr>
            <a:r>
              <a:rPr sz="1200">
                <a:solidFill>
                  <a:srgbClr val="E6E6EF"/>
                </a:solidFill>
                <a:latin typeface="Consolas"/>
              </a:rPr>
              <a:t>    }</a:t>
            </a:r>
          </a:p>
          <a:p>
            <a:pPr>
              <a:spcAft>
                <a:spcPts val="0"/>
              </a:spcAft>
            </a:pPr>
            <a:r>
              <a:rPr sz="1200">
                <a:solidFill>
                  <a:srgbClr val="E6E6EF"/>
                </a:solidFill>
                <a:latin typeface="Consolas"/>
              </a:rPr>
              <a:t>    if (prev-&gt;next == nullptr) return false;</a:t>
            </a:r>
          </a:p>
          <a:p>
            <a:pPr>
              <a:spcAft>
                <a:spcPts val="0"/>
              </a:spcAft>
            </a:pPr>
            <a:r>
              <a:rPr sz="1200">
                <a:solidFill>
                  <a:srgbClr val="E6E6EF"/>
                </a:solidFill>
                <a:latin typeface="Consolas"/>
              </a:rPr>
              <a:t>    Node *doomed = prev-&gt;next;</a:t>
            </a:r>
          </a:p>
          <a:p>
            <a:pPr>
              <a:spcAft>
                <a:spcPts val="0"/>
              </a:spcAft>
            </a:pPr>
            <a:r>
              <a:rPr sz="1200">
                <a:solidFill>
                  <a:srgbClr val="E6E6EF"/>
                </a:solidFill>
                <a:latin typeface="Consolas"/>
              </a:rPr>
              <a:t>    prev-&gt;next = doomed-&gt;next;</a:t>
            </a:r>
          </a:p>
          <a:p>
            <a:pPr>
              <a:spcAft>
                <a:spcPts val="0"/>
              </a:spcAft>
            </a:pPr>
            <a:r>
              <a:rPr sz="1200">
                <a:solidFill>
                  <a:srgbClr val="E6E6EF"/>
                </a:solidFill>
                <a:latin typeface="Consolas"/>
              </a:rPr>
              <a:t>    delete doomed;</a:t>
            </a:r>
          </a:p>
          <a:p>
            <a:pPr>
              <a:spcAft>
                <a:spcPts val="0"/>
              </a:spcAft>
            </a:pPr>
            <a:r>
              <a:rPr sz="1200">
                <a:solidFill>
                  <a:srgbClr val="E6E6EF"/>
                </a:solidFill>
                <a:latin typeface="Consolas"/>
              </a:rPr>
              <a:t>    return true;</a:t>
            </a:r>
          </a:p>
          <a:p>
            <a:pPr>
              <a:spcAft>
                <a:spcPts val="0"/>
              </a:spcAft>
            </a:pPr>
            <a:r>
              <a:rPr sz="1200">
                <a:solidFill>
                  <a:srgbClr val="E6E6EF"/>
                </a:solidFill>
                <a:latin typeface="Consolas"/>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35</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4</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1D2330"/>
                </a:solidFill>
                <a:latin typeface="Calibri"/>
              </a:rPr>
              <a:t>From empty: </a:t>
            </a:r>
            <a:r>
              <a:rPr sz="1800" b="0">
                <a:solidFill>
                  <a:srgbClr val="4B2E83"/>
                </a:solidFill>
                <a:latin typeface="Consolas"/>
              </a:rPr>
              <a:t>pushFront(h, 1); pushFront(h, 2); pushBack(h, 3);</a:t>
            </a:r>
            <a:r>
              <a:rPr sz="1800" b="0">
                <a:solidFill>
                  <a:srgbClr val="1D2330"/>
                </a:solidFill>
                <a:latin typeface="Calibri"/>
              </a:rPr>
              <a:t>. What is the chain?</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4B2E83"/>
                </a:solidFill>
                <a:latin typeface="Consolas"/>
              </a:rPr>
              <a:t>void pushFront(Node *head, int value)</a:t>
            </a:r>
            <a:r>
              <a:rPr sz="1800" b="0">
                <a:solidFill>
                  <a:srgbClr val="1D2330"/>
                </a:solidFill>
                <a:latin typeface="Calibri"/>
              </a:rPr>
              <a:t> sets </a:t>
            </a:r>
            <a:r>
              <a:rPr sz="1800" b="0">
                <a:solidFill>
                  <a:srgbClr val="4B2E83"/>
                </a:solidFill>
                <a:latin typeface="Consolas"/>
              </a:rPr>
              <a:t>head = n;</a:t>
            </a:r>
            <a:r>
              <a:rPr sz="1800" b="0">
                <a:solidFill>
                  <a:srgbClr val="1D2330"/>
                </a:solidFill>
                <a:latin typeface="Calibri"/>
              </a:rPr>
              <a:t>. What goes wrong?</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4B2E83"/>
                </a:solidFill>
                <a:latin typeface="Consolas"/>
              </a:rPr>
              <a:t>pushBack</a:t>
            </a:r>
            <a:r>
              <a:rPr sz="1800" b="0">
                <a:solidFill>
                  <a:srgbClr val="1D2330"/>
                </a:solidFill>
                <a:latin typeface="Calibri"/>
              </a:rPr>
              <a:t> starts with </a:t>
            </a:r>
            <a:r>
              <a:rPr sz="1800" b="0">
                <a:solidFill>
                  <a:srgbClr val="4B2E83"/>
                </a:solidFill>
                <a:latin typeface="Consolas"/>
              </a:rPr>
              <a:t>while (last-&gt;next != nullptr)</a:t>
            </a:r>
            <a:r>
              <a:rPr sz="1800" b="0">
                <a:solidFill>
                  <a:srgbClr val="1D2330"/>
                </a:solidFill>
                <a:latin typeface="Calibri"/>
              </a:rPr>
              <a:t> on an empty chain. What happens?</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1D2330"/>
                </a:solidFill>
                <a:latin typeface="Calibri"/>
              </a:rPr>
              <a:t>How many </a:t>
            </a:r>
            <a:r>
              <a:rPr sz="1800" b="0">
                <a:solidFill>
                  <a:srgbClr val="4B2E83"/>
                </a:solidFill>
                <a:latin typeface="Consolas"/>
              </a:rPr>
              <a:t>new</a:t>
            </a:r>
            <a:r>
              <a:rPr sz="1800" b="0">
                <a:solidFill>
                  <a:srgbClr val="1D2330"/>
                </a:solidFill>
                <a:latin typeface="Calibri"/>
              </a:rPr>
              <a:t> and </a:t>
            </a:r>
            <a:r>
              <a:rPr sz="1800" b="0">
                <a:solidFill>
                  <a:srgbClr val="4B2E83"/>
                </a:solidFill>
                <a:latin typeface="Consolas"/>
              </a:rPr>
              <a:t>delete</a:t>
            </a:r>
            <a:r>
              <a:rPr sz="1800" b="0">
                <a:solidFill>
                  <a:srgbClr val="1D2330"/>
                </a:solidFill>
                <a:latin typeface="Calibri"/>
              </a:rPr>
              <a:t> calls to build a 5-node chain and free it?</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36</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3 Exercise 4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4</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3: Pointers, Arrays, and Dynamic Memory</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37</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What to submit: one zip, once</a:t>
            </a:r>
          </a:p>
        </p:txBody>
      </p:sp>
      <p:sp>
        <p:nvSpPr>
          <p:cNvPr id="5" name="Oval 4"/>
          <p:cNvSpPr/>
          <p:nvPr/>
        </p:nvSpPr>
        <p:spPr>
          <a:xfrm>
            <a:off x="548640" y="13716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1097280" y="1353312"/>
            <a:ext cx="4998567" cy="914400"/>
          </a:xfrm>
          <a:prstGeom prst="rect">
            <a:avLst/>
          </a:prstGeom>
          <a:noFill/>
        </p:spPr>
        <p:txBody>
          <a:bodyPr wrap="square" lIns="0" rIns="0" tIns="0" bIns="0" anchor="t">
            <a:spAutoFit/>
          </a:bodyPr>
          <a:lstStyle/>
          <a:p>
            <a:pPr algn="l"/>
            <a:r>
              <a:rPr sz="1700" b="0">
                <a:solidFill>
                  <a:srgbClr val="1D2330"/>
                </a:solidFill>
                <a:latin typeface="Calibri"/>
              </a:rPr>
              <a:t>Your work is in </a:t>
            </a:r>
            <a:r>
              <a:rPr sz="1700" b="0">
                <a:solidFill>
                  <a:srgbClr val="4B2E83"/>
                </a:solidFill>
                <a:latin typeface="Consolas"/>
              </a:rPr>
              <a:t>Lab3/exercises</a:t>
            </a:r>
            <a:r>
              <a:rPr sz="1700" b="0">
                <a:solidFill>
                  <a:srgbClr val="1D2330"/>
                </a:solidFill>
                <a:latin typeface="Calibri"/>
              </a:rPr>
              <a:t>, with subfolders named like the starter folders</a:t>
            </a:r>
          </a:p>
        </p:txBody>
      </p:sp>
      <p:sp>
        <p:nvSpPr>
          <p:cNvPr id="7" name="Oval 6"/>
          <p:cNvSpPr/>
          <p:nvPr/>
        </p:nvSpPr>
        <p:spPr>
          <a:xfrm>
            <a:off x="548640" y="22860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267712"/>
            <a:ext cx="4998567" cy="914400"/>
          </a:xfrm>
          <a:prstGeom prst="rect">
            <a:avLst/>
          </a:prstGeom>
          <a:noFill/>
        </p:spPr>
        <p:txBody>
          <a:bodyPr wrap="square" lIns="0" rIns="0" tIns="0" bIns="0" anchor="t">
            <a:spAutoFit/>
          </a:bodyPr>
          <a:lstStyle/>
          <a:p>
            <a:pPr algn="l"/>
            <a:r>
              <a:rPr sz="1700" b="0">
                <a:solidFill>
                  <a:srgbClr val="1D2330"/>
                </a:solidFill>
                <a:latin typeface="Calibri"/>
              </a:rPr>
              <a:t>Run </a:t>
            </a:r>
            <a:r>
              <a:rPr sz="1700" b="0">
                <a:solidFill>
                  <a:srgbClr val="4B2E83"/>
                </a:solidFill>
                <a:latin typeface="Consolas"/>
              </a:rPr>
              <a:t>make clean</a:t>
            </a:r>
            <a:r>
              <a:rPr sz="1700" b="0">
                <a:solidFill>
                  <a:srgbClr val="1D2330"/>
                </a:solidFill>
                <a:latin typeface="Calibri"/>
              </a:rPr>
              <a:t> in each; delete executables and core dumps; delete the </a:t>
            </a:r>
            <a:r>
              <a:rPr sz="1700" b="0">
                <a:solidFill>
                  <a:srgbClr val="4B2E83"/>
                </a:solidFill>
                <a:latin typeface="Consolas"/>
              </a:rPr>
              <a:t>examples</a:t>
            </a:r>
            <a:r>
              <a:rPr sz="1700" b="0">
                <a:solidFill>
                  <a:srgbClr val="1D2330"/>
                </a:solidFill>
                <a:latin typeface="Calibri"/>
              </a:rPr>
              <a:t> folder</a:t>
            </a:r>
          </a:p>
        </p:txBody>
      </p:sp>
      <p:sp>
        <p:nvSpPr>
          <p:cNvPr id="9" name="Oval 8"/>
          <p:cNvSpPr/>
          <p:nvPr/>
        </p:nvSpPr>
        <p:spPr>
          <a:xfrm>
            <a:off x="548640" y="32004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0" name="TextBox 9"/>
          <p:cNvSpPr txBox="1"/>
          <p:nvPr/>
        </p:nvSpPr>
        <p:spPr>
          <a:xfrm>
            <a:off x="1097280" y="3182112"/>
            <a:ext cx="4998567" cy="914400"/>
          </a:xfrm>
          <a:prstGeom prst="rect">
            <a:avLst/>
          </a:prstGeom>
          <a:noFill/>
        </p:spPr>
        <p:txBody>
          <a:bodyPr wrap="square" lIns="0" rIns="0" tIns="0" bIns="0" anchor="t">
            <a:spAutoFit/>
          </a:bodyPr>
          <a:lstStyle/>
          <a:p>
            <a:pPr algn="l"/>
            <a:r>
              <a:rPr sz="1700" b="0">
                <a:solidFill>
                  <a:srgbClr val="1D2330"/>
                </a:solidFill>
                <a:latin typeface="Calibri"/>
              </a:rPr>
              <a:t>Check: no warnings with </a:t>
            </a:r>
            <a:r>
              <a:rPr sz="1700" b="0">
                <a:solidFill>
                  <a:srgbClr val="4B2E83"/>
                </a:solidFill>
                <a:latin typeface="Consolas"/>
              </a:rPr>
              <a:t>-Wall -Wextra</a:t>
            </a:r>
            <a:r>
              <a:rPr sz="1700" b="0">
                <a:solidFill>
                  <a:srgbClr val="1D2330"/>
                </a:solidFill>
                <a:latin typeface="Calibri"/>
              </a:rPr>
              <a:t>, and valgrind is clean</a:t>
            </a:r>
          </a:p>
        </p:txBody>
      </p:sp>
      <p:sp>
        <p:nvSpPr>
          <p:cNvPr id="11" name="Oval 10"/>
          <p:cNvSpPr/>
          <p:nvPr/>
        </p:nvSpPr>
        <p:spPr>
          <a:xfrm>
            <a:off x="548640" y="41148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2" name="TextBox 11"/>
          <p:cNvSpPr txBox="1"/>
          <p:nvPr/>
        </p:nvSpPr>
        <p:spPr>
          <a:xfrm>
            <a:off x="1097280" y="4096512"/>
            <a:ext cx="4998567" cy="914400"/>
          </a:xfrm>
          <a:prstGeom prst="rect">
            <a:avLst/>
          </a:prstGeom>
          <a:noFill/>
        </p:spPr>
        <p:txBody>
          <a:bodyPr wrap="square" lIns="0" rIns="0" tIns="0" bIns="0" anchor="t">
            <a:spAutoFit/>
          </a:bodyPr>
          <a:lstStyle/>
          <a:p>
            <a:pPr algn="l"/>
            <a:r>
              <a:rPr sz="1700" b="0">
                <a:solidFill>
                  <a:srgbClr val="1D2330"/>
                </a:solidFill>
                <a:latin typeface="Calibri"/>
              </a:rPr>
              <a:t>Zip the whole folder: </a:t>
            </a:r>
            <a:r>
              <a:rPr sz="1700" b="0">
                <a:solidFill>
                  <a:srgbClr val="4B2E83"/>
                </a:solidFill>
                <a:latin typeface="Consolas"/>
              </a:rPr>
              <a:t>zip -r Lab3-netid.zip Lab3</a:t>
            </a:r>
          </a:p>
        </p:txBody>
      </p:sp>
      <p:sp>
        <p:nvSpPr>
          <p:cNvPr id="13" name="Oval 12"/>
          <p:cNvSpPr/>
          <p:nvPr/>
        </p:nvSpPr>
        <p:spPr>
          <a:xfrm>
            <a:off x="548640" y="50292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4" name="TextBox 13"/>
          <p:cNvSpPr txBox="1"/>
          <p:nvPr/>
        </p:nvSpPr>
        <p:spPr>
          <a:xfrm>
            <a:off x="1097280" y="5010912"/>
            <a:ext cx="4998567" cy="914400"/>
          </a:xfrm>
          <a:prstGeom prst="rect">
            <a:avLst/>
          </a:prstGeom>
          <a:noFill/>
        </p:spPr>
        <p:txBody>
          <a:bodyPr wrap="square" lIns="0" rIns="0" tIns="0" bIns="0" anchor="t">
            <a:spAutoFit/>
          </a:bodyPr>
          <a:lstStyle/>
          <a:p>
            <a:pPr algn="l"/>
            <a:r>
              <a:rPr sz="1700" b="0">
                <a:solidFill>
                  <a:srgbClr val="1D2330"/>
                </a:solidFill>
                <a:latin typeface="Calibri"/>
              </a:rPr>
              <a:t>Upload that one zip to the Lab 3 assignment on Canvas</a:t>
            </a:r>
          </a:p>
        </p:txBody>
      </p:sp>
      <p:sp>
        <p:nvSpPr>
          <p:cNvPr id="15" name="Rounded Rectangle 14"/>
          <p:cNvSpPr/>
          <p:nvPr/>
        </p:nvSpPr>
        <p:spPr>
          <a:xfrm>
            <a:off x="6415887" y="1325880"/>
            <a:ext cx="5227167" cy="297180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44487" y="1508760"/>
            <a:ext cx="4769967" cy="2606040"/>
          </a:xfrm>
          <a:prstGeom prst="rect">
            <a:avLst/>
          </a:prstGeom>
          <a:noFill/>
        </p:spPr>
        <p:txBody>
          <a:bodyPr wrap="none" lIns="0" rIns="0" tIns="0" bIns="0" anchor="t">
            <a:spAutoFit/>
          </a:bodyPr>
          <a:lstStyle/>
          <a:p>
            <a:pPr>
              <a:spcAft>
                <a:spcPts val="0"/>
              </a:spcAft>
            </a:pPr>
            <a:r>
              <a:rPr sz="1400">
                <a:solidFill>
                  <a:srgbClr val="E6E6EF"/>
                </a:solidFill>
                <a:latin typeface="Consolas"/>
              </a:rPr>
              <a:t>Lab3/</a:t>
            </a:r>
          </a:p>
          <a:p>
            <a:pPr>
              <a:spcAft>
                <a:spcPts val="0"/>
              </a:spcAft>
            </a:pPr>
            <a:r>
              <a:rPr sz="1400">
                <a:solidFill>
                  <a:srgbClr val="E6E6EF"/>
                </a:solidFill>
                <a:latin typeface="Consolas"/>
              </a:rPr>
              <a:t>└── exercises/</a:t>
            </a:r>
          </a:p>
          <a:p>
            <a:pPr>
              <a:spcAft>
                <a:spcPts val="0"/>
              </a:spcAft>
            </a:pPr>
            <a:r>
              <a:rPr sz="1400">
                <a:solidFill>
                  <a:srgbClr val="E6E6EF"/>
                </a:solidFill>
                <a:latin typeface="Consolas"/>
              </a:rPr>
              <a:t>    ├── ex1-pointers/</a:t>
            </a:r>
          </a:p>
          <a:p>
            <a:pPr>
              <a:spcAft>
                <a:spcPts val="0"/>
              </a:spcAft>
            </a:pPr>
            <a:r>
              <a:rPr sz="1400">
                <a:solidFill>
                  <a:srgbClr val="E6E6EF"/>
                </a:solidFill>
                <a:latin typeface="Consolas"/>
              </a:rPr>
              <a:t>    │     pointers.cpp Makefile</a:t>
            </a:r>
          </a:p>
          <a:p>
            <a:pPr>
              <a:spcAft>
                <a:spcPts val="0"/>
              </a:spcAft>
            </a:pPr>
            <a:r>
              <a:rPr sz="1400">
                <a:solidFill>
                  <a:srgbClr val="E6E6EF"/>
                </a:solidFill>
                <a:latin typeface="Consolas"/>
              </a:rPr>
              <a:t>    ├── ex2-arrays/</a:t>
            </a:r>
          </a:p>
          <a:p>
            <a:pPr>
              <a:spcAft>
                <a:spcPts val="0"/>
              </a:spcAft>
            </a:pPr>
            <a:r>
              <a:rPr sz="1400">
                <a:solidFill>
                  <a:srgbClr val="E6E6EF"/>
                </a:solidFill>
                <a:latin typeface="Consolas"/>
              </a:rPr>
              <a:t>    │     arrays.cpp Makefile</a:t>
            </a:r>
          </a:p>
          <a:p>
            <a:pPr>
              <a:spcAft>
                <a:spcPts val="0"/>
              </a:spcAft>
            </a:pPr>
            <a:r>
              <a:rPr sz="1400">
                <a:solidFill>
                  <a:srgbClr val="E6E6EF"/>
                </a:solidFill>
                <a:latin typeface="Consolas"/>
              </a:rPr>
              <a:t>    ├── ex3-dynamic/</a:t>
            </a:r>
          </a:p>
          <a:p>
            <a:pPr>
              <a:spcAft>
                <a:spcPts val="0"/>
              </a:spcAft>
            </a:pPr>
            <a:r>
              <a:rPr sz="1400">
                <a:solidFill>
                  <a:srgbClr val="E6E6EF"/>
                </a:solidFill>
                <a:latin typeface="Consolas"/>
              </a:rPr>
              <a:t>    │     growing.cpp leaky.cpp</a:t>
            </a:r>
          </a:p>
          <a:p>
            <a:pPr>
              <a:spcAft>
                <a:spcPts val="0"/>
              </a:spcAft>
            </a:pPr>
            <a:r>
              <a:rPr sz="1400">
                <a:solidFill>
                  <a:srgbClr val="E6E6EF"/>
                </a:solidFill>
                <a:latin typeface="Consolas"/>
              </a:rPr>
              <a:t>    │     Makefile</a:t>
            </a:r>
          </a:p>
          <a:p>
            <a:pPr>
              <a:spcAft>
                <a:spcPts val="0"/>
              </a:spcAft>
            </a:pPr>
            <a:r>
              <a:rPr sz="1400">
                <a:solidFill>
                  <a:srgbClr val="E6E6EF"/>
                </a:solidFill>
                <a:latin typeface="Consolas"/>
              </a:rPr>
              <a:t>    └── ex4-nodes/</a:t>
            </a:r>
          </a:p>
          <a:p>
            <a:pPr>
              <a:spcAft>
                <a:spcPts val="0"/>
              </a:spcAft>
            </a:pPr>
            <a:r>
              <a:rPr sz="1400">
                <a:solidFill>
                  <a:srgbClr val="E6E6EF"/>
                </a:solidFill>
                <a:latin typeface="Consolas"/>
              </a:rPr>
              <a:t>          nodes.h nodes.cpp chain_test.cpp</a:t>
            </a:r>
          </a:p>
          <a:p>
            <a:pPr>
              <a:spcAft>
                <a:spcPts val="0"/>
              </a:spcAft>
            </a:pPr>
            <a:r>
              <a:rPr sz="1400">
                <a:solidFill>
                  <a:srgbClr val="E6E6EF"/>
                </a:solidFill>
                <a:latin typeface="Consolas"/>
              </a:rPr>
              <a:t>          Makefile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TextBox 1"/>
          <p:cNvSpPr txBox="1"/>
          <p:nvPr/>
        </p:nvSpPr>
        <p:spPr>
          <a:xfrm>
            <a:off x="548640" y="548640"/>
            <a:ext cx="10972800" cy="822960"/>
          </a:xfrm>
          <a:prstGeom prst="rect">
            <a:avLst/>
          </a:prstGeom>
          <a:noFill/>
        </p:spPr>
        <p:txBody>
          <a:bodyPr wrap="square" lIns="0" rIns="0" tIns="0" bIns="0" anchor="t">
            <a:spAutoFit/>
          </a:bodyPr>
          <a:lstStyle/>
          <a:p>
            <a:pPr algn="l"/>
            <a:r>
              <a:rPr sz="4000" b="1">
                <a:solidFill>
                  <a:srgbClr val="FFFFFF"/>
                </a:solidFill>
                <a:latin typeface="Calibri"/>
              </a:rPr>
              <a:t>Takeaways</a:t>
            </a:r>
          </a:p>
        </p:txBody>
      </p:sp>
      <p:sp>
        <p:nvSpPr>
          <p:cNvPr id="3" name="Rounded Rectangle 2"/>
          <p:cNvSpPr/>
          <p:nvPr/>
        </p:nvSpPr>
        <p:spPr>
          <a:xfrm>
            <a:off x="548640" y="155448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182880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1</a:t>
            </a:r>
          </a:p>
        </p:txBody>
      </p:sp>
      <p:sp>
        <p:nvSpPr>
          <p:cNvPr id="5" name="TextBox 4"/>
          <p:cNvSpPr txBox="1"/>
          <p:nvPr/>
        </p:nvSpPr>
        <p:spPr>
          <a:xfrm>
            <a:off x="1463040" y="1783080"/>
            <a:ext cx="4175607" cy="1691640"/>
          </a:xfrm>
          <a:prstGeom prst="rect">
            <a:avLst/>
          </a:prstGeom>
          <a:noFill/>
        </p:spPr>
        <p:txBody>
          <a:bodyPr wrap="square" lIns="0" rIns="0" tIns="0" bIns="0" anchor="ctr">
            <a:spAutoFit/>
          </a:bodyPr>
          <a:lstStyle/>
          <a:p>
            <a:r>
              <a:rPr sz="2200" b="0">
                <a:solidFill>
                  <a:srgbClr val="C5B4E3"/>
                </a:solidFill>
                <a:latin typeface="Consolas"/>
              </a:rPr>
              <a:t>&amp;</a:t>
            </a:r>
            <a:r>
              <a:rPr sz="2200" b="0">
                <a:solidFill>
                  <a:srgbClr val="FFFFFF"/>
                </a:solidFill>
                <a:latin typeface="Calibri"/>
              </a:rPr>
              <a:t> takes an address and </a:t>
            </a:r>
            <a:r>
              <a:rPr sz="2200" b="0">
                <a:solidFill>
                  <a:srgbClr val="C5B4E3"/>
                </a:solidFill>
                <a:latin typeface="Consolas"/>
              </a:rPr>
              <a:t>*</a:t>
            </a:r>
            <a:r>
              <a:rPr sz="2200" b="0">
                <a:solidFill>
                  <a:srgbClr val="FFFFFF"/>
                </a:solidFill>
                <a:latin typeface="Calibri"/>
              </a:rPr>
              <a:t> follows one. In a declaration, they make a reference and a pointer.</a:t>
            </a:r>
          </a:p>
        </p:txBody>
      </p:sp>
      <p:sp>
        <p:nvSpPr>
          <p:cNvPr id="6" name="Rounded Rectangle 5"/>
          <p:cNvSpPr/>
          <p:nvPr/>
        </p:nvSpPr>
        <p:spPr>
          <a:xfrm>
            <a:off x="6278727" y="155448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53047" y="182880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2</a:t>
            </a:r>
          </a:p>
        </p:txBody>
      </p:sp>
      <p:sp>
        <p:nvSpPr>
          <p:cNvPr id="8" name="TextBox 7"/>
          <p:cNvSpPr txBox="1"/>
          <p:nvPr/>
        </p:nvSpPr>
        <p:spPr>
          <a:xfrm>
            <a:off x="7193127" y="1783080"/>
            <a:ext cx="4175607" cy="1691640"/>
          </a:xfrm>
          <a:prstGeom prst="rect">
            <a:avLst/>
          </a:prstGeom>
          <a:noFill/>
        </p:spPr>
        <p:txBody>
          <a:bodyPr wrap="square" lIns="0" rIns="0" tIns="0" bIns="0" anchor="ctr">
            <a:spAutoFit/>
          </a:bodyPr>
          <a:lstStyle/>
          <a:p>
            <a:r>
              <a:rPr sz="2200" b="0">
                <a:solidFill>
                  <a:srgbClr val="C5B4E3"/>
                </a:solidFill>
                <a:latin typeface="Consolas"/>
              </a:rPr>
              <a:t>a[i]</a:t>
            </a:r>
            <a:r>
              <a:rPr sz="2200" b="0">
                <a:solidFill>
                  <a:srgbClr val="FFFFFF"/>
                </a:solidFill>
                <a:latin typeface="Calibri"/>
              </a:rPr>
              <a:t> is </a:t>
            </a:r>
            <a:r>
              <a:rPr sz="2200" b="0">
                <a:solidFill>
                  <a:srgbClr val="C5B4E3"/>
                </a:solidFill>
                <a:latin typeface="Consolas"/>
              </a:rPr>
              <a:t>*(a + i)</a:t>
            </a:r>
            <a:r>
              <a:rPr sz="2200" b="0">
                <a:solidFill>
                  <a:srgbClr val="FFFFFF"/>
                </a:solidFill>
                <a:latin typeface="Calibri"/>
              </a:rPr>
              <a:t>: an array is one block, with no length and no bounds checks. Pass the count.</a:t>
            </a:r>
          </a:p>
        </p:txBody>
      </p:sp>
      <p:sp>
        <p:nvSpPr>
          <p:cNvPr id="9" name="Rounded Rectangle 8"/>
          <p:cNvSpPr/>
          <p:nvPr/>
        </p:nvSpPr>
        <p:spPr>
          <a:xfrm>
            <a:off x="548640" y="397764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 y="425196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3</a:t>
            </a:r>
          </a:p>
        </p:txBody>
      </p:sp>
      <p:sp>
        <p:nvSpPr>
          <p:cNvPr id="11" name="TextBox 10"/>
          <p:cNvSpPr txBox="1"/>
          <p:nvPr/>
        </p:nvSpPr>
        <p:spPr>
          <a:xfrm>
            <a:off x="1463040" y="4206240"/>
            <a:ext cx="4175607" cy="1691640"/>
          </a:xfrm>
          <a:prstGeom prst="rect">
            <a:avLst/>
          </a:prstGeom>
          <a:noFill/>
        </p:spPr>
        <p:txBody>
          <a:bodyPr wrap="square" lIns="0" rIns="0" tIns="0" bIns="0" anchor="ctr">
            <a:spAutoFit/>
          </a:bodyPr>
          <a:lstStyle/>
          <a:p>
            <a:r>
              <a:rPr sz="2200" b="0">
                <a:solidFill>
                  <a:srgbClr val="FFFFFF"/>
                </a:solidFill>
                <a:latin typeface="Calibri"/>
              </a:rPr>
              <a:t>Every </a:t>
            </a:r>
            <a:r>
              <a:rPr sz="2200" b="0">
                <a:solidFill>
                  <a:srgbClr val="C5B4E3"/>
                </a:solidFill>
                <a:latin typeface="Consolas"/>
              </a:rPr>
              <a:t>new</a:t>
            </a:r>
            <a:r>
              <a:rPr sz="2200" b="0">
                <a:solidFill>
                  <a:srgbClr val="FFFFFF"/>
                </a:solidFill>
                <a:latin typeface="Calibri"/>
              </a:rPr>
              <a:t> needs one </a:t>
            </a:r>
            <a:r>
              <a:rPr sz="2200" b="0">
                <a:solidFill>
                  <a:srgbClr val="C5B4E3"/>
                </a:solidFill>
                <a:latin typeface="Consolas"/>
              </a:rPr>
              <a:t>delete</a:t>
            </a:r>
            <a:r>
              <a:rPr sz="2200" b="0">
                <a:solidFill>
                  <a:srgbClr val="FFFFFF"/>
                </a:solidFill>
                <a:latin typeface="Calibri"/>
              </a:rPr>
              <a:t>, every </a:t>
            </a:r>
            <a:r>
              <a:rPr sz="2200" b="0">
                <a:solidFill>
                  <a:srgbClr val="C5B4E3"/>
                </a:solidFill>
                <a:latin typeface="Consolas"/>
              </a:rPr>
              <a:t>new[]</a:t>
            </a:r>
            <a:r>
              <a:rPr sz="2200" b="0">
                <a:solidFill>
                  <a:srgbClr val="FFFFFF"/>
                </a:solidFill>
                <a:latin typeface="Calibri"/>
              </a:rPr>
              <a:t> one </a:t>
            </a:r>
            <a:r>
              <a:rPr sz="2200" b="0">
                <a:solidFill>
                  <a:srgbClr val="C5B4E3"/>
                </a:solidFill>
                <a:latin typeface="Consolas"/>
              </a:rPr>
              <a:t>delete[]</a:t>
            </a:r>
            <a:r>
              <a:rPr sz="2200" b="0">
                <a:solidFill>
                  <a:srgbClr val="FFFFFF"/>
                </a:solidFill>
                <a:latin typeface="Calibri"/>
              </a:rPr>
              <a:t>. Run valgrind on everything.</a:t>
            </a:r>
          </a:p>
        </p:txBody>
      </p:sp>
      <p:sp>
        <p:nvSpPr>
          <p:cNvPr id="12" name="Rounded Rectangle 11"/>
          <p:cNvSpPr/>
          <p:nvPr/>
        </p:nvSpPr>
        <p:spPr>
          <a:xfrm>
            <a:off x="6278727" y="397764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53047" y="425196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4</a:t>
            </a:r>
          </a:p>
        </p:txBody>
      </p:sp>
      <p:sp>
        <p:nvSpPr>
          <p:cNvPr id="14" name="TextBox 13"/>
          <p:cNvSpPr txBox="1"/>
          <p:nvPr/>
        </p:nvSpPr>
        <p:spPr>
          <a:xfrm>
            <a:off x="7193127" y="4206240"/>
            <a:ext cx="4175607" cy="1691640"/>
          </a:xfrm>
          <a:prstGeom prst="rect">
            <a:avLst/>
          </a:prstGeom>
          <a:noFill/>
        </p:spPr>
        <p:txBody>
          <a:bodyPr wrap="square" lIns="0" rIns="0" tIns="0" bIns="0" anchor="ctr">
            <a:spAutoFit/>
          </a:bodyPr>
          <a:lstStyle/>
          <a:p>
            <a:r>
              <a:rPr sz="2200" b="0">
                <a:solidFill>
                  <a:srgbClr val="FFFFFF"/>
                </a:solidFill>
                <a:latin typeface="Calibri"/>
              </a:rPr>
              <a:t>Linked structures are pointer rewiring: draw it, handle empty and first-node cases.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