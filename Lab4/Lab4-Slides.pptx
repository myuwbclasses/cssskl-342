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array-based and linked container you'll write in CSS 342 is a class template that owns memory, so it needs all of this. Carrano's ADTs also throw PrecondViolatedExcept.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3:20-3:30. 5:05-5:15 is catch-up and wrap-up. Every exercise folder has 'make check' for valgrind. The lecture examples are in Lab4/examples/ (they come with the starter zip).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stack of int values, a stack of strings, and a stack of Student objects differ only in the type of item they hold, and writing (and fixing) three copies of the same code is wasteful and error-prone. A template lets you write the code once with the type as a parameter; the compiler produces a version for each type you use. That is how the standard library gets vector&lt;int&gt; and vector&lt;string&gt; from one definition, and how the containers in your CSS 342 textbook, like ArrayBag&lt;ItemType&gt;, are written.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4 Exercise 1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 copying an object is the default: passing by value, returning, and = all make copies. For most classes the compiler-written copy is right, but for a class that owns memory through a pointer it copies only the address, leaving two objects that share one block of memory and both delete it. Every CSS 342 container that uses new needs its own copy rules, and this part shows how to write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Copying a pointer copies the address it holds, not what it points at. Shallow: two pointers, one array. Deep: new memory, then copy the values. Run copies.cpp: original and shallow print the same address, deep a different one. One array means one delete[].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4 Exercise 2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linked container owns not one block of memory but a whole chain of nodes, so copying it means rebuilding the chain node by node. It's the rule of three again, applied to the structure you'll use most in CSS 342: linked stacks, queues, and lists all need a destructor, a copy constructor, and an operator= that handle every node. Keeping the order and handling the empty chain are where most of the bugs are.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4 Exercise 3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errors can't be handled where they're detected: a stack's pop doesn't know what its caller wants to do when the stack is empty. An exception carries the error up to code that does know, without every function in between checking a return value. Because an exception can cut a function short, C++ also needs a way to make sure memory is still released, and that is RAII: let destructors do the cleanup.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4 Exercise 4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8503920" y="-1097280"/>
            <a:ext cx="4754880" cy="47548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9144000" cy="457200"/>
          </a:xfrm>
          <a:prstGeom prst="rect">
            <a:avLst/>
          </a:prstGeom>
          <a:noFill/>
        </p:spPr>
        <p:txBody>
          <a:bodyPr wrap="square" lIns="0" rIns="0" tIns="0" bIns="0" anchor="t">
            <a:spAutoFit/>
          </a:bodyPr>
          <a:lstStyle/>
          <a:p>
            <a:pPr algn="l"/>
            <a:r>
              <a:rPr sz="1600" b="1">
                <a:solidFill>
                  <a:srgbClr val="C5B4E3"/>
                </a:solidFill>
                <a:latin typeface="Calibri"/>
              </a:rPr>
              <a:t>CSS SKL 342 · LAB 4</a:t>
            </a:r>
          </a:p>
        </p:txBody>
      </p:sp>
      <p:sp>
        <p:nvSpPr>
          <p:cNvPr id="4" name="TextBox 3"/>
          <p:cNvSpPr txBox="1"/>
          <p:nvPr/>
        </p:nvSpPr>
        <p:spPr>
          <a:xfrm>
            <a:off x="548640" y="2514600"/>
            <a:ext cx="9601200" cy="1280160"/>
          </a:xfrm>
          <a:prstGeom prst="rect">
            <a:avLst/>
          </a:prstGeom>
          <a:noFill/>
        </p:spPr>
        <p:txBody>
          <a:bodyPr wrap="square" lIns="0" rIns="0" tIns="0" bIns="0" anchor="t">
            <a:spAutoFit/>
          </a:bodyPr>
          <a:lstStyle/>
          <a:p>
            <a:pPr algn="l"/>
            <a:r>
              <a:rPr sz="4000" b="1">
                <a:solidFill>
                  <a:srgbClr val="FFFFFF"/>
                </a:solidFill>
                <a:latin typeface="Calibri"/>
              </a:rPr>
              <a:t>Templates and Classes That Own Memory</a:t>
            </a:r>
          </a:p>
        </p:txBody>
      </p:sp>
      <p:sp>
        <p:nvSpPr>
          <p:cNvPr id="5" name="TextBox 4"/>
          <p:cNvSpPr txBox="1"/>
          <p:nvPr/>
        </p:nvSpPr>
        <p:spPr>
          <a:xfrm>
            <a:off x="548640" y="3886200"/>
            <a:ext cx="8686800" cy="1097280"/>
          </a:xfrm>
          <a:prstGeom prst="rect">
            <a:avLst/>
          </a:prstGeom>
          <a:noFill/>
        </p:spPr>
        <p:txBody>
          <a:bodyPr wrap="square" lIns="0" rIns="0" tIns="0" bIns="0" anchor="t">
            <a:spAutoFit/>
          </a:bodyPr>
          <a:lstStyle/>
          <a:p>
            <a:pPr algn="l"/>
            <a:r>
              <a:rPr sz="2000" b="0">
                <a:solidFill>
                  <a:srgbClr val="C5B4E3"/>
                </a:solidFill>
                <a:latin typeface="Calibri"/>
              </a:rPr>
              <a:t>Function and class templates · the rule of three · copying linked chains · exceptions and RAII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Today's plan</a:t>
            </a:r>
          </a:p>
        </p:txBody>
      </p:sp>
      <p:sp>
        <p:nvSpPr>
          <p:cNvPr id="5" name="Rounded Rectangle 4"/>
          <p:cNvSpPr/>
          <p:nvPr/>
        </p:nvSpPr>
        <p:spPr>
          <a:xfrm>
            <a:off x="548640"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7" name="TextBox 6"/>
          <p:cNvSpPr txBox="1"/>
          <p:nvPr/>
        </p:nvSpPr>
        <p:spPr>
          <a:xfrm>
            <a:off x="777240"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Templates</a:t>
            </a:r>
          </a:p>
        </p:txBody>
      </p:sp>
      <p:sp>
        <p:nvSpPr>
          <p:cNvPr id="8" name="Rounded Rectangle 7"/>
          <p:cNvSpPr/>
          <p:nvPr/>
        </p:nvSpPr>
        <p:spPr>
          <a:xfrm>
            <a:off x="777240"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9" name="TextBox 8"/>
          <p:cNvSpPr txBox="1"/>
          <p:nvPr/>
        </p:nvSpPr>
        <p:spPr>
          <a:xfrm>
            <a:off x="2011680"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1:15 · 15 min</a:t>
            </a:r>
          </a:p>
        </p:txBody>
      </p:sp>
      <p:sp>
        <p:nvSpPr>
          <p:cNvPr id="10" name="TextBox 9"/>
          <p:cNvSpPr txBox="1"/>
          <p:nvPr/>
        </p:nvSpPr>
        <p:spPr>
          <a:xfrm>
            <a:off x="777240"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Generic code</a:t>
            </a:r>
          </a:p>
        </p:txBody>
      </p:sp>
      <p:sp>
        <p:nvSpPr>
          <p:cNvPr id="11" name="Rounded Rectangle 10"/>
          <p:cNvSpPr/>
          <p:nvPr/>
        </p:nvSpPr>
        <p:spPr>
          <a:xfrm>
            <a:off x="777240"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12" name="TextBox 11"/>
          <p:cNvSpPr txBox="1"/>
          <p:nvPr/>
        </p:nvSpPr>
        <p:spPr>
          <a:xfrm>
            <a:off x="2011680"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1:30 · 35 min</a:t>
            </a:r>
          </a:p>
        </p:txBody>
      </p:sp>
      <p:sp>
        <p:nvSpPr>
          <p:cNvPr id="13" name="TextBox 12"/>
          <p:cNvSpPr txBox="1"/>
          <p:nvPr/>
        </p:nvSpPr>
        <p:spPr>
          <a:xfrm>
            <a:off x="777240"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Sort templates, Entry&lt;T&gt;</a:t>
            </a:r>
          </a:p>
        </p:txBody>
      </p:sp>
      <p:sp>
        <p:nvSpPr>
          <p:cNvPr id="14" name="Rounded Rectangle 13"/>
          <p:cNvSpPr/>
          <p:nvPr/>
        </p:nvSpPr>
        <p:spPr>
          <a:xfrm>
            <a:off x="777240"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15" name="TextBox 14"/>
          <p:cNvSpPr txBox="1"/>
          <p:nvPr/>
        </p:nvSpPr>
        <p:spPr>
          <a:xfrm>
            <a:off x="2011680"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2:05 · 10 min</a:t>
            </a:r>
          </a:p>
        </p:txBody>
      </p:sp>
      <p:sp>
        <p:nvSpPr>
          <p:cNvPr id="16" name="TextBox 15"/>
          <p:cNvSpPr txBox="1"/>
          <p:nvPr/>
        </p:nvSpPr>
        <p:spPr>
          <a:xfrm>
            <a:off x="777240"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17" name="Rounded Rectangle 16"/>
          <p:cNvSpPr/>
          <p:nvPr/>
        </p:nvSpPr>
        <p:spPr>
          <a:xfrm>
            <a:off x="3390823"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9423"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9" name="TextBox 18"/>
          <p:cNvSpPr txBox="1"/>
          <p:nvPr/>
        </p:nvSpPr>
        <p:spPr>
          <a:xfrm>
            <a:off x="3619423"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The rule of three</a:t>
            </a:r>
          </a:p>
        </p:txBody>
      </p:sp>
      <p:sp>
        <p:nvSpPr>
          <p:cNvPr id="20" name="Rounded Rectangle 19"/>
          <p:cNvSpPr/>
          <p:nvPr/>
        </p:nvSpPr>
        <p:spPr>
          <a:xfrm>
            <a:off x="3619423"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21" name="TextBox 20"/>
          <p:cNvSpPr txBox="1"/>
          <p:nvPr/>
        </p:nvSpPr>
        <p:spPr>
          <a:xfrm>
            <a:off x="4853863"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2:15 · 20 min</a:t>
            </a:r>
          </a:p>
        </p:txBody>
      </p:sp>
      <p:sp>
        <p:nvSpPr>
          <p:cNvPr id="22" name="TextBox 21"/>
          <p:cNvSpPr txBox="1"/>
          <p:nvPr/>
        </p:nvSpPr>
        <p:spPr>
          <a:xfrm>
            <a:off x="3619423"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Shallow vs. deep copy</a:t>
            </a:r>
          </a:p>
        </p:txBody>
      </p:sp>
      <p:sp>
        <p:nvSpPr>
          <p:cNvPr id="23" name="Rounded Rectangle 22"/>
          <p:cNvSpPr/>
          <p:nvPr/>
        </p:nvSpPr>
        <p:spPr>
          <a:xfrm>
            <a:off x="3619423"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24" name="TextBox 23"/>
          <p:cNvSpPr txBox="1"/>
          <p:nvPr/>
        </p:nvSpPr>
        <p:spPr>
          <a:xfrm>
            <a:off x="4853863"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2:35 · 35 min</a:t>
            </a:r>
          </a:p>
        </p:txBody>
      </p:sp>
      <p:sp>
        <p:nvSpPr>
          <p:cNvPr id="25" name="TextBox 24"/>
          <p:cNvSpPr txBox="1"/>
          <p:nvPr/>
        </p:nvSpPr>
        <p:spPr>
          <a:xfrm>
            <a:off x="3619423"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Copying an IntArray</a:t>
            </a:r>
          </a:p>
        </p:txBody>
      </p:sp>
      <p:sp>
        <p:nvSpPr>
          <p:cNvPr id="26" name="Rounded Rectangle 25"/>
          <p:cNvSpPr/>
          <p:nvPr/>
        </p:nvSpPr>
        <p:spPr>
          <a:xfrm>
            <a:off x="3619423"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27" name="TextBox 26"/>
          <p:cNvSpPr txBox="1"/>
          <p:nvPr/>
        </p:nvSpPr>
        <p:spPr>
          <a:xfrm>
            <a:off x="4853863"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3:10 · 10 min</a:t>
            </a:r>
          </a:p>
        </p:txBody>
      </p:sp>
      <p:sp>
        <p:nvSpPr>
          <p:cNvPr id="28" name="TextBox 27"/>
          <p:cNvSpPr txBox="1"/>
          <p:nvPr/>
        </p:nvSpPr>
        <p:spPr>
          <a:xfrm>
            <a:off x="3619423"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29" name="Rounded Rectangle 28"/>
          <p:cNvSpPr/>
          <p:nvPr/>
        </p:nvSpPr>
        <p:spPr>
          <a:xfrm>
            <a:off x="6233007"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61607"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31" name="TextBox 30"/>
          <p:cNvSpPr txBox="1"/>
          <p:nvPr/>
        </p:nvSpPr>
        <p:spPr>
          <a:xfrm>
            <a:off x="6461607"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Copying a linked chain</a:t>
            </a:r>
          </a:p>
        </p:txBody>
      </p:sp>
      <p:sp>
        <p:nvSpPr>
          <p:cNvPr id="32" name="Rounded Rectangle 31"/>
          <p:cNvSpPr/>
          <p:nvPr/>
        </p:nvSpPr>
        <p:spPr>
          <a:xfrm>
            <a:off x="6461607"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33" name="TextBox 32"/>
          <p:cNvSpPr txBox="1"/>
          <p:nvPr/>
        </p:nvSpPr>
        <p:spPr>
          <a:xfrm>
            <a:off x="7696047"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3:30 · 10 min</a:t>
            </a:r>
          </a:p>
        </p:txBody>
      </p:sp>
      <p:sp>
        <p:nvSpPr>
          <p:cNvPr id="34" name="TextBox 33"/>
          <p:cNvSpPr txBox="1"/>
          <p:nvPr/>
        </p:nvSpPr>
        <p:spPr>
          <a:xfrm>
            <a:off x="6461607"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Deep-copying a chain</a:t>
            </a:r>
          </a:p>
        </p:txBody>
      </p:sp>
      <p:sp>
        <p:nvSpPr>
          <p:cNvPr id="35" name="Rounded Rectangle 34"/>
          <p:cNvSpPr/>
          <p:nvPr/>
        </p:nvSpPr>
        <p:spPr>
          <a:xfrm>
            <a:off x="6461607"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36" name="TextBox 35"/>
          <p:cNvSpPr txBox="1"/>
          <p:nvPr/>
        </p:nvSpPr>
        <p:spPr>
          <a:xfrm>
            <a:off x="7696047"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3:40 · 30 min</a:t>
            </a:r>
          </a:p>
        </p:txBody>
      </p:sp>
      <p:sp>
        <p:nvSpPr>
          <p:cNvPr id="37" name="TextBox 36"/>
          <p:cNvSpPr txBox="1"/>
          <p:nvPr/>
        </p:nvSpPr>
        <p:spPr>
          <a:xfrm>
            <a:off x="6461607"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LinkedStack</a:t>
            </a:r>
          </a:p>
        </p:txBody>
      </p:sp>
      <p:sp>
        <p:nvSpPr>
          <p:cNvPr id="38" name="Rounded Rectangle 37"/>
          <p:cNvSpPr/>
          <p:nvPr/>
        </p:nvSpPr>
        <p:spPr>
          <a:xfrm>
            <a:off x="6461607"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39" name="TextBox 38"/>
          <p:cNvSpPr txBox="1"/>
          <p:nvPr/>
        </p:nvSpPr>
        <p:spPr>
          <a:xfrm>
            <a:off x="7696047"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4:10 · 5 min</a:t>
            </a:r>
          </a:p>
        </p:txBody>
      </p:sp>
      <p:sp>
        <p:nvSpPr>
          <p:cNvPr id="40" name="TextBox 39"/>
          <p:cNvSpPr txBox="1"/>
          <p:nvPr/>
        </p:nvSpPr>
        <p:spPr>
          <a:xfrm>
            <a:off x="6461607"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41" name="Rounded Rectangle 40"/>
          <p:cNvSpPr/>
          <p:nvPr/>
        </p:nvSpPr>
        <p:spPr>
          <a:xfrm>
            <a:off x="9075191"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303791"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43" name="TextBox 42"/>
          <p:cNvSpPr txBox="1"/>
          <p:nvPr/>
        </p:nvSpPr>
        <p:spPr>
          <a:xfrm>
            <a:off x="9303791"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Exceptions and RAII</a:t>
            </a:r>
          </a:p>
        </p:txBody>
      </p:sp>
      <p:sp>
        <p:nvSpPr>
          <p:cNvPr id="44" name="Rounded Rectangle 43"/>
          <p:cNvSpPr/>
          <p:nvPr/>
        </p:nvSpPr>
        <p:spPr>
          <a:xfrm>
            <a:off x="9303791"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45" name="TextBox 44"/>
          <p:cNvSpPr txBox="1"/>
          <p:nvPr/>
        </p:nvSpPr>
        <p:spPr>
          <a:xfrm>
            <a:off x="10538231"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4:15 · 15 min</a:t>
            </a:r>
          </a:p>
        </p:txBody>
      </p:sp>
      <p:sp>
        <p:nvSpPr>
          <p:cNvPr id="46" name="TextBox 45"/>
          <p:cNvSpPr txBox="1"/>
          <p:nvPr/>
        </p:nvSpPr>
        <p:spPr>
          <a:xfrm>
            <a:off x="9303791"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Throw, catch, clean up</a:t>
            </a:r>
          </a:p>
        </p:txBody>
      </p:sp>
      <p:sp>
        <p:nvSpPr>
          <p:cNvPr id="47" name="Rounded Rectangle 46"/>
          <p:cNvSpPr/>
          <p:nvPr/>
        </p:nvSpPr>
        <p:spPr>
          <a:xfrm>
            <a:off x="9303791"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48" name="TextBox 47"/>
          <p:cNvSpPr txBox="1"/>
          <p:nvPr/>
        </p:nvSpPr>
        <p:spPr>
          <a:xfrm>
            <a:off x="10538231"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4:30 · 25 min</a:t>
            </a:r>
          </a:p>
        </p:txBody>
      </p:sp>
      <p:sp>
        <p:nvSpPr>
          <p:cNvPr id="49" name="TextBox 48"/>
          <p:cNvSpPr txBox="1"/>
          <p:nvPr/>
        </p:nvSpPr>
        <p:spPr>
          <a:xfrm>
            <a:off x="9303791"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Exceptions</a:t>
            </a:r>
          </a:p>
        </p:txBody>
      </p:sp>
      <p:sp>
        <p:nvSpPr>
          <p:cNvPr id="50" name="Rounded Rectangle 49"/>
          <p:cNvSpPr/>
          <p:nvPr/>
        </p:nvSpPr>
        <p:spPr>
          <a:xfrm>
            <a:off x="9303791"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51" name="TextBox 50"/>
          <p:cNvSpPr txBox="1"/>
          <p:nvPr/>
        </p:nvSpPr>
        <p:spPr>
          <a:xfrm>
            <a:off x="10538231"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4:55 · 10 min</a:t>
            </a:r>
          </a:p>
        </p:txBody>
      </p:sp>
      <p:sp>
        <p:nvSpPr>
          <p:cNvPr id="52" name="TextBox 51"/>
          <p:cNvSpPr txBox="1"/>
          <p:nvPr/>
        </p:nvSpPr>
        <p:spPr>
          <a:xfrm>
            <a:off x="9303791"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catch-up 5:05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1</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Templates</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Write a container or an algorithm once, and use it for </a:t>
            </a:r>
            <a:r>
              <a:rPr sz="2000" b="0">
                <a:solidFill>
                  <a:srgbClr val="FFFFFF"/>
                </a:solidFill>
                <a:latin typeface="Consolas"/>
              </a:rPr>
              <a:t>int</a:t>
            </a:r>
            <a:r>
              <a:rPr sz="2000" b="0">
                <a:solidFill>
                  <a:srgbClr val="C5B4E3"/>
                </a:solidFill>
                <a:latin typeface="Calibri"/>
              </a:rPr>
              <a:t>, </a:t>
            </a:r>
            <a:r>
              <a:rPr sz="2000" b="0">
                <a:solidFill>
                  <a:srgbClr val="FFFFFF"/>
                </a:solidFill>
                <a:latin typeface="Consolas"/>
              </a:rPr>
              <a:t>string</a:t>
            </a:r>
            <a:r>
              <a:rPr sz="2000" b="0">
                <a:solidFill>
                  <a:srgbClr val="C5B4E3"/>
                </a:solidFill>
                <a:latin typeface="Calibri"/>
              </a:rPr>
              <a:t>, or </a:t>
            </a:r>
            <a:r>
              <a:rPr sz="2000" b="0">
                <a:solidFill>
                  <a:srgbClr val="FFFFFF"/>
                </a:solidFill>
                <a:latin typeface="Consolas"/>
              </a:rPr>
              <a:t>Student</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Write function templates, and call them with </a:t>
            </a:r>
            <a:r>
              <a:rPr sz="2000" b="0">
                <a:solidFill>
                  <a:srgbClr val="C5B4E3"/>
                </a:solidFill>
                <a:latin typeface="Consolas"/>
              </a:rPr>
              <a:t>T</a:t>
            </a:r>
            <a:r>
              <a:rPr sz="2000" b="0">
                <a:solidFill>
                  <a:srgbClr val="FFFFFF"/>
                </a:solidFill>
                <a:latin typeface="Calibri"/>
              </a:rPr>
              <a:t> deduced or named</a:t>
            </a:r>
          </a:p>
          <a:p>
            <a:pPr marL="256032" indent="-228600">
              <a:spcAft>
                <a:spcPts val="600"/>
              </a:spcAft>
              <a:buClr>
                <a:srgbClr val="5B6475"/>
              </a:buClr>
              <a:buChar char="›"/>
            </a:pPr>
            <a:r>
              <a:rPr sz="2000" b="0">
                <a:solidFill>
                  <a:srgbClr val="FFFFFF"/>
                </a:solidFill>
                <a:latin typeface="Calibri"/>
              </a:rPr>
              <a:t>Turn a working class into a class template, with a friend </a:t>
            </a:r>
            <a:r>
              <a:rPr sz="2000" b="0">
                <a:solidFill>
                  <a:srgbClr val="C5B4E3"/>
                </a:solidFill>
                <a:latin typeface="Consolas"/>
              </a:rPr>
              <a:t>operator&lt;&lt;</a:t>
            </a:r>
          </a:p>
          <a:p>
            <a:pPr marL="256032" indent="-228600">
              <a:spcAft>
                <a:spcPts val="600"/>
              </a:spcAft>
              <a:buClr>
                <a:srgbClr val="5B6475"/>
              </a:buClr>
              <a:buChar char="›"/>
            </a:pPr>
            <a:r>
              <a:rPr sz="2000" b="0">
                <a:solidFill>
                  <a:srgbClr val="FFFFFF"/>
                </a:solidFill>
                <a:latin typeface="Calibri"/>
              </a:rPr>
              <a:t>Explain why a template lives entirely in its header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4</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Function templates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Write it once with a type parameter </a:t>
            </a:r>
            <a:r>
              <a:rPr sz="1800" b="0">
                <a:solidFill>
                  <a:srgbClr val="4B2E83"/>
                </a:solidFill>
                <a:latin typeface="Consolas"/>
              </a:rPr>
              <a:t>T</a:t>
            </a:r>
            <a:r>
              <a:rPr sz="1800" b="0">
                <a:solidFill>
                  <a:srgbClr val="1D2330"/>
                </a:solidFill>
                <a:latin typeface="Calibri"/>
              </a:rPr>
              <a:t>; the compiler writes (instantiates) a real function for each type you use</a:t>
            </a:r>
          </a:p>
          <a:p>
            <a:pPr marL="256032" indent="-228600">
              <a:spcAft>
                <a:spcPts val="800"/>
              </a:spcAft>
              <a:buClr>
                <a:srgbClr val="5B6475"/>
              </a:buClr>
              <a:buChar char="•"/>
            </a:pPr>
            <a:r>
              <a:rPr sz="1800" b="0">
                <a:solidFill>
                  <a:srgbClr val="4B2E83"/>
                </a:solidFill>
                <a:latin typeface="Consolas"/>
              </a:rPr>
              <a:t>T</a:t>
            </a:r>
            <a:r>
              <a:rPr sz="1800" b="0">
                <a:solidFill>
                  <a:srgbClr val="1D2330"/>
                </a:solidFill>
                <a:latin typeface="Calibri"/>
              </a:rPr>
              <a:t> is usually deduced from the arguments; </a:t>
            </a:r>
            <a:r>
              <a:rPr sz="1800" b="0">
                <a:solidFill>
                  <a:srgbClr val="4B2E83"/>
                </a:solidFill>
                <a:latin typeface="Consolas"/>
              </a:rPr>
              <a:t>maxOf&lt;double&gt;(3, 4.5)</a:t>
            </a:r>
            <a:r>
              <a:rPr sz="1800" b="0">
                <a:solidFill>
                  <a:srgbClr val="1D2330"/>
                </a:solidFill>
                <a:latin typeface="Calibri"/>
              </a:rPr>
              <a:t> names it</a:t>
            </a:r>
          </a:p>
          <a:p>
            <a:pPr marL="256032" indent="-228600">
              <a:spcAft>
                <a:spcPts val="800"/>
              </a:spcAft>
              <a:buClr>
                <a:srgbClr val="5B6475"/>
              </a:buClr>
              <a:buChar char="•"/>
            </a:pPr>
            <a:r>
              <a:rPr sz="1800" b="0">
                <a:solidFill>
                  <a:srgbClr val="1D2330"/>
                </a:solidFill>
                <a:latin typeface="Calibri"/>
              </a:rPr>
              <a:t>A parameter used only in the return type must be named: </a:t>
            </a:r>
            <a:r>
              <a:rPr sz="1800" b="0">
                <a:solidFill>
                  <a:srgbClr val="4B2E83"/>
                </a:solidFill>
                <a:latin typeface="Consolas"/>
              </a:rPr>
              <a:t>convertTo&lt;int&gt;(3.99)</a:t>
            </a:r>
          </a:p>
          <a:p>
            <a:pPr marL="256032" indent="-228600">
              <a:spcAft>
                <a:spcPts val="800"/>
              </a:spcAft>
              <a:buClr>
                <a:srgbClr val="5B6475"/>
              </a:buClr>
              <a:buChar char="•"/>
            </a:pPr>
            <a:r>
              <a:rPr sz="1800" b="0">
                <a:solidFill>
                  <a:srgbClr val="4B2E83"/>
                </a:solidFill>
                <a:latin typeface="Consolas"/>
              </a:rPr>
              <a:t>T</a:t>
            </a:r>
            <a:r>
              <a:rPr sz="1800" b="0">
                <a:solidFill>
                  <a:srgbClr val="1D2330"/>
                </a:solidFill>
                <a:latin typeface="Calibri"/>
              </a:rPr>
              <a:t> must support whatever the body uses: </a:t>
            </a:r>
            <a:r>
              <a:rPr sz="1800" b="0">
                <a:solidFill>
                  <a:srgbClr val="4B2E83"/>
                </a:solidFill>
                <a:latin typeface="Consolas"/>
              </a:rPr>
              <a:t>maxOf</a:t>
            </a:r>
            <a:r>
              <a:rPr sz="1800" b="0">
                <a:solidFill>
                  <a:srgbClr val="1D2330"/>
                </a:solidFill>
                <a:latin typeface="Calibri"/>
              </a:rPr>
              <a:t> and a sort need </a:t>
            </a:r>
            <a:r>
              <a:rPr sz="1800" b="0">
                <a:solidFill>
                  <a:srgbClr val="4B2E83"/>
                </a:solidFill>
                <a:latin typeface="Consolas"/>
              </a:rPr>
              <a:t>&lt;</a:t>
            </a:r>
            <a:r>
              <a:rPr sz="1800" b="0">
                <a:solidFill>
                  <a:srgbClr val="1D2330"/>
                </a:solidFill>
                <a:latin typeface="Calibri"/>
              </a:rPr>
              <a:t>, printing needs </a:t>
            </a:r>
            <a:r>
              <a:rPr sz="1800" b="0">
                <a:solidFill>
                  <a:srgbClr val="4B2E83"/>
                </a:solidFill>
                <a:latin typeface="Consolas"/>
              </a:rPr>
              <a:t>&lt;&lt;</a:t>
            </a:r>
          </a:p>
        </p:txBody>
      </p:sp>
      <p:sp>
        <p:nvSpPr>
          <p:cNvPr id="7" name="Rounded Rectangle 6"/>
          <p:cNvSpPr/>
          <p:nvPr/>
        </p:nvSpPr>
        <p:spPr>
          <a:xfrm>
            <a:off x="5972110" y="1325880"/>
            <a:ext cx="5670944" cy="35814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215640"/>
          </a:xfrm>
          <a:prstGeom prst="rect">
            <a:avLst/>
          </a:prstGeom>
          <a:noFill/>
        </p:spPr>
        <p:txBody>
          <a:bodyPr wrap="none" lIns="0" rIns="0" tIns="0" bIns="0" anchor="t">
            <a:spAutoFit/>
          </a:bodyPr>
          <a:lstStyle/>
          <a:p>
            <a:pPr>
              <a:spcAft>
                <a:spcPts val="0"/>
              </a:spcAft>
            </a:pPr>
            <a:r>
              <a:rPr sz="1300">
                <a:solidFill>
                  <a:srgbClr val="E6E6EF"/>
                </a:solidFill>
                <a:latin typeface="Consolas"/>
              </a:rPr>
              <a:t>template &lt;typename T&gt;             </a:t>
            </a:r>
            <a:r>
              <a:rPr sz="1300">
                <a:solidFill>
                  <a:srgbClr val="9AA4B5"/>
                </a:solidFill>
                <a:latin typeface="Consolas"/>
              </a:rPr>
              <a:t>// one type parameter</a:t>
            </a:r>
          </a:p>
          <a:p>
            <a:pPr>
              <a:spcAft>
                <a:spcPts val="0"/>
              </a:spcAft>
            </a:pPr>
            <a:r>
              <a:rPr sz="1300">
                <a:solidFill>
                  <a:srgbClr val="E6E6EF"/>
                </a:solidFill>
                <a:latin typeface="Consolas"/>
              </a:rPr>
              <a:t>T maxOf(T a, T b) { return (a &lt; b) ? b : a; }</a:t>
            </a:r>
          </a:p>
          <a:p>
            <a:pPr>
              <a:spcAft>
                <a:spcPts val="0"/>
              </a:spcAft>
            </a:pPr>
            <a:r>
              <a:rPr sz="1300">
                <a:latin typeface="Consolas"/>
              </a:rPr>
              <a:t> </a:t>
            </a:r>
          </a:p>
          <a:p>
            <a:pPr>
              <a:spcAft>
                <a:spcPts val="0"/>
              </a:spcAft>
            </a:pPr>
            <a:r>
              <a:rPr sz="1300">
                <a:solidFill>
                  <a:srgbClr val="E6E6EF"/>
                </a:solidFill>
                <a:latin typeface="Consolas"/>
              </a:rPr>
              <a:t>template &lt;typename A, typename B&gt; </a:t>
            </a:r>
            <a:r>
              <a:rPr sz="1300">
                <a:solidFill>
                  <a:srgbClr val="9AA4B5"/>
                </a:solidFill>
                <a:latin typeface="Consolas"/>
              </a:rPr>
              <a:t>// two</a:t>
            </a:r>
          </a:p>
          <a:p>
            <a:pPr>
              <a:spcAft>
                <a:spcPts val="0"/>
              </a:spcAft>
            </a:pPr>
            <a:r>
              <a:rPr sz="1300">
                <a:solidFill>
                  <a:srgbClr val="E6E6EF"/>
                </a:solidFill>
                <a:latin typeface="Consolas"/>
              </a:rPr>
              <a:t>void showBoth(A a, B b) {</a:t>
            </a:r>
          </a:p>
          <a:p>
            <a:pPr>
              <a:spcAft>
                <a:spcPts val="0"/>
              </a:spcAft>
            </a:pPr>
            <a:r>
              <a:rPr sz="1300">
                <a:solidFill>
                  <a:srgbClr val="E6E6EF"/>
                </a:solidFill>
                <a:latin typeface="Consolas"/>
              </a:rPr>
              <a:t>    cout &lt;&lt; a &lt;&lt; " | " &lt;&lt; b &lt;&lt; endl;</a:t>
            </a:r>
          </a:p>
          <a:p>
            <a:pPr>
              <a:spcAft>
                <a:spcPts val="0"/>
              </a:spcAft>
            </a:pPr>
            <a:r>
              <a:rPr sz="1300">
                <a:solidFill>
                  <a:srgbClr val="E6E6EF"/>
                </a:solidFill>
                <a:latin typeface="Consolas"/>
              </a:rPr>
              <a:t>}</a:t>
            </a:r>
          </a:p>
          <a:p>
            <a:pPr>
              <a:spcAft>
                <a:spcPts val="0"/>
              </a:spcAft>
            </a:pPr>
            <a:r>
              <a:rPr sz="1300">
                <a:latin typeface="Consolas"/>
              </a:rPr>
              <a:t> </a:t>
            </a:r>
          </a:p>
          <a:p>
            <a:pPr>
              <a:spcAft>
                <a:spcPts val="0"/>
              </a:spcAft>
            </a:pPr>
            <a:r>
              <a:rPr sz="1300">
                <a:solidFill>
                  <a:srgbClr val="E6E6EF"/>
                </a:solidFill>
                <a:latin typeface="Consolas"/>
              </a:rPr>
              <a:t>template &lt;typename R, typename T&gt; </a:t>
            </a:r>
            <a:r>
              <a:rPr sz="1300">
                <a:solidFill>
                  <a:srgbClr val="9AA4B5"/>
                </a:solidFill>
                <a:latin typeface="Consolas"/>
              </a:rPr>
              <a:t>// R: return only</a:t>
            </a:r>
          </a:p>
          <a:p>
            <a:pPr>
              <a:spcAft>
                <a:spcPts val="0"/>
              </a:spcAft>
            </a:pPr>
            <a:r>
              <a:rPr sz="1300">
                <a:solidFill>
                  <a:srgbClr val="E6E6EF"/>
                </a:solidFill>
                <a:latin typeface="Consolas"/>
              </a:rPr>
              <a:t>R convertTo(T value) { return static_cast&lt;R&gt;(value); }</a:t>
            </a:r>
          </a:p>
          <a:p>
            <a:pPr>
              <a:spcAft>
                <a:spcPts val="0"/>
              </a:spcAft>
            </a:pPr>
            <a:r>
              <a:rPr sz="1300">
                <a:latin typeface="Consolas"/>
              </a:rPr>
              <a:t> </a:t>
            </a:r>
          </a:p>
          <a:p>
            <a:pPr>
              <a:spcAft>
                <a:spcPts val="0"/>
              </a:spcAft>
            </a:pPr>
            <a:r>
              <a:rPr sz="1300">
                <a:solidFill>
                  <a:srgbClr val="E6E6EF"/>
                </a:solidFill>
                <a:latin typeface="Consolas"/>
              </a:rPr>
              <a:t>maxOf(3, 7);                 </a:t>
            </a:r>
            <a:r>
              <a:rPr sz="1300">
                <a:solidFill>
                  <a:srgbClr val="9AA4B5"/>
                </a:solidFill>
                <a:latin typeface="Consolas"/>
              </a:rPr>
              <a:t>// deduced: T is int</a:t>
            </a:r>
          </a:p>
          <a:p>
            <a:pPr>
              <a:spcAft>
                <a:spcPts val="0"/>
              </a:spcAft>
            </a:pPr>
            <a:r>
              <a:rPr sz="1300">
                <a:solidFill>
                  <a:srgbClr val="E6E6EF"/>
                </a:solidFill>
                <a:latin typeface="Consolas"/>
              </a:rPr>
              <a:t>maxOf&lt;int&gt;(3, 7);            </a:t>
            </a:r>
            <a:r>
              <a:rPr sz="1300">
                <a:solidFill>
                  <a:srgbClr val="9AA4B5"/>
                </a:solidFill>
                <a:latin typeface="Consolas"/>
              </a:rPr>
              <a:t>// named: same maxOf&lt;int&gt;</a:t>
            </a:r>
          </a:p>
          <a:p>
            <a:pPr>
              <a:spcAft>
                <a:spcPts val="0"/>
              </a:spcAft>
            </a:pPr>
            <a:r>
              <a:rPr sz="1300">
                <a:solidFill>
                  <a:srgbClr val="E6E6EF"/>
                </a:solidFill>
                <a:latin typeface="Consolas"/>
              </a:rPr>
              <a:t>maxOf&lt;double&gt;(3, 4.5);       </a:t>
            </a:r>
            <a:r>
              <a:rPr sz="1300">
                <a:solidFill>
                  <a:srgbClr val="9AA4B5"/>
                </a:solidFill>
                <a:latin typeface="Consolas"/>
              </a:rPr>
              <a:t>// 3 becomes 3.0</a:t>
            </a:r>
          </a:p>
          <a:p>
            <a:pPr>
              <a:spcAft>
                <a:spcPts val="0"/>
              </a:spcAft>
            </a:pPr>
            <a:r>
              <a:rPr sz="1300">
                <a:solidFill>
                  <a:srgbClr val="E6E6EF"/>
                </a:solidFill>
                <a:latin typeface="Consolas"/>
              </a:rPr>
              <a:t>showBoth&lt;char&gt;(65, 2.5);     </a:t>
            </a:r>
            <a:r>
              <a:rPr sz="1300">
                <a:solidFill>
                  <a:srgbClr val="9AA4B5"/>
                </a:solidFill>
                <a:latin typeface="Consolas"/>
              </a:rPr>
              <a:t>// A named, B deduced</a:t>
            </a:r>
          </a:p>
          <a:p>
            <a:pPr>
              <a:spcAft>
                <a:spcPts val="0"/>
              </a:spcAft>
            </a:pPr>
            <a:r>
              <a:rPr sz="1300">
                <a:solidFill>
                  <a:srgbClr val="E6E6EF"/>
                </a:solidFill>
                <a:latin typeface="Consolas"/>
              </a:rPr>
              <a:t>convertTo&lt;int&gt;(3.99);        </a:t>
            </a:r>
            <a:r>
              <a:rPr sz="1300">
                <a:solidFill>
                  <a:srgbClr val="9AA4B5"/>
                </a:solidFill>
                <a:latin typeface="Consolas"/>
              </a:rPr>
              <a:t>// R named, T deduced: 3</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1.1.template_variations: its README has the errors for maxOf(3, 4.5) and convertTo(3.99).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5</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Class templates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Used as </a:t>
            </a:r>
            <a:r>
              <a:rPr sz="1800" b="0">
                <a:solidFill>
                  <a:srgbClr val="4B2E83"/>
                </a:solidFill>
                <a:latin typeface="Consolas"/>
              </a:rPr>
              <a:t>Box&lt;int&gt;</a:t>
            </a:r>
            <a:r>
              <a:rPr sz="1800" b="0">
                <a:solidFill>
                  <a:srgbClr val="1D2330"/>
                </a:solidFill>
                <a:latin typeface="Calibri"/>
              </a:rPr>
              <a:t>: you always name </a:t>
            </a:r>
            <a:r>
              <a:rPr sz="1800" b="0">
                <a:solidFill>
                  <a:srgbClr val="4B2E83"/>
                </a:solidFill>
                <a:latin typeface="Consolas"/>
              </a:rPr>
              <a:t>T</a:t>
            </a:r>
          </a:p>
          <a:p>
            <a:pPr marL="256032" indent="-228600">
              <a:spcAft>
                <a:spcPts val="800"/>
              </a:spcAft>
              <a:buClr>
                <a:srgbClr val="5B6475"/>
              </a:buClr>
              <a:buChar char="•"/>
            </a:pPr>
            <a:r>
              <a:rPr sz="1800" b="0">
                <a:solidFill>
                  <a:srgbClr val="1D2330"/>
                </a:solidFill>
                <a:latin typeface="Calibri"/>
              </a:rPr>
              <a:t>The class's name is </a:t>
            </a:r>
            <a:r>
              <a:rPr sz="1800" b="0">
                <a:solidFill>
                  <a:srgbClr val="4B2E83"/>
                </a:solidFill>
                <a:latin typeface="Consolas"/>
              </a:rPr>
              <a:t>Box&lt;T&gt;</a:t>
            </a:r>
            <a:r>
              <a:rPr sz="1800" b="0">
                <a:solidFill>
                  <a:srgbClr val="1D2330"/>
                </a:solidFill>
                <a:latin typeface="Calibri"/>
              </a:rPr>
              <a:t>: each member defined outside repeats the template line and says </a:t>
            </a:r>
            <a:r>
              <a:rPr sz="1800" b="0">
                <a:solidFill>
                  <a:srgbClr val="4B2E83"/>
                </a:solidFill>
                <a:latin typeface="Consolas"/>
              </a:rPr>
              <a:t>Box&lt;T&gt;::</a:t>
            </a:r>
          </a:p>
          <a:p>
            <a:pPr marL="256032" indent="-228600">
              <a:spcAft>
                <a:spcPts val="800"/>
              </a:spcAft>
              <a:buClr>
                <a:srgbClr val="5B6475"/>
              </a:buClr>
              <a:buChar char="•"/>
            </a:pPr>
            <a:r>
              <a:rPr sz="1800" b="0">
                <a:solidFill>
                  <a:srgbClr val="1D2330"/>
                </a:solidFill>
                <a:latin typeface="Calibri"/>
              </a:rPr>
              <a:t>A friend </a:t>
            </a:r>
            <a:r>
              <a:rPr sz="1800" b="0">
                <a:solidFill>
                  <a:srgbClr val="4B2E83"/>
                </a:solidFill>
                <a:latin typeface="Consolas"/>
              </a:rPr>
              <a:t>operator&lt;&lt;</a:t>
            </a:r>
            <a:r>
              <a:rPr sz="1800" b="0">
                <a:solidFill>
                  <a:srgbClr val="1D2330"/>
                </a:solidFill>
                <a:latin typeface="Calibri"/>
              </a:rPr>
              <a:t> needs a template line of its own, with a new name (</a:t>
            </a:r>
            <a:r>
              <a:rPr sz="1800" b="0">
                <a:solidFill>
                  <a:srgbClr val="4B2E83"/>
                </a:solidFill>
                <a:latin typeface="Consolas"/>
              </a:rPr>
              <a:t>U</a:t>
            </a:r>
            <a:r>
              <a:rPr sz="1800" b="0">
                <a:solidFill>
                  <a:srgbClr val="1D2330"/>
                </a:solidFill>
                <a:latin typeface="Calibri"/>
              </a:rPr>
              <a:t>): </a:t>
            </a:r>
            <a:r>
              <a:rPr sz="1800" b="0">
                <a:solidFill>
                  <a:srgbClr val="4B2E83"/>
                </a:solidFill>
                <a:latin typeface="Consolas"/>
              </a:rPr>
              <a:t>T</a:t>
            </a:r>
            <a:r>
              <a:rPr sz="1800" b="0">
                <a:solidFill>
                  <a:srgbClr val="1D2330"/>
                </a:solidFill>
                <a:latin typeface="Calibri"/>
              </a:rPr>
              <a:t> is taken inside the class</a:t>
            </a:r>
          </a:p>
          <a:p>
            <a:pPr marL="256032" indent="-228600">
              <a:spcAft>
                <a:spcPts val="800"/>
              </a:spcAft>
              <a:buClr>
                <a:srgbClr val="5B6475"/>
              </a:buClr>
              <a:buChar char="•"/>
            </a:pPr>
            <a:r>
              <a:rPr sz="1800" b="0">
                <a:solidFill>
                  <a:srgbClr val="1D2330"/>
                </a:solidFill>
                <a:latin typeface="Calibri"/>
              </a:rPr>
              <a:t>Without it: a </a:t>
            </a:r>
            <a:r>
              <a:rPr sz="1800" b="0">
                <a:solidFill>
                  <a:srgbClr val="4B2E83"/>
                </a:solidFill>
                <a:latin typeface="Consolas"/>
              </a:rPr>
              <a:t>-Wnon-template-friend</a:t>
            </a:r>
            <a:r>
              <a:rPr sz="1800" b="0">
                <a:solidFill>
                  <a:srgbClr val="1D2330"/>
                </a:solidFill>
                <a:latin typeface="Calibri"/>
              </a:rPr>
              <a:t> warning, then a link error</a:t>
            </a:r>
          </a:p>
        </p:txBody>
      </p:sp>
      <p:sp>
        <p:nvSpPr>
          <p:cNvPr id="7" name="Rounded Rectangle 6"/>
          <p:cNvSpPr/>
          <p:nvPr/>
        </p:nvSpPr>
        <p:spPr>
          <a:xfrm>
            <a:off x="5972110" y="1325880"/>
            <a:ext cx="5670944" cy="448056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4114800"/>
          </a:xfrm>
          <a:prstGeom prst="rect">
            <a:avLst/>
          </a:prstGeom>
          <a:noFill/>
        </p:spPr>
        <p:txBody>
          <a:bodyPr wrap="none" lIns="0" rIns="0" tIns="0" bIns="0" anchor="t">
            <a:spAutoFit/>
          </a:bodyPr>
          <a:lstStyle/>
          <a:p>
            <a:pPr>
              <a:spcAft>
                <a:spcPts val="0"/>
              </a:spcAft>
            </a:pPr>
            <a:r>
              <a:rPr sz="1300">
                <a:solidFill>
                  <a:srgbClr val="E6E6EF"/>
                </a:solidFill>
                <a:latin typeface="Consolas"/>
              </a:rPr>
              <a:t>template &lt;typename T&gt;</a:t>
            </a:r>
          </a:p>
          <a:p>
            <a:pPr>
              <a:spcAft>
                <a:spcPts val="0"/>
              </a:spcAft>
            </a:pPr>
            <a:r>
              <a:rPr sz="1300">
                <a:solidFill>
                  <a:srgbClr val="E6E6EF"/>
                </a:solidFill>
                <a:latin typeface="Consolas"/>
              </a:rPr>
              <a:t>class Box {</a:t>
            </a:r>
          </a:p>
          <a:p>
            <a:pPr>
              <a:spcAft>
                <a:spcPts val="0"/>
              </a:spcAft>
            </a:pPr>
            <a:r>
              <a:rPr sz="1300">
                <a:solidFill>
                  <a:srgbClr val="E6E6EF"/>
                </a:solidFill>
                <a:latin typeface="Consolas"/>
              </a:rPr>
              <a:t>public:</a:t>
            </a:r>
          </a:p>
          <a:p>
            <a:pPr>
              <a:spcAft>
                <a:spcPts val="0"/>
              </a:spcAft>
            </a:pPr>
            <a:r>
              <a:rPr sz="1300">
                <a:solidFill>
                  <a:srgbClr val="E6E6EF"/>
                </a:solidFill>
                <a:latin typeface="Consolas"/>
              </a:rPr>
              <a:t>    explicit Box(const T &amp;value);</a:t>
            </a:r>
          </a:p>
          <a:p>
            <a:pPr>
              <a:spcAft>
                <a:spcPts val="0"/>
              </a:spcAft>
            </a:pPr>
            <a:r>
              <a:rPr sz="1300">
                <a:solidFill>
                  <a:srgbClr val="E6E6EF"/>
                </a:solidFill>
                <a:latin typeface="Consolas"/>
              </a:rPr>
              <a:t>    T get() const;</a:t>
            </a:r>
          </a:p>
          <a:p>
            <a:pPr>
              <a:spcAft>
                <a:spcPts val="0"/>
              </a:spcAft>
            </a:pPr>
            <a:r>
              <a:rPr sz="1300">
                <a:solidFill>
                  <a:srgbClr val="E6E6EF"/>
                </a:solidFill>
                <a:latin typeface="Consolas"/>
              </a:rPr>
              <a:t>    template &lt;typename U&gt;</a:t>
            </a:r>
          </a:p>
          <a:p>
            <a:pPr>
              <a:spcAft>
                <a:spcPts val="0"/>
              </a:spcAft>
            </a:pPr>
            <a:r>
              <a:rPr sz="1300">
                <a:solidFill>
                  <a:srgbClr val="E6E6EF"/>
                </a:solidFill>
                <a:latin typeface="Consolas"/>
              </a:rPr>
              <a:t>    friend ostream &amp;operator&lt;&lt;(ostream &amp;out,</a:t>
            </a:r>
          </a:p>
          <a:p>
            <a:pPr>
              <a:spcAft>
                <a:spcPts val="0"/>
              </a:spcAft>
            </a:pPr>
            <a:r>
              <a:rPr sz="1300">
                <a:solidFill>
                  <a:srgbClr val="E6E6EF"/>
                </a:solidFill>
                <a:latin typeface="Consolas"/>
              </a:rPr>
              <a:t>                                    const Box&lt;U&gt; &amp;box);</a:t>
            </a:r>
          </a:p>
          <a:p>
            <a:pPr>
              <a:spcAft>
                <a:spcPts val="0"/>
              </a:spcAft>
            </a:pPr>
            <a:r>
              <a:rPr sz="1300">
                <a:solidFill>
                  <a:srgbClr val="E6E6EF"/>
                </a:solidFill>
                <a:latin typeface="Consolas"/>
              </a:rPr>
              <a:t>private:</a:t>
            </a:r>
          </a:p>
          <a:p>
            <a:pPr>
              <a:spcAft>
                <a:spcPts val="0"/>
              </a:spcAft>
            </a:pPr>
            <a:r>
              <a:rPr sz="1300">
                <a:solidFill>
                  <a:srgbClr val="E6E6EF"/>
                </a:solidFill>
                <a:latin typeface="Consolas"/>
              </a:rPr>
              <a:t>    T value_;</a:t>
            </a:r>
          </a:p>
          <a:p>
            <a:pPr>
              <a:spcAft>
                <a:spcPts val="0"/>
              </a:spcAft>
            </a:pPr>
            <a:r>
              <a:rPr sz="1300">
                <a:solidFill>
                  <a:srgbClr val="E6E6EF"/>
                </a:solidFill>
                <a:latin typeface="Consolas"/>
              </a:rPr>
              <a:t>};</a:t>
            </a:r>
          </a:p>
          <a:p>
            <a:pPr>
              <a:spcAft>
                <a:spcPts val="0"/>
              </a:spcAft>
            </a:pPr>
            <a:r>
              <a:rPr sz="1300">
                <a:latin typeface="Consolas"/>
              </a:rPr>
              <a:t> </a:t>
            </a:r>
          </a:p>
          <a:p>
            <a:pPr>
              <a:spcAft>
                <a:spcPts val="0"/>
              </a:spcAft>
            </a:pPr>
            <a:r>
              <a:rPr sz="1300">
                <a:solidFill>
                  <a:srgbClr val="E6E6EF"/>
                </a:solidFill>
                <a:latin typeface="Consolas"/>
              </a:rPr>
              <a:t>template &lt;typename T&gt;</a:t>
            </a:r>
          </a:p>
          <a:p>
            <a:pPr>
              <a:spcAft>
                <a:spcPts val="0"/>
              </a:spcAft>
            </a:pPr>
            <a:r>
              <a:rPr sz="1300">
                <a:solidFill>
                  <a:srgbClr val="E6E6EF"/>
                </a:solidFill>
                <a:latin typeface="Consolas"/>
              </a:rPr>
              <a:t>T Box&lt;T&gt;::get() const { return value_; }</a:t>
            </a:r>
          </a:p>
          <a:p>
            <a:pPr>
              <a:spcAft>
                <a:spcPts val="0"/>
              </a:spcAft>
            </a:pPr>
            <a:r>
              <a:rPr sz="1300">
                <a:latin typeface="Consolas"/>
              </a:rPr>
              <a:t> </a:t>
            </a:r>
          </a:p>
          <a:p>
            <a:pPr>
              <a:spcAft>
                <a:spcPts val="0"/>
              </a:spcAft>
            </a:pPr>
            <a:r>
              <a:rPr sz="1300">
                <a:solidFill>
                  <a:srgbClr val="E6E6EF"/>
                </a:solidFill>
                <a:latin typeface="Consolas"/>
              </a:rPr>
              <a:t>template &lt;typename T&gt;     </a:t>
            </a:r>
            <a:r>
              <a:rPr sz="1300">
                <a:solidFill>
                  <a:srgbClr val="9AA4B5"/>
                </a:solidFill>
                <a:latin typeface="Consolas"/>
              </a:rPr>
              <a:t>// its own template: T is fine</a:t>
            </a:r>
          </a:p>
          <a:p>
            <a:pPr>
              <a:spcAft>
                <a:spcPts val="0"/>
              </a:spcAft>
            </a:pPr>
            <a:r>
              <a:rPr sz="1300">
                <a:solidFill>
                  <a:srgbClr val="E6E6EF"/>
                </a:solidFill>
                <a:latin typeface="Consolas"/>
              </a:rPr>
              <a:t>ostream &amp;operator&lt;&lt;(ostream &amp;out,</a:t>
            </a:r>
          </a:p>
          <a:p>
            <a:pPr>
              <a:spcAft>
                <a:spcPts val="0"/>
              </a:spcAft>
            </a:pPr>
            <a:r>
              <a:rPr sz="1300">
                <a:solidFill>
                  <a:srgbClr val="E6E6EF"/>
                </a:solidFill>
                <a:latin typeface="Consolas"/>
              </a:rPr>
              <a:t>                         const Box&lt;T&gt; &amp;box) {</a:t>
            </a:r>
          </a:p>
          <a:p>
            <a:pPr>
              <a:spcAft>
                <a:spcPts val="0"/>
              </a:spcAft>
            </a:pPr>
            <a:r>
              <a:rPr sz="1300">
                <a:solidFill>
                  <a:srgbClr val="E6E6EF"/>
                </a:solidFill>
                <a:latin typeface="Consolas"/>
              </a:rPr>
              <a:t>    out &lt;&lt; "[" &lt;&lt; box.value_ &lt;&lt; "]";</a:t>
            </a:r>
          </a:p>
          <a:p>
            <a:pPr>
              <a:spcAft>
                <a:spcPts val="0"/>
              </a:spcAft>
            </a:pPr>
            <a:r>
              <a:rPr sz="1300">
                <a:solidFill>
                  <a:srgbClr val="E6E6EF"/>
                </a:solidFill>
                <a:latin typeface="Consolas"/>
              </a:rPr>
              <a:t>    return out;</a:t>
            </a:r>
          </a:p>
          <a:p>
            <a:pPr>
              <a:spcAft>
                <a:spcPts val="0"/>
              </a:spcAft>
            </a:pPr>
            <a:r>
              <a:rPr sz="1300">
                <a:solidFill>
                  <a:srgbClr val="E6E6EF"/>
                </a:solidFill>
                <a:latin typeface="Consolas"/>
              </a:rPr>
              <a:t>}</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1.2.class_template (box.cpp): prints 6 hello, then [6] [hello].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6</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Templates live in headers</a:t>
            </a:r>
          </a:p>
        </p:txBody>
      </p:sp>
      <p:sp>
        <p:nvSpPr>
          <p:cNvPr id="6" name="TextBox 5"/>
          <p:cNvSpPr txBox="1"/>
          <p:nvPr/>
        </p:nvSpPr>
        <p:spPr>
          <a:xfrm>
            <a:off x="548640" y="1280160"/>
            <a:ext cx="11094415" cy="34747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The compiler needs the whole definition wherever the template is used: put it all in the </a:t>
            </a:r>
            <a:r>
              <a:rPr sz="2000" b="0">
                <a:solidFill>
                  <a:srgbClr val="4B2E83"/>
                </a:solidFill>
                <a:latin typeface="Consolas"/>
              </a:rPr>
              <a:t>.h</a:t>
            </a:r>
          </a:p>
          <a:p>
            <a:pPr marL="256032" indent="-228600">
              <a:spcAft>
                <a:spcPts val="800"/>
              </a:spcAft>
              <a:buClr>
                <a:srgbClr val="5B6475"/>
              </a:buClr>
              <a:buChar char="•"/>
            </a:pPr>
            <a:r>
              <a:rPr sz="2000" b="0">
                <a:solidFill>
                  <a:srgbClr val="1D2330"/>
                </a:solidFill>
                <a:latin typeface="Calibri"/>
              </a:rPr>
              <a:t>Split into a </a:t>
            </a:r>
            <a:r>
              <a:rPr sz="2000" b="0">
                <a:solidFill>
                  <a:srgbClr val="4B2E83"/>
                </a:solidFill>
                <a:latin typeface="Consolas"/>
              </a:rPr>
              <a:t>.cpp</a:t>
            </a:r>
            <a:r>
              <a:rPr sz="2000" b="0">
                <a:solidFill>
                  <a:srgbClr val="1D2330"/>
                </a:solidFill>
                <a:latin typeface="Calibri"/>
              </a:rPr>
              <a:t>, both files compile, but the link fails with </a:t>
            </a:r>
            <a:r>
              <a:rPr sz="2000" b="0">
                <a:solidFill>
                  <a:srgbClr val="4B2E83"/>
                </a:solidFill>
                <a:latin typeface="Consolas"/>
              </a:rPr>
              <a:t>undefined reference</a:t>
            </a:r>
            <a:r>
              <a:rPr sz="2000" b="0">
                <a:solidFill>
                  <a:srgbClr val="1D2330"/>
                </a:solidFill>
                <a:latin typeface="Calibri"/>
              </a:rPr>
              <a:t> (example 1.3 splits example 1.2's </a:t>
            </a:r>
            <a:r>
              <a:rPr sz="2000" b="0">
                <a:solidFill>
                  <a:srgbClr val="4B2E83"/>
                </a:solidFill>
                <a:latin typeface="Consolas"/>
              </a:rPr>
              <a:t>Box</a:t>
            </a:r>
            <a:r>
              <a:rPr sz="2000" b="0">
                <a:solidFill>
                  <a:srgbClr val="1D2330"/>
                </a:solidFill>
                <a:latin typeface="Calibri"/>
              </a:rPr>
              <a:t>)</a:t>
            </a:r>
          </a:p>
          <a:p>
            <a:pPr marL="256032" indent="-228600">
              <a:spcAft>
                <a:spcPts val="800"/>
              </a:spcAft>
              <a:buClr>
                <a:srgbClr val="5B6475"/>
              </a:buClr>
              <a:buChar char="•"/>
            </a:pPr>
            <a:r>
              <a:rPr sz="2000" b="0">
                <a:solidFill>
                  <a:srgbClr val="1D2330"/>
                </a:solidFill>
                <a:latin typeface="Calibri"/>
              </a:rPr>
              <a:t>Template errors point inside the template: find the </a:t>
            </a:r>
            <a:r>
              <a:rPr sz="2000" b="0">
                <a:solidFill>
                  <a:srgbClr val="4B2E83"/>
                </a:solidFill>
                <a:latin typeface="Consolas"/>
              </a:rPr>
              <a:t>required from here</a:t>
            </a:r>
            <a:r>
              <a:rPr sz="2000" b="0">
                <a:solidFill>
                  <a:srgbClr val="1D2330"/>
                </a:solidFill>
                <a:latin typeface="Calibri"/>
              </a:rPr>
              <a:t> line that points at your code</a:t>
            </a:r>
          </a:p>
          <a:p>
            <a:pPr marL="256032" indent="-228600">
              <a:spcAft>
                <a:spcPts val="800"/>
              </a:spcAft>
              <a:buClr>
                <a:srgbClr val="5B6475"/>
              </a:buClr>
              <a:buChar char="•"/>
            </a:pPr>
            <a:r>
              <a:rPr sz="2000" b="0">
                <a:solidFill>
                  <a:srgbClr val="1D2330"/>
                </a:solidFill>
                <a:latin typeface="Calibri"/>
              </a:rPr>
              <a:t>The standard library is full of class templates: </a:t>
            </a:r>
            <a:r>
              <a:rPr sz="2000" b="0">
                <a:solidFill>
                  <a:srgbClr val="4B2E83"/>
                </a:solidFill>
                <a:latin typeface="Consolas"/>
              </a:rPr>
              <a:t>vector&lt;int&gt;</a:t>
            </a:r>
            <a:r>
              <a:rPr sz="2000" b="0">
                <a:solidFill>
                  <a:srgbClr val="1D2330"/>
                </a:solidFill>
                <a:latin typeface="Calibri"/>
              </a:rPr>
              <a:t>, and even </a:t>
            </a:r>
            <a:r>
              <a:rPr sz="2000" b="0">
                <a:solidFill>
                  <a:srgbClr val="4B2E83"/>
                </a:solidFill>
                <a:latin typeface="Consolas"/>
              </a:rPr>
              <a:t>string</a:t>
            </a:r>
            <a:r>
              <a:rPr sz="2000" b="0">
                <a:solidFill>
                  <a:srgbClr val="1D2330"/>
                </a:solidFill>
                <a:latin typeface="Calibri"/>
              </a:rPr>
              <a:t> (short for </a:t>
            </a:r>
            <a:r>
              <a:rPr sz="2000" b="0">
                <a:solidFill>
                  <a:srgbClr val="4B2E83"/>
                </a:solidFill>
                <a:latin typeface="Consolas"/>
              </a:rPr>
              <a:t>basic_string&lt;char&gt;</a:t>
            </a:r>
            <a:r>
              <a:rPr sz="2000" b="0">
                <a:solidFill>
                  <a:srgbClr val="1D2330"/>
                </a:solidFill>
                <a:latin typeface="Calibri"/>
              </a:rPr>
              <a:t>)</a:t>
            </a:r>
          </a:p>
          <a:p>
            <a:pPr marL="256032" indent="-228600">
              <a:spcAft>
                <a:spcPts val="800"/>
              </a:spcAft>
              <a:buClr>
                <a:srgbClr val="5B6475"/>
              </a:buClr>
              <a:buChar char="•"/>
            </a:pPr>
            <a:r>
              <a:rPr sz="2000" b="0">
                <a:solidFill>
                  <a:srgbClr val="1D2330"/>
                </a:solidFill>
                <a:latin typeface="Calibri"/>
              </a:rPr>
              <a:t>Java generics work only with objects and are checked once; C++ templates work with any type, including </a:t>
            </a:r>
            <a:r>
              <a:rPr sz="2000" b="0">
                <a:solidFill>
                  <a:srgbClr val="4B2E83"/>
                </a:solidFill>
                <a:latin typeface="Consolas"/>
              </a:rPr>
              <a:t>int</a:t>
            </a:r>
          </a:p>
        </p:txBody>
      </p:sp>
      <p:sp>
        <p:nvSpPr>
          <p:cNvPr id="7" name="Rounded Rectangle 6"/>
          <p:cNvSpPr/>
          <p:nvPr/>
        </p:nvSpPr>
        <p:spPr>
          <a:xfrm>
            <a:off x="548640" y="4892040"/>
            <a:ext cx="11094415" cy="1280160"/>
          </a:xfrm>
          <a:prstGeom prst="roundRect">
            <a:avLst>
              <a:gd name="adj" fmla="val 8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029200"/>
            <a:ext cx="10637215" cy="1005840"/>
          </a:xfrm>
          <a:prstGeom prst="rect">
            <a:avLst/>
          </a:prstGeom>
          <a:noFill/>
        </p:spPr>
        <p:txBody>
          <a:bodyPr wrap="square" lIns="0" rIns="0" tIns="0" bIns="0" anchor="ctr">
            <a:spAutoFit/>
          </a:bodyPr>
          <a:lstStyle/>
          <a:p>
            <a:r>
              <a:rPr sz="1600" b="1">
                <a:solidFill>
                  <a:srgbClr val="4B2E83"/>
                </a:solidFill>
                <a:latin typeface="Calibri"/>
              </a:rPr>
              <a:t>In your CSS 342 course</a:t>
            </a:r>
          </a:p>
          <a:p>
            <a:pPr>
              <a:spcBef>
                <a:spcPts val="400"/>
              </a:spcBef>
            </a:pPr>
            <a:r>
              <a:rPr sz="1600" b="0">
                <a:solidFill>
                  <a:srgbClr val="1D2330"/>
                </a:solidFill>
                <a:latin typeface="Calibri"/>
              </a:rPr>
              <a:t>Carrano's ArrayBag, LinkedBag, LinkedStack, and Node are class templates, defined entirely in their headers. Exercise 1 is the same step: a working class becomes a class template.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7</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1: Sort templates and a class template</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35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Lab4/exercises/ex1-templates/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./templates_test</a:t>
            </a:r>
            <a:r>
              <a:rPr sz="1500" b="0">
                <a:solidFill>
                  <a:srgbClr val="1D2330"/>
                </a:solidFill>
                <a:latin typeface="Calibri"/>
              </a:rPr>
              <a:t> matches every comment with all blocks uncommented, and that </a:t>
            </a:r>
            <a:r>
              <a:rPr sz="1500" b="0">
                <a:solidFill>
                  <a:srgbClr val="4B2E83"/>
                </a:solidFill>
                <a:latin typeface="Consolas"/>
              </a:rPr>
              <a:t>make check</a:t>
            </a:r>
            <a:r>
              <a:rPr sz="1500" b="0">
                <a:solidFill>
                  <a:srgbClr val="1D2330"/>
                </a:solidFill>
                <a:latin typeface="Calibri"/>
              </a:rPr>
              <a:t> is clean.</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1D2330"/>
                </a:solidFill>
                <a:latin typeface="Calibri"/>
              </a:rPr>
              <a:t>Part A: make </a:t>
            </a:r>
            <a:r>
              <a:rPr sz="1700" b="0">
                <a:solidFill>
                  <a:srgbClr val="4B2E83"/>
                </a:solidFill>
                <a:latin typeface="Consolas"/>
              </a:rPr>
              <a:t>mySwap</a:t>
            </a:r>
            <a:r>
              <a:rPr sz="1700" b="0">
                <a:solidFill>
                  <a:srgbClr val="1D2330"/>
                </a:solidFill>
                <a:latin typeface="Calibri"/>
              </a:rPr>
              <a:t>, </a:t>
            </a:r>
            <a:r>
              <a:rPr sz="1700" b="0">
                <a:solidFill>
                  <a:srgbClr val="4B2E83"/>
                </a:solidFill>
                <a:latin typeface="Consolas"/>
              </a:rPr>
              <a:t>sortArray</a:t>
            </a:r>
            <a:r>
              <a:rPr sz="1700" b="0">
                <a:solidFill>
                  <a:srgbClr val="1D2330"/>
                </a:solidFill>
                <a:latin typeface="Calibri"/>
              </a:rPr>
              <a:t>, and </a:t>
            </a:r>
            <a:r>
              <a:rPr sz="1700" b="0">
                <a:solidFill>
                  <a:srgbClr val="4B2E83"/>
                </a:solidFill>
                <a:latin typeface="Consolas"/>
              </a:rPr>
              <a:t>printArray</a:t>
            </a:r>
            <a:r>
              <a:rPr sz="1700" b="0">
                <a:solidFill>
                  <a:srgbClr val="1D2330"/>
                </a:solidFill>
                <a:latin typeface="Calibri"/>
              </a:rPr>
              <a:t> function templates; sort doubles and strings</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Sort plain </a:t>
            </a:r>
            <a:r>
              <a:rPr sz="1700" b="0">
                <a:solidFill>
                  <a:srgbClr val="4B2E83"/>
                </a:solidFill>
                <a:latin typeface="Consolas"/>
              </a:rPr>
              <a:t>Entry</a:t>
            </a:r>
            <a:r>
              <a:rPr sz="1700" b="0">
                <a:solidFill>
                  <a:srgbClr val="1D2330"/>
                </a:solidFill>
                <a:latin typeface="Calibri"/>
              </a:rPr>
              <a:t> objects (it has </a:t>
            </a:r>
            <a:r>
              <a:rPr sz="1700" b="0">
                <a:solidFill>
                  <a:srgbClr val="4B2E83"/>
                </a:solidFill>
                <a:latin typeface="Consolas"/>
              </a:rPr>
              <a:t>operator&lt;</a:t>
            </a:r>
            <a:r>
              <a:rPr sz="1700" b="0">
                <a:solidFill>
                  <a:srgbClr val="1D2330"/>
                </a:solidFill>
                <a:latin typeface="Calibri"/>
              </a:rPr>
              <a:t>); try </a:t>
            </a:r>
            <a:r>
              <a:rPr sz="1700" b="0">
                <a:solidFill>
                  <a:srgbClr val="4B2E83"/>
                </a:solidFill>
                <a:latin typeface="Consolas"/>
              </a:rPr>
              <a:t>printArray(fruit, 3)</a:t>
            </a:r>
            <a:r>
              <a:rPr sz="1700" b="0">
                <a:solidFill>
                  <a:srgbClr val="1D2330"/>
                </a:solidFill>
                <a:latin typeface="Calibri"/>
              </a:rPr>
              <a:t> and read the error</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TODO 1: make </a:t>
            </a:r>
            <a:r>
              <a:rPr sz="1700" b="0">
                <a:solidFill>
                  <a:srgbClr val="4B2E83"/>
                </a:solidFill>
                <a:latin typeface="Consolas"/>
              </a:rPr>
              <a:t>Entry</a:t>
            </a:r>
            <a:r>
              <a:rPr sz="1700" b="0">
                <a:solidFill>
                  <a:srgbClr val="1D2330"/>
                </a:solidFill>
                <a:latin typeface="Calibri"/>
              </a:rPr>
              <a:t> a class template </a:t>
            </a:r>
            <a:r>
              <a:rPr sz="1700" b="0">
                <a:solidFill>
                  <a:srgbClr val="4B2E83"/>
                </a:solidFill>
                <a:latin typeface="Consolas"/>
              </a:rPr>
              <a:t>Entry&lt;T&gt;</a:t>
            </a:r>
            <a:r>
              <a:rPr sz="1700" b="0">
                <a:solidFill>
                  <a:srgbClr val="1D2330"/>
                </a:solidFill>
                <a:latin typeface="Calibri"/>
              </a:rPr>
              <a:t>; move the definitions into </a:t>
            </a:r>
            <a:r>
              <a:rPr sz="1700" b="0">
                <a:solidFill>
                  <a:srgbClr val="4B2E83"/>
                </a:solidFill>
                <a:latin typeface="Consolas"/>
              </a:rPr>
              <a:t>entry.h</a:t>
            </a:r>
            <a:r>
              <a:rPr sz="1700" b="0">
                <a:solidFill>
                  <a:srgbClr val="1D2330"/>
                </a:solidFill>
                <a:latin typeface="Calibri"/>
              </a:rPr>
              <a:t>, delete </a:t>
            </a:r>
            <a:r>
              <a:rPr sz="1700" b="0">
                <a:solidFill>
                  <a:srgbClr val="4B2E83"/>
                </a:solidFill>
                <a:latin typeface="Consolas"/>
              </a:rPr>
              <a:t>entry.cpp</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TODO 2: a friend </a:t>
            </a:r>
            <a:r>
              <a:rPr sz="1700" b="0">
                <a:solidFill>
                  <a:srgbClr val="4B2E83"/>
                </a:solidFill>
                <a:latin typeface="Consolas"/>
              </a:rPr>
              <a:t>operator&lt;&lt;</a:t>
            </a:r>
            <a:r>
              <a:rPr sz="1700" b="0">
                <a:solidFill>
                  <a:srgbClr val="1D2330"/>
                </a:solidFill>
                <a:latin typeface="Calibri"/>
              </a:rPr>
              <a:t> that prints </a:t>
            </a:r>
            <a:r>
              <a:rPr sz="1700" b="0">
                <a:solidFill>
                  <a:srgbClr val="4B2E83"/>
                </a:solidFill>
                <a:latin typeface="Consolas"/>
              </a:rPr>
              <a:t>label=value</a:t>
            </a:r>
          </a:p>
        </p:txBody>
      </p:sp>
      <p:sp>
        <p:nvSpPr>
          <p:cNvPr id="21" name="Oval 20"/>
          <p:cNvSpPr/>
          <p:nvPr/>
        </p:nvSpPr>
        <p:spPr>
          <a:xfrm>
            <a:off x="4023360" y="486460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2" name="TextBox 21"/>
          <p:cNvSpPr txBox="1"/>
          <p:nvPr/>
        </p:nvSpPr>
        <p:spPr>
          <a:xfrm>
            <a:off x="4572000" y="4846320"/>
            <a:ext cx="7071055" cy="868680"/>
          </a:xfrm>
          <a:prstGeom prst="rect">
            <a:avLst/>
          </a:prstGeom>
          <a:noFill/>
        </p:spPr>
        <p:txBody>
          <a:bodyPr wrap="square" lIns="0" rIns="0" tIns="0" bIns="0" anchor="t">
            <a:spAutoFit/>
          </a:bodyPr>
          <a:lstStyle/>
          <a:p>
            <a:pPr algn="l"/>
            <a:r>
              <a:rPr sz="1700" b="0">
                <a:solidFill>
                  <a:srgbClr val="1D2330"/>
                </a:solidFill>
                <a:latin typeface="Calibri"/>
              </a:rPr>
              <a:t>Last block: sort and print </a:t>
            </a:r>
            <a:r>
              <a:rPr sz="1700" b="0">
                <a:solidFill>
                  <a:srgbClr val="4B2E83"/>
                </a:solidFill>
                <a:latin typeface="Consolas"/>
              </a:rPr>
              <a:t>Entry&lt;int&gt;</a:t>
            </a:r>
            <a:r>
              <a:rPr sz="1700" b="0">
                <a:solidFill>
                  <a:srgbClr val="1D2330"/>
                </a:solidFill>
                <a:latin typeface="Calibri"/>
              </a:rPr>
              <a:t> and </a:t>
            </a:r>
            <a:r>
              <a:rPr sz="1700" b="0">
                <a:solidFill>
                  <a:srgbClr val="4B2E83"/>
                </a:solidFill>
                <a:latin typeface="Consolas"/>
              </a:rPr>
              <a:t>Entry&lt;string&gt;</a:t>
            </a:r>
            <a:r>
              <a:rPr sz="1700" b="0">
                <a:solidFill>
                  <a:srgbClr val="1D2330"/>
                </a:solidFill>
                <a:latin typeface="Calibri"/>
              </a:rPr>
              <a:t> arrays; </a:t>
            </a:r>
            <a:r>
              <a:rPr sz="1700" b="0">
                <a:solidFill>
                  <a:srgbClr val="4B2E83"/>
                </a:solidFill>
                <a:latin typeface="Consolas"/>
              </a:rPr>
              <a:t>make check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8</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1</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One </a:t>
            </a:r>
            <a:r>
              <a:rPr sz="1800" b="0">
                <a:solidFill>
                  <a:srgbClr val="4B2E83"/>
                </a:solidFill>
                <a:latin typeface="Consolas"/>
              </a:rPr>
              <a:t>sortArray</a:t>
            </a:r>
            <a:r>
              <a:rPr sz="1800" b="0">
                <a:solidFill>
                  <a:srgbClr val="1D2330"/>
                </a:solidFill>
                <a:latin typeface="Calibri"/>
              </a:rPr>
              <a:t> sorts </a:t>
            </a:r>
            <a:r>
              <a:rPr sz="1800" b="0">
                <a:solidFill>
                  <a:srgbClr val="4B2E83"/>
                </a:solidFill>
                <a:latin typeface="Consolas"/>
              </a:rPr>
              <a:t>int</a:t>
            </a:r>
            <a:r>
              <a:rPr sz="1800" b="0">
                <a:solidFill>
                  <a:srgbClr val="1D2330"/>
                </a:solidFill>
                <a:latin typeface="Calibri"/>
              </a:rPr>
              <a:t>, </a:t>
            </a:r>
            <a:r>
              <a:rPr sz="1800" b="0">
                <a:solidFill>
                  <a:srgbClr val="4B2E83"/>
                </a:solidFill>
                <a:latin typeface="Consolas"/>
              </a:rPr>
              <a:t>double</a:t>
            </a:r>
            <a:r>
              <a:rPr sz="1800" b="0">
                <a:solidFill>
                  <a:srgbClr val="1D2330"/>
                </a:solidFill>
                <a:latin typeface="Calibri"/>
              </a:rPr>
              <a:t>, </a:t>
            </a:r>
            <a:r>
              <a:rPr sz="1800" b="0">
                <a:solidFill>
                  <a:srgbClr val="4B2E83"/>
                </a:solidFill>
                <a:latin typeface="Consolas"/>
              </a:rPr>
              <a:t>string</a:t>
            </a:r>
            <a:r>
              <a:rPr sz="1800" b="0">
                <a:solidFill>
                  <a:srgbClr val="1D2330"/>
                </a:solidFill>
                <a:latin typeface="Calibri"/>
              </a:rPr>
              <a:t>, and </a:t>
            </a:r>
            <a:r>
              <a:rPr sz="1800" b="0">
                <a:solidFill>
                  <a:srgbClr val="4B2E83"/>
                </a:solidFill>
                <a:latin typeface="Consolas"/>
              </a:rPr>
              <a:t>Entry&lt;int&gt;</a:t>
            </a:r>
          </a:p>
          <a:p>
            <a:pPr marL="256032" indent="-228600">
              <a:spcAft>
                <a:spcPts val="800"/>
              </a:spcAft>
              <a:buClr>
                <a:srgbClr val="5B6475"/>
              </a:buClr>
              <a:buChar char="•"/>
            </a:pPr>
            <a:r>
              <a:rPr sz="1800" b="0">
                <a:solidFill>
                  <a:srgbClr val="4B2E83"/>
                </a:solidFill>
                <a:latin typeface="Consolas"/>
              </a:rPr>
              <a:t>printArray</a:t>
            </a:r>
            <a:r>
              <a:rPr sz="1800" b="0">
                <a:solidFill>
                  <a:srgbClr val="1D2330"/>
                </a:solidFill>
                <a:latin typeface="Calibri"/>
              </a:rPr>
              <a:t> on the plain </a:t>
            </a:r>
            <a:r>
              <a:rPr sz="1800" b="0">
                <a:solidFill>
                  <a:srgbClr val="4B2E83"/>
                </a:solidFill>
                <a:latin typeface="Consolas"/>
              </a:rPr>
              <a:t>Entry</a:t>
            </a:r>
            <a:r>
              <a:rPr sz="1800" b="0">
                <a:solidFill>
                  <a:srgbClr val="1D2330"/>
                </a:solidFill>
                <a:latin typeface="Calibri"/>
              </a:rPr>
              <a:t>: </a:t>
            </a:r>
            <a:r>
              <a:rPr sz="1800" b="0">
                <a:solidFill>
                  <a:srgbClr val="4B2E83"/>
                </a:solidFill>
                <a:latin typeface="Consolas"/>
              </a:rPr>
              <a:t>no match for 'operator&lt;&lt;'</a:t>
            </a:r>
            <a:r>
              <a:rPr sz="1800" b="0">
                <a:solidFill>
                  <a:srgbClr val="1D2330"/>
                </a:solidFill>
                <a:latin typeface="Calibri"/>
              </a:rPr>
              <a:t>, inside </a:t>
            </a:r>
            <a:r>
              <a:rPr sz="1800" b="0">
                <a:solidFill>
                  <a:srgbClr val="4B2E83"/>
                </a:solidFill>
                <a:latin typeface="Consolas"/>
              </a:rPr>
              <a:t>sorting.h</a:t>
            </a:r>
          </a:p>
          <a:p>
            <a:pPr marL="256032" indent="-228600">
              <a:spcAft>
                <a:spcPts val="800"/>
              </a:spcAft>
              <a:buClr>
                <a:srgbClr val="5B6475"/>
              </a:buClr>
              <a:buChar char="•"/>
            </a:pPr>
            <a:r>
              <a:rPr sz="1800" b="0">
                <a:solidFill>
                  <a:srgbClr val="4B2E83"/>
                </a:solidFill>
                <a:latin typeface="Consolas"/>
              </a:rPr>
              <a:t>int</a:t>
            </a:r>
            <a:r>
              <a:rPr sz="1800" b="0">
                <a:solidFill>
                  <a:srgbClr val="1D2330"/>
                </a:solidFill>
                <a:latin typeface="Calibri"/>
              </a:rPr>
              <a:t> becomes </a:t>
            </a:r>
            <a:r>
              <a:rPr sz="1800" b="0">
                <a:solidFill>
                  <a:srgbClr val="4B2E83"/>
                </a:solidFill>
                <a:latin typeface="Consolas"/>
              </a:rPr>
              <a:t>T</a:t>
            </a:r>
            <a:r>
              <a:rPr sz="1800" b="0">
                <a:solidFill>
                  <a:srgbClr val="1D2330"/>
                </a:solidFill>
                <a:latin typeface="Calibri"/>
              </a:rPr>
              <a:t> only where it's the value's type: the label stays </a:t>
            </a:r>
            <a:r>
              <a:rPr sz="1800" b="0">
                <a:solidFill>
                  <a:srgbClr val="4B2E83"/>
                </a:solidFill>
                <a:latin typeface="Consolas"/>
              </a:rPr>
              <a:t>string</a:t>
            </a:r>
          </a:p>
          <a:p>
            <a:pPr marL="256032" indent="-228600">
              <a:spcAft>
                <a:spcPts val="800"/>
              </a:spcAft>
              <a:buClr>
                <a:srgbClr val="5B6475"/>
              </a:buClr>
              <a:buChar char="•"/>
            </a:pPr>
            <a:r>
              <a:rPr sz="1800" b="0">
                <a:solidFill>
                  <a:srgbClr val="4B2E83"/>
                </a:solidFill>
                <a:latin typeface="Consolas"/>
              </a:rPr>
              <a:t>Entry fruit[]</a:t>
            </a:r>
            <a:r>
              <a:rPr sz="1800" b="0">
                <a:solidFill>
                  <a:srgbClr val="1D2330"/>
                </a:solidFill>
                <a:latin typeface="Calibri"/>
              </a:rPr>
              <a:t> must become </a:t>
            </a:r>
            <a:r>
              <a:rPr sz="1800" b="0">
                <a:solidFill>
                  <a:srgbClr val="4B2E83"/>
                </a:solidFill>
                <a:latin typeface="Consolas"/>
              </a:rPr>
              <a:t>Entry&lt;int&gt; fruit[]</a:t>
            </a:r>
            <a:r>
              <a:rPr sz="1800" b="0">
                <a:solidFill>
                  <a:srgbClr val="1D2330"/>
                </a:solidFill>
                <a:latin typeface="Calibri"/>
              </a:rPr>
              <a:t>: an array's type can't be deduced</a:t>
            </a:r>
          </a:p>
          <a:p>
            <a:pPr marL="256032" indent="-228600">
              <a:spcAft>
                <a:spcPts val="800"/>
              </a:spcAft>
              <a:buClr>
                <a:srgbClr val="5B6475"/>
              </a:buClr>
              <a:buChar char="•"/>
            </a:pPr>
            <a:r>
              <a:rPr sz="1800" b="0">
                <a:solidFill>
                  <a:srgbClr val="1D2330"/>
                </a:solidFill>
                <a:latin typeface="Calibri"/>
              </a:rPr>
              <a:t>Definitions left in </a:t>
            </a:r>
            <a:r>
              <a:rPr sz="1800" b="0">
                <a:solidFill>
                  <a:srgbClr val="4B2E83"/>
                </a:solidFill>
                <a:latin typeface="Consolas"/>
              </a:rPr>
              <a:t>entry.cpp</a:t>
            </a:r>
            <a:r>
              <a:rPr sz="1800" b="0">
                <a:solidFill>
                  <a:srgbClr val="1D2330"/>
                </a:solidFill>
                <a:latin typeface="Calibri"/>
              </a:rPr>
              <a:t>: 12 </a:t>
            </a:r>
            <a:r>
              <a:rPr sz="1800" b="0">
                <a:solidFill>
                  <a:srgbClr val="4B2E83"/>
                </a:solidFill>
                <a:latin typeface="Consolas"/>
              </a:rPr>
              <a:t>undefined reference</a:t>
            </a:r>
            <a:r>
              <a:rPr sz="1800" b="0">
                <a:solidFill>
                  <a:srgbClr val="1D2330"/>
                </a:solidFill>
                <a:latin typeface="Calibri"/>
              </a:rPr>
              <a:t> errors (example 1.3)</a:t>
            </a:r>
          </a:p>
        </p:txBody>
      </p:sp>
      <p:sp>
        <p:nvSpPr>
          <p:cNvPr id="7" name="Rounded Rectangle 6"/>
          <p:cNvSpPr/>
          <p:nvPr/>
        </p:nvSpPr>
        <p:spPr>
          <a:xfrm>
            <a:off x="5972110" y="1325880"/>
            <a:ext cx="5670944" cy="44348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4069080"/>
          </a:xfrm>
          <a:prstGeom prst="rect">
            <a:avLst/>
          </a:prstGeom>
          <a:noFill/>
        </p:spPr>
        <p:txBody>
          <a:bodyPr wrap="none" lIns="0" rIns="0" tIns="0" bIns="0" anchor="t">
            <a:spAutoFit/>
          </a:bodyPr>
          <a:lstStyle/>
          <a:p>
            <a:pPr>
              <a:spcAft>
                <a:spcPts val="0"/>
              </a:spcAft>
            </a:pPr>
            <a:r>
              <a:rPr sz="1200">
                <a:solidFill>
                  <a:srgbClr val="E6E6EF"/>
                </a:solidFill>
                <a:latin typeface="Consolas"/>
              </a:rPr>
              <a:t>template &lt;typename T&gt;</a:t>
            </a:r>
          </a:p>
          <a:p>
            <a:pPr>
              <a:spcAft>
                <a:spcPts val="0"/>
              </a:spcAft>
            </a:pPr>
            <a:r>
              <a:rPr sz="1200">
                <a:solidFill>
                  <a:srgbClr val="E6E6EF"/>
                </a:solidFill>
                <a:latin typeface="Consolas"/>
              </a:rPr>
              <a:t>class Entry {</a:t>
            </a:r>
          </a:p>
          <a:p>
            <a:pPr>
              <a:spcAft>
                <a:spcPts val="0"/>
              </a:spcAft>
            </a:pPr>
            <a:r>
              <a:rPr sz="1200">
                <a:solidFill>
                  <a:srgbClr val="E6E6EF"/>
                </a:solidFill>
                <a:latin typeface="Consolas"/>
              </a:rPr>
              <a:t>public:</a:t>
            </a:r>
          </a:p>
          <a:p>
            <a:pPr>
              <a:spcAft>
                <a:spcPts val="0"/>
              </a:spcAft>
            </a:pPr>
            <a:r>
              <a:rPr sz="1200">
                <a:solidFill>
                  <a:srgbClr val="E6E6EF"/>
                </a:solidFill>
                <a:latin typeface="Consolas"/>
              </a:rPr>
              <a:t>    Entry(const std::string &amp;label, const T &amp;value);</a:t>
            </a:r>
          </a:p>
          <a:p>
            <a:pPr>
              <a:spcAft>
                <a:spcPts val="0"/>
              </a:spcAft>
            </a:pPr>
            <a:r>
              <a:rPr sz="1200">
                <a:solidFill>
                  <a:srgbClr val="E6E6EF"/>
                </a:solidFill>
                <a:latin typeface="Consolas"/>
              </a:rPr>
              <a:t>    T getValue() const;</a:t>
            </a:r>
          </a:p>
          <a:p>
            <a:pPr>
              <a:spcAft>
                <a:spcPts val="0"/>
              </a:spcAft>
            </a:pPr>
            <a:r>
              <a:rPr sz="1200">
                <a:solidFill>
                  <a:srgbClr val="E6E6EF"/>
                </a:solidFill>
                <a:latin typeface="Consolas"/>
              </a:rPr>
              <a:t>    void setValue(const T &amp;value);</a:t>
            </a:r>
          </a:p>
          <a:p>
            <a:pPr>
              <a:spcAft>
                <a:spcPts val="0"/>
              </a:spcAft>
            </a:pPr>
            <a:r>
              <a:rPr sz="1200">
                <a:solidFill>
                  <a:srgbClr val="E6E6EF"/>
                </a:solidFill>
                <a:latin typeface="Consolas"/>
              </a:rPr>
              <a:t>    bool operator&lt;(const Entry&lt;T&gt; &amp;other) const;</a:t>
            </a:r>
          </a:p>
          <a:p>
            <a:pPr>
              <a:spcAft>
                <a:spcPts val="0"/>
              </a:spcAft>
            </a:pPr>
            <a:r>
              <a:rPr sz="1200">
                <a:latin typeface="Consolas"/>
              </a:rPr>
              <a:t> </a:t>
            </a:r>
          </a:p>
          <a:p>
            <a:pPr>
              <a:spcAft>
                <a:spcPts val="0"/>
              </a:spcAft>
            </a:pPr>
            <a:r>
              <a:rPr sz="1200">
                <a:solidFill>
                  <a:srgbClr val="E6E6EF"/>
                </a:solidFill>
                <a:latin typeface="Consolas"/>
              </a:rPr>
              <a:t>    template &lt;typename U&gt;</a:t>
            </a:r>
          </a:p>
          <a:p>
            <a:pPr>
              <a:spcAft>
                <a:spcPts val="0"/>
              </a:spcAft>
            </a:pPr>
            <a:r>
              <a:rPr sz="1200">
                <a:solidFill>
                  <a:srgbClr val="E6E6EF"/>
                </a:solidFill>
                <a:latin typeface="Consolas"/>
              </a:rPr>
              <a:t>    friend std::ostream &amp;operator&lt;&lt;(std::ostream &amp;out,</a:t>
            </a:r>
          </a:p>
          <a:p>
            <a:pPr>
              <a:spcAft>
                <a:spcPts val="0"/>
              </a:spcAft>
            </a:pPr>
            <a:r>
              <a:rPr sz="1200">
                <a:solidFill>
                  <a:srgbClr val="E6E6EF"/>
                </a:solidFill>
                <a:latin typeface="Consolas"/>
              </a:rPr>
              <a:t>                                    const Entry&lt;U&gt; &amp;entry);</a:t>
            </a:r>
          </a:p>
          <a:p>
            <a:pPr>
              <a:spcAft>
                <a:spcPts val="0"/>
              </a:spcAft>
            </a:pPr>
            <a:r>
              <a:rPr sz="1200">
                <a:solidFill>
                  <a:srgbClr val="E6E6EF"/>
                </a:solidFill>
                <a:latin typeface="Consolas"/>
              </a:rPr>
              <a:t>private:</a:t>
            </a:r>
          </a:p>
          <a:p>
            <a:pPr>
              <a:spcAft>
                <a:spcPts val="0"/>
              </a:spcAft>
            </a:pPr>
            <a:r>
              <a:rPr sz="1200">
                <a:solidFill>
                  <a:srgbClr val="E6E6EF"/>
                </a:solidFill>
                <a:latin typeface="Consolas"/>
              </a:rPr>
              <a:t>    std::string label_;</a:t>
            </a:r>
          </a:p>
          <a:p>
            <a:pPr>
              <a:spcAft>
                <a:spcPts val="0"/>
              </a:spcAft>
            </a:pPr>
            <a:r>
              <a:rPr sz="1200">
                <a:solidFill>
                  <a:srgbClr val="E6E6EF"/>
                </a:solidFill>
                <a:latin typeface="Consolas"/>
              </a:rPr>
              <a:t>    T value_;</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template &lt;typename T&gt;</a:t>
            </a:r>
          </a:p>
          <a:p>
            <a:pPr>
              <a:spcAft>
                <a:spcPts val="0"/>
              </a:spcAft>
            </a:pPr>
            <a:r>
              <a:rPr sz="1200">
                <a:solidFill>
                  <a:srgbClr val="E6E6EF"/>
                </a:solidFill>
                <a:latin typeface="Consolas"/>
              </a:rPr>
              <a:t>std::ostream &amp;operator&lt;&lt;(std::ostream &amp;out,</a:t>
            </a:r>
          </a:p>
          <a:p>
            <a:pPr>
              <a:spcAft>
                <a:spcPts val="0"/>
              </a:spcAft>
            </a:pPr>
            <a:r>
              <a:rPr sz="1200">
                <a:solidFill>
                  <a:srgbClr val="E6E6EF"/>
                </a:solidFill>
                <a:latin typeface="Consolas"/>
              </a:rPr>
              <a:t>                         const Entry&lt;T&gt; &amp;entry) {</a:t>
            </a:r>
          </a:p>
          <a:p>
            <a:pPr>
              <a:spcAft>
                <a:spcPts val="0"/>
              </a:spcAft>
            </a:pPr>
            <a:r>
              <a:rPr sz="1200">
                <a:solidFill>
                  <a:srgbClr val="E6E6EF"/>
                </a:solidFill>
                <a:latin typeface="Consolas"/>
              </a:rPr>
              <a:t>    out &lt;&lt; entry.label_ &lt;&lt; "=" &lt;&lt; entry.value_;</a:t>
            </a:r>
          </a:p>
          <a:p>
            <a:pPr>
              <a:spcAft>
                <a:spcPts val="0"/>
              </a:spcAft>
            </a:pPr>
            <a:r>
              <a:rPr sz="1200">
                <a:solidFill>
                  <a:srgbClr val="E6E6EF"/>
                </a:solidFill>
                <a:latin typeface="Consolas"/>
              </a:rPr>
              <a:t>    return out;</a:t>
            </a:r>
          </a:p>
          <a:p>
            <a:pPr>
              <a:spcAft>
                <a:spcPts val="0"/>
              </a:spcAft>
            </a:pPr>
            <a:r>
              <a:rPr sz="1200">
                <a:solidFill>
                  <a:srgbClr val="E6E6EF"/>
                </a:solidFill>
                <a:latin typeface="Consola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9</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1</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1D2330"/>
                </a:solidFill>
                <a:latin typeface="Calibri"/>
              </a:rPr>
              <a:t>Given </a:t>
            </a:r>
            <a:r>
              <a:rPr sz="1800" b="0">
                <a:solidFill>
                  <a:srgbClr val="4B2E83"/>
                </a:solidFill>
                <a:latin typeface="Consolas"/>
              </a:rPr>
              <a:t>template &lt;typename T&gt; T maxOf(T a, T b)</a:t>
            </a:r>
            <a:r>
              <a:rPr sz="1800" b="0">
                <a:solidFill>
                  <a:srgbClr val="1D2330"/>
                </a:solidFill>
                <a:latin typeface="Calibri"/>
              </a:rPr>
              <a:t>, does </a:t>
            </a:r>
            <a:r>
              <a:rPr sz="1800" b="0">
                <a:solidFill>
                  <a:srgbClr val="4B2E83"/>
                </a:solidFill>
                <a:latin typeface="Consolas"/>
              </a:rPr>
              <a:t>maxOf(3, 4.5)</a:t>
            </a:r>
            <a:r>
              <a:rPr sz="1800" b="0">
                <a:solidFill>
                  <a:srgbClr val="1D2330"/>
                </a:solidFill>
                <a:latin typeface="Calibri"/>
              </a:rPr>
              <a:t> compile?</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What must </a:t>
            </a:r>
            <a:r>
              <a:rPr sz="1800" b="0">
                <a:solidFill>
                  <a:srgbClr val="4B2E83"/>
                </a:solidFill>
                <a:latin typeface="Consolas"/>
              </a:rPr>
              <a:t>Rational</a:t>
            </a:r>
            <a:r>
              <a:rPr sz="1800" b="0">
                <a:solidFill>
                  <a:srgbClr val="1D2330"/>
                </a:solidFill>
                <a:latin typeface="Calibri"/>
              </a:rPr>
              <a:t> provide so that an array of </a:t>
            </a:r>
            <a:r>
              <a:rPr sz="1800" b="0">
                <a:solidFill>
                  <a:srgbClr val="4B2E83"/>
                </a:solidFill>
                <a:latin typeface="Consolas"/>
              </a:rPr>
              <a:t>Entry&lt;Rational&gt;</a:t>
            </a:r>
            <a:r>
              <a:rPr sz="1800" b="0">
                <a:solidFill>
                  <a:srgbClr val="1D2330"/>
                </a:solidFill>
                <a:latin typeface="Calibri"/>
              </a:rPr>
              <a:t> can be sorted and printed?</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Member definitions in </a:t>
            </a:r>
            <a:r>
              <a:rPr sz="1800" b="0">
                <a:solidFill>
                  <a:srgbClr val="4B2E83"/>
                </a:solidFill>
                <a:latin typeface="Consolas"/>
              </a:rPr>
              <a:t>Stack.cpp</a:t>
            </a:r>
            <a:r>
              <a:rPr sz="1800" b="0">
                <a:solidFill>
                  <a:srgbClr val="1D2330"/>
                </a:solidFill>
                <a:latin typeface="Calibri"/>
              </a:rPr>
              <a:t> give </a:t>
            </a:r>
            <a:r>
              <a:rPr sz="1800" b="0">
                <a:solidFill>
                  <a:srgbClr val="4B2E83"/>
                </a:solidFill>
                <a:latin typeface="Consolas"/>
              </a:rPr>
              <a:t>undefined reference to Stack&lt;int&gt;::push(int const&amp;)</a:t>
            </a:r>
            <a:r>
              <a:rPr sz="1800" b="0">
                <a:solidFill>
                  <a:srgbClr val="1D2330"/>
                </a:solidFill>
                <a:latin typeface="Calibri"/>
              </a:rPr>
              <a:t>. Why? The fix?</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What's wrong with </a:t>
            </a:r>
            <a:r>
              <a:rPr sz="1800" b="0">
                <a:solidFill>
                  <a:srgbClr val="4B2E83"/>
                </a:solidFill>
                <a:latin typeface="Consolas"/>
              </a:rPr>
              <a:t>vector&lt;int&gt; v; v[0] = 5;</a:t>
            </a:r>
            <a:r>
              <a:rPr sz="1800" b="0">
                <a:solidFill>
                  <a:srgbClr val="1D2330"/>
                </a:solidFill>
                <a:latin typeface="Calibri"/>
              </a:rPr>
              <a:t>?</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10</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4 Exercise 1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1</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2</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The rule of three</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C++ copies objects by default, and the default copy is wrong for a class that owns memory</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Tell a shallow copy from a deep copy, in a memory diagram</a:t>
            </a:r>
          </a:p>
          <a:p>
            <a:pPr marL="256032" indent="-228600">
              <a:spcAft>
                <a:spcPts val="600"/>
              </a:spcAft>
              <a:buClr>
                <a:srgbClr val="5B6475"/>
              </a:buClr>
              <a:buChar char="›"/>
            </a:pPr>
            <a:r>
              <a:rPr sz="2000" b="0">
                <a:solidFill>
                  <a:srgbClr val="FFFFFF"/>
                </a:solidFill>
                <a:latin typeface="Calibri"/>
              </a:rPr>
              <a:t>Explain why the compiler-written copy breaks a class that owns memory</a:t>
            </a:r>
          </a:p>
          <a:p>
            <a:pPr marL="256032" indent="-228600">
              <a:spcAft>
                <a:spcPts val="600"/>
              </a:spcAft>
              <a:buClr>
                <a:srgbClr val="5B6475"/>
              </a:buClr>
              <a:buChar char="›"/>
            </a:pPr>
            <a:r>
              <a:rPr sz="2000" b="0">
                <a:solidFill>
                  <a:srgbClr val="FFFFFF"/>
                </a:solidFill>
                <a:latin typeface="Calibri"/>
              </a:rPr>
              <a:t>Write a deep-copying copy constructor and </a:t>
            </a:r>
            <a:r>
              <a:rPr sz="2000" b="0">
                <a:solidFill>
                  <a:srgbClr val="C5B4E3"/>
                </a:solidFill>
                <a:latin typeface="Consolas"/>
              </a:rPr>
              <a:t>operator=</a:t>
            </a:r>
            <a:r>
              <a:rPr sz="2000" b="0">
                <a:solidFill>
                  <a:srgbClr val="FFFFFF"/>
                </a:solidFill>
                <a:latin typeface="Calibri"/>
              </a:rPr>
              <a:t>, or forbid copying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12</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Shallow vs. deep copy</a:t>
            </a:r>
          </a:p>
        </p:txBody>
      </p:sp>
      <p:pic>
        <p:nvPicPr>
          <p:cNvPr id="6" name="Picture 5" descr="lab4_memfig.png"/>
          <p:cNvPicPr>
            <a:picLocks noChangeAspect="1"/>
          </p:cNvPicPr>
          <p:nvPr/>
        </p:nvPicPr>
        <p:blipFill>
          <a:blip r:embed="rId2"/>
          <a:stretch>
            <a:fillRect/>
          </a:stretch>
        </p:blipFill>
        <p:spPr>
          <a:xfrm>
            <a:off x="548640" y="1188720"/>
            <a:ext cx="11094415" cy="2477625"/>
          </a:xfrm>
          <a:prstGeom prst="rect">
            <a:avLst/>
          </a:prstGeom>
        </p:spPr>
      </p:pic>
      <p:sp>
        <p:nvSpPr>
          <p:cNvPr id="7" name="TextBox 6"/>
          <p:cNvSpPr txBox="1"/>
          <p:nvPr/>
        </p:nvSpPr>
        <p:spPr>
          <a:xfrm>
            <a:off x="548640" y="3739497"/>
            <a:ext cx="11094415" cy="411480"/>
          </a:xfrm>
          <a:prstGeom prst="rect">
            <a:avLst/>
          </a:prstGeom>
          <a:noFill/>
        </p:spPr>
        <p:txBody>
          <a:bodyPr wrap="square" lIns="0" rIns="0" tIns="0" bIns="0" anchor="t">
            <a:spAutoFit/>
          </a:bodyPr>
          <a:lstStyle/>
          <a:p>
            <a:pPr algn="ctr"/>
            <a:r>
              <a:rPr sz="1400" b="0">
                <a:solidFill>
                  <a:srgbClr val="5B6475"/>
                </a:solidFill>
                <a:latin typeface="Calibri"/>
              </a:rPr>
              <a:t>Example 2.1.shallow_vs_deep: after original[0] = 99, shallow (same address) sees 99; deep (its own array) keeps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13</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The compiler's copy is shallow</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A class that allocates memory owns it and frees it in its destructor</a:t>
            </a:r>
          </a:p>
          <a:p>
            <a:pPr marL="256032" indent="-228600">
              <a:spcAft>
                <a:spcPts val="800"/>
              </a:spcAft>
              <a:buClr>
                <a:srgbClr val="5B6475"/>
              </a:buClr>
              <a:buChar char="•"/>
            </a:pPr>
            <a:r>
              <a:rPr sz="1800" b="0">
                <a:solidFill>
                  <a:srgbClr val="1D2330"/>
                </a:solidFill>
                <a:latin typeface="Calibri"/>
              </a:rPr>
              <a:t>No copy constructor? The compiler writes one that copies each member</a:t>
            </a:r>
          </a:p>
          <a:p>
            <a:pPr marL="256032" indent="-228600">
              <a:spcAft>
                <a:spcPts val="800"/>
              </a:spcAft>
              <a:buClr>
                <a:srgbClr val="5B6475"/>
              </a:buClr>
              <a:buChar char="•"/>
            </a:pPr>
            <a:r>
              <a:rPr sz="1800" b="0">
                <a:solidFill>
                  <a:srgbClr val="1D2330"/>
                </a:solidFill>
                <a:latin typeface="Calibri"/>
              </a:rPr>
              <a:t>A pointer member is copied as an address: two objects, one array</a:t>
            </a:r>
          </a:p>
          <a:p>
            <a:pPr marL="256032" indent="-228600">
              <a:spcAft>
                <a:spcPts val="800"/>
              </a:spcAft>
              <a:buClr>
                <a:srgbClr val="5B6475"/>
              </a:buClr>
              <a:buChar char="•"/>
            </a:pPr>
            <a:r>
              <a:rPr sz="1800" b="0">
                <a:solidFill>
                  <a:srgbClr val="1D2330"/>
                </a:solidFill>
                <a:latin typeface="Calibri"/>
              </a:rPr>
              <a:t>Change one and the other changes; destroy both and the array is freed twice</a:t>
            </a:r>
          </a:p>
        </p:txBody>
      </p:sp>
      <p:sp>
        <p:nvSpPr>
          <p:cNvPr id="7" name="Rounded Rectangle 6"/>
          <p:cNvSpPr/>
          <p:nvPr/>
        </p:nvSpPr>
        <p:spPr>
          <a:xfrm>
            <a:off x="5972110" y="1325880"/>
            <a:ext cx="5670944" cy="370332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337560"/>
          </a:xfrm>
          <a:prstGeom prst="rect">
            <a:avLst/>
          </a:prstGeom>
          <a:noFill/>
        </p:spPr>
        <p:txBody>
          <a:bodyPr wrap="none" lIns="0" rIns="0" tIns="0" bIns="0" anchor="t">
            <a:spAutoFit/>
          </a:bodyPr>
          <a:lstStyle/>
          <a:p>
            <a:pPr>
              <a:spcAft>
                <a:spcPts val="0"/>
              </a:spcAft>
            </a:pPr>
            <a:r>
              <a:rPr sz="1200">
                <a:solidFill>
                  <a:srgbClr val="E6E6EF"/>
                </a:solidFill>
                <a:latin typeface="Consolas"/>
              </a:rPr>
              <a:t>class Numbers {</a:t>
            </a:r>
          </a:p>
          <a:p>
            <a:pPr>
              <a:spcAft>
                <a:spcPts val="0"/>
              </a:spcAft>
            </a:pPr>
            <a:r>
              <a:rPr sz="1200">
                <a:solidFill>
                  <a:srgbClr val="E6E6EF"/>
                </a:solidFill>
                <a:latin typeface="Consolas"/>
              </a:rPr>
              <a:t>public:</a:t>
            </a:r>
          </a:p>
          <a:p>
            <a:pPr>
              <a:spcAft>
                <a:spcPts val="0"/>
              </a:spcAft>
            </a:pPr>
            <a:r>
              <a:rPr sz="1200">
                <a:solidFill>
                  <a:srgbClr val="E6E6EF"/>
                </a:solidFill>
                <a:latin typeface="Consolas"/>
              </a:rPr>
              <a:t>    explicit Numbers(int n)</a:t>
            </a:r>
          </a:p>
          <a:p>
            <a:pPr>
              <a:spcAft>
                <a:spcPts val="0"/>
              </a:spcAft>
            </a:pPr>
            <a:r>
              <a:rPr sz="1200">
                <a:solidFill>
                  <a:srgbClr val="E6E6EF"/>
                </a:solidFill>
                <a:latin typeface="Consolas"/>
              </a:rPr>
              <a:t>        : data_(new int[n]()), size_(n) {}</a:t>
            </a:r>
          </a:p>
          <a:p>
            <a:pPr>
              <a:spcAft>
                <a:spcPts val="0"/>
              </a:spcAft>
            </a:pPr>
            <a:r>
              <a:rPr sz="1200">
                <a:solidFill>
                  <a:srgbClr val="E6E6EF"/>
                </a:solidFill>
                <a:latin typeface="Consolas"/>
              </a:rPr>
              <a:t>    ~Numbers() { delete[] data_; }</a:t>
            </a:r>
          </a:p>
          <a:p>
            <a:pPr>
              <a:spcAft>
                <a:spcPts val="0"/>
              </a:spcAft>
            </a:pPr>
            <a:r>
              <a:rPr sz="1200">
                <a:solidFill>
                  <a:srgbClr val="E6E6EF"/>
                </a:solidFill>
                <a:latin typeface="Consolas"/>
              </a:rPr>
              <a:t>    void set(int i, int value) { data_[i] = value; }</a:t>
            </a:r>
          </a:p>
          <a:p>
            <a:pPr>
              <a:spcAft>
                <a:spcPts val="0"/>
              </a:spcAft>
            </a:pPr>
            <a:r>
              <a:rPr sz="1200">
                <a:solidFill>
                  <a:srgbClr val="E6E6EF"/>
                </a:solidFill>
                <a:latin typeface="Consolas"/>
              </a:rPr>
              <a:t>    int get(int i) const { return data_[i]; }</a:t>
            </a:r>
          </a:p>
          <a:p>
            <a:pPr>
              <a:spcAft>
                <a:spcPts val="0"/>
              </a:spcAft>
            </a:pPr>
            <a:r>
              <a:rPr sz="1200">
                <a:solidFill>
                  <a:srgbClr val="E6E6EF"/>
                </a:solidFill>
                <a:latin typeface="Consolas"/>
              </a:rPr>
              <a:t>private:</a:t>
            </a:r>
          </a:p>
          <a:p>
            <a:pPr>
              <a:spcAft>
                <a:spcPts val="0"/>
              </a:spcAft>
            </a:pPr>
            <a:r>
              <a:rPr sz="1200">
                <a:solidFill>
                  <a:srgbClr val="E6E6EF"/>
                </a:solidFill>
                <a:latin typeface="Consolas"/>
              </a:rPr>
              <a:t>    int *data_;</a:t>
            </a:r>
          </a:p>
          <a:p>
            <a:pPr>
              <a:spcAft>
                <a:spcPts val="0"/>
              </a:spcAft>
            </a:pPr>
            <a:r>
              <a:rPr sz="1200">
                <a:solidFill>
                  <a:srgbClr val="E6E6EF"/>
                </a:solidFill>
                <a:latin typeface="Consolas"/>
              </a:rPr>
              <a:t>    int size_;</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Numbers a(3);</a:t>
            </a:r>
          </a:p>
          <a:p>
            <a:pPr>
              <a:spcAft>
                <a:spcPts val="0"/>
              </a:spcAft>
            </a:pPr>
            <a:r>
              <a:rPr sz="1200">
                <a:solidFill>
                  <a:srgbClr val="E6E6EF"/>
                </a:solidFill>
                <a:latin typeface="Consolas"/>
              </a:rPr>
              <a:t>a.set(0, 10);</a:t>
            </a:r>
          </a:p>
          <a:p>
            <a:pPr>
              <a:spcAft>
                <a:spcPts val="0"/>
              </a:spcAft>
            </a:pPr>
            <a:r>
              <a:rPr sz="1200">
                <a:solidFill>
                  <a:srgbClr val="E6E6EF"/>
                </a:solidFill>
                <a:latin typeface="Consolas"/>
              </a:rPr>
              <a:t>Numbers b = a;     </a:t>
            </a:r>
            <a:r>
              <a:rPr sz="1200">
                <a:solidFill>
                  <a:srgbClr val="9AA4B5"/>
                </a:solidFill>
                <a:latin typeface="Consolas"/>
              </a:rPr>
              <a:t>// b.data_ is a.data_: ONE array</a:t>
            </a:r>
          </a:p>
          <a:p>
            <a:pPr>
              <a:spcAft>
                <a:spcPts val="0"/>
              </a:spcAft>
            </a:pPr>
            <a:r>
              <a:rPr sz="1200">
                <a:solidFill>
                  <a:srgbClr val="E6E6EF"/>
                </a:solidFill>
                <a:latin typeface="Consolas"/>
              </a:rPr>
              <a:t>b.set(0, 99);      </a:t>
            </a:r>
            <a:r>
              <a:rPr sz="1200">
                <a:solidFill>
                  <a:srgbClr val="9AA4B5"/>
                </a:solidFill>
                <a:latin typeface="Consolas"/>
              </a:rPr>
              <a:t>// a.get(0) is now 99 too</a:t>
            </a:r>
          </a:p>
          <a:p>
            <a:pPr>
              <a:spcAft>
                <a:spcPts val="0"/>
              </a:spcAft>
            </a:pPr>
            <a:r>
              <a:rPr sz="1200">
                <a:solidFill>
                  <a:srgbClr val="E6E6EF"/>
                </a:solidFill>
                <a:latin typeface="Consolas"/>
              </a:rPr>
              <a:t>                   </a:t>
            </a:r>
            <a:r>
              <a:rPr sz="1200">
                <a:solidFill>
                  <a:srgbClr val="9AA4B5"/>
                </a:solidFill>
                <a:latin typeface="Consolas"/>
              </a:rPr>
              <a:t>// end of main: ~b, then ~a</a:t>
            </a:r>
          </a:p>
          <a:p>
            <a:pPr>
              <a:spcAft>
                <a:spcPts val="0"/>
              </a:spcAft>
            </a:pPr>
            <a:r>
              <a:rPr sz="1200">
                <a:solidFill>
                  <a:srgbClr val="E6E6EF"/>
                </a:solidFill>
                <a:latin typeface="Consolas"/>
              </a:rPr>
              <a:t>                   </a:t>
            </a:r>
            <a:r>
              <a:rPr sz="1200">
                <a:solidFill>
                  <a:srgbClr val="9AA4B5"/>
                </a:solidFill>
                <a:latin typeface="Consolas"/>
              </a:rPr>
              <a:t>// free(): double free detected</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2.2.shallow_copy: exit code 134; valgrind points at both deletes.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14</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The rule of three, done right</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Same </a:t>
            </a:r>
            <a:r>
              <a:rPr sz="1800" b="0">
                <a:solidFill>
                  <a:srgbClr val="4B2E83"/>
                </a:solidFill>
                <a:latin typeface="Consolas"/>
              </a:rPr>
              <a:t>Numbers</a:t>
            </a:r>
            <a:r>
              <a:rPr sz="1800" b="0">
                <a:solidFill>
                  <a:srgbClr val="1D2330"/>
                </a:solidFill>
                <a:latin typeface="Calibri"/>
              </a:rPr>
              <a:t>, plus the two functions it was missing</a:t>
            </a:r>
          </a:p>
          <a:p>
            <a:pPr marL="256032" indent="-228600">
              <a:spcAft>
                <a:spcPts val="800"/>
              </a:spcAft>
              <a:buClr>
                <a:srgbClr val="5B6475"/>
              </a:buClr>
              <a:buChar char="•"/>
            </a:pPr>
            <a:r>
              <a:rPr sz="1800" b="0">
                <a:solidFill>
                  <a:srgbClr val="1D2330"/>
                </a:solidFill>
                <a:latin typeface="Calibri"/>
              </a:rPr>
              <a:t>Copy constructor: a NEW object gets its own array and copies the values</a:t>
            </a:r>
          </a:p>
          <a:p>
            <a:pPr marL="256032" indent="-228600">
              <a:spcAft>
                <a:spcPts val="800"/>
              </a:spcAft>
              <a:buClr>
                <a:srgbClr val="5B6475"/>
              </a:buClr>
              <a:buChar char="•"/>
            </a:pPr>
            <a:r>
              <a:rPr sz="1800" b="0">
                <a:solidFill>
                  <a:srgbClr val="4B2E83"/>
                </a:solidFill>
                <a:latin typeface="Consolas"/>
              </a:rPr>
              <a:t>operator=</a:t>
            </a:r>
            <a:r>
              <a:rPr sz="1800" b="0">
                <a:solidFill>
                  <a:srgbClr val="1D2330"/>
                </a:solidFill>
                <a:latin typeface="Calibri"/>
              </a:rPr>
              <a:t>: the object already owns an array. Skip </a:t>
            </a:r>
            <a:r>
              <a:rPr sz="1800" b="0">
                <a:solidFill>
                  <a:srgbClr val="4B2E83"/>
                </a:solidFill>
                <a:latin typeface="Consolas"/>
              </a:rPr>
              <a:t>a = a</a:t>
            </a:r>
            <a:r>
              <a:rPr sz="1800" b="0">
                <a:solidFill>
                  <a:srgbClr val="1D2330"/>
                </a:solidFill>
                <a:latin typeface="Calibri"/>
              </a:rPr>
              <a:t>; copy first, then delete the old array; return </a:t>
            </a:r>
            <a:r>
              <a:rPr sz="1800" b="0">
                <a:solidFill>
                  <a:srgbClr val="4B2E83"/>
                </a:solidFill>
                <a:latin typeface="Consolas"/>
              </a:rPr>
              <a:t>*this</a:t>
            </a:r>
            <a:r>
              <a:rPr sz="1800" b="0">
                <a:solidFill>
                  <a:srgbClr val="1D2330"/>
                </a:solidFill>
                <a:latin typeface="Calibri"/>
              </a:rPr>
              <a:t> so </a:t>
            </a:r>
            <a:r>
              <a:rPr sz="1800" b="0">
                <a:solidFill>
                  <a:srgbClr val="4B2E83"/>
                </a:solidFill>
                <a:latin typeface="Consolas"/>
              </a:rPr>
              <a:t>c = b = a</a:t>
            </a:r>
            <a:r>
              <a:rPr sz="1800" b="0">
                <a:solidFill>
                  <a:srgbClr val="1D2330"/>
                </a:solidFill>
                <a:latin typeface="Calibri"/>
              </a:rPr>
              <a:t> works</a:t>
            </a:r>
          </a:p>
          <a:p>
            <a:pPr marL="256032" indent="-228600">
              <a:spcAft>
                <a:spcPts val="800"/>
              </a:spcAft>
              <a:buClr>
                <a:srgbClr val="5B6475"/>
              </a:buClr>
              <a:buChar char="•"/>
            </a:pPr>
            <a:r>
              <a:rPr sz="1800" b="0">
                <a:solidFill>
                  <a:srgbClr val="1D2330"/>
                </a:solidFill>
                <a:latin typeface="Calibri"/>
              </a:rPr>
              <a:t>Need one of destructor, copy constructor, </a:t>
            </a:r>
            <a:r>
              <a:rPr sz="1800" b="0">
                <a:solidFill>
                  <a:srgbClr val="4B2E83"/>
                </a:solidFill>
                <a:latin typeface="Consolas"/>
              </a:rPr>
              <a:t>operator=</a:t>
            </a:r>
            <a:r>
              <a:rPr sz="1800" b="0">
                <a:solidFill>
                  <a:srgbClr val="1D2330"/>
                </a:solidFill>
                <a:latin typeface="Calibri"/>
              </a:rPr>
              <a:t>? You need all three</a:t>
            </a:r>
          </a:p>
        </p:txBody>
      </p:sp>
      <p:sp>
        <p:nvSpPr>
          <p:cNvPr id="7" name="Rounded Rectangle 6"/>
          <p:cNvSpPr/>
          <p:nvPr/>
        </p:nvSpPr>
        <p:spPr>
          <a:xfrm>
            <a:off x="5972110" y="1325880"/>
            <a:ext cx="5670944" cy="3886199"/>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520439"/>
          </a:xfrm>
          <a:prstGeom prst="rect">
            <a:avLst/>
          </a:prstGeom>
          <a:noFill/>
        </p:spPr>
        <p:txBody>
          <a:bodyPr wrap="none" lIns="0" rIns="0" tIns="0" bIns="0" anchor="t">
            <a:spAutoFit/>
          </a:bodyPr>
          <a:lstStyle/>
          <a:p>
            <a:pPr>
              <a:spcAft>
                <a:spcPts val="0"/>
              </a:spcAft>
            </a:pPr>
            <a:r>
              <a:rPr sz="1200">
                <a:solidFill>
                  <a:srgbClr val="E6E6EF"/>
                </a:solidFill>
                <a:latin typeface="Consolas"/>
              </a:rPr>
              <a:t>Numbers(const Numbers &amp;other)</a:t>
            </a:r>
          </a:p>
          <a:p>
            <a:pPr>
              <a:spcAft>
                <a:spcPts val="0"/>
              </a:spcAft>
            </a:pPr>
            <a:r>
              <a:rPr sz="1200">
                <a:solidFill>
                  <a:srgbClr val="E6E6EF"/>
                </a:solidFill>
                <a:latin typeface="Consolas"/>
              </a:rPr>
              <a:t>    : data_(new int[other.size_]), size_(other.size_) {</a:t>
            </a:r>
          </a:p>
          <a:p>
            <a:pPr>
              <a:spcAft>
                <a:spcPts val="0"/>
              </a:spcAft>
            </a:pPr>
            <a:r>
              <a:rPr sz="1200">
                <a:solidFill>
                  <a:srgbClr val="E6E6EF"/>
                </a:solidFill>
                <a:latin typeface="Consolas"/>
              </a:rPr>
              <a:t>    for (int i = 0; i &lt; size_; i++) {</a:t>
            </a:r>
          </a:p>
          <a:p>
            <a:pPr>
              <a:spcAft>
                <a:spcPts val="0"/>
              </a:spcAft>
            </a:pPr>
            <a:r>
              <a:rPr sz="1200">
                <a:solidFill>
                  <a:srgbClr val="E6E6EF"/>
                </a:solidFill>
                <a:latin typeface="Consolas"/>
              </a:rPr>
              <a:t>        data_[i] = other.data_[i];</a:t>
            </a:r>
          </a:p>
          <a:p>
            <a:pPr>
              <a:spcAft>
                <a:spcPts val="0"/>
              </a:spcAft>
            </a:pPr>
            <a:r>
              <a:rPr sz="1200">
                <a:solidFill>
                  <a:srgbClr val="E6E6EF"/>
                </a:solidFill>
                <a:latin typeface="Consolas"/>
              </a:rPr>
              <a:t>    }</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Numbers &amp;operator=(const Numbers &amp;other) {</a:t>
            </a:r>
          </a:p>
          <a:p>
            <a:pPr>
              <a:spcAft>
                <a:spcPts val="0"/>
              </a:spcAft>
            </a:pPr>
            <a:r>
              <a:rPr sz="1200">
                <a:solidFill>
                  <a:srgbClr val="E6E6EF"/>
                </a:solidFill>
                <a:latin typeface="Consolas"/>
              </a:rPr>
              <a:t>    if (this != &amp;other) {</a:t>
            </a:r>
          </a:p>
          <a:p>
            <a:pPr>
              <a:spcAft>
                <a:spcPts val="0"/>
              </a:spcAft>
            </a:pPr>
            <a:r>
              <a:rPr sz="1200">
                <a:solidFill>
                  <a:srgbClr val="E6E6EF"/>
                </a:solidFill>
                <a:latin typeface="Consolas"/>
              </a:rPr>
              <a:t>        int *copy = new int[other.size_];</a:t>
            </a:r>
          </a:p>
          <a:p>
            <a:pPr>
              <a:spcAft>
                <a:spcPts val="0"/>
              </a:spcAft>
            </a:pPr>
            <a:r>
              <a:rPr sz="1200">
                <a:solidFill>
                  <a:srgbClr val="E6E6EF"/>
                </a:solidFill>
                <a:latin typeface="Consolas"/>
              </a:rPr>
              <a:t>        for (int i = 0; i &lt; other.size_; i++) {</a:t>
            </a:r>
          </a:p>
          <a:p>
            <a:pPr>
              <a:spcAft>
                <a:spcPts val="0"/>
              </a:spcAft>
            </a:pPr>
            <a:r>
              <a:rPr sz="1200">
                <a:solidFill>
                  <a:srgbClr val="E6E6EF"/>
                </a:solidFill>
                <a:latin typeface="Consolas"/>
              </a:rPr>
              <a:t>            copy[i] = other.data_[i];</a:t>
            </a:r>
          </a:p>
          <a:p>
            <a:pPr>
              <a:spcAft>
                <a:spcPts val="0"/>
              </a:spcAft>
            </a:pPr>
            <a:r>
              <a:rPr sz="1200">
                <a:solidFill>
                  <a:srgbClr val="E6E6EF"/>
                </a:solidFill>
                <a:latin typeface="Consolas"/>
              </a:rPr>
              <a:t>        }</a:t>
            </a:r>
          </a:p>
          <a:p>
            <a:pPr>
              <a:spcAft>
                <a:spcPts val="0"/>
              </a:spcAft>
            </a:pPr>
            <a:r>
              <a:rPr sz="1200">
                <a:solidFill>
                  <a:srgbClr val="E6E6EF"/>
                </a:solidFill>
                <a:latin typeface="Consolas"/>
              </a:rPr>
              <a:t>        delete[] data_;</a:t>
            </a:r>
          </a:p>
          <a:p>
            <a:pPr>
              <a:spcAft>
                <a:spcPts val="0"/>
              </a:spcAft>
            </a:pPr>
            <a:r>
              <a:rPr sz="1200">
                <a:solidFill>
                  <a:srgbClr val="E6E6EF"/>
                </a:solidFill>
                <a:latin typeface="Consolas"/>
              </a:rPr>
              <a:t>        data_ = copy;</a:t>
            </a:r>
          </a:p>
          <a:p>
            <a:pPr>
              <a:spcAft>
                <a:spcPts val="0"/>
              </a:spcAft>
            </a:pPr>
            <a:r>
              <a:rPr sz="1200">
                <a:solidFill>
                  <a:srgbClr val="E6E6EF"/>
                </a:solidFill>
                <a:latin typeface="Consolas"/>
              </a:rPr>
              <a:t>        size_ = other.size_;</a:t>
            </a:r>
          </a:p>
          <a:p>
            <a:pPr>
              <a:spcAft>
                <a:spcPts val="0"/>
              </a:spcAft>
            </a:pPr>
            <a:r>
              <a:rPr sz="1200">
                <a:solidFill>
                  <a:srgbClr val="E6E6EF"/>
                </a:solidFill>
                <a:latin typeface="Consolas"/>
              </a:rPr>
              <a:t>    }</a:t>
            </a:r>
          </a:p>
          <a:p>
            <a:pPr>
              <a:spcAft>
                <a:spcPts val="0"/>
              </a:spcAft>
            </a:pPr>
            <a:r>
              <a:rPr sz="1200">
                <a:solidFill>
                  <a:srgbClr val="E6E6EF"/>
                </a:solidFill>
                <a:latin typeface="Consolas"/>
              </a:rPr>
              <a:t>    return *this;</a:t>
            </a:r>
          </a:p>
          <a:p>
            <a:pPr>
              <a:spcAft>
                <a:spcPts val="0"/>
              </a:spcAft>
            </a:pPr>
            <a:r>
              <a:rPr sz="1200">
                <a:solidFill>
                  <a:srgbClr val="E6E6EF"/>
                </a:solidFill>
                <a:latin typeface="Consolas"/>
              </a:rPr>
              <a:t>}</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2.3.rule_of_three: same main as 2.2, and now a keeps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15</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Copy constructor or operator=?</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Copy constructor: a NEW object</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Numbers b = a;</a:t>
            </a:r>
            <a:r>
              <a:rPr sz="1700" b="0">
                <a:solidFill>
                  <a:srgbClr val="1D2330"/>
                </a:solidFill>
                <a:latin typeface="Calibri"/>
              </a:rPr>
              <a:t> and </a:t>
            </a:r>
            <a:r>
              <a:rPr sz="1700" b="0">
                <a:solidFill>
                  <a:srgbClr val="4B2E83"/>
                </a:solidFill>
                <a:latin typeface="Consolas"/>
              </a:rPr>
              <a:t>Numbers b(a);</a:t>
            </a:r>
          </a:p>
          <a:p>
            <a:pPr marL="256032" indent="-228600">
              <a:spcAft>
                <a:spcPts val="800"/>
              </a:spcAft>
              <a:buClr>
                <a:srgbClr val="5B6475"/>
              </a:buClr>
              <a:buChar char="•"/>
            </a:pPr>
            <a:r>
              <a:rPr sz="1700" b="0">
                <a:solidFill>
                  <a:srgbClr val="1D2330"/>
                </a:solidFill>
                <a:latin typeface="Calibri"/>
              </a:rPr>
              <a:t>Passing or returning by value</a:t>
            </a:r>
          </a:p>
          <a:p>
            <a:pPr marL="256032" indent="-228600">
              <a:spcAft>
                <a:spcPts val="800"/>
              </a:spcAft>
              <a:buClr>
                <a:srgbClr val="5B6475"/>
              </a:buClr>
              <a:buChar char="•"/>
            </a:pPr>
            <a:r>
              <a:rPr sz="1700" b="0">
                <a:solidFill>
                  <a:srgbClr val="1D2330"/>
                </a:solidFill>
                <a:latin typeface="Calibri"/>
              </a:rPr>
              <a:t>Nothing to clean up: the object is brand new</a:t>
            </a:r>
          </a:p>
          <a:p>
            <a:pPr marL="256032" indent="-228600">
              <a:spcAft>
                <a:spcPts val="800"/>
              </a:spcAft>
              <a:buClr>
                <a:srgbClr val="5B6475"/>
              </a:buClr>
              <a:buChar char="•"/>
            </a:pPr>
            <a:r>
              <a:rPr sz="1700" b="0">
                <a:solidFill>
                  <a:srgbClr val="1D2330"/>
                </a:solidFill>
                <a:latin typeface="Calibri"/>
              </a:rPr>
              <a:t>Not for </a:t>
            </a:r>
            <a:r>
              <a:rPr sz="1700" b="0">
                <a:solidFill>
                  <a:srgbClr val="4B2E83"/>
                </a:solidFill>
                <a:latin typeface="Consolas"/>
              </a:rPr>
              <a:t>const&amp;</a:t>
            </a:r>
            <a:r>
              <a:rPr sz="1700" b="0">
                <a:solidFill>
                  <a:srgbClr val="1D2330"/>
                </a:solidFill>
                <a:latin typeface="Calibri"/>
              </a:rPr>
              <a:t> parameters: no copy at all</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operator=: an object that already EXISTS</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c = a;</a:t>
            </a:r>
            <a:r>
              <a:rPr sz="1700" b="0">
                <a:solidFill>
                  <a:srgbClr val="1D2330"/>
                </a:solidFill>
                <a:latin typeface="Calibri"/>
              </a:rPr>
              <a:t> when </a:t>
            </a:r>
            <a:r>
              <a:rPr sz="1700" b="0">
                <a:solidFill>
                  <a:srgbClr val="4B2E83"/>
                </a:solidFill>
                <a:latin typeface="Consolas"/>
              </a:rPr>
              <a:t>c</a:t>
            </a:r>
            <a:r>
              <a:rPr sz="1700" b="0">
                <a:solidFill>
                  <a:srgbClr val="1D2330"/>
                </a:solidFill>
                <a:latin typeface="Calibri"/>
              </a:rPr>
              <a:t> already owns memory</a:t>
            </a:r>
          </a:p>
          <a:p>
            <a:pPr marL="256032" indent="-228600">
              <a:spcAft>
                <a:spcPts val="800"/>
              </a:spcAft>
              <a:buClr>
                <a:srgbClr val="5B6475"/>
              </a:buClr>
              <a:buChar char="•"/>
            </a:pPr>
            <a:r>
              <a:rPr sz="1700" b="0">
                <a:solidFill>
                  <a:srgbClr val="1D2330"/>
                </a:solidFill>
                <a:latin typeface="Calibri"/>
              </a:rPr>
              <a:t>Must release the old memory, or it leaks</a:t>
            </a:r>
          </a:p>
          <a:p>
            <a:pPr marL="256032" indent="-228600">
              <a:spcAft>
                <a:spcPts val="800"/>
              </a:spcAft>
              <a:buClr>
                <a:srgbClr val="5B6475"/>
              </a:buClr>
              <a:buChar char="•"/>
            </a:pPr>
            <a:r>
              <a:rPr sz="1700" b="0">
                <a:solidFill>
                  <a:srgbClr val="1D2330"/>
                </a:solidFill>
                <a:latin typeface="Calibri"/>
              </a:rPr>
              <a:t>Must survive </a:t>
            </a:r>
            <a:r>
              <a:rPr sz="1700" b="0">
                <a:solidFill>
                  <a:srgbClr val="4B2E83"/>
                </a:solidFill>
                <a:latin typeface="Consolas"/>
              </a:rPr>
              <a:t>a = a</a:t>
            </a:r>
          </a:p>
          <a:p>
            <a:pPr marL="256032" indent="-228600">
              <a:spcAft>
                <a:spcPts val="800"/>
              </a:spcAft>
              <a:buClr>
                <a:srgbClr val="5B6475"/>
              </a:buClr>
              <a:buChar char="•"/>
            </a:pPr>
            <a:r>
              <a:rPr sz="1700" b="0">
                <a:solidFill>
                  <a:srgbClr val="1D2330"/>
                </a:solidFill>
                <a:latin typeface="Calibri"/>
              </a:rPr>
              <a:t>Returns </a:t>
            </a:r>
            <a:r>
              <a:rPr sz="1700" b="0">
                <a:solidFill>
                  <a:srgbClr val="4B2E83"/>
                </a:solidFill>
                <a:latin typeface="Consolas"/>
              </a:rPr>
              <a:t>*this</a:t>
            </a:r>
            <a:r>
              <a:rPr sz="1700" b="0">
                <a:solidFill>
                  <a:srgbClr val="1D2330"/>
                </a:solidFill>
                <a:latin typeface="Calibri"/>
              </a:rPr>
              <a:t>, so </a:t>
            </a:r>
            <a:r>
              <a:rPr sz="1700" b="0">
                <a:solidFill>
                  <a:srgbClr val="4B2E83"/>
                </a:solidFill>
                <a:latin typeface="Consolas"/>
              </a:rPr>
              <a:t>c = b = a</a:t>
            </a:r>
            <a:r>
              <a:rPr sz="1700" b="0">
                <a:solidFill>
                  <a:srgbClr val="1D2330"/>
                </a:solidFill>
                <a:latin typeface="Calibri"/>
              </a:rPr>
              <a:t> chains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16</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Or forbid copying</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 delete</a:t>
            </a:r>
            <a:r>
              <a:rPr sz="1800" b="0">
                <a:solidFill>
                  <a:srgbClr val="1D2330"/>
                </a:solidFill>
                <a:latin typeface="Calibri"/>
              </a:rPr>
              <a:t> both: the compiler won't write the shallow versions</a:t>
            </a:r>
          </a:p>
          <a:p>
            <a:pPr marL="256032" indent="-228600">
              <a:spcAft>
                <a:spcPts val="800"/>
              </a:spcAft>
              <a:buClr>
                <a:srgbClr val="5B6475"/>
              </a:buClr>
              <a:buChar char="•"/>
            </a:pPr>
            <a:r>
              <a:rPr sz="1800" b="0">
                <a:solidFill>
                  <a:srgbClr val="1D2330"/>
                </a:solidFill>
                <a:latin typeface="Calibri"/>
              </a:rPr>
              <a:t>Any copy is then a compile error, instead of a double free at run time</a:t>
            </a:r>
          </a:p>
          <a:p>
            <a:pPr marL="256032" indent="-228600">
              <a:spcAft>
                <a:spcPts val="800"/>
              </a:spcAft>
              <a:buClr>
                <a:srgbClr val="5B6475"/>
              </a:buClr>
              <a:buChar char="•"/>
            </a:pPr>
            <a:r>
              <a:rPr sz="1800" b="0">
                <a:solidFill>
                  <a:srgbClr val="1D2330"/>
                </a:solidFill>
                <a:latin typeface="Calibri"/>
              </a:rPr>
              <a:t>Passing by </a:t>
            </a:r>
            <a:r>
              <a:rPr sz="1800" b="0">
                <a:solidFill>
                  <a:srgbClr val="4B2E83"/>
                </a:solidFill>
                <a:latin typeface="Consolas"/>
              </a:rPr>
              <a:t>const&amp;</a:t>
            </a:r>
            <a:r>
              <a:rPr sz="1800" b="0">
                <a:solidFill>
                  <a:srgbClr val="1D2330"/>
                </a:solidFill>
                <a:latin typeface="Calibri"/>
              </a:rPr>
              <a:t> makes no copy, so it still works; passing by value doesn't compile</a:t>
            </a:r>
          </a:p>
          <a:p>
            <a:pPr marL="256032" indent="-228600">
              <a:spcAft>
                <a:spcPts val="800"/>
              </a:spcAft>
              <a:buClr>
                <a:srgbClr val="5B6475"/>
              </a:buClr>
              <a:buChar char="•"/>
            </a:pPr>
            <a:r>
              <a:rPr sz="1800" b="0">
                <a:solidFill>
                  <a:srgbClr val="1D2330"/>
                </a:solidFill>
                <a:latin typeface="Calibri"/>
              </a:rPr>
              <a:t>Members that manage themselves (</a:t>
            </a:r>
            <a:r>
              <a:rPr sz="1800" b="0">
                <a:solidFill>
                  <a:srgbClr val="4B2E83"/>
                </a:solidFill>
                <a:latin typeface="Consolas"/>
              </a:rPr>
              <a:t>string</a:t>
            </a:r>
            <a:r>
              <a:rPr sz="1800" b="0">
                <a:solidFill>
                  <a:srgbClr val="1D2330"/>
                </a:solidFill>
                <a:latin typeface="Calibri"/>
              </a:rPr>
              <a:t>, </a:t>
            </a:r>
            <a:r>
              <a:rPr sz="1800" b="0">
                <a:solidFill>
                  <a:srgbClr val="4B2E83"/>
                </a:solidFill>
                <a:latin typeface="Consolas"/>
              </a:rPr>
              <a:t>vector</a:t>
            </a:r>
            <a:r>
              <a:rPr sz="1800" b="0">
                <a:solidFill>
                  <a:srgbClr val="1D2330"/>
                </a:solidFill>
                <a:latin typeface="Calibri"/>
              </a:rPr>
              <a:t>) need none of the three</a:t>
            </a:r>
          </a:p>
        </p:txBody>
      </p:sp>
      <p:sp>
        <p:nvSpPr>
          <p:cNvPr id="7" name="Rounded Rectangle 6"/>
          <p:cNvSpPr/>
          <p:nvPr/>
        </p:nvSpPr>
        <p:spPr>
          <a:xfrm>
            <a:off x="5972110" y="1325880"/>
            <a:ext cx="5670944" cy="333756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971800"/>
          </a:xfrm>
          <a:prstGeom prst="rect">
            <a:avLst/>
          </a:prstGeom>
          <a:noFill/>
        </p:spPr>
        <p:txBody>
          <a:bodyPr wrap="none" lIns="0" rIns="0" tIns="0" bIns="0" anchor="t">
            <a:spAutoFit/>
          </a:bodyPr>
          <a:lstStyle/>
          <a:p>
            <a:pPr>
              <a:spcAft>
                <a:spcPts val="0"/>
              </a:spcAft>
            </a:pPr>
            <a:r>
              <a:rPr sz="1200">
                <a:solidFill>
                  <a:srgbClr val="E6E6EF"/>
                </a:solidFill>
                <a:latin typeface="Consolas"/>
              </a:rPr>
              <a:t>class Numbers {</a:t>
            </a:r>
          </a:p>
          <a:p>
            <a:pPr>
              <a:spcAft>
                <a:spcPts val="0"/>
              </a:spcAft>
            </a:pPr>
            <a:r>
              <a:rPr sz="1200">
                <a:solidFill>
                  <a:srgbClr val="E6E6EF"/>
                </a:solidFill>
                <a:latin typeface="Consolas"/>
              </a:rPr>
              <a:t>public:</a:t>
            </a:r>
          </a:p>
          <a:p>
            <a:pPr>
              <a:spcAft>
                <a:spcPts val="0"/>
              </a:spcAft>
            </a:pPr>
            <a:r>
              <a:rPr sz="1200">
                <a:solidFill>
                  <a:srgbClr val="E6E6EF"/>
                </a:solidFill>
                <a:latin typeface="Consolas"/>
              </a:rPr>
              <a:t>    explicit Numbers(int n)</a:t>
            </a:r>
          </a:p>
          <a:p>
            <a:pPr>
              <a:spcAft>
                <a:spcPts val="0"/>
              </a:spcAft>
            </a:pPr>
            <a:r>
              <a:rPr sz="1200">
                <a:solidFill>
                  <a:srgbClr val="E6E6EF"/>
                </a:solidFill>
                <a:latin typeface="Consolas"/>
              </a:rPr>
              <a:t>        : data_(new int[n]()), size_(n) {}</a:t>
            </a:r>
          </a:p>
          <a:p>
            <a:pPr>
              <a:spcAft>
                <a:spcPts val="0"/>
              </a:spcAft>
            </a:pPr>
            <a:r>
              <a:rPr sz="1200">
                <a:solidFill>
                  <a:srgbClr val="E6E6EF"/>
                </a:solidFill>
                <a:latin typeface="Consolas"/>
              </a:rPr>
              <a:t>    ~Numbers() { delete[] data_; }</a:t>
            </a:r>
          </a:p>
          <a:p>
            <a:pPr>
              <a:spcAft>
                <a:spcPts val="0"/>
              </a:spcAft>
            </a:pPr>
            <a:r>
              <a:rPr sz="1200">
                <a:solidFill>
                  <a:srgbClr val="E6E6EF"/>
                </a:solidFill>
                <a:latin typeface="Consolas"/>
              </a:rPr>
              <a:t>    Numbers(const Numbers &amp;) = delete;</a:t>
            </a:r>
          </a:p>
          <a:p>
            <a:pPr>
              <a:spcAft>
                <a:spcPts val="0"/>
              </a:spcAft>
            </a:pPr>
            <a:r>
              <a:rPr sz="1200">
                <a:solidFill>
                  <a:srgbClr val="E6E6EF"/>
                </a:solidFill>
                <a:latin typeface="Consolas"/>
              </a:rPr>
              <a:t>    Numbers &amp;operator=(const Numbers &amp;) = delete;</a:t>
            </a:r>
          </a:p>
          <a:p>
            <a:pPr>
              <a:spcAft>
                <a:spcPts val="0"/>
              </a:spcAft>
            </a:pPr>
            <a:r>
              <a:rPr sz="1200">
                <a:solidFill>
                  <a:srgbClr val="E6E6EF"/>
                </a:solidFill>
                <a:latin typeface="Consolas"/>
              </a:rPr>
              <a:t>    ...</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void show(const Numbers &amp;nums);   </a:t>
            </a:r>
            <a:r>
              <a:rPr sz="1200">
                <a:solidFill>
                  <a:srgbClr val="9AA4B5"/>
                </a:solidFill>
                <a:latin typeface="Consolas"/>
              </a:rPr>
              <a:t>// fine: no copy</a:t>
            </a:r>
          </a:p>
          <a:p>
            <a:pPr>
              <a:spcAft>
                <a:spcPts val="0"/>
              </a:spcAft>
            </a:pPr>
            <a:r>
              <a:rPr sz="1200">
                <a:latin typeface="Consolas"/>
              </a:rPr>
              <a:t> </a:t>
            </a:r>
          </a:p>
          <a:p>
            <a:pPr>
              <a:spcAft>
                <a:spcPts val="0"/>
              </a:spcAft>
            </a:pPr>
            <a:r>
              <a:rPr sz="1200">
                <a:solidFill>
                  <a:srgbClr val="E6E6EF"/>
                </a:solidFill>
                <a:latin typeface="Consolas"/>
              </a:rPr>
              <a:t>Numbers b = a;    </a:t>
            </a:r>
            <a:r>
              <a:rPr sz="1200">
                <a:solidFill>
                  <a:srgbClr val="9AA4B5"/>
                </a:solidFill>
                <a:latin typeface="Consolas"/>
              </a:rPr>
              <a:t>// error: use of deleted function</a:t>
            </a:r>
          </a:p>
          <a:p>
            <a:pPr>
              <a:spcAft>
                <a:spcPts val="0"/>
              </a:spcAft>
            </a:pPr>
            <a:r>
              <a:rPr sz="1200">
                <a:solidFill>
                  <a:srgbClr val="E6E6EF"/>
                </a:solidFill>
                <a:latin typeface="Consolas"/>
              </a:rPr>
              <a:t>                  </a:t>
            </a:r>
            <a:r>
              <a:rPr sz="1200">
                <a:solidFill>
                  <a:srgbClr val="9AA4B5"/>
                </a:solidFill>
                <a:latin typeface="Consolas"/>
              </a:rPr>
              <a:t>//   'Numbers::Numbers(const Numbers&amp;)'</a:t>
            </a:r>
          </a:p>
          <a:p>
            <a:pPr>
              <a:spcAft>
                <a:spcPts val="0"/>
              </a:spcAft>
            </a:pPr>
            <a:r>
              <a:rPr sz="1200">
                <a:solidFill>
                  <a:srgbClr val="E6E6EF"/>
                </a:solidFill>
                <a:latin typeface="Consolas"/>
              </a:rPr>
              <a:t>c = a;            </a:t>
            </a:r>
            <a:r>
              <a:rPr sz="1200">
                <a:solidFill>
                  <a:srgbClr val="9AA4B5"/>
                </a:solidFill>
                <a:latin typeface="Consolas"/>
              </a:rPr>
              <a:t>// error: use of deleted function</a:t>
            </a:r>
          </a:p>
          <a:p>
            <a:pPr>
              <a:spcAft>
                <a:spcPts val="0"/>
              </a:spcAft>
            </a:pPr>
            <a:r>
              <a:rPr sz="1200">
                <a:solidFill>
                  <a:srgbClr val="E6E6EF"/>
                </a:solidFill>
                <a:latin typeface="Consolas"/>
              </a:rPr>
              <a:t>                  </a:t>
            </a:r>
            <a:r>
              <a:rPr sz="1200">
                <a:solidFill>
                  <a:srgbClr val="9AA4B5"/>
                </a:solidFill>
                <a:latin typeface="Consolas"/>
              </a:rPr>
              <a:t>//   'Numbers&amp; Numbers::operator=(...)'</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2.4.forbid_copy: its README has both errors.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17</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2: Copying and assigning an IntArray</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35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Lab4/exercises/ex2-copy/</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the output matches the comments in </a:t>
            </a:r>
            <a:r>
              <a:rPr sz="1500" b="0">
                <a:solidFill>
                  <a:srgbClr val="4B2E83"/>
                </a:solidFill>
                <a:latin typeface="Consolas"/>
              </a:rPr>
              <a:t>copy_test.cpp</a:t>
            </a:r>
            <a:r>
              <a:rPr sz="1500" b="0">
                <a:solidFill>
                  <a:srgbClr val="1D2330"/>
                </a:solidFill>
                <a:latin typeface="Calibri"/>
              </a:rPr>
              <a:t> with Part B uncommented, and that </a:t>
            </a:r>
            <a:r>
              <a:rPr sz="1500" b="0">
                <a:solidFill>
                  <a:srgbClr val="4B2E83"/>
                </a:solidFill>
                <a:latin typeface="Consolas"/>
              </a:rPr>
              <a:t>make check</a:t>
            </a:r>
            <a:r>
              <a:rPr sz="1500" b="0">
                <a:solidFill>
                  <a:srgbClr val="1D2330"/>
                </a:solidFill>
                <a:latin typeface="Calibri"/>
              </a:rPr>
              <a:t> is clean.</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4B2E83"/>
                </a:solidFill>
                <a:latin typeface="Consolas"/>
              </a:rPr>
              <a:t>make</a:t>
            </a:r>
            <a:r>
              <a:rPr sz="1700" b="0">
                <a:solidFill>
                  <a:srgbClr val="1D2330"/>
                </a:solidFill>
                <a:latin typeface="Calibri"/>
              </a:rPr>
              <a:t> and </a:t>
            </a:r>
            <a:r>
              <a:rPr sz="1700" b="0">
                <a:solidFill>
                  <a:srgbClr val="4B2E83"/>
                </a:solidFill>
                <a:latin typeface="Consolas"/>
              </a:rPr>
              <a:t>./copy_test</a:t>
            </a:r>
            <a:r>
              <a:rPr sz="1700" b="0">
                <a:solidFill>
                  <a:srgbClr val="1D2330"/>
                </a:solidFill>
                <a:latin typeface="Calibri"/>
              </a:rPr>
              <a:t>: compare with the comments; how does it end?</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4B2E83"/>
                </a:solidFill>
                <a:latin typeface="Consolas"/>
              </a:rPr>
              <a:t>make check</a:t>
            </a:r>
            <a:r>
              <a:rPr sz="1700" b="0">
                <a:solidFill>
                  <a:srgbClr val="1D2330"/>
                </a:solidFill>
                <a:latin typeface="Calibri"/>
              </a:rPr>
              <a:t>: what kinds of errors does valgrind report?</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TODO 1: a deep-copying copy constructor; </a:t>
            </a:r>
            <a:r>
              <a:rPr sz="1700" b="0">
                <a:solidFill>
                  <a:srgbClr val="4B2E83"/>
                </a:solidFill>
                <a:latin typeface="Consolas"/>
              </a:rPr>
              <a:t>./copy_test</a:t>
            </a:r>
            <a:r>
              <a:rPr sz="1700" b="0">
                <a:solidFill>
                  <a:srgbClr val="1D2330"/>
                </a:solidFill>
                <a:latin typeface="Calibri"/>
              </a:rPr>
              <a:t> again</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TODO 2: </a:t>
            </a:r>
            <a:r>
              <a:rPr sz="1700" b="0">
                <a:solidFill>
                  <a:srgbClr val="4B2E83"/>
                </a:solidFill>
                <a:latin typeface="Consolas"/>
              </a:rPr>
              <a:t>operator=</a:t>
            </a:r>
            <a:r>
              <a:rPr sz="1700" b="0">
                <a:solidFill>
                  <a:srgbClr val="1D2330"/>
                </a:solidFill>
                <a:latin typeface="Calibri"/>
              </a:rPr>
              <a:t>; uncomment Part B</a:t>
            </a:r>
          </a:p>
        </p:txBody>
      </p:sp>
      <p:sp>
        <p:nvSpPr>
          <p:cNvPr id="21" name="Oval 20"/>
          <p:cNvSpPr/>
          <p:nvPr/>
        </p:nvSpPr>
        <p:spPr>
          <a:xfrm>
            <a:off x="4023360" y="486460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2" name="TextBox 21"/>
          <p:cNvSpPr txBox="1"/>
          <p:nvPr/>
        </p:nvSpPr>
        <p:spPr>
          <a:xfrm>
            <a:off x="4572000" y="4846320"/>
            <a:ext cx="7071055" cy="868680"/>
          </a:xfrm>
          <a:prstGeom prst="rect">
            <a:avLst/>
          </a:prstGeom>
          <a:noFill/>
        </p:spPr>
        <p:txBody>
          <a:bodyPr wrap="square" lIns="0" rIns="0" tIns="0" bIns="0" anchor="t">
            <a:spAutoFit/>
          </a:bodyPr>
          <a:lstStyle/>
          <a:p>
            <a:pPr algn="l"/>
            <a:r>
              <a:rPr sz="1700" b="0">
                <a:solidFill>
                  <a:srgbClr val="4B2E83"/>
                </a:solidFill>
                <a:latin typeface="Consolas"/>
              </a:rPr>
              <a:t>./copy_test</a:t>
            </a:r>
            <a:r>
              <a:rPr sz="1700" b="0">
                <a:solidFill>
                  <a:srgbClr val="1D2330"/>
                </a:solidFill>
                <a:latin typeface="Calibri"/>
              </a:rPr>
              <a:t> and </a:t>
            </a:r>
            <a:r>
              <a:rPr sz="1700" b="0">
                <a:solidFill>
                  <a:srgbClr val="4B2E83"/>
                </a:solidFill>
                <a:latin typeface="Consolas"/>
              </a:rPr>
              <a:t>make check</a:t>
            </a:r>
            <a:r>
              <a:rPr sz="1700" b="0">
                <a:solidFill>
                  <a:srgbClr val="1D2330"/>
                </a:solidFill>
                <a:latin typeface="Calibri"/>
              </a:rPr>
              <a:t>: correct and clean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18</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2</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4B2E83"/>
                </a:solidFill>
                <a:latin typeface="Consolas"/>
              </a:rPr>
              <a:t>b.set(0, 99)</a:t>
            </a:r>
            <a:r>
              <a:rPr sz="2000" b="0">
                <a:solidFill>
                  <a:srgbClr val="1D2330"/>
                </a:solidFill>
                <a:latin typeface="Calibri"/>
              </a:rPr>
              <a:t> changed </a:t>
            </a:r>
            <a:r>
              <a:rPr sz="2000" b="0">
                <a:solidFill>
                  <a:srgbClr val="4B2E83"/>
                </a:solidFill>
                <a:latin typeface="Consolas"/>
              </a:rPr>
              <a:t>a</a:t>
            </a:r>
            <a:r>
              <a:rPr sz="2000" b="0">
                <a:solidFill>
                  <a:srgbClr val="1D2330"/>
                </a:solidFill>
                <a:latin typeface="Calibri"/>
              </a:rPr>
              <a:t>: one shared array</a:t>
            </a:r>
          </a:p>
          <a:p>
            <a:pPr marL="256032" indent="-228600">
              <a:spcAft>
                <a:spcPts val="800"/>
              </a:spcAft>
              <a:buClr>
                <a:srgbClr val="5B6475"/>
              </a:buClr>
              <a:buChar char="•"/>
            </a:pPr>
            <a:r>
              <a:rPr sz="2000" b="0">
                <a:solidFill>
                  <a:srgbClr val="4B2E83"/>
                </a:solidFill>
                <a:latin typeface="Consolas"/>
              </a:rPr>
              <a:t>b.add(5)</a:t>
            </a:r>
            <a:r>
              <a:rPr sz="2000" b="0">
                <a:solidFill>
                  <a:srgbClr val="1D2330"/>
                </a:solidFill>
                <a:latin typeface="Calibri"/>
              </a:rPr>
              <a:t> grew </a:t>
            </a:r>
            <a:r>
              <a:rPr sz="2000" b="0">
                <a:solidFill>
                  <a:srgbClr val="4B2E83"/>
                </a:solidFill>
                <a:latin typeface="Consolas"/>
              </a:rPr>
              <a:t>b</a:t>
            </a:r>
            <a:r>
              <a:rPr sz="2000" b="0">
                <a:solidFill>
                  <a:srgbClr val="1D2330"/>
                </a:solidFill>
                <a:latin typeface="Calibri"/>
              </a:rPr>
              <a:t>: it deleted the shared array, so </a:t>
            </a:r>
            <a:r>
              <a:rPr sz="2000" b="0">
                <a:solidFill>
                  <a:srgbClr val="4B2E83"/>
                </a:solidFill>
                <a:latin typeface="Consolas"/>
              </a:rPr>
              <a:t>a</a:t>
            </a:r>
            <a:r>
              <a:rPr sz="2000" b="0">
                <a:solidFill>
                  <a:srgbClr val="1D2330"/>
                </a:solidFill>
                <a:latin typeface="Calibri"/>
              </a:rPr>
              <a:t> printed garbage</a:t>
            </a:r>
          </a:p>
          <a:p>
            <a:pPr marL="256032" indent="-228600">
              <a:spcAft>
                <a:spcPts val="800"/>
              </a:spcAft>
              <a:buClr>
                <a:srgbClr val="5B6475"/>
              </a:buClr>
              <a:buChar char="•"/>
            </a:pPr>
            <a:r>
              <a:rPr sz="2000" b="0">
                <a:solidFill>
                  <a:srgbClr val="4B2E83"/>
                </a:solidFill>
                <a:latin typeface="Consolas"/>
              </a:rPr>
              <a:t>printByValue</a:t>
            </a:r>
            <a:r>
              <a:rPr sz="2000" b="0">
                <a:solidFill>
                  <a:srgbClr val="1D2330"/>
                </a:solidFill>
                <a:latin typeface="Calibri"/>
              </a:rPr>
              <a:t>'s copy deleted it again: "double free detected", abort (exit 134)</a:t>
            </a:r>
          </a:p>
          <a:p>
            <a:pPr marL="256032" indent="-228600">
              <a:spcAft>
                <a:spcPts val="800"/>
              </a:spcAft>
              <a:buClr>
                <a:srgbClr val="5B6475"/>
              </a:buClr>
              <a:buChar char="•"/>
            </a:pPr>
            <a:r>
              <a:rPr sz="2000" b="0">
                <a:solidFill>
                  <a:srgbClr val="1D2330"/>
                </a:solidFill>
                <a:latin typeface="Calibri"/>
              </a:rPr>
              <a:t>valgrind: </a:t>
            </a:r>
            <a:r>
              <a:rPr sz="2000" b="0">
                <a:solidFill>
                  <a:srgbClr val="4B2E83"/>
                </a:solidFill>
                <a:latin typeface="Consolas"/>
              </a:rPr>
              <a:t>Invalid read of size 4</a:t>
            </a:r>
            <a:r>
              <a:rPr sz="2000" b="0">
                <a:solidFill>
                  <a:srgbClr val="1D2330"/>
                </a:solidFill>
                <a:latin typeface="Calibri"/>
              </a:rPr>
              <a:t> and </a:t>
            </a:r>
            <a:r>
              <a:rPr sz="2000" b="0">
                <a:solidFill>
                  <a:srgbClr val="4B2E83"/>
                </a:solidFill>
                <a:latin typeface="Consolas"/>
              </a:rPr>
              <a:t>Invalid free()</a:t>
            </a:r>
          </a:p>
          <a:p>
            <a:pPr marL="256032" indent="-228600">
              <a:spcAft>
                <a:spcPts val="800"/>
              </a:spcAft>
              <a:buClr>
                <a:srgbClr val="5B6475"/>
              </a:buClr>
              <a:buChar char="•"/>
            </a:pPr>
            <a:r>
              <a:rPr sz="2000" b="0">
                <a:solidFill>
                  <a:srgbClr val="4B2E83"/>
                </a:solidFill>
                <a:latin typeface="Consolas"/>
              </a:rPr>
              <a:t>operator=</a:t>
            </a:r>
            <a:r>
              <a:rPr sz="2000" b="0">
                <a:solidFill>
                  <a:srgbClr val="1D2330"/>
                </a:solidFill>
                <a:latin typeface="Calibri"/>
              </a:rPr>
              <a:t> copies before it deletes: </a:t>
            </a:r>
            <a:r>
              <a:rPr sz="2000" b="0">
                <a:solidFill>
                  <a:srgbClr val="4B2E83"/>
                </a:solidFill>
                <a:latin typeface="Consolas"/>
              </a:rPr>
              <a:t>a = a</a:t>
            </a:r>
            <a:r>
              <a:rPr sz="2000" b="0">
                <a:solidFill>
                  <a:srgbClr val="1D2330"/>
                </a:solidFill>
                <a:latin typeface="Calibri"/>
              </a:rPr>
              <a:t> is safe even without the check, and </a:t>
            </a:r>
            <a:r>
              <a:rPr sz="2000" b="0">
                <a:solidFill>
                  <a:srgbClr val="4B2E83"/>
                </a:solidFill>
                <a:latin typeface="Consolas"/>
              </a:rPr>
              <a:t>*this</a:t>
            </a:r>
            <a:r>
              <a:rPr sz="2000" b="0">
                <a:solidFill>
                  <a:srgbClr val="1D2330"/>
                </a:solidFill>
                <a:latin typeface="Calibri"/>
              </a:rPr>
              <a:t> survives a failed </a:t>
            </a:r>
            <a:r>
              <a:rPr sz="2000" b="0">
                <a:solidFill>
                  <a:srgbClr val="4B2E83"/>
                </a:solidFill>
                <a:latin typeface="Consolas"/>
              </a:rPr>
              <a:t>new</a:t>
            </a:r>
          </a:p>
          <a:p>
            <a:pPr marL="256032" indent="-228600">
              <a:spcAft>
                <a:spcPts val="800"/>
              </a:spcAft>
              <a:buClr>
                <a:srgbClr val="5B6475"/>
              </a:buClr>
              <a:buChar char="•"/>
            </a:pPr>
            <a:r>
              <a:rPr sz="2000" b="0">
                <a:solidFill>
                  <a:srgbClr val="1D2330"/>
                </a:solidFill>
                <a:latin typeface="Calibri"/>
              </a:rPr>
              <a:t>Copy constructor only, Part B uncommented: </a:t>
            </a:r>
            <a:r>
              <a:rPr sz="2000" b="0">
                <a:solidFill>
                  <a:srgbClr val="4B2E83"/>
                </a:solidFill>
                <a:latin typeface="Consolas"/>
              </a:rPr>
              <a:t>-Wdeprecated-copy</a:t>
            </a:r>
            <a:r>
              <a:rPr sz="2000" b="0">
                <a:solidFill>
                  <a:srgbClr val="1D2330"/>
                </a:solidFill>
                <a:latin typeface="Calibri"/>
              </a:rPr>
              <a:t>, and the arrays are shared again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19</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2</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950976"/>
          </a:xfrm>
          <a:prstGeom prst="rect">
            <a:avLst/>
          </a:prstGeom>
          <a:noFill/>
        </p:spPr>
        <p:txBody>
          <a:bodyPr wrap="square" lIns="0" rIns="0" tIns="0" bIns="0" anchor="t">
            <a:spAutoFit/>
          </a:bodyPr>
          <a:lstStyle/>
          <a:p>
            <a:pPr algn="l"/>
            <a:r>
              <a:rPr sz="1800" b="0">
                <a:solidFill>
                  <a:srgbClr val="4B2E83"/>
                </a:solidFill>
                <a:latin typeface="Consolas"/>
              </a:rPr>
              <a:t>Buffer b = a;</a:t>
            </a:r>
            <a:r>
              <a:rPr sz="1800" b="0">
                <a:solidFill>
                  <a:srgbClr val="1D2330"/>
                </a:solidFill>
                <a:latin typeface="Calibri"/>
              </a:rPr>
              <a:t> in an inner block, then </a:t>
            </a:r>
            <a:r>
              <a:rPr sz="1800" b="0">
                <a:solidFill>
                  <a:srgbClr val="4B2E83"/>
                </a:solidFill>
                <a:latin typeface="Consolas"/>
              </a:rPr>
              <a:t>a.write("hi")</a:t>
            </a:r>
            <a:r>
              <a:rPr sz="1800" b="0">
                <a:solidFill>
                  <a:srgbClr val="1D2330"/>
                </a:solidFill>
                <a:latin typeface="Calibri"/>
              </a:rPr>
              <a:t>. Buffer has no copy constructor. What happens?</a:t>
            </a:r>
          </a:p>
        </p:txBody>
      </p:sp>
      <p:sp>
        <p:nvSpPr>
          <p:cNvPr id="7" name="Oval 6"/>
          <p:cNvSpPr/>
          <p:nvPr/>
        </p:nvSpPr>
        <p:spPr>
          <a:xfrm>
            <a:off x="548640" y="2322576"/>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322576"/>
            <a:ext cx="10408615" cy="950976"/>
          </a:xfrm>
          <a:prstGeom prst="rect">
            <a:avLst/>
          </a:prstGeom>
          <a:noFill/>
        </p:spPr>
        <p:txBody>
          <a:bodyPr wrap="square" lIns="0" rIns="0" tIns="0" bIns="0" anchor="t">
            <a:spAutoFit/>
          </a:bodyPr>
          <a:lstStyle/>
          <a:p>
            <a:pPr algn="l"/>
            <a:r>
              <a:rPr sz="1800" b="0">
                <a:solidFill>
                  <a:srgbClr val="1D2330"/>
                </a:solidFill>
                <a:latin typeface="Calibri"/>
              </a:rPr>
              <a:t>Which call the copy constructor: </a:t>
            </a:r>
            <a:r>
              <a:rPr sz="1800" b="0">
                <a:solidFill>
                  <a:srgbClr val="4B2E83"/>
                </a:solidFill>
                <a:latin typeface="Consolas"/>
              </a:rPr>
              <a:t>IntArray b = a;</a:t>
            </a:r>
            <a:r>
              <a:rPr sz="1800" b="0">
                <a:solidFill>
                  <a:srgbClr val="1D2330"/>
                </a:solidFill>
                <a:latin typeface="Calibri"/>
              </a:rPr>
              <a:t>, </a:t>
            </a:r>
            <a:r>
              <a:rPr sz="1800" b="0">
                <a:solidFill>
                  <a:srgbClr val="4B2E83"/>
                </a:solidFill>
                <a:latin typeface="Consolas"/>
              </a:rPr>
              <a:t>IntArray c(a);</a:t>
            </a:r>
            <a:r>
              <a:rPr sz="1800" b="0">
                <a:solidFill>
                  <a:srgbClr val="1D2330"/>
                </a:solidFill>
                <a:latin typeface="Calibri"/>
              </a:rPr>
              <a:t>, </a:t>
            </a:r>
            <a:r>
              <a:rPr sz="1800" b="0">
                <a:solidFill>
                  <a:srgbClr val="4B2E83"/>
                </a:solidFill>
                <a:latin typeface="Consolas"/>
              </a:rPr>
              <a:t>d = a;</a:t>
            </a:r>
            <a:r>
              <a:rPr sz="1800" b="0">
                <a:solidFill>
                  <a:srgbClr val="1D2330"/>
                </a:solidFill>
                <a:latin typeface="Calibri"/>
              </a:rPr>
              <a:t>, </a:t>
            </a:r>
            <a:r>
              <a:rPr sz="1800" b="0">
                <a:solidFill>
                  <a:srgbClr val="4B2E83"/>
                </a:solidFill>
                <a:latin typeface="Consolas"/>
              </a:rPr>
              <a:t>f(a)</a:t>
            </a:r>
            <a:r>
              <a:rPr sz="1800" b="0">
                <a:solidFill>
                  <a:srgbClr val="1D2330"/>
                </a:solidFill>
                <a:latin typeface="Calibri"/>
              </a:rPr>
              <a:t> with </a:t>
            </a:r>
            <a:r>
              <a:rPr sz="1800" b="0">
                <a:solidFill>
                  <a:srgbClr val="4B2E83"/>
                </a:solidFill>
                <a:latin typeface="Consolas"/>
              </a:rPr>
              <a:t>const IntArray &amp;</a:t>
            </a:r>
            <a:r>
              <a:rPr sz="1800" b="0">
                <a:solidFill>
                  <a:srgbClr val="1D2330"/>
                </a:solidFill>
                <a:latin typeface="Calibri"/>
              </a:rPr>
              <a:t>?</a:t>
            </a:r>
          </a:p>
        </p:txBody>
      </p:sp>
      <p:sp>
        <p:nvSpPr>
          <p:cNvPr id="9" name="Oval 8"/>
          <p:cNvSpPr/>
          <p:nvPr/>
        </p:nvSpPr>
        <p:spPr>
          <a:xfrm>
            <a:off x="548640" y="3273552"/>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273552"/>
            <a:ext cx="10408615" cy="950976"/>
          </a:xfrm>
          <a:prstGeom prst="rect">
            <a:avLst/>
          </a:prstGeom>
          <a:noFill/>
        </p:spPr>
        <p:txBody>
          <a:bodyPr wrap="square" lIns="0" rIns="0" tIns="0" bIns="0" anchor="t">
            <a:spAutoFit/>
          </a:bodyPr>
          <a:lstStyle/>
          <a:p>
            <a:pPr algn="l"/>
            <a:r>
              <a:rPr sz="1800" b="0">
                <a:solidFill>
                  <a:srgbClr val="4B2E83"/>
                </a:solidFill>
                <a:latin typeface="Consolas"/>
              </a:rPr>
              <a:t>operator=</a:t>
            </a:r>
            <a:r>
              <a:rPr sz="1800" b="0">
                <a:solidFill>
                  <a:srgbClr val="1D2330"/>
                </a:solidFill>
                <a:latin typeface="Calibri"/>
              </a:rPr>
              <a:t> deletes </a:t>
            </a:r>
            <a:r>
              <a:rPr sz="1800" b="0">
                <a:solidFill>
                  <a:srgbClr val="4B2E83"/>
                </a:solidFill>
                <a:latin typeface="Consolas"/>
              </a:rPr>
              <a:t>data_</a:t>
            </a:r>
            <a:r>
              <a:rPr sz="1800" b="0">
                <a:solidFill>
                  <a:srgbClr val="1D2330"/>
                </a:solidFill>
                <a:latin typeface="Calibri"/>
              </a:rPr>
              <a:t> first, then copies from </a:t>
            </a:r>
            <a:r>
              <a:rPr sz="1800" b="0">
                <a:solidFill>
                  <a:srgbClr val="4B2E83"/>
                </a:solidFill>
                <a:latin typeface="Consolas"/>
              </a:rPr>
              <a:t>other</a:t>
            </a:r>
            <a:r>
              <a:rPr sz="1800" b="0">
                <a:solidFill>
                  <a:srgbClr val="1D2330"/>
                </a:solidFill>
                <a:latin typeface="Calibri"/>
              </a:rPr>
              <a:t>. What does </a:t>
            </a:r>
            <a:r>
              <a:rPr sz="1800" b="0">
                <a:solidFill>
                  <a:srgbClr val="4B2E83"/>
                </a:solidFill>
                <a:latin typeface="Consolas"/>
              </a:rPr>
              <a:t>a = a;</a:t>
            </a:r>
            <a:r>
              <a:rPr sz="1800" b="0">
                <a:solidFill>
                  <a:srgbClr val="1D2330"/>
                </a:solidFill>
                <a:latin typeface="Calibri"/>
              </a:rPr>
              <a:t> do?</a:t>
            </a:r>
          </a:p>
        </p:txBody>
      </p:sp>
      <p:sp>
        <p:nvSpPr>
          <p:cNvPr id="11" name="Oval 10"/>
          <p:cNvSpPr/>
          <p:nvPr/>
        </p:nvSpPr>
        <p:spPr>
          <a:xfrm>
            <a:off x="548640" y="4224528"/>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224528"/>
            <a:ext cx="10408615" cy="950976"/>
          </a:xfrm>
          <a:prstGeom prst="rect">
            <a:avLst/>
          </a:prstGeom>
          <a:noFill/>
        </p:spPr>
        <p:txBody>
          <a:bodyPr wrap="square" lIns="0" rIns="0" tIns="0" bIns="0" anchor="t">
            <a:spAutoFit/>
          </a:bodyPr>
          <a:lstStyle/>
          <a:p>
            <a:pPr algn="l"/>
            <a:r>
              <a:rPr sz="1800" b="0">
                <a:solidFill>
                  <a:srgbClr val="1D2330"/>
                </a:solidFill>
                <a:latin typeface="Calibri"/>
              </a:rPr>
              <a:t>Does a class with only a </a:t>
            </a:r>
            <a:r>
              <a:rPr sz="1800" b="0">
                <a:solidFill>
                  <a:srgbClr val="4B2E83"/>
                </a:solidFill>
                <a:latin typeface="Consolas"/>
              </a:rPr>
              <a:t>string</a:t>
            </a:r>
            <a:r>
              <a:rPr sz="1800" b="0">
                <a:solidFill>
                  <a:srgbClr val="1D2330"/>
                </a:solidFill>
                <a:latin typeface="Calibri"/>
              </a:rPr>
              <a:t> and an </a:t>
            </a:r>
            <a:r>
              <a:rPr sz="1800" b="0">
                <a:solidFill>
                  <a:srgbClr val="4B2E83"/>
                </a:solidFill>
                <a:latin typeface="Consolas"/>
              </a:rPr>
              <a:t>int</a:t>
            </a:r>
            <a:r>
              <a:rPr sz="1800" b="0">
                <a:solidFill>
                  <a:srgbClr val="1D2330"/>
                </a:solidFill>
                <a:latin typeface="Calibri"/>
              </a:rPr>
              <a:t> need its own destructor, copy constructor, or </a:t>
            </a:r>
            <a:r>
              <a:rPr sz="1800" b="0">
                <a:solidFill>
                  <a:srgbClr val="4B2E83"/>
                </a:solidFill>
                <a:latin typeface="Consolas"/>
              </a:rPr>
              <a:t>operator=</a:t>
            </a:r>
            <a:r>
              <a:rPr sz="1800" b="0">
                <a:solidFill>
                  <a:srgbClr val="1D2330"/>
                </a:solidFill>
                <a:latin typeface="Calibri"/>
              </a:rPr>
              <a:t>?</a:t>
            </a:r>
          </a:p>
        </p:txBody>
      </p:sp>
      <p:sp>
        <p:nvSpPr>
          <p:cNvPr id="13" name="Oval 12"/>
          <p:cNvSpPr/>
          <p:nvPr/>
        </p:nvSpPr>
        <p:spPr>
          <a:xfrm>
            <a:off x="548640" y="5175504"/>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Q5</a:t>
            </a:r>
          </a:p>
        </p:txBody>
      </p:sp>
      <p:sp>
        <p:nvSpPr>
          <p:cNvPr id="14" name="TextBox 13"/>
          <p:cNvSpPr txBox="1"/>
          <p:nvPr/>
        </p:nvSpPr>
        <p:spPr>
          <a:xfrm>
            <a:off x="1234440" y="5175504"/>
            <a:ext cx="10408615" cy="950976"/>
          </a:xfrm>
          <a:prstGeom prst="rect">
            <a:avLst/>
          </a:prstGeom>
          <a:noFill/>
        </p:spPr>
        <p:txBody>
          <a:bodyPr wrap="square" lIns="0" rIns="0" tIns="0" bIns="0" anchor="t">
            <a:spAutoFit/>
          </a:bodyPr>
          <a:lstStyle/>
          <a:p>
            <a:pPr algn="l"/>
            <a:r>
              <a:rPr sz="1800" b="0">
                <a:solidFill>
                  <a:srgbClr val="1D2330"/>
                </a:solidFill>
                <a:latin typeface="Calibri"/>
              </a:rPr>
              <a:t>Which functions run for </a:t>
            </a:r>
            <a:r>
              <a:rPr sz="1800" b="0">
                <a:solidFill>
                  <a:srgbClr val="4B2E83"/>
                </a:solidFill>
                <a:latin typeface="Consolas"/>
              </a:rPr>
              <a:t>IntArray x = y;</a:t>
            </a:r>
            <a:r>
              <a:rPr sz="1800" b="0">
                <a:solidFill>
                  <a:srgbClr val="1D2330"/>
                </a:solidFill>
                <a:latin typeface="Calibri"/>
              </a:rPr>
              <a:t>? For </a:t>
            </a:r>
            <a:r>
              <a:rPr sz="1800" b="0">
                <a:solidFill>
                  <a:srgbClr val="4B2E83"/>
                </a:solidFill>
                <a:latin typeface="Consolas"/>
              </a:rPr>
              <a:t>IntArray x; x = y;</a:t>
            </a:r>
            <a:r>
              <a:rPr sz="1800" b="0">
                <a:solidFill>
                  <a:srgbClr val="1D2330"/>
                </a:solidFill>
                <a:latin typeface="Calibri"/>
              </a:rPr>
              <a:t>?</a:t>
            </a:r>
          </a:p>
        </p:txBody>
      </p:sp>
      <p:sp>
        <p:nvSpPr>
          <p:cNvPr id="15" name="TextBox 14"/>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20</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4 Exercise 2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2</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3</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Copying a linked chain</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A linked container owns every node, so copying it means rebuilding the chain node by node</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Free every node in a destructor</a:t>
            </a:r>
          </a:p>
          <a:p>
            <a:pPr marL="256032" indent="-228600">
              <a:spcAft>
                <a:spcPts val="600"/>
              </a:spcAft>
              <a:buClr>
                <a:srgbClr val="5B6475"/>
              </a:buClr>
              <a:buChar char="›"/>
            </a:pPr>
            <a:r>
              <a:rPr sz="2000" b="0">
                <a:solidFill>
                  <a:srgbClr val="FFFFFF"/>
                </a:solidFill>
                <a:latin typeface="Calibri"/>
              </a:rPr>
              <a:t>Deep-copy a chain without reversing it</a:t>
            </a:r>
          </a:p>
          <a:p>
            <a:pPr marL="256032" indent="-228600">
              <a:spcAft>
                <a:spcPts val="600"/>
              </a:spcAft>
              <a:buClr>
                <a:srgbClr val="5B6475"/>
              </a:buClr>
              <a:buChar char="›"/>
            </a:pPr>
            <a:r>
              <a:rPr sz="2000" b="0">
                <a:solidFill>
                  <a:srgbClr val="FFFFFF"/>
                </a:solidFill>
                <a:latin typeface="Calibri"/>
              </a:rPr>
              <a:t>Write </a:t>
            </a:r>
            <a:r>
              <a:rPr sz="2000" b="0">
                <a:solidFill>
                  <a:srgbClr val="C5B4E3"/>
                </a:solidFill>
                <a:latin typeface="Consolas"/>
              </a:rPr>
              <a:t>operator=</a:t>
            </a:r>
            <a:r>
              <a:rPr sz="2000" b="0">
                <a:solidFill>
                  <a:srgbClr val="FFFFFF"/>
                </a:solidFill>
                <a:latin typeface="Calibri"/>
              </a:rPr>
              <a:t> for a linked container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22</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Copying a chain keeps the order</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Destructor: delete every node (pop until empty)</a:t>
            </a:r>
          </a:p>
          <a:p>
            <a:pPr marL="256032" indent="-228600">
              <a:spcAft>
                <a:spcPts val="800"/>
              </a:spcAft>
              <a:buClr>
                <a:srgbClr val="5B6475"/>
              </a:buClr>
              <a:buChar char="•"/>
            </a:pPr>
            <a:r>
              <a:rPr sz="1800" b="0">
                <a:solidFill>
                  <a:srgbClr val="1D2330"/>
                </a:solidFill>
                <a:latin typeface="Calibri"/>
              </a:rPr>
              <a:t>Walk the original and PUSH each item: the copy is reversed</a:t>
            </a:r>
          </a:p>
          <a:p>
            <a:pPr marL="256032" indent="-228600">
              <a:spcAft>
                <a:spcPts val="800"/>
              </a:spcAft>
              <a:buClr>
                <a:srgbClr val="5B6475"/>
              </a:buClr>
              <a:buChar char="•"/>
            </a:pPr>
            <a:r>
              <a:rPr sz="1800" b="0">
                <a:solidFill>
                  <a:srgbClr val="1D2330"/>
                </a:solidFill>
                <a:latin typeface="Calibri"/>
              </a:rPr>
              <a:t>Walk the original and APPEND, remembering the last node copied: same order</a:t>
            </a:r>
          </a:p>
          <a:p>
            <a:pPr marL="256032" indent="-228600">
              <a:spcAft>
                <a:spcPts val="800"/>
              </a:spcAft>
              <a:buClr>
                <a:srgbClr val="5B6475"/>
              </a:buClr>
              <a:buChar char="•"/>
            </a:pPr>
            <a:r>
              <a:rPr sz="1800" b="0">
                <a:solidFill>
                  <a:srgbClr val="4B2E83"/>
                </a:solidFill>
                <a:latin typeface="Consolas"/>
              </a:rPr>
              <a:t>operator=</a:t>
            </a:r>
            <a:r>
              <a:rPr sz="1800" b="0">
                <a:solidFill>
                  <a:srgbClr val="1D2330"/>
                </a:solidFill>
                <a:latin typeface="Calibri"/>
              </a:rPr>
              <a:t>: self-check, clear, copy; share the work in private helpers</a:t>
            </a:r>
          </a:p>
          <a:p>
            <a:pPr marL="256032" indent="-228600">
              <a:spcAft>
                <a:spcPts val="800"/>
              </a:spcAft>
              <a:buClr>
                <a:srgbClr val="5B6475"/>
              </a:buClr>
              <a:buChar char="•"/>
            </a:pPr>
            <a:r>
              <a:rPr sz="1800" b="0">
                <a:solidFill>
                  <a:srgbClr val="1D2330"/>
                </a:solidFill>
                <a:latin typeface="Calibri"/>
              </a:rPr>
              <a:t>One </a:t>
            </a:r>
            <a:r>
              <a:rPr sz="1800" b="0">
                <a:solidFill>
                  <a:srgbClr val="4B2E83"/>
                </a:solidFill>
                <a:latin typeface="Consolas"/>
              </a:rPr>
              <a:t>new</a:t>
            </a:r>
            <a:r>
              <a:rPr sz="1800" b="0">
                <a:solidFill>
                  <a:srgbClr val="1D2330"/>
                </a:solidFill>
                <a:latin typeface="Calibri"/>
              </a:rPr>
              <a:t> per node: pass containers by </a:t>
            </a:r>
            <a:r>
              <a:rPr sz="1800" b="0">
                <a:solidFill>
                  <a:srgbClr val="4B2E83"/>
                </a:solidFill>
                <a:latin typeface="Consolas"/>
              </a:rPr>
              <a:t>const&amp;</a:t>
            </a:r>
          </a:p>
        </p:txBody>
      </p:sp>
      <p:sp>
        <p:nvSpPr>
          <p:cNvPr id="7" name="Rounded Rectangle 6"/>
          <p:cNvSpPr/>
          <p:nvPr/>
        </p:nvSpPr>
        <p:spPr>
          <a:xfrm>
            <a:off x="5972110" y="1325880"/>
            <a:ext cx="5670944" cy="29870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621280"/>
          </a:xfrm>
          <a:prstGeom prst="rect">
            <a:avLst/>
          </a:prstGeom>
          <a:noFill/>
        </p:spPr>
        <p:txBody>
          <a:bodyPr wrap="none" lIns="0" rIns="0" tIns="0" bIns="0" anchor="t">
            <a:spAutoFit/>
          </a:bodyPr>
          <a:lstStyle/>
          <a:p>
            <a:pPr>
              <a:spcAft>
                <a:spcPts val="0"/>
              </a:spcAft>
            </a:pPr>
            <a:r>
              <a:rPr sz="1300">
                <a:solidFill>
                  <a:srgbClr val="E6E6EF"/>
                </a:solidFill>
                <a:latin typeface="Consolas"/>
              </a:rPr>
              <a:t>Node *appended = nullptr;</a:t>
            </a:r>
          </a:p>
          <a:p>
            <a:pPr>
              <a:spcAft>
                <a:spcPts val="0"/>
              </a:spcAft>
            </a:pPr>
            <a:r>
              <a:rPr sz="1300">
                <a:solidFill>
                  <a:srgbClr val="E6E6EF"/>
                </a:solidFill>
                <a:latin typeface="Consolas"/>
              </a:rPr>
              <a:t>Node *last = nullptr;</a:t>
            </a:r>
          </a:p>
          <a:p>
            <a:pPr>
              <a:spcAft>
                <a:spcPts val="0"/>
              </a:spcAft>
            </a:pPr>
            <a:r>
              <a:rPr sz="1300">
                <a:solidFill>
                  <a:srgbClr val="E6E6EF"/>
                </a:solidFill>
                <a:latin typeface="Consolas"/>
              </a:rPr>
              <a:t>for (const Node *cur = original; cur != nullptr;</a:t>
            </a:r>
          </a:p>
          <a:p>
            <a:pPr>
              <a:spcAft>
                <a:spcPts val="0"/>
              </a:spcAft>
            </a:pPr>
            <a:r>
              <a:rPr sz="1300">
                <a:solidFill>
                  <a:srgbClr val="E6E6EF"/>
                </a:solidFill>
                <a:latin typeface="Consolas"/>
              </a:rPr>
              <a:t>     cur = cur-&gt;next) {</a:t>
            </a:r>
          </a:p>
          <a:p>
            <a:pPr>
              <a:spcAft>
                <a:spcPts val="0"/>
              </a:spcAft>
            </a:pPr>
            <a:r>
              <a:rPr sz="1300">
                <a:solidFill>
                  <a:srgbClr val="E6E6EF"/>
                </a:solidFill>
                <a:latin typeface="Consolas"/>
              </a:rPr>
              <a:t>    Node *copy = new Node{cur-&gt;item, nullptr};</a:t>
            </a:r>
          </a:p>
          <a:p>
            <a:pPr>
              <a:spcAft>
                <a:spcPts val="0"/>
              </a:spcAft>
            </a:pPr>
            <a:r>
              <a:rPr sz="1300">
                <a:solidFill>
                  <a:srgbClr val="E6E6EF"/>
                </a:solidFill>
                <a:latin typeface="Consolas"/>
              </a:rPr>
              <a:t>    if (last == nullptr) {</a:t>
            </a:r>
          </a:p>
          <a:p>
            <a:pPr>
              <a:spcAft>
                <a:spcPts val="0"/>
              </a:spcAft>
            </a:pPr>
            <a:r>
              <a:rPr sz="1300">
                <a:solidFill>
                  <a:srgbClr val="E6E6EF"/>
                </a:solidFill>
                <a:latin typeface="Consolas"/>
              </a:rPr>
              <a:t>        appended = copy;      </a:t>
            </a:r>
            <a:r>
              <a:rPr sz="1300">
                <a:solidFill>
                  <a:srgbClr val="9AA4B5"/>
                </a:solidFill>
                <a:latin typeface="Consolas"/>
              </a:rPr>
              <a:t>// first copy: the head</a:t>
            </a:r>
          </a:p>
          <a:p>
            <a:pPr>
              <a:spcAft>
                <a:spcPts val="0"/>
              </a:spcAft>
            </a:pPr>
            <a:r>
              <a:rPr sz="1300">
                <a:solidFill>
                  <a:srgbClr val="E6E6EF"/>
                </a:solidFill>
                <a:latin typeface="Consolas"/>
              </a:rPr>
              <a:t>    } else {</a:t>
            </a:r>
          </a:p>
          <a:p>
            <a:pPr>
              <a:spcAft>
                <a:spcPts val="0"/>
              </a:spcAft>
            </a:pPr>
            <a:r>
              <a:rPr sz="1300">
                <a:solidFill>
                  <a:srgbClr val="E6E6EF"/>
                </a:solidFill>
                <a:latin typeface="Consolas"/>
              </a:rPr>
              <a:t>        last-&gt;next = copy;    </a:t>
            </a:r>
            <a:r>
              <a:rPr sz="1300">
                <a:solidFill>
                  <a:srgbClr val="9AA4B5"/>
                </a:solidFill>
                <a:latin typeface="Consolas"/>
              </a:rPr>
              <a:t>// later: after the last</a:t>
            </a:r>
          </a:p>
          <a:p>
            <a:pPr>
              <a:spcAft>
                <a:spcPts val="0"/>
              </a:spcAft>
            </a:pPr>
            <a:r>
              <a:rPr sz="1300">
                <a:solidFill>
                  <a:srgbClr val="E6E6EF"/>
                </a:solidFill>
                <a:latin typeface="Consolas"/>
              </a:rPr>
              <a:t>    }</a:t>
            </a:r>
          </a:p>
          <a:p>
            <a:pPr>
              <a:spcAft>
                <a:spcPts val="0"/>
              </a:spcAft>
            </a:pPr>
            <a:r>
              <a:rPr sz="1300">
                <a:solidFill>
                  <a:srgbClr val="E6E6EF"/>
                </a:solidFill>
                <a:latin typeface="Consolas"/>
              </a:rPr>
              <a:t>    last = copy;</a:t>
            </a:r>
          </a:p>
          <a:p>
            <a:pPr>
              <a:spcAft>
                <a:spcPts val="0"/>
              </a:spcAft>
            </a:pPr>
            <a:r>
              <a:rPr sz="1300">
                <a:solidFill>
                  <a:srgbClr val="E6E6EF"/>
                </a:solidFill>
                <a:latin typeface="Consolas"/>
              </a:rPr>
              <a:t>}</a:t>
            </a:r>
          </a:p>
          <a:p>
            <a:pPr>
              <a:spcAft>
                <a:spcPts val="0"/>
              </a:spcAft>
            </a:pPr>
            <a:r>
              <a:rPr sz="1300">
                <a:solidFill>
                  <a:srgbClr val="9AA4B5"/>
                </a:solidFill>
                <a:latin typeface="Consolas"/>
              </a:rPr>
              <a:t>// original: 1 2 3   pushed: 3 2 1   appended: 1 2 3</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3.1.copy_chain: both copies of a three-node chain, all in main.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23</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3: LinkedStack</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30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Lab4/exercises/ex3-linked/</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./stack_test</a:t>
            </a:r>
            <a:r>
              <a:rPr sz="1500" b="0">
                <a:solidFill>
                  <a:srgbClr val="1D2330"/>
                </a:solidFill>
                <a:latin typeface="Calibri"/>
              </a:rPr>
              <a:t> matches the comments with all parts uncommented, and that </a:t>
            </a:r>
            <a:r>
              <a:rPr sz="1500" b="0">
                <a:solidFill>
                  <a:srgbClr val="4B2E83"/>
                </a:solidFill>
                <a:latin typeface="Consolas"/>
              </a:rPr>
              <a:t>make check</a:t>
            </a:r>
            <a:r>
              <a:rPr sz="1500" b="0">
                <a:solidFill>
                  <a:srgbClr val="1D2330"/>
                </a:solidFill>
                <a:latin typeface="Calibri"/>
              </a:rPr>
              <a:t> is clean.</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4B2E83"/>
                </a:solidFill>
                <a:latin typeface="Consolas"/>
              </a:rPr>
              <a:t>make</a:t>
            </a:r>
            <a:r>
              <a:rPr sz="1700" b="0">
                <a:solidFill>
                  <a:srgbClr val="1D2330"/>
                </a:solidFill>
                <a:latin typeface="Calibri"/>
              </a:rPr>
              <a:t>, </a:t>
            </a:r>
            <a:r>
              <a:rPr sz="1700" b="0">
                <a:solidFill>
                  <a:srgbClr val="4B2E83"/>
                </a:solidFill>
                <a:latin typeface="Consolas"/>
              </a:rPr>
              <a:t>./stack_test</a:t>
            </a:r>
            <a:r>
              <a:rPr sz="1700" b="0">
                <a:solidFill>
                  <a:srgbClr val="1D2330"/>
                </a:solidFill>
                <a:latin typeface="Calibri"/>
              </a:rPr>
              <a:t>, </a:t>
            </a:r>
            <a:r>
              <a:rPr sz="1700" b="0">
                <a:solidFill>
                  <a:srgbClr val="4B2E83"/>
                </a:solidFill>
                <a:latin typeface="Consolas"/>
              </a:rPr>
              <a:t>make check</a:t>
            </a:r>
            <a:r>
              <a:rPr sz="1700" b="0">
                <a:solidFill>
                  <a:srgbClr val="1D2330"/>
                </a:solidFill>
                <a:latin typeface="Calibri"/>
              </a:rPr>
              <a:t>: what does valgrind report?</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Write the destructor; </a:t>
            </a:r>
            <a:r>
              <a:rPr sz="1700" b="0">
                <a:solidFill>
                  <a:srgbClr val="4B2E83"/>
                </a:solidFill>
                <a:latin typeface="Consolas"/>
              </a:rPr>
              <a:t>make check</a:t>
            </a:r>
            <a:r>
              <a:rPr sz="1700" b="0">
                <a:solidFill>
                  <a:srgbClr val="1D2330"/>
                </a:solidFill>
                <a:latin typeface="Calibri"/>
              </a:rPr>
              <a:t> is clean</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Write the copy constructor (same order!); uncomment Part 2</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Write </a:t>
            </a:r>
            <a:r>
              <a:rPr sz="1700" b="0">
                <a:solidFill>
                  <a:srgbClr val="4B2E83"/>
                </a:solidFill>
                <a:latin typeface="Consolas"/>
              </a:rPr>
              <a:t>operator=</a:t>
            </a:r>
            <a:r>
              <a:rPr sz="1700" b="0">
                <a:solidFill>
                  <a:srgbClr val="1D2330"/>
                </a:solidFill>
                <a:latin typeface="Calibri"/>
              </a:rPr>
              <a:t>; uncomment Part 3; final </a:t>
            </a:r>
            <a:r>
              <a:rPr sz="1700" b="0">
                <a:solidFill>
                  <a:srgbClr val="4B2E83"/>
                </a:solidFill>
                <a:latin typeface="Consolas"/>
              </a:rPr>
              <a:t>make check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24</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3</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Starter: </a:t>
            </a:r>
            <a:r>
              <a:rPr sz="1800" b="0">
                <a:solidFill>
                  <a:srgbClr val="4B2E83"/>
                </a:solidFill>
                <a:latin typeface="Consolas"/>
              </a:rPr>
              <a:t>64 (16 direct, 48 indirect) bytes ... definitely lost</a:t>
            </a:r>
            <a:r>
              <a:rPr sz="1800" b="0">
                <a:solidFill>
                  <a:srgbClr val="1D2330"/>
                </a:solidFill>
                <a:latin typeface="Calibri"/>
              </a:rPr>
              <a:t>: 4 nodes, no destructor</a:t>
            </a:r>
          </a:p>
          <a:p>
            <a:pPr marL="256032" indent="-228600">
              <a:spcAft>
                <a:spcPts val="800"/>
              </a:spcAft>
              <a:buClr>
                <a:srgbClr val="5B6475"/>
              </a:buClr>
              <a:buChar char="•"/>
            </a:pPr>
            <a:r>
              <a:rPr sz="1800" b="0">
                <a:solidFill>
                  <a:srgbClr val="1D2330"/>
                </a:solidFill>
                <a:latin typeface="Calibri"/>
              </a:rPr>
              <a:t>Destructor and </a:t>
            </a:r>
            <a:r>
              <a:rPr sz="1800" b="0">
                <a:solidFill>
                  <a:srgbClr val="4B2E83"/>
                </a:solidFill>
                <a:latin typeface="Consolas"/>
              </a:rPr>
              <a:t>operator=</a:t>
            </a:r>
            <a:r>
              <a:rPr sz="1800" b="0">
                <a:solidFill>
                  <a:srgbClr val="1D2330"/>
                </a:solidFill>
                <a:latin typeface="Calibri"/>
              </a:rPr>
              <a:t> share a private </a:t>
            </a:r>
            <a:r>
              <a:rPr sz="1800" b="0">
                <a:solidFill>
                  <a:srgbClr val="4B2E83"/>
                </a:solidFill>
                <a:latin typeface="Consolas"/>
              </a:rPr>
              <a:t>clear()</a:t>
            </a:r>
          </a:p>
          <a:p>
            <a:pPr marL="256032" indent="-228600">
              <a:spcAft>
                <a:spcPts val="800"/>
              </a:spcAft>
              <a:buClr>
                <a:srgbClr val="5B6475"/>
              </a:buClr>
              <a:buChar char="•"/>
            </a:pPr>
            <a:r>
              <a:rPr sz="1800" b="0">
                <a:solidFill>
                  <a:srgbClr val="4B2E83"/>
                </a:solidFill>
                <a:latin typeface="Consolas"/>
              </a:rPr>
              <a:t>printStack</a:t>
            </a:r>
            <a:r>
              <a:rPr sz="1800" b="0">
                <a:solidFill>
                  <a:srgbClr val="1D2330"/>
                </a:solidFill>
                <a:latin typeface="Calibri"/>
              </a:rPr>
              <a:t> pops a COPY, so </a:t>
            </a:r>
            <a:r>
              <a:rPr sz="1800" b="0">
                <a:solidFill>
                  <a:srgbClr val="4B2E83"/>
                </a:solidFill>
                <a:latin typeface="Consolas"/>
              </a:rPr>
              <a:t>a</a:t>
            </a:r>
            <a:r>
              <a:rPr sz="1800" b="0">
                <a:solidFill>
                  <a:srgbClr val="1D2330"/>
                </a:solidFill>
                <a:latin typeface="Calibri"/>
              </a:rPr>
              <a:t> prints </a:t>
            </a:r>
            <a:r>
              <a:rPr sz="1800" b="0">
                <a:solidFill>
                  <a:srgbClr val="4B2E83"/>
                </a:solidFill>
                <a:latin typeface="Consolas"/>
              </a:rPr>
              <a:t>40 30 20 10</a:t>
            </a:r>
            <a:r>
              <a:rPr sz="1800" b="0">
                <a:solidFill>
                  <a:srgbClr val="1D2330"/>
                </a:solidFill>
                <a:latin typeface="Calibri"/>
              </a:rPr>
              <a:t> twice</a:t>
            </a:r>
          </a:p>
          <a:p>
            <a:pPr marL="256032" indent="-228600">
              <a:spcAft>
                <a:spcPts val="800"/>
              </a:spcAft>
              <a:buClr>
                <a:srgbClr val="5B6475"/>
              </a:buClr>
              <a:buChar char="•"/>
            </a:pPr>
            <a:r>
              <a:rPr sz="1800" b="0">
                <a:solidFill>
                  <a:srgbClr val="1D2330"/>
                </a:solidFill>
                <a:latin typeface="Calibri"/>
              </a:rPr>
              <a:t>Without the guard, </a:t>
            </a:r>
            <a:r>
              <a:rPr sz="1800" b="0">
                <a:solidFill>
                  <a:srgbClr val="4B2E83"/>
                </a:solidFill>
                <a:latin typeface="Consolas"/>
              </a:rPr>
              <a:t>other = other</a:t>
            </a:r>
            <a:r>
              <a:rPr sz="1800" b="0">
                <a:solidFill>
                  <a:srgbClr val="1D2330"/>
                </a:solidFill>
                <a:latin typeface="Calibri"/>
              </a:rPr>
              <a:t> clears, then copies an empty stack</a:t>
            </a:r>
          </a:p>
          <a:p>
            <a:pPr marL="256032" indent="-228600">
              <a:spcAft>
                <a:spcPts val="800"/>
              </a:spcAft>
              <a:buClr>
                <a:srgbClr val="5B6475"/>
              </a:buClr>
              <a:buChar char="•"/>
            </a:pPr>
            <a:r>
              <a:rPr sz="1800" b="0">
                <a:solidFill>
                  <a:srgbClr val="1D2330"/>
                </a:solidFill>
                <a:latin typeface="Calibri"/>
              </a:rPr>
              <a:t>Copying n items costs n </a:t>
            </a:r>
            <a:r>
              <a:rPr sz="1800" b="0">
                <a:solidFill>
                  <a:srgbClr val="4B2E83"/>
                </a:solidFill>
                <a:latin typeface="Consolas"/>
              </a:rPr>
              <a:t>new</a:t>
            </a:r>
            <a:r>
              <a:rPr sz="1800" b="0">
                <a:solidFill>
                  <a:srgbClr val="1D2330"/>
                </a:solidFill>
                <a:latin typeface="Calibri"/>
              </a:rPr>
              <a:t> calls: pass containers by </a:t>
            </a:r>
            <a:r>
              <a:rPr sz="1800" b="0">
                <a:solidFill>
                  <a:srgbClr val="4B2E83"/>
                </a:solidFill>
                <a:latin typeface="Consolas"/>
              </a:rPr>
              <a:t>const&amp;</a:t>
            </a:r>
          </a:p>
        </p:txBody>
      </p:sp>
      <p:sp>
        <p:nvSpPr>
          <p:cNvPr id="7" name="Rounded Rectangle 6"/>
          <p:cNvSpPr/>
          <p:nvPr/>
        </p:nvSpPr>
        <p:spPr>
          <a:xfrm>
            <a:off x="5972110" y="1325880"/>
            <a:ext cx="5670944" cy="333756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971800"/>
          </a:xfrm>
          <a:prstGeom prst="rect">
            <a:avLst/>
          </a:prstGeom>
          <a:noFill/>
        </p:spPr>
        <p:txBody>
          <a:bodyPr wrap="none" lIns="0" rIns="0" tIns="0" bIns="0" anchor="t">
            <a:spAutoFit/>
          </a:bodyPr>
          <a:lstStyle/>
          <a:p>
            <a:pPr>
              <a:spcAft>
                <a:spcPts val="0"/>
              </a:spcAft>
            </a:pPr>
            <a:r>
              <a:rPr sz="1200">
                <a:solidFill>
                  <a:srgbClr val="E6E6EF"/>
                </a:solidFill>
                <a:latin typeface="Consolas"/>
              </a:rPr>
              <a:t>~LinkedStack() {</a:t>
            </a:r>
          </a:p>
          <a:p>
            <a:pPr>
              <a:spcAft>
                <a:spcPts val="0"/>
              </a:spcAft>
            </a:pPr>
            <a:r>
              <a:rPr sz="1200">
                <a:solidFill>
                  <a:srgbClr val="E6E6EF"/>
                </a:solidFill>
                <a:latin typeface="Consolas"/>
              </a:rPr>
              <a:t>    clear();</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LinkedStack(const LinkedStack &amp;other)</a:t>
            </a:r>
          </a:p>
          <a:p>
            <a:pPr>
              <a:spcAft>
                <a:spcPts val="0"/>
              </a:spcAft>
            </a:pPr>
            <a:r>
              <a:rPr sz="1200">
                <a:solidFill>
                  <a:srgbClr val="E6E6EF"/>
                </a:solidFill>
                <a:latin typeface="Consolas"/>
              </a:rPr>
              <a:t>    : top_(nullptr), count_(0) {</a:t>
            </a:r>
          </a:p>
          <a:p>
            <a:pPr>
              <a:spcAft>
                <a:spcPts val="0"/>
              </a:spcAft>
            </a:pPr>
            <a:r>
              <a:rPr sz="1200">
                <a:solidFill>
                  <a:srgbClr val="E6E6EF"/>
                </a:solidFill>
                <a:latin typeface="Consolas"/>
              </a:rPr>
              <a:t>    copyFrom(other);</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LinkedStack &amp;operator=(const LinkedStack &amp;other) {</a:t>
            </a:r>
          </a:p>
          <a:p>
            <a:pPr>
              <a:spcAft>
                <a:spcPts val="0"/>
              </a:spcAft>
            </a:pPr>
            <a:r>
              <a:rPr sz="1200">
                <a:solidFill>
                  <a:srgbClr val="E6E6EF"/>
                </a:solidFill>
                <a:latin typeface="Consolas"/>
              </a:rPr>
              <a:t>    if (&amp;other != this) {</a:t>
            </a:r>
          </a:p>
          <a:p>
            <a:pPr>
              <a:spcAft>
                <a:spcPts val="0"/>
              </a:spcAft>
            </a:pPr>
            <a:r>
              <a:rPr sz="1200">
                <a:solidFill>
                  <a:srgbClr val="E6E6EF"/>
                </a:solidFill>
                <a:latin typeface="Consolas"/>
              </a:rPr>
              <a:t>        clear();</a:t>
            </a:r>
          </a:p>
          <a:p>
            <a:pPr>
              <a:spcAft>
                <a:spcPts val="0"/>
              </a:spcAft>
            </a:pPr>
            <a:r>
              <a:rPr sz="1200">
                <a:solidFill>
                  <a:srgbClr val="E6E6EF"/>
                </a:solidFill>
                <a:latin typeface="Consolas"/>
              </a:rPr>
              <a:t>        copyFrom(other);</a:t>
            </a:r>
          </a:p>
          <a:p>
            <a:pPr>
              <a:spcAft>
                <a:spcPts val="0"/>
              </a:spcAft>
            </a:pPr>
            <a:r>
              <a:rPr sz="1200">
                <a:solidFill>
                  <a:srgbClr val="E6E6EF"/>
                </a:solidFill>
                <a:latin typeface="Consolas"/>
              </a:rPr>
              <a:t>    }</a:t>
            </a:r>
          </a:p>
          <a:p>
            <a:pPr>
              <a:spcAft>
                <a:spcPts val="0"/>
              </a:spcAft>
            </a:pPr>
            <a:r>
              <a:rPr sz="1200">
                <a:solidFill>
                  <a:srgbClr val="E6E6EF"/>
                </a:solidFill>
                <a:latin typeface="Consolas"/>
              </a:rPr>
              <a:t>    return *this;</a:t>
            </a:r>
          </a:p>
          <a:p>
            <a:pPr>
              <a:spcAft>
                <a:spcPts val="0"/>
              </a:spcAft>
            </a:pPr>
            <a:r>
              <a:rPr sz="1200">
                <a:solidFill>
                  <a:srgbClr val="E6E6EF"/>
                </a:solidFill>
                <a:latin typeface="Consolas"/>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25</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3</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1D2330"/>
                </a:solidFill>
                <a:latin typeface="Calibri"/>
              </a:rPr>
              <a:t>A copy pushes each item of </a:t>
            </a:r>
            <a:r>
              <a:rPr sz="1800" b="0">
                <a:solidFill>
                  <a:srgbClr val="4B2E83"/>
                </a:solidFill>
                <a:latin typeface="Consolas"/>
              </a:rPr>
              <a:t>other</a:t>
            </a:r>
            <a:r>
              <a:rPr sz="1800" b="0">
                <a:solidFill>
                  <a:srgbClr val="1D2330"/>
                </a:solidFill>
                <a:latin typeface="Calibri"/>
              </a:rPr>
              <a:t> from the top. </a:t>
            </a:r>
            <a:r>
              <a:rPr sz="1800" b="0">
                <a:solidFill>
                  <a:srgbClr val="4B2E83"/>
                </a:solidFill>
                <a:latin typeface="Consolas"/>
              </a:rPr>
              <a:t>other</a:t>
            </a:r>
            <a:r>
              <a:rPr sz="1800" b="0">
                <a:solidFill>
                  <a:srgbClr val="1D2330"/>
                </a:solidFill>
                <a:latin typeface="Calibri"/>
              </a:rPr>
              <a:t> is 3, 2, 1 (top first). What's the copy?</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The destructor is just </a:t>
            </a:r>
            <a:r>
              <a:rPr sz="1800" b="0">
                <a:solidFill>
                  <a:srgbClr val="4B2E83"/>
                </a:solidFill>
                <a:latin typeface="Consolas"/>
              </a:rPr>
              <a:t>delete top_;</a:t>
            </a:r>
            <a:r>
              <a:rPr sz="1800" b="0">
                <a:solidFill>
                  <a:srgbClr val="1D2330"/>
                </a:solidFill>
                <a:latin typeface="Calibri"/>
              </a:rPr>
              <a:t>. What does valgrind report for 4 items?</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Why would </a:t>
            </a:r>
            <a:r>
              <a:rPr sz="1800" b="0">
                <a:solidFill>
                  <a:srgbClr val="4B2E83"/>
                </a:solidFill>
                <a:latin typeface="Consolas"/>
              </a:rPr>
              <a:t>printStack(LinkedStack&lt;int&gt; s)</a:t>
            </a:r>
            <a:r>
              <a:rPr sz="1800" b="0">
                <a:solidFill>
                  <a:srgbClr val="1D2330"/>
                </a:solidFill>
                <a:latin typeface="Calibri"/>
              </a:rPr>
              <a:t> damage the original without a copy constructor?</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How many </a:t>
            </a:r>
            <a:r>
              <a:rPr sz="1800" b="0">
                <a:solidFill>
                  <a:srgbClr val="4B2E83"/>
                </a:solidFill>
                <a:latin typeface="Consolas"/>
              </a:rPr>
              <a:t>new</a:t>
            </a:r>
            <a:r>
              <a:rPr sz="1800" b="0">
                <a:solidFill>
                  <a:srgbClr val="1D2330"/>
                </a:solidFill>
                <a:latin typeface="Calibri"/>
              </a:rPr>
              <a:t> calls does copying a 1000-item stack make?</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26</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4 Exercise 3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3</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4</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Exceptions and RAII</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Send an error to the code that can handle it, and still release every resource on the way</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Throw and catch standard and custom exceptions</a:t>
            </a:r>
          </a:p>
          <a:p>
            <a:pPr marL="256032" indent="-228600">
              <a:spcAft>
                <a:spcPts val="600"/>
              </a:spcAft>
              <a:buClr>
                <a:srgbClr val="5B6475"/>
              </a:buClr>
              <a:buChar char="›"/>
            </a:pPr>
            <a:r>
              <a:rPr sz="2000" b="0">
                <a:solidFill>
                  <a:srgbClr val="FFFFFF"/>
                </a:solidFill>
                <a:latin typeface="Calibri"/>
              </a:rPr>
              <a:t>Order catch clauses correctly</a:t>
            </a:r>
          </a:p>
          <a:p>
            <a:pPr marL="256032" indent="-228600">
              <a:spcAft>
                <a:spcPts val="600"/>
              </a:spcAft>
              <a:buClr>
                <a:srgbClr val="5B6475"/>
              </a:buClr>
              <a:buChar char="›"/>
            </a:pPr>
            <a:r>
              <a:rPr sz="2000" b="0">
                <a:solidFill>
                  <a:srgbClr val="FFFFFF"/>
                </a:solidFill>
                <a:latin typeface="Calibri"/>
              </a:rPr>
              <a:t>Keep memory safe when exceptions fly, with RAII and </a:t>
            </a:r>
            <a:r>
              <a:rPr sz="2000" b="0">
                <a:solidFill>
                  <a:srgbClr val="C5B4E3"/>
                </a:solidFill>
                <a:latin typeface="Consolas"/>
              </a:rPr>
              <a:t>unique_ptr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28</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throw and catch</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throw</a:t>
            </a:r>
            <a:r>
              <a:rPr sz="1800" b="0">
                <a:solidFill>
                  <a:srgbClr val="1D2330"/>
                </a:solidFill>
                <a:latin typeface="Calibri"/>
              </a:rPr>
              <a:t> stops the function right there</a:t>
            </a:r>
          </a:p>
          <a:p>
            <a:pPr marL="256032" indent="-228600">
              <a:spcAft>
                <a:spcPts val="800"/>
              </a:spcAft>
              <a:buClr>
                <a:srgbClr val="5B6475"/>
              </a:buClr>
              <a:buChar char="•"/>
            </a:pPr>
            <a:r>
              <a:rPr sz="1800" b="0">
                <a:solidFill>
                  <a:srgbClr val="1D2330"/>
                </a:solidFill>
                <a:latin typeface="Calibri"/>
              </a:rPr>
              <a:t>It leaves EVERY function between the </a:t>
            </a:r>
            <a:r>
              <a:rPr sz="1800" b="0">
                <a:solidFill>
                  <a:srgbClr val="4B2E83"/>
                </a:solidFill>
                <a:latin typeface="Consolas"/>
              </a:rPr>
              <a:t>throw</a:t>
            </a:r>
            <a:r>
              <a:rPr sz="1800" b="0">
                <a:solidFill>
                  <a:srgbClr val="1D2330"/>
                </a:solidFill>
                <a:latin typeface="Calibri"/>
              </a:rPr>
              <a:t> and the matching </a:t>
            </a:r>
            <a:r>
              <a:rPr sz="1800" b="0">
                <a:solidFill>
                  <a:srgbClr val="4B2E83"/>
                </a:solidFill>
                <a:latin typeface="Consolas"/>
              </a:rPr>
              <a:t>catch</a:t>
            </a:r>
            <a:r>
              <a:rPr sz="1800" b="0">
                <a:solidFill>
                  <a:srgbClr val="1D2330"/>
                </a:solidFill>
                <a:latin typeface="Calibri"/>
              </a:rPr>
              <a:t>, unfinished, with no return value</a:t>
            </a:r>
          </a:p>
          <a:p>
            <a:pPr marL="256032" indent="-228600">
              <a:spcAft>
                <a:spcPts val="800"/>
              </a:spcAft>
              <a:buClr>
                <a:srgbClr val="5B6475"/>
              </a:buClr>
              <a:buChar char="•"/>
            </a:pPr>
            <a:r>
              <a:rPr sz="1800" b="0">
                <a:solidFill>
                  <a:srgbClr val="1D2330"/>
                </a:solidFill>
                <a:latin typeface="Calibri"/>
              </a:rPr>
              <a:t>Nobody catches it: </a:t>
            </a:r>
            <a:r>
              <a:rPr sz="1800" b="0">
                <a:solidFill>
                  <a:srgbClr val="4B2E83"/>
                </a:solidFill>
                <a:latin typeface="Consolas"/>
              </a:rPr>
              <a:t>terminate</a:t>
            </a:r>
            <a:r>
              <a:rPr sz="1800" b="0">
                <a:solidFill>
                  <a:srgbClr val="1D2330"/>
                </a:solidFill>
                <a:latin typeface="Calibri"/>
              </a:rPr>
              <a:t>, abort (exit 134)</a:t>
            </a:r>
          </a:p>
          <a:p>
            <a:pPr marL="256032" indent="-228600">
              <a:spcAft>
                <a:spcPts val="800"/>
              </a:spcAft>
              <a:buClr>
                <a:srgbClr val="5B6475"/>
              </a:buClr>
              <a:buChar char="•"/>
            </a:pPr>
            <a:r>
              <a:rPr sz="1800" b="0">
                <a:solidFill>
                  <a:srgbClr val="1D2330"/>
                </a:solidFill>
                <a:latin typeface="Calibri"/>
              </a:rPr>
              <a:t>Catch by </a:t>
            </a:r>
            <a:r>
              <a:rPr sz="1800" b="0">
                <a:solidFill>
                  <a:srgbClr val="4B2E83"/>
                </a:solidFill>
                <a:latin typeface="Consolas"/>
              </a:rPr>
              <a:t>const&amp;</a:t>
            </a:r>
            <a:r>
              <a:rPr sz="1800" b="0">
                <a:solidFill>
                  <a:srgbClr val="1D2330"/>
                </a:solidFill>
                <a:latin typeface="Calibri"/>
              </a:rPr>
              <a:t>, most specific handler first</a:t>
            </a:r>
          </a:p>
          <a:p>
            <a:pPr marL="256032" indent="-228600">
              <a:spcAft>
                <a:spcPts val="800"/>
              </a:spcAft>
              <a:buClr>
                <a:srgbClr val="5B6475"/>
              </a:buClr>
              <a:buChar char="•"/>
            </a:pPr>
            <a:r>
              <a:rPr sz="1800" b="0">
                <a:solidFill>
                  <a:srgbClr val="1D2330"/>
                </a:solidFill>
                <a:latin typeface="Calibri"/>
              </a:rPr>
              <a:t>Throw only for real errors: </a:t>
            </a:r>
            <a:r>
              <a:rPr sz="1800" b="0">
                <a:solidFill>
                  <a:srgbClr val="4B2E83"/>
                </a:solidFill>
                <a:latin typeface="Consolas"/>
              </a:rPr>
              <a:t>throw 42;</a:t>
            </a:r>
            <a:r>
              <a:rPr sz="1800" b="0">
                <a:solidFill>
                  <a:srgbClr val="1D2330"/>
                </a:solidFill>
                <a:latin typeface="Calibri"/>
              </a:rPr>
              <a:t> compiles, but exceptions as ordinary returns are an abuse</a:t>
            </a:r>
          </a:p>
        </p:txBody>
      </p:sp>
      <p:sp>
        <p:nvSpPr>
          <p:cNvPr id="7" name="Rounded Rectangle 6"/>
          <p:cNvSpPr/>
          <p:nvPr/>
        </p:nvSpPr>
        <p:spPr>
          <a:xfrm>
            <a:off x="5972110" y="1325880"/>
            <a:ext cx="5670944" cy="4251959"/>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886199"/>
          </a:xfrm>
          <a:prstGeom prst="rect">
            <a:avLst/>
          </a:prstGeom>
          <a:noFill/>
        </p:spPr>
        <p:txBody>
          <a:bodyPr wrap="none" lIns="0" rIns="0" tIns="0" bIns="0" anchor="t">
            <a:spAutoFit/>
          </a:bodyPr>
          <a:lstStyle/>
          <a:p>
            <a:pPr>
              <a:spcAft>
                <a:spcPts val="0"/>
              </a:spcAft>
            </a:pPr>
            <a:r>
              <a:rPr sz="1200">
                <a:solidFill>
                  <a:srgbClr val="E6E6EF"/>
                </a:solidFill>
                <a:latin typeface="Consolas"/>
              </a:rPr>
              <a:t>int divide(int a, int b) {</a:t>
            </a:r>
          </a:p>
          <a:p>
            <a:pPr>
              <a:spcAft>
                <a:spcPts val="0"/>
              </a:spcAft>
            </a:pPr>
            <a:r>
              <a:rPr sz="1200">
                <a:solidFill>
                  <a:srgbClr val="E6E6EF"/>
                </a:solidFill>
                <a:latin typeface="Consolas"/>
              </a:rPr>
              <a:t>    if (b == 0) {</a:t>
            </a:r>
          </a:p>
          <a:p>
            <a:pPr>
              <a:spcAft>
                <a:spcPts val="0"/>
              </a:spcAft>
            </a:pPr>
            <a:r>
              <a:rPr sz="1200">
                <a:solidFill>
                  <a:srgbClr val="E6E6EF"/>
                </a:solidFill>
                <a:latin typeface="Consolas"/>
              </a:rPr>
              <a:t>        throw invalid_argument("divide by zero");</a:t>
            </a:r>
          </a:p>
          <a:p>
            <a:pPr>
              <a:spcAft>
                <a:spcPts val="0"/>
              </a:spcAft>
            </a:pPr>
            <a:r>
              <a:rPr sz="1200">
                <a:solidFill>
                  <a:srgbClr val="E6E6EF"/>
                </a:solidFill>
                <a:latin typeface="Consolas"/>
              </a:rPr>
              <a:t>    }</a:t>
            </a:r>
          </a:p>
          <a:p>
            <a:pPr>
              <a:spcAft>
                <a:spcPts val="0"/>
              </a:spcAft>
            </a:pPr>
            <a:r>
              <a:rPr sz="1200">
                <a:solidFill>
                  <a:srgbClr val="E6E6EF"/>
                </a:solidFill>
                <a:latin typeface="Consolas"/>
              </a:rPr>
              <a:t>    return a / b;</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int average(int total, int count) {</a:t>
            </a:r>
          </a:p>
          <a:p>
            <a:pPr>
              <a:spcAft>
                <a:spcPts val="0"/>
              </a:spcAft>
            </a:pPr>
            <a:r>
              <a:rPr sz="1200">
                <a:solidFill>
                  <a:srgbClr val="E6E6EF"/>
                </a:solidFill>
                <a:latin typeface="Consolas"/>
              </a:rPr>
              <a:t>    cout &lt;&lt; "  average: calling divide\n";</a:t>
            </a:r>
          </a:p>
          <a:p>
            <a:pPr>
              <a:spcAft>
                <a:spcPts val="0"/>
              </a:spcAft>
            </a:pPr>
            <a:r>
              <a:rPr sz="1200">
                <a:solidFill>
                  <a:srgbClr val="E6E6EF"/>
                </a:solidFill>
                <a:latin typeface="Consolas"/>
              </a:rPr>
              <a:t>    int result = divide(total, count);</a:t>
            </a:r>
          </a:p>
          <a:p>
            <a:pPr>
              <a:spcAft>
                <a:spcPts val="0"/>
              </a:spcAft>
            </a:pPr>
            <a:r>
              <a:rPr sz="1200">
                <a:solidFill>
                  <a:srgbClr val="E6E6EF"/>
                </a:solidFill>
                <a:latin typeface="Consolas"/>
              </a:rPr>
              <a:t>    cout &lt;&lt; "  average: back from divide\n";       </a:t>
            </a:r>
            <a:r>
              <a:rPr sz="1200">
                <a:solidFill>
                  <a:srgbClr val="9AA4B5"/>
                </a:solidFill>
                <a:latin typeface="Consolas"/>
              </a:rPr>
              <a:t>// skipped</a:t>
            </a:r>
          </a:p>
          <a:p>
            <a:pPr>
              <a:spcAft>
                <a:spcPts val="0"/>
              </a:spcAft>
            </a:pPr>
            <a:r>
              <a:rPr sz="1200">
                <a:solidFill>
                  <a:srgbClr val="E6E6EF"/>
                </a:solidFill>
                <a:latin typeface="Consolas"/>
              </a:rPr>
              <a:t>    return result;</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try {</a:t>
            </a:r>
          </a:p>
          <a:p>
            <a:pPr>
              <a:spcAft>
                <a:spcPts val="0"/>
              </a:spcAft>
            </a:pPr>
            <a:r>
              <a:rPr sz="1200">
                <a:solidFill>
                  <a:srgbClr val="E6E6EF"/>
                </a:solidFill>
                <a:latin typeface="Consolas"/>
              </a:rPr>
              <a:t>    cout &lt;&lt; average(1, 0) &lt;&lt; endl;</a:t>
            </a:r>
          </a:p>
          <a:p>
            <a:pPr>
              <a:spcAft>
                <a:spcPts val="0"/>
              </a:spcAft>
            </a:pPr>
            <a:r>
              <a:rPr sz="1200">
                <a:solidFill>
                  <a:srgbClr val="E6E6EF"/>
                </a:solidFill>
                <a:latin typeface="Consolas"/>
              </a:rPr>
              <a:t>} catch (const invalid_argument &amp;e) {</a:t>
            </a:r>
          </a:p>
          <a:p>
            <a:pPr>
              <a:spcAft>
                <a:spcPts val="0"/>
              </a:spcAft>
            </a:pPr>
            <a:r>
              <a:rPr sz="1200">
                <a:solidFill>
                  <a:srgbClr val="E6E6EF"/>
                </a:solidFill>
                <a:latin typeface="Consolas"/>
              </a:rPr>
              <a:t>    cout &lt;&lt; "invalid_argument: " &lt;&lt; e.what();</a:t>
            </a:r>
          </a:p>
          <a:p>
            <a:pPr>
              <a:spcAft>
                <a:spcPts val="0"/>
              </a:spcAft>
            </a:pPr>
            <a:r>
              <a:rPr sz="1200">
                <a:solidFill>
                  <a:srgbClr val="E6E6EF"/>
                </a:solidFill>
                <a:latin typeface="Consolas"/>
              </a:rPr>
              <a:t>} catch (const exception &amp;e) {</a:t>
            </a:r>
          </a:p>
          <a:p>
            <a:pPr>
              <a:spcAft>
                <a:spcPts val="0"/>
              </a:spcAft>
            </a:pPr>
            <a:r>
              <a:rPr sz="1200">
                <a:solidFill>
                  <a:srgbClr val="E6E6EF"/>
                </a:solidFill>
                <a:latin typeface="Consolas"/>
              </a:rPr>
              <a:t>    cout &lt;&lt; "exception: " &lt;&lt; e.what();</a:t>
            </a:r>
          </a:p>
          <a:p>
            <a:pPr>
              <a:spcAft>
                <a:spcPts val="0"/>
              </a:spcAft>
            </a:pPr>
            <a:r>
              <a:rPr sz="1200">
                <a:solidFill>
                  <a:srgbClr val="E6E6EF"/>
                </a:solidFill>
                <a:latin typeface="Consolas"/>
              </a:rPr>
              <a:t>}</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4.1.throw_catch: "back from divide" never prints; the exception lands in main's catch.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29</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The exception hierarchy</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logic_error: the caller's bug</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invalid_argument</a:t>
            </a:r>
          </a:p>
          <a:p>
            <a:pPr marL="256032" indent="-228600">
              <a:spcAft>
                <a:spcPts val="800"/>
              </a:spcAft>
              <a:buClr>
                <a:srgbClr val="5B6475"/>
              </a:buClr>
              <a:buChar char="•"/>
            </a:pPr>
            <a:r>
              <a:rPr sz="1700" b="0">
                <a:solidFill>
                  <a:srgbClr val="4B2E83"/>
                </a:solidFill>
                <a:latin typeface="Consolas"/>
              </a:rPr>
              <a:t>out_of_range</a:t>
            </a:r>
          </a:p>
          <a:p>
            <a:pPr marL="256032" indent="-228600">
              <a:spcAft>
                <a:spcPts val="800"/>
              </a:spcAft>
              <a:buClr>
                <a:srgbClr val="5B6475"/>
              </a:buClr>
              <a:buChar char="•"/>
            </a:pPr>
            <a:r>
              <a:rPr sz="1700" b="0">
                <a:solidFill>
                  <a:srgbClr val="4B2E83"/>
                </a:solidFill>
                <a:latin typeface="Consolas"/>
              </a:rPr>
              <a:t>length_error</a:t>
            </a:r>
          </a:p>
          <a:p>
            <a:pPr marL="256032" indent="-228600">
              <a:spcAft>
                <a:spcPts val="800"/>
              </a:spcAft>
              <a:buClr>
                <a:srgbClr val="5B6475"/>
              </a:buClr>
              <a:buChar char="•"/>
            </a:pPr>
            <a:r>
              <a:rPr sz="1700" b="0">
                <a:solidFill>
                  <a:srgbClr val="1D2330"/>
                </a:solidFill>
                <a:latin typeface="Calibri"/>
              </a:rPr>
              <a:t>Carrano's </a:t>
            </a:r>
            <a:r>
              <a:rPr sz="1700" b="0">
                <a:solidFill>
                  <a:srgbClr val="4B2E83"/>
                </a:solidFill>
                <a:latin typeface="Consolas"/>
              </a:rPr>
              <a:t>PrecondViolatedExcept</a:t>
            </a:r>
            <a:r>
              <a:rPr sz="1700" b="0">
                <a:solidFill>
                  <a:srgbClr val="1D2330"/>
                </a:solidFill>
                <a:latin typeface="Calibri"/>
              </a:rPr>
              <a:t> (e.g. </a:t>
            </a:r>
            <a:r>
              <a:rPr sz="1700" b="0">
                <a:solidFill>
                  <a:srgbClr val="4B2E83"/>
                </a:solidFill>
                <a:latin typeface="Consolas"/>
              </a:rPr>
              <a:t>peek()</a:t>
            </a:r>
            <a:r>
              <a:rPr sz="1700" b="0">
                <a:solidFill>
                  <a:srgbClr val="1D2330"/>
                </a:solidFill>
                <a:latin typeface="Calibri"/>
              </a:rPr>
              <a:t> on an empty stack)</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runtime_error: not preventable</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1D2330"/>
                </a:solidFill>
                <a:latin typeface="Calibri"/>
              </a:rPr>
              <a:t>Disk full, file missing, network down</a:t>
            </a:r>
          </a:p>
          <a:p>
            <a:pPr marL="256032" indent="-228600">
              <a:spcAft>
                <a:spcPts val="800"/>
              </a:spcAft>
              <a:buClr>
                <a:srgbClr val="5B6475"/>
              </a:buClr>
              <a:buChar char="•"/>
            </a:pPr>
            <a:r>
              <a:rPr sz="1700" b="0">
                <a:solidFill>
                  <a:srgbClr val="1D2330"/>
                </a:solidFill>
                <a:latin typeface="Calibri"/>
              </a:rPr>
              <a:t>All derive from </a:t>
            </a:r>
            <a:r>
              <a:rPr sz="1700" b="0">
                <a:solidFill>
                  <a:srgbClr val="4B2E83"/>
                </a:solidFill>
                <a:latin typeface="Consolas"/>
              </a:rPr>
              <a:t>exception</a:t>
            </a:r>
            <a:r>
              <a:rPr sz="1700" b="0">
                <a:solidFill>
                  <a:srgbClr val="1D2330"/>
                </a:solidFill>
                <a:latin typeface="Calibri"/>
              </a:rPr>
              <a:t>, which has </a:t>
            </a:r>
            <a:r>
              <a:rPr sz="1700" b="0">
                <a:solidFill>
                  <a:srgbClr val="4B2E83"/>
                </a:solidFill>
                <a:latin typeface="Consolas"/>
              </a:rPr>
              <a:t>what()</a:t>
            </a:r>
          </a:p>
          <a:p>
            <a:pPr marL="256032" indent="-228600">
              <a:spcAft>
                <a:spcPts val="800"/>
              </a:spcAft>
              <a:buClr>
                <a:srgbClr val="5B6475"/>
              </a:buClr>
              <a:buChar char="•"/>
            </a:pPr>
            <a:r>
              <a:rPr sz="1700" b="0">
                <a:solidFill>
                  <a:srgbClr val="1D2330"/>
                </a:solidFill>
                <a:latin typeface="Calibri"/>
              </a:rPr>
              <a:t>A handler for a base class also catches derived classes</a:t>
            </a:r>
          </a:p>
          <a:p>
            <a:pPr marL="256032" indent="-228600">
              <a:spcAft>
                <a:spcPts val="800"/>
              </a:spcAft>
              <a:buClr>
                <a:srgbClr val="5B6475"/>
              </a:buClr>
              <a:buChar char="•"/>
            </a:pPr>
            <a:r>
              <a:rPr sz="1700" b="0">
                <a:solidFill>
                  <a:srgbClr val="1D2330"/>
                </a:solidFill>
                <a:latin typeface="Calibri"/>
              </a:rPr>
              <a:t>So list handlers most specific first; g++ warns otherwise (</a:t>
            </a:r>
            <a:r>
              <a:rPr sz="1700" b="0">
                <a:solidFill>
                  <a:srgbClr val="4B2E83"/>
                </a:solidFill>
                <a:latin typeface="Consolas"/>
              </a:rPr>
              <a:t>-Wexceptions</a:t>
            </a:r>
            <a:r>
              <a:rPr sz="1700" b="0">
                <a:solidFill>
                  <a:srgbClr val="1D2330"/>
                </a:solidFill>
                <a:latin typeface="Calibri"/>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30</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RAII: destructors clean up</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As an exception leaves a scope, local objects' destructors run (stack unwinding)</a:t>
            </a:r>
          </a:p>
          <a:p>
            <a:pPr marL="256032" indent="-228600">
              <a:spcAft>
                <a:spcPts val="800"/>
              </a:spcAft>
              <a:buClr>
                <a:srgbClr val="5B6475"/>
              </a:buClr>
              <a:buChar char="•"/>
            </a:pPr>
            <a:r>
              <a:rPr sz="1800" b="0">
                <a:solidFill>
                  <a:srgbClr val="1D2330"/>
                </a:solidFill>
                <a:latin typeface="Calibri"/>
              </a:rPr>
              <a:t>A raw </a:t>
            </a:r>
            <a:r>
              <a:rPr sz="1800" b="0">
                <a:solidFill>
                  <a:srgbClr val="4B2E83"/>
                </a:solidFill>
                <a:latin typeface="Consolas"/>
              </a:rPr>
              <a:t>new</a:t>
            </a:r>
            <a:r>
              <a:rPr sz="1800" b="0">
                <a:solidFill>
                  <a:srgbClr val="1D2330"/>
                </a:solidFill>
                <a:latin typeface="Calibri"/>
              </a:rPr>
              <a:t> has no destructor: the </a:t>
            </a:r>
            <a:r>
              <a:rPr sz="1800" b="0">
                <a:solidFill>
                  <a:srgbClr val="4B2E83"/>
                </a:solidFill>
                <a:latin typeface="Consolas"/>
              </a:rPr>
              <a:t>delete[]</a:t>
            </a:r>
            <a:r>
              <a:rPr sz="1800" b="0">
                <a:solidFill>
                  <a:srgbClr val="1D2330"/>
                </a:solidFill>
                <a:latin typeface="Calibri"/>
              </a:rPr>
              <a:t> after the throw never runs</a:t>
            </a:r>
          </a:p>
          <a:p>
            <a:pPr marL="256032" indent="-228600">
              <a:spcAft>
                <a:spcPts val="800"/>
              </a:spcAft>
              <a:buClr>
                <a:srgbClr val="5B6475"/>
              </a:buClr>
              <a:buChar char="•"/>
            </a:pPr>
            <a:r>
              <a:rPr sz="1800" b="0">
                <a:solidFill>
                  <a:srgbClr val="1D2330"/>
                </a:solidFill>
                <a:latin typeface="Calibri"/>
              </a:rPr>
              <a:t>RAII: tie each resource to an object that frees it</a:t>
            </a:r>
          </a:p>
          <a:p>
            <a:pPr marL="256032" indent="-228600">
              <a:spcAft>
                <a:spcPts val="800"/>
              </a:spcAft>
              <a:buClr>
                <a:srgbClr val="5B6475"/>
              </a:buClr>
              <a:buChar char="•"/>
            </a:pPr>
            <a:r>
              <a:rPr sz="1800" b="0">
                <a:solidFill>
                  <a:srgbClr val="4B2E83"/>
                </a:solidFill>
                <a:latin typeface="Consolas"/>
              </a:rPr>
              <a:t>IntArray</a:t>
            </a:r>
            <a:r>
              <a:rPr sz="1800" b="0">
                <a:solidFill>
                  <a:srgbClr val="1D2330"/>
                </a:solidFill>
                <a:latin typeface="Calibri"/>
              </a:rPr>
              <a:t> and </a:t>
            </a:r>
            <a:r>
              <a:rPr sz="1800" b="0">
                <a:solidFill>
                  <a:srgbClr val="4B2E83"/>
                </a:solidFill>
                <a:latin typeface="Consolas"/>
              </a:rPr>
              <a:t>LinkedStack</a:t>
            </a:r>
            <a:r>
              <a:rPr sz="1800" b="0">
                <a:solidFill>
                  <a:srgbClr val="1D2330"/>
                </a:solidFill>
                <a:latin typeface="Calibri"/>
              </a:rPr>
              <a:t> are RAII classes; </a:t>
            </a:r>
            <a:r>
              <a:rPr sz="1800" b="0">
                <a:solidFill>
                  <a:srgbClr val="4B2E83"/>
                </a:solidFill>
                <a:latin typeface="Consolas"/>
              </a:rPr>
              <a:t>unique_ptr</a:t>
            </a:r>
            <a:r>
              <a:rPr sz="1800" b="0">
                <a:solidFill>
                  <a:srgbClr val="1D2330"/>
                </a:solidFill>
                <a:latin typeface="Calibri"/>
              </a:rPr>
              <a:t> is RAII for one allocation</a:t>
            </a:r>
          </a:p>
          <a:p>
            <a:pPr marL="256032" indent="-228600">
              <a:spcAft>
                <a:spcPts val="800"/>
              </a:spcAft>
              <a:buClr>
                <a:srgbClr val="5B6475"/>
              </a:buClr>
              <a:buChar char="•"/>
            </a:pPr>
            <a:r>
              <a:rPr sz="1800" b="0">
                <a:solidFill>
                  <a:srgbClr val="1D2330"/>
                </a:solidFill>
                <a:latin typeface="Calibri"/>
              </a:rPr>
              <a:t>C++ has no </a:t>
            </a:r>
            <a:r>
              <a:rPr sz="1800" b="0">
                <a:solidFill>
                  <a:srgbClr val="4B2E83"/>
                </a:solidFill>
                <a:latin typeface="Consolas"/>
              </a:rPr>
              <a:t>finally</a:t>
            </a:r>
            <a:r>
              <a:rPr sz="1800" b="0">
                <a:solidFill>
                  <a:srgbClr val="1D2330"/>
                </a:solidFill>
                <a:latin typeface="Calibri"/>
              </a:rPr>
              <a:t>: destructors do the cleanup</a:t>
            </a:r>
          </a:p>
        </p:txBody>
      </p:sp>
      <p:sp>
        <p:nvSpPr>
          <p:cNvPr id="7" name="Rounded Rectangle 6"/>
          <p:cNvSpPr/>
          <p:nvPr/>
        </p:nvSpPr>
        <p:spPr>
          <a:xfrm>
            <a:off x="5972110" y="1325880"/>
            <a:ext cx="5670944" cy="34290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063240"/>
          </a:xfrm>
          <a:prstGeom prst="rect">
            <a:avLst/>
          </a:prstGeom>
          <a:noFill/>
        </p:spPr>
        <p:txBody>
          <a:bodyPr wrap="none" lIns="0" rIns="0" tIns="0" bIns="0" anchor="t">
            <a:spAutoFit/>
          </a:bodyPr>
          <a:lstStyle/>
          <a:p>
            <a:pPr>
              <a:spcAft>
                <a:spcPts val="0"/>
              </a:spcAft>
            </a:pPr>
            <a:r>
              <a:rPr sz="1100">
                <a:solidFill>
                  <a:srgbClr val="E6E6EF"/>
                </a:solidFill>
                <a:latin typeface="Consolas"/>
              </a:rPr>
              <a:t>void work() {</a:t>
            </a:r>
          </a:p>
          <a:p>
            <a:pPr>
              <a:spcAft>
                <a:spcPts val="0"/>
              </a:spcAft>
            </a:pPr>
            <a:r>
              <a:rPr sz="1100">
                <a:solidFill>
                  <a:srgbClr val="E6E6EF"/>
                </a:solidFill>
                <a:latin typeface="Consolas"/>
              </a:rPr>
              <a:t>    Tracer local("local");          </a:t>
            </a:r>
            <a:r>
              <a:rPr sz="1100">
                <a:solidFill>
                  <a:srgbClr val="9AA4B5"/>
                </a:solidFill>
                <a:latin typeface="Consolas"/>
              </a:rPr>
              <a:t>// destroyed on the way out</a:t>
            </a:r>
          </a:p>
          <a:p>
            <a:pPr>
              <a:spcAft>
                <a:spcPts val="0"/>
              </a:spcAft>
            </a:pPr>
            <a:r>
              <a:rPr sz="1100">
                <a:solidFill>
                  <a:srgbClr val="E6E6EF"/>
                </a:solidFill>
                <a:latin typeface="Consolas"/>
              </a:rPr>
              <a:t>    int *raw = new int[100];        </a:t>
            </a:r>
            <a:r>
              <a:rPr sz="1100">
                <a:solidFill>
                  <a:srgbClr val="9AA4B5"/>
                </a:solidFill>
                <a:latin typeface="Consolas"/>
              </a:rPr>
              <a:t>// leaks: never deleted</a:t>
            </a:r>
          </a:p>
          <a:p>
            <a:pPr>
              <a:spcAft>
                <a:spcPts val="0"/>
              </a:spcAft>
            </a:pPr>
            <a:r>
              <a:rPr sz="1100">
                <a:solidFill>
                  <a:srgbClr val="E6E6EF"/>
                </a:solidFill>
                <a:latin typeface="Consolas"/>
              </a:rPr>
              <a:t>    unique_ptr&lt;int[]&gt; safe =</a:t>
            </a:r>
          </a:p>
          <a:p>
            <a:pPr>
              <a:spcAft>
                <a:spcPts val="0"/>
              </a:spcAft>
            </a:pPr>
            <a:r>
              <a:rPr sz="1100">
                <a:solidFill>
                  <a:srgbClr val="E6E6EF"/>
                </a:solidFill>
                <a:latin typeface="Consolas"/>
              </a:rPr>
              <a:t>        make_unique&lt;int[]&gt;(100);       </a:t>
            </a:r>
            <a:r>
              <a:rPr sz="1100">
                <a:solidFill>
                  <a:srgbClr val="9AA4B5"/>
                </a:solidFill>
                <a:latin typeface="Consolas"/>
              </a:rPr>
              <a:t>// freed by ~unique_ptr</a:t>
            </a:r>
          </a:p>
          <a:p>
            <a:pPr>
              <a:spcAft>
                <a:spcPts val="0"/>
              </a:spcAft>
            </a:pPr>
            <a:r>
              <a:rPr sz="1100">
                <a:solidFill>
                  <a:srgbClr val="E6E6EF"/>
                </a:solidFill>
                <a:latin typeface="Consolas"/>
              </a:rPr>
              <a:t>    raw[0] = 1;</a:t>
            </a:r>
          </a:p>
          <a:p>
            <a:pPr>
              <a:spcAft>
                <a:spcPts val="0"/>
              </a:spcAft>
            </a:pPr>
            <a:r>
              <a:rPr sz="1100">
                <a:solidFill>
                  <a:srgbClr val="E6E6EF"/>
                </a:solidFill>
                <a:latin typeface="Consolas"/>
              </a:rPr>
              <a:t>    safe[0] = 1;</a:t>
            </a:r>
          </a:p>
          <a:p>
            <a:pPr>
              <a:spcAft>
                <a:spcPts val="0"/>
              </a:spcAft>
            </a:pPr>
            <a:r>
              <a:rPr sz="1100">
                <a:solidFill>
                  <a:srgbClr val="E6E6EF"/>
                </a:solidFill>
                <a:latin typeface="Consolas"/>
              </a:rPr>
              <a:t>    throw runtime_error("something failed");</a:t>
            </a:r>
          </a:p>
          <a:p>
            <a:pPr>
              <a:spcAft>
                <a:spcPts val="0"/>
              </a:spcAft>
            </a:pPr>
            <a:r>
              <a:rPr sz="1100">
                <a:solidFill>
                  <a:srgbClr val="E6E6EF"/>
                </a:solidFill>
                <a:latin typeface="Consolas"/>
              </a:rPr>
              <a:t>    delete[] raw;                   </a:t>
            </a:r>
            <a:r>
              <a:rPr sz="1100">
                <a:solidFill>
                  <a:srgbClr val="9AA4B5"/>
                </a:solidFill>
                <a:latin typeface="Consolas"/>
              </a:rPr>
              <a:t>// never reached</a:t>
            </a:r>
          </a:p>
          <a:p>
            <a:pPr>
              <a:spcAft>
                <a:spcPts val="0"/>
              </a:spcAft>
            </a:pPr>
            <a:r>
              <a:rPr sz="1100">
                <a:solidFill>
                  <a:srgbClr val="E6E6EF"/>
                </a:solidFill>
                <a:latin typeface="Consolas"/>
              </a:rPr>
              <a:t>}</a:t>
            </a:r>
          </a:p>
          <a:p>
            <a:pPr>
              <a:spcAft>
                <a:spcPts val="0"/>
              </a:spcAft>
            </a:pPr>
            <a:r>
              <a:rPr sz="1100">
                <a:latin typeface="Consolas"/>
              </a:rPr>
              <a:t> </a:t>
            </a:r>
          </a:p>
          <a:p>
            <a:pPr>
              <a:spcAft>
                <a:spcPts val="0"/>
              </a:spcAft>
            </a:pPr>
            <a:r>
              <a:rPr sz="1100">
                <a:solidFill>
                  <a:srgbClr val="E6E6EF"/>
                </a:solidFill>
                <a:latin typeface="Consolas"/>
              </a:rPr>
              <a:t>int main() {</a:t>
            </a:r>
          </a:p>
          <a:p>
            <a:pPr>
              <a:spcAft>
                <a:spcPts val="0"/>
              </a:spcAft>
            </a:pPr>
            <a:r>
              <a:rPr sz="1100">
                <a:solidFill>
                  <a:srgbClr val="E6E6EF"/>
                </a:solidFill>
                <a:latin typeface="Consolas"/>
              </a:rPr>
              <a:t>    try {</a:t>
            </a:r>
          </a:p>
          <a:p>
            <a:pPr>
              <a:spcAft>
                <a:spcPts val="0"/>
              </a:spcAft>
            </a:pPr>
            <a:r>
              <a:rPr sz="1100">
                <a:solidFill>
                  <a:srgbClr val="E6E6EF"/>
                </a:solidFill>
                <a:latin typeface="Consolas"/>
              </a:rPr>
              <a:t>        work();</a:t>
            </a:r>
          </a:p>
          <a:p>
            <a:pPr>
              <a:spcAft>
                <a:spcPts val="0"/>
              </a:spcAft>
            </a:pPr>
            <a:r>
              <a:rPr sz="1100">
                <a:solidFill>
                  <a:srgbClr val="E6E6EF"/>
                </a:solidFill>
                <a:latin typeface="Consolas"/>
              </a:rPr>
              <a:t>    } catch (const runtime_error &amp;e) {</a:t>
            </a:r>
          </a:p>
          <a:p>
            <a:pPr>
              <a:spcAft>
                <a:spcPts val="0"/>
              </a:spcAft>
            </a:pPr>
            <a:r>
              <a:rPr sz="1100">
                <a:solidFill>
                  <a:srgbClr val="E6E6EF"/>
                </a:solidFill>
                <a:latin typeface="Consolas"/>
              </a:rPr>
              <a:t>        cout &lt;&lt; "caught: " &lt;&lt; e.what() &lt;&lt; endl;</a:t>
            </a:r>
          </a:p>
          <a:p>
            <a:pPr>
              <a:spcAft>
                <a:spcPts val="0"/>
              </a:spcAft>
            </a:pPr>
            <a:r>
              <a:rPr sz="1100">
                <a:solidFill>
                  <a:srgbClr val="E6E6EF"/>
                </a:solidFill>
                <a:latin typeface="Consolas"/>
              </a:rPr>
              <a:t>    }</a:t>
            </a:r>
          </a:p>
          <a:p>
            <a:pPr>
              <a:spcAft>
                <a:spcPts val="0"/>
              </a:spcAft>
            </a:pPr>
            <a:r>
              <a:rPr sz="1100">
                <a:solidFill>
                  <a:srgbClr val="E6E6EF"/>
                </a:solidFill>
                <a:latin typeface="Consolas"/>
              </a:rPr>
              <a:t>}</a:t>
            </a:r>
          </a:p>
        </p:txBody>
      </p:sp>
      <p:sp>
        <p:nvSpPr>
          <p:cNvPr id="9" name="TextBox 8"/>
          <p:cNvSpPr txBox="1"/>
          <p:nvPr/>
        </p:nvSpPr>
        <p:spPr>
          <a:xfrm>
            <a:off x="5972110" y="5897880"/>
            <a:ext cx="5670944" cy="365760"/>
          </a:xfrm>
          <a:prstGeom prst="rect">
            <a:avLst/>
          </a:prstGeom>
          <a:noFill/>
        </p:spPr>
        <p:txBody>
          <a:bodyPr wrap="square" lIns="0" rIns="0" tIns="0" bIns="0" anchor="t">
            <a:spAutoFit/>
          </a:bodyPr>
          <a:lstStyle/>
          <a:p>
            <a:pPr algn="l"/>
            <a:r>
              <a:rPr sz="1300" b="0">
                <a:solidFill>
                  <a:srgbClr val="5B6475"/>
                </a:solidFill>
                <a:latin typeface="Calibri"/>
              </a:rPr>
              <a:t>Example 4.2.raii_unwinding: "destroy local" prints before "caught"; valgrind: 400 bytes lost, all from raw.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31</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4: Exceptions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25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Lab4/exercises/ex4-exceptions/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./exceptions_test</a:t>
            </a:r>
            <a:r>
              <a:rPr sz="1500" b="0">
                <a:solidFill>
                  <a:srgbClr val="1D2330"/>
                </a:solidFill>
                <a:latin typeface="Calibri"/>
              </a:rPr>
              <a:t> handles all four choices, and that </a:t>
            </a:r>
            <a:r>
              <a:rPr sz="1500" b="0">
                <a:solidFill>
                  <a:srgbClr val="4B2E83"/>
                </a:solidFill>
                <a:latin typeface="Consolas"/>
              </a:rPr>
              <a:t>make check</a:t>
            </a:r>
            <a:r>
              <a:rPr sz="1500" b="0">
                <a:solidFill>
                  <a:srgbClr val="1D2330"/>
                </a:solidFill>
                <a:latin typeface="Calibri"/>
              </a:rPr>
              <a:t> is clean for </a:t>
            </a:r>
            <a:r>
              <a:rPr sz="1500" b="0">
                <a:solidFill>
                  <a:srgbClr val="4B2E83"/>
                </a:solidFill>
                <a:latin typeface="Consolas"/>
              </a:rPr>
              <a:t>raii</a:t>
            </a:r>
            <a:r>
              <a:rPr sz="1500" b="0">
                <a:solidFill>
                  <a:srgbClr val="1D2330"/>
                </a:solidFill>
                <a:latin typeface="Calibri"/>
              </a:rPr>
              <a:t>.</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1D2330"/>
                </a:solidFill>
                <a:latin typeface="Calibri"/>
              </a:rPr>
              <a:t>TODO 1: </a:t>
            </a:r>
            <a:r>
              <a:rPr sz="1700" b="0">
                <a:solidFill>
                  <a:srgbClr val="4B2E83"/>
                </a:solidFill>
                <a:latin typeface="Consolas"/>
              </a:rPr>
              <a:t>Rational</a:t>
            </a:r>
            <a:r>
              <a:rPr sz="1700" b="0">
                <a:solidFill>
                  <a:srgbClr val="1D2330"/>
                </a:solidFill>
                <a:latin typeface="Calibri"/>
              </a:rPr>
              <a:t> throws on a zero denominator. Run once uncaught, then catch it</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TODO 2: </a:t>
            </a:r>
            <a:r>
              <a:rPr sz="1700" b="0">
                <a:solidFill>
                  <a:srgbClr val="4B2E83"/>
                </a:solidFill>
                <a:latin typeface="Consolas"/>
              </a:rPr>
              <a:t>ArrayStack</a:t>
            </a:r>
            <a:r>
              <a:rPr sz="1700" b="0">
                <a:solidFill>
                  <a:srgbClr val="1D2330"/>
                </a:solidFill>
                <a:latin typeface="Calibri"/>
              </a:rPr>
              <a:t> </a:t>
            </a:r>
            <a:r>
              <a:rPr sz="1700" b="0">
                <a:solidFill>
                  <a:srgbClr val="4B2E83"/>
                </a:solidFill>
                <a:latin typeface="Consolas"/>
              </a:rPr>
              <a:t>peek</a:t>
            </a:r>
            <a:r>
              <a:rPr sz="1700" b="0">
                <a:solidFill>
                  <a:srgbClr val="1D2330"/>
                </a:solidFill>
                <a:latin typeface="Calibri"/>
              </a:rPr>
              <a:t>/</a:t>
            </a:r>
            <a:r>
              <a:rPr sz="1700" b="0">
                <a:solidFill>
                  <a:srgbClr val="4B2E83"/>
                </a:solidFill>
                <a:latin typeface="Consolas"/>
              </a:rPr>
              <a:t>pop</a:t>
            </a:r>
            <a:r>
              <a:rPr sz="1700" b="0">
                <a:solidFill>
                  <a:srgbClr val="1D2330"/>
                </a:solidFill>
                <a:latin typeface="Calibri"/>
              </a:rPr>
              <a:t> throw </a:t>
            </a:r>
            <a:r>
              <a:rPr sz="1700" b="0">
                <a:solidFill>
                  <a:srgbClr val="4B2E83"/>
                </a:solidFill>
                <a:latin typeface="Consolas"/>
              </a:rPr>
              <a:t>PrecondViolatedExcept</a:t>
            </a:r>
            <a:r>
              <a:rPr sz="1700" b="0">
                <a:solidFill>
                  <a:srgbClr val="1D2330"/>
                </a:solidFill>
                <a:latin typeface="Calibri"/>
              </a:rPr>
              <a:t>; catch it</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TODO 3: </a:t>
            </a:r>
            <a:r>
              <a:rPr sz="1700" b="0">
                <a:solidFill>
                  <a:srgbClr val="4B2E83"/>
                </a:solidFill>
                <a:latin typeface="Consolas"/>
              </a:rPr>
              <a:t>risky(0..3)</a:t>
            </a:r>
            <a:r>
              <a:rPr sz="1700" b="0">
                <a:solidFill>
                  <a:srgbClr val="1D2330"/>
                </a:solidFill>
                <a:latin typeface="Calibri"/>
              </a:rPr>
              <a:t> with one </a:t>
            </a:r>
            <a:r>
              <a:rPr sz="1700" b="0">
                <a:solidFill>
                  <a:srgbClr val="4B2E83"/>
                </a:solidFill>
                <a:latin typeface="Consolas"/>
              </a:rPr>
              <a:t>try</a:t>
            </a:r>
            <a:r>
              <a:rPr sz="1700" b="0">
                <a:solidFill>
                  <a:srgbClr val="1D2330"/>
                </a:solidFill>
                <a:latin typeface="Calibri"/>
              </a:rPr>
              <a:t>, three </a:t>
            </a:r>
            <a:r>
              <a:rPr sz="1700" b="0">
                <a:solidFill>
                  <a:srgbClr val="4B2E83"/>
                </a:solidFill>
                <a:latin typeface="Consolas"/>
              </a:rPr>
              <a:t>catch</a:t>
            </a:r>
            <a:r>
              <a:rPr sz="1700" b="0">
                <a:solidFill>
                  <a:srgbClr val="1D2330"/>
                </a:solidFill>
                <a:latin typeface="Calibri"/>
              </a:rPr>
              <a:t> clauses. Try </a:t>
            </a:r>
            <a:r>
              <a:rPr sz="1700" b="0">
                <a:solidFill>
                  <a:srgbClr val="4B2E83"/>
                </a:solidFill>
                <a:latin typeface="Consolas"/>
              </a:rPr>
              <a:t>exception</a:t>
            </a:r>
            <a:r>
              <a:rPr sz="1700" b="0">
                <a:solidFill>
                  <a:srgbClr val="1D2330"/>
                </a:solidFill>
                <a:latin typeface="Calibri"/>
              </a:rPr>
              <a:t> first</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TODO 4: </a:t>
            </a:r>
            <a:r>
              <a:rPr sz="1700" b="0">
                <a:solidFill>
                  <a:srgbClr val="4B2E83"/>
                </a:solidFill>
                <a:latin typeface="Consolas"/>
              </a:rPr>
              <a:t>make check</a:t>
            </a:r>
            <a:r>
              <a:rPr sz="1700" b="0">
                <a:solidFill>
                  <a:srgbClr val="1D2330"/>
                </a:solidFill>
                <a:latin typeface="Calibri"/>
              </a:rPr>
              <a:t> on </a:t>
            </a:r>
            <a:r>
              <a:rPr sz="1700" b="0">
                <a:solidFill>
                  <a:srgbClr val="4B2E83"/>
                </a:solidFill>
                <a:latin typeface="Consolas"/>
              </a:rPr>
              <a:t>raii</a:t>
            </a:r>
            <a:r>
              <a:rPr sz="1700" b="0">
                <a:solidFill>
                  <a:srgbClr val="1D2330"/>
                </a:solidFill>
                <a:latin typeface="Calibri"/>
              </a:rPr>
              <a:t>; fix the leak with </a:t>
            </a:r>
            <a:r>
              <a:rPr sz="1700" b="0">
                <a:solidFill>
                  <a:srgbClr val="4B2E83"/>
                </a:solidFill>
                <a:latin typeface="Consolas"/>
              </a:rPr>
              <a:t>unique_ptr&lt;int[]&gt;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32</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4</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Uncaught: "terminate called after throwing an instance of 'std::invalid_argument'"</a:t>
            </a:r>
          </a:p>
          <a:p>
            <a:pPr marL="256032" indent="-228600">
              <a:spcAft>
                <a:spcPts val="800"/>
              </a:spcAft>
              <a:buClr>
                <a:srgbClr val="5B6475"/>
              </a:buClr>
              <a:buChar char="•"/>
            </a:pPr>
            <a:r>
              <a:rPr sz="2000" b="0">
                <a:solidFill>
                  <a:srgbClr val="4B2E83"/>
                </a:solidFill>
                <a:latin typeface="Consolas"/>
              </a:rPr>
              <a:t>out_of_range</a:t>
            </a:r>
            <a:r>
              <a:rPr sz="2000" b="0">
                <a:solidFill>
                  <a:srgbClr val="1D2330"/>
                </a:solidFill>
                <a:latin typeface="Calibri"/>
              </a:rPr>
              <a:t> lands in the </a:t>
            </a:r>
            <a:r>
              <a:rPr sz="2000" b="0">
                <a:solidFill>
                  <a:srgbClr val="4B2E83"/>
                </a:solidFill>
                <a:latin typeface="Consolas"/>
              </a:rPr>
              <a:t>logic_error</a:t>
            </a:r>
            <a:r>
              <a:rPr sz="2000" b="0">
                <a:solidFill>
                  <a:srgbClr val="1D2330"/>
                </a:solidFill>
                <a:latin typeface="Calibri"/>
              </a:rPr>
              <a:t> handler: it's a </a:t>
            </a:r>
            <a:r>
              <a:rPr sz="2000" b="0">
                <a:solidFill>
                  <a:srgbClr val="4B2E83"/>
                </a:solidFill>
                <a:latin typeface="Consolas"/>
              </a:rPr>
              <a:t>logic_error</a:t>
            </a:r>
          </a:p>
          <a:p>
            <a:pPr marL="256032" indent="-228600">
              <a:spcAft>
                <a:spcPts val="800"/>
              </a:spcAft>
              <a:buClr>
                <a:srgbClr val="5B6475"/>
              </a:buClr>
              <a:buChar char="•"/>
            </a:pPr>
            <a:r>
              <a:rPr sz="2000" b="0">
                <a:solidFill>
                  <a:srgbClr val="4B2E83"/>
                </a:solidFill>
                <a:latin typeface="Consolas"/>
              </a:rPr>
              <a:t>exception</a:t>
            </a:r>
            <a:r>
              <a:rPr sz="2000" b="0">
                <a:solidFill>
                  <a:srgbClr val="1D2330"/>
                </a:solidFill>
                <a:latin typeface="Calibri"/>
              </a:rPr>
              <a:t> first: "will be caught by earlier handler"</a:t>
            </a:r>
          </a:p>
          <a:p>
            <a:pPr marL="256032" indent="-228600">
              <a:spcAft>
                <a:spcPts val="800"/>
              </a:spcAft>
              <a:buClr>
                <a:srgbClr val="5B6475"/>
              </a:buClr>
              <a:buChar char="•"/>
            </a:pPr>
            <a:r>
              <a:rPr sz="2000" b="0">
                <a:solidFill>
                  <a:srgbClr val="4B2E83"/>
                </a:solidFill>
                <a:latin typeface="Consolas"/>
              </a:rPr>
              <a:t>raii</a:t>
            </a:r>
            <a:r>
              <a:rPr sz="2000" b="0">
                <a:solidFill>
                  <a:srgbClr val="1D2330"/>
                </a:solidFill>
                <a:latin typeface="Calibri"/>
              </a:rPr>
              <a:t>: 12 bytes definitely lost, fixed by </a:t>
            </a:r>
            <a:r>
              <a:rPr sz="2000" b="0">
                <a:solidFill>
                  <a:srgbClr val="4B2E83"/>
                </a:solidFill>
                <a:latin typeface="Consolas"/>
              </a:rPr>
              <a:t>unique_ptr</a:t>
            </a:r>
          </a:p>
          <a:p>
            <a:pPr marL="256032" indent="-228600">
              <a:spcAft>
                <a:spcPts val="800"/>
              </a:spcAft>
              <a:buClr>
                <a:srgbClr val="5B6475"/>
              </a:buClr>
              <a:buChar char="•"/>
            </a:pPr>
            <a:r>
              <a:rPr sz="2000" b="0">
                <a:solidFill>
                  <a:srgbClr val="1D2330"/>
                </a:solidFill>
                <a:latin typeface="Calibri"/>
              </a:rPr>
              <a:t>The whole lab: a class template that owns memory needs the rule of three; RAII makes it exception-safe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33</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4</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1D2330"/>
                </a:solidFill>
                <a:latin typeface="Calibri"/>
              </a:rPr>
              <a:t>Does </a:t>
            </a:r>
            <a:r>
              <a:rPr sz="1800" b="0">
                <a:solidFill>
                  <a:srgbClr val="4B2E83"/>
                </a:solidFill>
                <a:latin typeface="Consolas"/>
              </a:rPr>
              <a:t>catch (const logic_error &amp;e)</a:t>
            </a:r>
            <a:r>
              <a:rPr sz="1800" b="0">
                <a:solidFill>
                  <a:srgbClr val="1D2330"/>
                </a:solidFill>
                <a:latin typeface="Calibri"/>
              </a:rPr>
              <a:t> catch a thrown </a:t>
            </a:r>
            <a:r>
              <a:rPr sz="1800" b="0">
                <a:solidFill>
                  <a:srgbClr val="4B2E83"/>
                </a:solidFill>
                <a:latin typeface="Consolas"/>
              </a:rPr>
              <a:t>out_of_range</a:t>
            </a:r>
            <a:r>
              <a:rPr sz="1800" b="0">
                <a:solidFill>
                  <a:srgbClr val="1D2330"/>
                </a:solidFill>
                <a:latin typeface="Calibri"/>
              </a:rPr>
              <a:t>?</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An exception is thrown three calls deep and caught in </a:t>
            </a:r>
            <a:r>
              <a:rPr sz="1800" b="0">
                <a:solidFill>
                  <a:srgbClr val="4B2E83"/>
                </a:solidFill>
                <a:latin typeface="Consolas"/>
              </a:rPr>
              <a:t>main</a:t>
            </a:r>
            <a:r>
              <a:rPr sz="1800" b="0">
                <a:solidFill>
                  <a:srgbClr val="1D2330"/>
                </a:solidFill>
                <a:latin typeface="Calibri"/>
              </a:rPr>
              <a:t>. What runs on the way?</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What is lost by writing </a:t>
            </a:r>
            <a:r>
              <a:rPr sz="1800" b="0">
                <a:solidFill>
                  <a:srgbClr val="4B2E83"/>
                </a:solidFill>
                <a:latin typeface="Consolas"/>
              </a:rPr>
              <a:t>catch (exception e)</a:t>
            </a:r>
            <a:r>
              <a:rPr sz="1800" b="0">
                <a:solidFill>
                  <a:srgbClr val="1D2330"/>
                </a:solidFill>
                <a:latin typeface="Calibri"/>
              </a:rPr>
              <a:t>?</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Should a destructor throw?</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34</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4 Exercise 4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4</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4: Templates and Classes That Own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35</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What to submit: one zip, once</a:t>
            </a:r>
          </a:p>
        </p:txBody>
      </p:sp>
      <p:sp>
        <p:nvSpPr>
          <p:cNvPr id="5" name="Oval 4"/>
          <p:cNvSpPr/>
          <p:nvPr/>
        </p:nvSpPr>
        <p:spPr>
          <a:xfrm>
            <a:off x="548640" y="13716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097280" y="1353312"/>
            <a:ext cx="4998567" cy="914400"/>
          </a:xfrm>
          <a:prstGeom prst="rect">
            <a:avLst/>
          </a:prstGeom>
          <a:noFill/>
        </p:spPr>
        <p:txBody>
          <a:bodyPr wrap="square" lIns="0" rIns="0" tIns="0" bIns="0" anchor="t">
            <a:spAutoFit/>
          </a:bodyPr>
          <a:lstStyle/>
          <a:p>
            <a:pPr algn="l"/>
            <a:r>
              <a:rPr sz="1700" b="0">
                <a:solidFill>
                  <a:srgbClr val="1D2330"/>
                </a:solidFill>
                <a:latin typeface="Calibri"/>
              </a:rPr>
              <a:t>Your work is in </a:t>
            </a:r>
            <a:r>
              <a:rPr sz="1700" b="0">
                <a:solidFill>
                  <a:srgbClr val="4B2E83"/>
                </a:solidFill>
                <a:latin typeface="Consolas"/>
              </a:rPr>
              <a:t>Lab4/exercises</a:t>
            </a:r>
            <a:r>
              <a:rPr sz="1700" b="0">
                <a:solidFill>
                  <a:srgbClr val="1D2330"/>
                </a:solidFill>
                <a:latin typeface="Calibri"/>
              </a:rPr>
              <a:t>, with subfolders named like the starter folders</a:t>
            </a:r>
          </a:p>
        </p:txBody>
      </p:sp>
      <p:sp>
        <p:nvSpPr>
          <p:cNvPr id="7" name="Oval 6"/>
          <p:cNvSpPr/>
          <p:nvPr/>
        </p:nvSpPr>
        <p:spPr>
          <a:xfrm>
            <a:off x="548640" y="22860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267712"/>
            <a:ext cx="4998567" cy="914400"/>
          </a:xfrm>
          <a:prstGeom prst="rect">
            <a:avLst/>
          </a:prstGeom>
          <a:noFill/>
        </p:spPr>
        <p:txBody>
          <a:bodyPr wrap="square" lIns="0" rIns="0" tIns="0" bIns="0" anchor="t">
            <a:spAutoFit/>
          </a:bodyPr>
          <a:lstStyle/>
          <a:p>
            <a:pPr algn="l"/>
            <a:r>
              <a:rPr sz="1700" b="0">
                <a:solidFill>
                  <a:srgbClr val="1D2330"/>
                </a:solidFill>
                <a:latin typeface="Calibri"/>
              </a:rPr>
              <a:t>Run </a:t>
            </a:r>
            <a:r>
              <a:rPr sz="1700" b="0">
                <a:solidFill>
                  <a:srgbClr val="4B2E83"/>
                </a:solidFill>
                <a:latin typeface="Consolas"/>
              </a:rPr>
              <a:t>make clean</a:t>
            </a:r>
            <a:r>
              <a:rPr sz="1700" b="0">
                <a:solidFill>
                  <a:srgbClr val="1D2330"/>
                </a:solidFill>
                <a:latin typeface="Calibri"/>
              </a:rPr>
              <a:t> in each; delete executables and core dumps; delete the </a:t>
            </a:r>
            <a:r>
              <a:rPr sz="1700" b="0">
                <a:solidFill>
                  <a:srgbClr val="4B2E83"/>
                </a:solidFill>
                <a:latin typeface="Consolas"/>
              </a:rPr>
              <a:t>examples</a:t>
            </a:r>
            <a:r>
              <a:rPr sz="1700" b="0">
                <a:solidFill>
                  <a:srgbClr val="1D2330"/>
                </a:solidFill>
                <a:latin typeface="Calibri"/>
              </a:rPr>
              <a:t> folder</a:t>
            </a:r>
          </a:p>
        </p:txBody>
      </p:sp>
      <p:sp>
        <p:nvSpPr>
          <p:cNvPr id="9" name="Oval 8"/>
          <p:cNvSpPr/>
          <p:nvPr/>
        </p:nvSpPr>
        <p:spPr>
          <a:xfrm>
            <a:off x="548640" y="32004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0" name="TextBox 9"/>
          <p:cNvSpPr txBox="1"/>
          <p:nvPr/>
        </p:nvSpPr>
        <p:spPr>
          <a:xfrm>
            <a:off x="1097280" y="3182112"/>
            <a:ext cx="4998567" cy="914400"/>
          </a:xfrm>
          <a:prstGeom prst="rect">
            <a:avLst/>
          </a:prstGeom>
          <a:noFill/>
        </p:spPr>
        <p:txBody>
          <a:bodyPr wrap="square" lIns="0" rIns="0" tIns="0" bIns="0" anchor="t">
            <a:spAutoFit/>
          </a:bodyPr>
          <a:lstStyle/>
          <a:p>
            <a:pPr algn="l"/>
            <a:r>
              <a:rPr sz="1700" b="0">
                <a:solidFill>
                  <a:srgbClr val="1D2330"/>
                </a:solidFill>
                <a:latin typeface="Calibri"/>
              </a:rPr>
              <a:t>Check: no warnings, and </a:t>
            </a:r>
            <a:r>
              <a:rPr sz="1700" b="0">
                <a:solidFill>
                  <a:srgbClr val="4B2E83"/>
                </a:solidFill>
                <a:latin typeface="Consolas"/>
              </a:rPr>
              <a:t>make check</a:t>
            </a:r>
            <a:r>
              <a:rPr sz="1700" b="0">
                <a:solidFill>
                  <a:srgbClr val="1D2330"/>
                </a:solidFill>
                <a:latin typeface="Calibri"/>
              </a:rPr>
              <a:t> clean everywhere</a:t>
            </a:r>
          </a:p>
        </p:txBody>
      </p:sp>
      <p:sp>
        <p:nvSpPr>
          <p:cNvPr id="11" name="Oval 10"/>
          <p:cNvSpPr/>
          <p:nvPr/>
        </p:nvSpPr>
        <p:spPr>
          <a:xfrm>
            <a:off x="548640" y="41148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2" name="TextBox 11"/>
          <p:cNvSpPr txBox="1"/>
          <p:nvPr/>
        </p:nvSpPr>
        <p:spPr>
          <a:xfrm>
            <a:off x="1097280" y="4096512"/>
            <a:ext cx="4998567" cy="914400"/>
          </a:xfrm>
          <a:prstGeom prst="rect">
            <a:avLst/>
          </a:prstGeom>
          <a:noFill/>
        </p:spPr>
        <p:txBody>
          <a:bodyPr wrap="square" lIns="0" rIns="0" tIns="0" bIns="0" anchor="t">
            <a:spAutoFit/>
          </a:bodyPr>
          <a:lstStyle/>
          <a:p>
            <a:pPr algn="l"/>
            <a:r>
              <a:rPr sz="1700" b="0">
                <a:solidFill>
                  <a:srgbClr val="1D2330"/>
                </a:solidFill>
                <a:latin typeface="Calibri"/>
              </a:rPr>
              <a:t>Zip the whole folder: </a:t>
            </a:r>
            <a:r>
              <a:rPr sz="1700" b="0">
                <a:solidFill>
                  <a:srgbClr val="4B2E83"/>
                </a:solidFill>
                <a:latin typeface="Consolas"/>
              </a:rPr>
              <a:t>zip -r Lab4-netid.zip Lab4</a:t>
            </a:r>
          </a:p>
        </p:txBody>
      </p:sp>
      <p:sp>
        <p:nvSpPr>
          <p:cNvPr id="13" name="Oval 12"/>
          <p:cNvSpPr/>
          <p:nvPr/>
        </p:nvSpPr>
        <p:spPr>
          <a:xfrm>
            <a:off x="548640" y="50292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4" name="TextBox 13"/>
          <p:cNvSpPr txBox="1"/>
          <p:nvPr/>
        </p:nvSpPr>
        <p:spPr>
          <a:xfrm>
            <a:off x="1097280" y="5010912"/>
            <a:ext cx="4998567" cy="914400"/>
          </a:xfrm>
          <a:prstGeom prst="rect">
            <a:avLst/>
          </a:prstGeom>
          <a:noFill/>
        </p:spPr>
        <p:txBody>
          <a:bodyPr wrap="square" lIns="0" rIns="0" tIns="0" bIns="0" anchor="t">
            <a:spAutoFit/>
          </a:bodyPr>
          <a:lstStyle/>
          <a:p>
            <a:pPr algn="l"/>
            <a:r>
              <a:rPr sz="1700" b="0">
                <a:solidFill>
                  <a:srgbClr val="1D2330"/>
                </a:solidFill>
                <a:latin typeface="Calibri"/>
              </a:rPr>
              <a:t>Upload that one zip to the Lab 4 assignment on Canvas</a:t>
            </a:r>
          </a:p>
        </p:txBody>
      </p:sp>
      <p:sp>
        <p:nvSpPr>
          <p:cNvPr id="15" name="Rounded Rectangle 14"/>
          <p:cNvSpPr/>
          <p:nvPr/>
        </p:nvSpPr>
        <p:spPr>
          <a:xfrm>
            <a:off x="6415887" y="1325880"/>
            <a:ext cx="5227167" cy="361188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44487" y="1508760"/>
            <a:ext cx="4769967" cy="3246120"/>
          </a:xfrm>
          <a:prstGeom prst="rect">
            <a:avLst/>
          </a:prstGeom>
          <a:noFill/>
        </p:spPr>
        <p:txBody>
          <a:bodyPr wrap="none" lIns="0" rIns="0" tIns="0" bIns="0" anchor="t">
            <a:spAutoFit/>
          </a:bodyPr>
          <a:lstStyle/>
          <a:p>
            <a:pPr>
              <a:spcAft>
                <a:spcPts val="0"/>
              </a:spcAft>
            </a:pPr>
            <a:r>
              <a:rPr sz="1400">
                <a:solidFill>
                  <a:srgbClr val="E6E6EF"/>
                </a:solidFill>
                <a:latin typeface="Consolas"/>
              </a:rPr>
              <a:t>Lab4/</a:t>
            </a:r>
          </a:p>
          <a:p>
            <a:pPr>
              <a:spcAft>
                <a:spcPts val="0"/>
              </a:spcAft>
            </a:pPr>
            <a:r>
              <a:rPr sz="1400">
                <a:solidFill>
                  <a:srgbClr val="E6E6EF"/>
                </a:solidFill>
                <a:latin typeface="Consolas"/>
              </a:rPr>
              <a:t>└── exercises/</a:t>
            </a:r>
          </a:p>
          <a:p>
            <a:pPr>
              <a:spcAft>
                <a:spcPts val="0"/>
              </a:spcAft>
            </a:pPr>
            <a:r>
              <a:rPr sz="1400">
                <a:solidFill>
                  <a:srgbClr val="E6E6EF"/>
                </a:solidFill>
                <a:latin typeface="Consolas"/>
              </a:rPr>
              <a:t>    ├── ex1-templates/</a:t>
            </a:r>
          </a:p>
          <a:p>
            <a:pPr>
              <a:spcAft>
                <a:spcPts val="0"/>
              </a:spcAft>
            </a:pPr>
            <a:r>
              <a:rPr sz="1400">
                <a:solidFill>
                  <a:srgbClr val="E6E6EF"/>
                </a:solidFill>
                <a:latin typeface="Consolas"/>
              </a:rPr>
              <a:t>    │     sorting.h entry.h templates_test.cpp</a:t>
            </a:r>
          </a:p>
          <a:p>
            <a:pPr>
              <a:spcAft>
                <a:spcPts val="0"/>
              </a:spcAft>
            </a:pPr>
            <a:r>
              <a:rPr sz="1400">
                <a:solidFill>
                  <a:srgbClr val="E6E6EF"/>
                </a:solidFill>
                <a:latin typeface="Consolas"/>
              </a:rPr>
              <a:t>    │     Makefile     (no entry.cpp)</a:t>
            </a:r>
          </a:p>
          <a:p>
            <a:pPr>
              <a:spcAft>
                <a:spcPts val="0"/>
              </a:spcAft>
            </a:pPr>
            <a:r>
              <a:rPr sz="1400">
                <a:solidFill>
                  <a:srgbClr val="E6E6EF"/>
                </a:solidFill>
                <a:latin typeface="Consolas"/>
              </a:rPr>
              <a:t>    ├── ex2-copy/</a:t>
            </a:r>
          </a:p>
          <a:p>
            <a:pPr>
              <a:spcAft>
                <a:spcPts val="0"/>
              </a:spcAft>
            </a:pPr>
            <a:r>
              <a:rPr sz="1400">
                <a:solidFill>
                  <a:srgbClr val="E6E6EF"/>
                </a:solidFill>
                <a:latin typeface="Consolas"/>
              </a:rPr>
              <a:t>    │     intarray.h intarray.cpp copy_test.cpp</a:t>
            </a:r>
          </a:p>
          <a:p>
            <a:pPr>
              <a:spcAft>
                <a:spcPts val="0"/>
              </a:spcAft>
            </a:pPr>
            <a:r>
              <a:rPr sz="1400">
                <a:solidFill>
                  <a:srgbClr val="E6E6EF"/>
                </a:solidFill>
                <a:latin typeface="Consolas"/>
              </a:rPr>
              <a:t>    │     Makefile</a:t>
            </a:r>
          </a:p>
          <a:p>
            <a:pPr>
              <a:spcAft>
                <a:spcPts val="0"/>
              </a:spcAft>
            </a:pPr>
            <a:r>
              <a:rPr sz="1400">
                <a:solidFill>
                  <a:srgbClr val="E6E6EF"/>
                </a:solidFill>
                <a:latin typeface="Consolas"/>
              </a:rPr>
              <a:t>    ├── ex3-linked/</a:t>
            </a:r>
          </a:p>
          <a:p>
            <a:pPr>
              <a:spcAft>
                <a:spcPts val="0"/>
              </a:spcAft>
            </a:pPr>
            <a:r>
              <a:rPr sz="1400">
                <a:solidFill>
                  <a:srgbClr val="E6E6EF"/>
                </a:solidFill>
                <a:latin typeface="Consolas"/>
              </a:rPr>
              <a:t>    │     LinkedStack.h stack_test.cpp</a:t>
            </a:r>
          </a:p>
          <a:p>
            <a:pPr>
              <a:spcAft>
                <a:spcPts val="0"/>
              </a:spcAft>
            </a:pPr>
            <a:r>
              <a:rPr sz="1400">
                <a:solidFill>
                  <a:srgbClr val="E6E6EF"/>
                </a:solidFill>
                <a:latin typeface="Consolas"/>
              </a:rPr>
              <a:t>    │     Makefile</a:t>
            </a:r>
          </a:p>
          <a:p>
            <a:pPr>
              <a:spcAft>
                <a:spcPts val="0"/>
              </a:spcAft>
            </a:pPr>
            <a:r>
              <a:rPr sz="1400">
                <a:solidFill>
                  <a:srgbClr val="E6E6EF"/>
                </a:solidFill>
                <a:latin typeface="Consolas"/>
              </a:rPr>
              <a:t>    └── ex4-exceptions/</a:t>
            </a:r>
          </a:p>
          <a:p>
            <a:pPr>
              <a:spcAft>
                <a:spcPts val="0"/>
              </a:spcAft>
            </a:pPr>
            <a:r>
              <a:rPr sz="1400">
                <a:solidFill>
                  <a:srgbClr val="E6E6EF"/>
                </a:solidFill>
                <a:latin typeface="Consolas"/>
              </a:rPr>
              <a:t>          PrecondViolatedExcept.h ArrayStack.h</a:t>
            </a:r>
          </a:p>
          <a:p>
            <a:pPr>
              <a:spcAft>
                <a:spcPts val="0"/>
              </a:spcAft>
            </a:pPr>
            <a:r>
              <a:rPr sz="1400">
                <a:solidFill>
                  <a:srgbClr val="E6E6EF"/>
                </a:solidFill>
                <a:latin typeface="Consolas"/>
              </a:rPr>
              <a:t>          rational.h rational.cpp raii.cpp</a:t>
            </a:r>
          </a:p>
          <a:p>
            <a:pPr>
              <a:spcAft>
                <a:spcPts val="0"/>
              </a:spcAft>
            </a:pPr>
            <a:r>
              <a:rPr sz="1400">
                <a:solidFill>
                  <a:srgbClr val="E6E6EF"/>
                </a:solidFill>
                <a:latin typeface="Consolas"/>
              </a:rPr>
              <a:t>          exceptions_test.cpp Makefile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TextBox 1"/>
          <p:cNvSpPr txBox="1"/>
          <p:nvPr/>
        </p:nvSpPr>
        <p:spPr>
          <a:xfrm>
            <a:off x="548640" y="548640"/>
            <a:ext cx="10972800" cy="822960"/>
          </a:xfrm>
          <a:prstGeom prst="rect">
            <a:avLst/>
          </a:prstGeom>
          <a:noFill/>
        </p:spPr>
        <p:txBody>
          <a:bodyPr wrap="square" lIns="0" rIns="0" tIns="0" bIns="0" anchor="t">
            <a:spAutoFit/>
          </a:bodyPr>
          <a:lstStyle/>
          <a:p>
            <a:pPr algn="l"/>
            <a:r>
              <a:rPr sz="4000" b="1">
                <a:solidFill>
                  <a:srgbClr val="FFFFFF"/>
                </a:solidFill>
                <a:latin typeface="Calibri"/>
              </a:rPr>
              <a:t>Takeaways</a:t>
            </a:r>
          </a:p>
        </p:txBody>
      </p:sp>
      <p:sp>
        <p:nvSpPr>
          <p:cNvPr id="3" name="Rounded Rectangle 2"/>
          <p:cNvSpPr/>
          <p:nvPr/>
        </p:nvSpPr>
        <p:spPr>
          <a:xfrm>
            <a:off x="548640" y="155448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82880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1</a:t>
            </a:r>
          </a:p>
        </p:txBody>
      </p:sp>
      <p:sp>
        <p:nvSpPr>
          <p:cNvPr id="5" name="TextBox 4"/>
          <p:cNvSpPr txBox="1"/>
          <p:nvPr/>
        </p:nvSpPr>
        <p:spPr>
          <a:xfrm>
            <a:off x="1463040" y="1783080"/>
            <a:ext cx="4175607" cy="1691640"/>
          </a:xfrm>
          <a:prstGeom prst="rect">
            <a:avLst/>
          </a:prstGeom>
          <a:noFill/>
        </p:spPr>
        <p:txBody>
          <a:bodyPr wrap="square" lIns="0" rIns="0" tIns="0" bIns="0" anchor="ctr">
            <a:spAutoFit/>
          </a:bodyPr>
          <a:lstStyle/>
          <a:p>
            <a:r>
              <a:rPr sz="2200" b="0">
                <a:solidFill>
                  <a:srgbClr val="FFFFFF"/>
                </a:solidFill>
                <a:latin typeface="Calibri"/>
              </a:rPr>
              <a:t>A template is written once and instantiated per type; </a:t>
            </a:r>
            <a:r>
              <a:rPr sz="2200" b="0">
                <a:solidFill>
                  <a:srgbClr val="C5B4E3"/>
                </a:solidFill>
                <a:latin typeface="Consolas"/>
              </a:rPr>
              <a:t>T</a:t>
            </a:r>
            <a:r>
              <a:rPr sz="2200" b="0">
                <a:solidFill>
                  <a:srgbClr val="FFFFFF"/>
                </a:solidFill>
                <a:latin typeface="Calibri"/>
              </a:rPr>
              <a:t> must support what the body uses; it all lives in the header.</a:t>
            </a:r>
          </a:p>
        </p:txBody>
      </p:sp>
      <p:sp>
        <p:nvSpPr>
          <p:cNvPr id="6" name="Rounded Rectangle 5"/>
          <p:cNvSpPr/>
          <p:nvPr/>
        </p:nvSpPr>
        <p:spPr>
          <a:xfrm>
            <a:off x="6278727" y="155448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53047" y="182880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2</a:t>
            </a:r>
          </a:p>
        </p:txBody>
      </p:sp>
      <p:sp>
        <p:nvSpPr>
          <p:cNvPr id="8" name="TextBox 7"/>
          <p:cNvSpPr txBox="1"/>
          <p:nvPr/>
        </p:nvSpPr>
        <p:spPr>
          <a:xfrm>
            <a:off x="7193127" y="1783080"/>
            <a:ext cx="4175607" cy="1691640"/>
          </a:xfrm>
          <a:prstGeom prst="rect">
            <a:avLst/>
          </a:prstGeom>
          <a:noFill/>
        </p:spPr>
        <p:txBody>
          <a:bodyPr wrap="square" lIns="0" rIns="0" tIns="0" bIns="0" anchor="ctr">
            <a:spAutoFit/>
          </a:bodyPr>
          <a:lstStyle/>
          <a:p>
            <a:r>
              <a:rPr sz="2200" b="0">
                <a:solidFill>
                  <a:srgbClr val="FFFFFF"/>
                </a:solidFill>
                <a:latin typeface="Calibri"/>
              </a:rPr>
              <a:t>Own memory? Write the destructor, a deep copy constructor, and </a:t>
            </a:r>
            <a:r>
              <a:rPr sz="2200" b="0">
                <a:solidFill>
                  <a:srgbClr val="C5B4E3"/>
                </a:solidFill>
                <a:latin typeface="Consolas"/>
              </a:rPr>
              <a:t>operator=</a:t>
            </a:r>
            <a:r>
              <a:rPr sz="2200" b="0">
                <a:solidFill>
                  <a:srgbClr val="FFFFFF"/>
                </a:solidFill>
                <a:latin typeface="Calibri"/>
              </a:rPr>
              <a:t>, or </a:t>
            </a:r>
            <a:r>
              <a:rPr sz="2200" b="0">
                <a:solidFill>
                  <a:srgbClr val="C5B4E3"/>
                </a:solidFill>
                <a:latin typeface="Consolas"/>
              </a:rPr>
              <a:t>= delete</a:t>
            </a:r>
            <a:r>
              <a:rPr sz="2200" b="0">
                <a:solidFill>
                  <a:srgbClr val="FFFFFF"/>
                </a:solidFill>
                <a:latin typeface="Calibri"/>
              </a:rPr>
              <a:t> copying.</a:t>
            </a:r>
          </a:p>
        </p:txBody>
      </p:sp>
      <p:sp>
        <p:nvSpPr>
          <p:cNvPr id="9" name="Rounded Rectangle 8"/>
          <p:cNvSpPr/>
          <p:nvPr/>
        </p:nvSpPr>
        <p:spPr>
          <a:xfrm>
            <a:off x="548640" y="397764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425196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3</a:t>
            </a:r>
          </a:p>
        </p:txBody>
      </p:sp>
      <p:sp>
        <p:nvSpPr>
          <p:cNvPr id="11" name="TextBox 10"/>
          <p:cNvSpPr txBox="1"/>
          <p:nvPr/>
        </p:nvSpPr>
        <p:spPr>
          <a:xfrm>
            <a:off x="1463040" y="4206240"/>
            <a:ext cx="4175607" cy="1691640"/>
          </a:xfrm>
          <a:prstGeom prst="rect">
            <a:avLst/>
          </a:prstGeom>
          <a:noFill/>
        </p:spPr>
        <p:txBody>
          <a:bodyPr wrap="square" lIns="0" rIns="0" tIns="0" bIns="0" anchor="ctr">
            <a:spAutoFit/>
          </a:bodyPr>
          <a:lstStyle/>
          <a:p>
            <a:r>
              <a:rPr sz="2200" b="0">
                <a:solidFill>
                  <a:srgbClr val="C5B4E3"/>
                </a:solidFill>
                <a:latin typeface="Consolas"/>
              </a:rPr>
              <a:t>operator=</a:t>
            </a:r>
            <a:r>
              <a:rPr sz="2200" b="0">
                <a:solidFill>
                  <a:srgbClr val="FFFFFF"/>
                </a:solidFill>
                <a:latin typeface="Calibri"/>
              </a:rPr>
              <a:t>: self-check, copy then delete, return </a:t>
            </a:r>
            <a:r>
              <a:rPr sz="2200" b="0">
                <a:solidFill>
                  <a:srgbClr val="C5B4E3"/>
                </a:solidFill>
                <a:latin typeface="Consolas"/>
              </a:rPr>
              <a:t>*this</a:t>
            </a:r>
            <a:r>
              <a:rPr sz="2200" b="0">
                <a:solidFill>
                  <a:srgbClr val="FFFFFF"/>
                </a:solidFill>
                <a:latin typeface="Calibri"/>
              </a:rPr>
              <a:t>. Copy a chain by appending, in order.</a:t>
            </a:r>
          </a:p>
        </p:txBody>
      </p:sp>
      <p:sp>
        <p:nvSpPr>
          <p:cNvPr id="12" name="Rounded Rectangle 11"/>
          <p:cNvSpPr/>
          <p:nvPr/>
        </p:nvSpPr>
        <p:spPr>
          <a:xfrm>
            <a:off x="6278727" y="397764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53047" y="425196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4</a:t>
            </a:r>
          </a:p>
        </p:txBody>
      </p:sp>
      <p:sp>
        <p:nvSpPr>
          <p:cNvPr id="14" name="TextBox 13"/>
          <p:cNvSpPr txBox="1"/>
          <p:nvPr/>
        </p:nvSpPr>
        <p:spPr>
          <a:xfrm>
            <a:off x="7193127" y="4206240"/>
            <a:ext cx="4175607" cy="1691640"/>
          </a:xfrm>
          <a:prstGeom prst="rect">
            <a:avLst/>
          </a:prstGeom>
          <a:noFill/>
        </p:spPr>
        <p:txBody>
          <a:bodyPr wrap="square" lIns="0" rIns="0" tIns="0" bIns="0" anchor="ctr">
            <a:spAutoFit/>
          </a:bodyPr>
          <a:lstStyle/>
          <a:p>
            <a:r>
              <a:rPr sz="2200" b="0">
                <a:solidFill>
                  <a:srgbClr val="FFFFFF"/>
                </a:solidFill>
                <a:latin typeface="Calibri"/>
              </a:rPr>
              <a:t>Catch by </a:t>
            </a:r>
            <a:r>
              <a:rPr sz="2200" b="0">
                <a:solidFill>
                  <a:srgbClr val="C5B4E3"/>
                </a:solidFill>
                <a:latin typeface="Consolas"/>
              </a:rPr>
              <a:t>const&amp;</a:t>
            </a:r>
            <a:r>
              <a:rPr sz="2200" b="0">
                <a:solidFill>
                  <a:srgbClr val="FFFFFF"/>
                </a:solidFill>
                <a:latin typeface="Calibri"/>
              </a:rPr>
              <a:t>, most specific first. Destructors (RAII) do the cleanup.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