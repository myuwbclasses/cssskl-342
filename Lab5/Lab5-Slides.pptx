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many CSS 342 assignments forbid the standard container that does the assignment's job. Know the library anyway: it's how you test your own containers, and what CSS 343 builds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3:15-3:25. 5:05-5:15 is catch-up and wrap-up. The lecture examples are in Lab5/examples/ (they come with the starter zip).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built growable arrays by hand; now use the standard library's. vector and string manage their own memory, copy correctly, and know their size. Most programs also read their input from files and command-line arguments rather than the keyboard, and CSS 342 assignments are often run that way. Knowing how these classes behave (when a vector reallocates, which index operations are unchecked) keeps you from bringing back the bugs they were made to prevent.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5 Exercise 1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Containers store their elements in very different ways (an array, a chain of nodes, a tree), yet you want to visit them all with the same loop. An iterator gives every container one way to say "the current element" and "the next one", so the same code and the same standard algorithms work on all of them. Range-based for loops are iterators underneath, and the containers you write for CSS 342 often need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5 Exercise 2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one container is best at everything: a vector is fast to index but slow to insert into the middle, a linked list is the opposite, and looking items up by a key calls for something else again. The standard library has a container for each of these jobs, already written and tested. Choosing the right one, and knowing its traps (like map's [] quietly adding keys), is a skill you'll use in every larger program.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5 Exercise 3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Sorting, searching, counting, and removing are written once in the standard library and work on any container through iterators, so you rarely need to write those loops yourself. What changes from one use to the next is the rule: sort students by name or by grade, count only the passing scores. C++ lets you pass that rule in as a function, and a lambda lets you write it right where you call the algorithm.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5 Exercise 4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8503920" y="-1097280"/>
            <a:ext cx="4754880" cy="47548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9144000" cy="457200"/>
          </a:xfrm>
          <a:prstGeom prst="rect">
            <a:avLst/>
          </a:prstGeom>
          <a:noFill/>
        </p:spPr>
        <p:txBody>
          <a:bodyPr wrap="square" lIns="0" rIns="0" tIns="0" bIns="0" anchor="t">
            <a:spAutoFit/>
          </a:bodyPr>
          <a:lstStyle/>
          <a:p>
            <a:pPr algn="l"/>
            <a:r>
              <a:rPr sz="1600" b="1">
                <a:solidFill>
                  <a:srgbClr val="C5B4E3"/>
                </a:solidFill>
                <a:latin typeface="Calibri"/>
              </a:rPr>
              <a:t>CSS SKL 342 · LAB 5</a:t>
            </a:r>
          </a:p>
        </p:txBody>
      </p:sp>
      <p:sp>
        <p:nvSpPr>
          <p:cNvPr id="4" name="TextBox 3"/>
          <p:cNvSpPr txBox="1"/>
          <p:nvPr/>
        </p:nvSpPr>
        <p:spPr>
          <a:xfrm>
            <a:off x="548640" y="2514600"/>
            <a:ext cx="9601200" cy="1280160"/>
          </a:xfrm>
          <a:prstGeom prst="rect">
            <a:avLst/>
          </a:prstGeom>
          <a:noFill/>
        </p:spPr>
        <p:txBody>
          <a:bodyPr wrap="square" lIns="0" rIns="0" tIns="0" bIns="0" anchor="t">
            <a:spAutoFit/>
          </a:bodyPr>
          <a:lstStyle/>
          <a:p>
            <a:pPr algn="l"/>
            <a:r>
              <a:rPr sz="4800" b="1">
                <a:solidFill>
                  <a:srgbClr val="FFFFFF"/>
                </a:solidFill>
                <a:latin typeface="Calibri"/>
              </a:rPr>
              <a:t>Iterators and the Standard Library</a:t>
            </a:r>
          </a:p>
        </p:txBody>
      </p:sp>
      <p:sp>
        <p:nvSpPr>
          <p:cNvPr id="5" name="TextBox 4"/>
          <p:cNvSpPr txBox="1"/>
          <p:nvPr/>
        </p:nvSpPr>
        <p:spPr>
          <a:xfrm>
            <a:off x="548640" y="3886200"/>
            <a:ext cx="8686800" cy="1097280"/>
          </a:xfrm>
          <a:prstGeom prst="rect">
            <a:avLst/>
          </a:prstGeom>
          <a:noFill/>
        </p:spPr>
        <p:txBody>
          <a:bodyPr wrap="square" lIns="0" rIns="0" tIns="0" bIns="0" anchor="t">
            <a:spAutoFit/>
          </a:bodyPr>
          <a:lstStyle/>
          <a:p>
            <a:pPr algn="l"/>
            <a:r>
              <a:rPr sz="2000" b="0">
                <a:solidFill>
                  <a:srgbClr val="C5B4E3"/>
                </a:solidFill>
                <a:latin typeface="Calibri"/>
              </a:rPr>
              <a:t>vector, string, and files · iterators · list and map · algorithms and lambdas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Today's plan</a:t>
            </a:r>
          </a:p>
        </p:txBody>
      </p:sp>
      <p:sp>
        <p:nvSpPr>
          <p:cNvPr id="5" name="Rounded Rectangle 4"/>
          <p:cNvSpPr/>
          <p:nvPr/>
        </p:nvSpPr>
        <p:spPr>
          <a:xfrm>
            <a:off x="548640"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777240"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vector, string, and files</a:t>
            </a:r>
          </a:p>
        </p:txBody>
      </p:sp>
      <p:sp>
        <p:nvSpPr>
          <p:cNvPr id="8" name="Rounded Rectangle 7"/>
          <p:cNvSpPr/>
          <p:nvPr/>
        </p:nvSpPr>
        <p:spPr>
          <a:xfrm>
            <a:off x="777240"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9" name="TextBox 8"/>
          <p:cNvSpPr txBox="1"/>
          <p:nvPr/>
        </p:nvSpPr>
        <p:spPr>
          <a:xfrm>
            <a:off x="2011680"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1:15 · 20 min</a:t>
            </a:r>
          </a:p>
        </p:txBody>
      </p:sp>
      <p:sp>
        <p:nvSpPr>
          <p:cNvPr id="10" name="TextBox 9"/>
          <p:cNvSpPr txBox="1"/>
          <p:nvPr/>
        </p:nvSpPr>
        <p:spPr>
          <a:xfrm>
            <a:off x="777240"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vector, string, and files</a:t>
            </a:r>
          </a:p>
        </p:txBody>
      </p:sp>
      <p:sp>
        <p:nvSpPr>
          <p:cNvPr id="11" name="Rounded Rectangle 10"/>
          <p:cNvSpPr/>
          <p:nvPr/>
        </p:nvSpPr>
        <p:spPr>
          <a:xfrm>
            <a:off x="777240"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12" name="TextBox 11"/>
          <p:cNvSpPr txBox="1"/>
          <p:nvPr/>
        </p:nvSpPr>
        <p:spPr>
          <a:xfrm>
            <a:off x="2011680"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1:35 · 35 min</a:t>
            </a:r>
          </a:p>
        </p:txBody>
      </p:sp>
      <p:sp>
        <p:nvSpPr>
          <p:cNvPr id="13" name="TextBox 12"/>
          <p:cNvSpPr txBox="1"/>
          <p:nvPr/>
        </p:nvSpPr>
        <p:spPr>
          <a:xfrm>
            <a:off x="777240"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Vectors, words, files</a:t>
            </a:r>
          </a:p>
        </p:txBody>
      </p:sp>
      <p:sp>
        <p:nvSpPr>
          <p:cNvPr id="14" name="Rounded Rectangle 13"/>
          <p:cNvSpPr/>
          <p:nvPr/>
        </p:nvSpPr>
        <p:spPr>
          <a:xfrm>
            <a:off x="777240"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15" name="TextBox 14"/>
          <p:cNvSpPr txBox="1"/>
          <p:nvPr/>
        </p:nvSpPr>
        <p:spPr>
          <a:xfrm>
            <a:off x="2011680"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2:10 · 10 min</a:t>
            </a:r>
          </a:p>
        </p:txBody>
      </p:sp>
      <p:sp>
        <p:nvSpPr>
          <p:cNvPr id="16" name="TextBox 15"/>
          <p:cNvSpPr txBox="1"/>
          <p:nvPr/>
        </p:nvSpPr>
        <p:spPr>
          <a:xfrm>
            <a:off x="777240"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17" name="Rounded Rectangle 16"/>
          <p:cNvSpPr/>
          <p:nvPr/>
        </p:nvSpPr>
        <p:spPr>
          <a:xfrm>
            <a:off x="3390823"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9423"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9" name="TextBox 18"/>
          <p:cNvSpPr txBox="1"/>
          <p:nvPr/>
        </p:nvSpPr>
        <p:spPr>
          <a:xfrm>
            <a:off x="3619423"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Iterators</a:t>
            </a:r>
          </a:p>
        </p:txBody>
      </p:sp>
      <p:sp>
        <p:nvSpPr>
          <p:cNvPr id="20" name="Rounded Rectangle 19"/>
          <p:cNvSpPr/>
          <p:nvPr/>
        </p:nvSpPr>
        <p:spPr>
          <a:xfrm>
            <a:off x="3619423"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21" name="TextBox 20"/>
          <p:cNvSpPr txBox="1"/>
          <p:nvPr/>
        </p:nvSpPr>
        <p:spPr>
          <a:xfrm>
            <a:off x="4853863"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2:20 · 15 min</a:t>
            </a:r>
          </a:p>
        </p:txBody>
      </p:sp>
      <p:sp>
        <p:nvSpPr>
          <p:cNvPr id="22" name="TextBox 21"/>
          <p:cNvSpPr txBox="1"/>
          <p:nvPr/>
        </p:nvSpPr>
        <p:spPr>
          <a:xfrm>
            <a:off x="3619423"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Using and writing</a:t>
            </a:r>
          </a:p>
        </p:txBody>
      </p:sp>
      <p:sp>
        <p:nvSpPr>
          <p:cNvPr id="23" name="Rounded Rectangle 22"/>
          <p:cNvSpPr/>
          <p:nvPr/>
        </p:nvSpPr>
        <p:spPr>
          <a:xfrm>
            <a:off x="3619423"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24" name="TextBox 23"/>
          <p:cNvSpPr txBox="1"/>
          <p:nvPr/>
        </p:nvSpPr>
        <p:spPr>
          <a:xfrm>
            <a:off x="4853863"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2:35 · 30 min</a:t>
            </a:r>
          </a:p>
        </p:txBody>
      </p:sp>
      <p:sp>
        <p:nvSpPr>
          <p:cNvPr id="25" name="TextBox 24"/>
          <p:cNvSpPr txBox="1"/>
          <p:nvPr/>
        </p:nvSpPr>
        <p:spPr>
          <a:xfrm>
            <a:off x="3619423"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Iterators</a:t>
            </a:r>
          </a:p>
        </p:txBody>
      </p:sp>
      <p:sp>
        <p:nvSpPr>
          <p:cNvPr id="26" name="Rounded Rectangle 25"/>
          <p:cNvSpPr/>
          <p:nvPr/>
        </p:nvSpPr>
        <p:spPr>
          <a:xfrm>
            <a:off x="3619423"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27" name="TextBox 26"/>
          <p:cNvSpPr txBox="1"/>
          <p:nvPr/>
        </p:nvSpPr>
        <p:spPr>
          <a:xfrm>
            <a:off x="4853863"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3:05 · 10 min</a:t>
            </a:r>
          </a:p>
        </p:txBody>
      </p:sp>
      <p:sp>
        <p:nvSpPr>
          <p:cNvPr id="28" name="TextBox 27"/>
          <p:cNvSpPr txBox="1"/>
          <p:nvPr/>
        </p:nvSpPr>
        <p:spPr>
          <a:xfrm>
            <a:off x="3619423"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29" name="Rounded Rectangle 28"/>
          <p:cNvSpPr/>
          <p:nvPr/>
        </p:nvSpPr>
        <p:spPr>
          <a:xfrm>
            <a:off x="6233007"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61607"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31" name="TextBox 30"/>
          <p:cNvSpPr txBox="1"/>
          <p:nvPr/>
        </p:nvSpPr>
        <p:spPr>
          <a:xfrm>
            <a:off x="6461607"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list and map</a:t>
            </a:r>
          </a:p>
        </p:txBody>
      </p:sp>
      <p:sp>
        <p:nvSpPr>
          <p:cNvPr id="32" name="Rounded Rectangle 31"/>
          <p:cNvSpPr/>
          <p:nvPr/>
        </p:nvSpPr>
        <p:spPr>
          <a:xfrm>
            <a:off x="6461607"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33" name="TextBox 32"/>
          <p:cNvSpPr txBox="1"/>
          <p:nvPr/>
        </p:nvSpPr>
        <p:spPr>
          <a:xfrm>
            <a:off x="7696047"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3:25 · 15 min</a:t>
            </a:r>
          </a:p>
        </p:txBody>
      </p:sp>
      <p:sp>
        <p:nvSpPr>
          <p:cNvPr id="34" name="TextBox 33"/>
          <p:cNvSpPr txBox="1"/>
          <p:nvPr/>
        </p:nvSpPr>
        <p:spPr>
          <a:xfrm>
            <a:off x="6461607"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More containers</a:t>
            </a:r>
          </a:p>
        </p:txBody>
      </p:sp>
      <p:sp>
        <p:nvSpPr>
          <p:cNvPr id="35" name="Rounded Rectangle 34"/>
          <p:cNvSpPr/>
          <p:nvPr/>
        </p:nvSpPr>
        <p:spPr>
          <a:xfrm>
            <a:off x="6461607"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36" name="TextBox 35"/>
          <p:cNvSpPr txBox="1"/>
          <p:nvPr/>
        </p:nvSpPr>
        <p:spPr>
          <a:xfrm>
            <a:off x="7696047"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3:40 · 25 min</a:t>
            </a:r>
          </a:p>
        </p:txBody>
      </p:sp>
      <p:sp>
        <p:nvSpPr>
          <p:cNvPr id="37" name="TextBox 36"/>
          <p:cNvSpPr txBox="1"/>
          <p:nvPr/>
        </p:nvSpPr>
        <p:spPr>
          <a:xfrm>
            <a:off x="6461607"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List, word count</a:t>
            </a:r>
          </a:p>
        </p:txBody>
      </p:sp>
      <p:sp>
        <p:nvSpPr>
          <p:cNvPr id="38" name="Rounded Rectangle 37"/>
          <p:cNvSpPr/>
          <p:nvPr/>
        </p:nvSpPr>
        <p:spPr>
          <a:xfrm>
            <a:off x="6461607"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39" name="TextBox 38"/>
          <p:cNvSpPr txBox="1"/>
          <p:nvPr/>
        </p:nvSpPr>
        <p:spPr>
          <a:xfrm>
            <a:off x="7696047"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4:05 · 5 min</a:t>
            </a:r>
          </a:p>
        </p:txBody>
      </p:sp>
      <p:sp>
        <p:nvSpPr>
          <p:cNvPr id="40" name="TextBox 39"/>
          <p:cNvSpPr txBox="1"/>
          <p:nvPr/>
        </p:nvSpPr>
        <p:spPr>
          <a:xfrm>
            <a:off x="6461607"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41" name="Rounded Rectangle 40"/>
          <p:cNvSpPr/>
          <p:nvPr/>
        </p:nvSpPr>
        <p:spPr>
          <a:xfrm>
            <a:off x="9075191"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03791"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43" name="TextBox 42"/>
          <p:cNvSpPr txBox="1"/>
          <p:nvPr/>
        </p:nvSpPr>
        <p:spPr>
          <a:xfrm>
            <a:off x="9303791"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Algorithms and lambdas</a:t>
            </a:r>
          </a:p>
        </p:txBody>
      </p:sp>
      <p:sp>
        <p:nvSpPr>
          <p:cNvPr id="44" name="Rounded Rectangle 43"/>
          <p:cNvSpPr/>
          <p:nvPr/>
        </p:nvSpPr>
        <p:spPr>
          <a:xfrm>
            <a:off x="9303791"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45" name="TextBox 44"/>
          <p:cNvSpPr txBox="1"/>
          <p:nvPr/>
        </p:nvSpPr>
        <p:spPr>
          <a:xfrm>
            <a:off x="10538231"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4:10 · 15 min</a:t>
            </a:r>
          </a:p>
        </p:txBody>
      </p:sp>
      <p:sp>
        <p:nvSpPr>
          <p:cNvPr id="46" name="TextBox 45"/>
          <p:cNvSpPr txBox="1"/>
          <p:nvPr/>
        </p:nvSpPr>
        <p:spPr>
          <a:xfrm>
            <a:off x="9303791"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Passing behavior</a:t>
            </a:r>
          </a:p>
        </p:txBody>
      </p:sp>
      <p:sp>
        <p:nvSpPr>
          <p:cNvPr id="47" name="Rounded Rectangle 46"/>
          <p:cNvSpPr/>
          <p:nvPr/>
        </p:nvSpPr>
        <p:spPr>
          <a:xfrm>
            <a:off x="9303791"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48" name="TextBox 47"/>
          <p:cNvSpPr txBox="1"/>
          <p:nvPr/>
        </p:nvSpPr>
        <p:spPr>
          <a:xfrm>
            <a:off x="10538231"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4:25 · 30 min</a:t>
            </a:r>
          </a:p>
        </p:txBody>
      </p:sp>
      <p:sp>
        <p:nvSpPr>
          <p:cNvPr id="49" name="TextBox 48"/>
          <p:cNvSpPr txBox="1"/>
          <p:nvPr/>
        </p:nvSpPr>
        <p:spPr>
          <a:xfrm>
            <a:off x="9303791"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Students</a:t>
            </a:r>
          </a:p>
        </p:txBody>
      </p:sp>
      <p:sp>
        <p:nvSpPr>
          <p:cNvPr id="50" name="Rounded Rectangle 49"/>
          <p:cNvSpPr/>
          <p:nvPr/>
        </p:nvSpPr>
        <p:spPr>
          <a:xfrm>
            <a:off x="9303791"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51" name="TextBox 50"/>
          <p:cNvSpPr txBox="1"/>
          <p:nvPr/>
        </p:nvSpPr>
        <p:spPr>
          <a:xfrm>
            <a:off x="10538231"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4:55 · 10 min</a:t>
            </a:r>
          </a:p>
        </p:txBody>
      </p:sp>
      <p:sp>
        <p:nvSpPr>
          <p:cNvPr id="52" name="TextBox 51"/>
          <p:cNvSpPr txBox="1"/>
          <p:nvPr/>
        </p:nvSpPr>
        <p:spPr>
          <a:xfrm>
            <a:off x="9303791"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catch-up 5:05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1</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vector, string, and files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The library's growable array and string, done right, and input from files named on the command line</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Use </a:t>
            </a:r>
            <a:r>
              <a:rPr sz="2000" b="0">
                <a:solidFill>
                  <a:srgbClr val="C5B4E3"/>
                </a:solidFill>
                <a:latin typeface="Consolas"/>
              </a:rPr>
              <a:t>vector</a:t>
            </a:r>
            <a:r>
              <a:rPr sz="2000" b="0">
                <a:solidFill>
                  <a:srgbClr val="FFFFFF"/>
                </a:solidFill>
                <a:latin typeface="Calibri"/>
              </a:rPr>
              <a:t> and </a:t>
            </a:r>
            <a:r>
              <a:rPr sz="2000" b="0">
                <a:solidFill>
                  <a:srgbClr val="C5B4E3"/>
                </a:solidFill>
                <a:latin typeface="Consolas"/>
              </a:rPr>
              <a:t>string</a:t>
            </a:r>
            <a:r>
              <a:rPr sz="2000" b="0">
                <a:solidFill>
                  <a:srgbClr val="FFFFFF"/>
                </a:solidFill>
                <a:latin typeface="Calibri"/>
              </a:rPr>
              <a:t> instead of raw arrays and C strings</a:t>
            </a:r>
          </a:p>
          <a:p>
            <a:pPr marL="256032" indent="-228600">
              <a:spcAft>
                <a:spcPts val="600"/>
              </a:spcAft>
              <a:buClr>
                <a:srgbClr val="5B6475"/>
              </a:buClr>
              <a:buChar char="›"/>
            </a:pPr>
            <a:r>
              <a:rPr sz="2000" b="0">
                <a:solidFill>
                  <a:srgbClr val="FFFFFF"/>
                </a:solidFill>
                <a:latin typeface="Calibri"/>
              </a:rPr>
              <a:t>Take a file name from the command line, open it, and read it with the right loop</a:t>
            </a:r>
          </a:p>
          <a:p>
            <a:pPr marL="256032" indent="-228600">
              <a:spcAft>
                <a:spcPts val="600"/>
              </a:spcAft>
              <a:buClr>
                <a:srgbClr val="5B6475"/>
              </a:buClr>
              <a:buChar char="›"/>
            </a:pPr>
            <a:r>
              <a:rPr sz="2000" b="0">
                <a:solidFill>
                  <a:srgbClr val="FFFFFF"/>
                </a:solidFill>
                <a:latin typeface="Calibri"/>
              </a:rPr>
              <a:t>Take a line apart with </a:t>
            </a:r>
            <a:r>
              <a:rPr sz="2000" b="0">
                <a:solidFill>
                  <a:srgbClr val="C5B4E3"/>
                </a:solidFill>
                <a:latin typeface="Consolas"/>
              </a:rPr>
              <a:t>istringstream</a:t>
            </a:r>
            <a:r>
              <a:rPr sz="2000" b="0">
                <a:solidFill>
                  <a:srgbClr val="FFFFFF"/>
                </a:solidFill>
                <a:latin typeface="Calibri"/>
              </a:rPr>
              <a:t>, and spot Windows line endings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vector: the array you built, done right</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Knows its </a:t>
            </a:r>
            <a:r>
              <a:rPr sz="1800" b="0">
                <a:solidFill>
                  <a:srgbClr val="4B2E83"/>
                </a:solidFill>
                <a:latin typeface="Consolas"/>
              </a:rPr>
              <a:t>size()</a:t>
            </a:r>
            <a:r>
              <a:rPr sz="1800" b="0">
                <a:solidFill>
                  <a:srgbClr val="1D2330"/>
                </a:solidFill>
                <a:latin typeface="Calibri"/>
              </a:rPr>
              <a:t>; grows with </a:t>
            </a:r>
            <a:r>
              <a:rPr sz="1800" b="0">
                <a:solidFill>
                  <a:srgbClr val="4B2E83"/>
                </a:solidFill>
                <a:latin typeface="Consolas"/>
              </a:rPr>
              <a:t>push_back</a:t>
            </a:r>
            <a:r>
              <a:rPr sz="1800" b="0">
                <a:solidFill>
                  <a:srgbClr val="1D2330"/>
                </a:solidFill>
                <a:latin typeface="Calibri"/>
              </a:rPr>
              <a:t>; frees itself; copies deeply</a:t>
            </a:r>
          </a:p>
          <a:p>
            <a:pPr marL="256032" indent="-228600">
              <a:spcAft>
                <a:spcPts val="800"/>
              </a:spcAft>
              <a:buClr>
                <a:srgbClr val="5B6475"/>
              </a:buClr>
              <a:buChar char="•"/>
            </a:pPr>
            <a:r>
              <a:rPr sz="1800" b="0">
                <a:solidFill>
                  <a:srgbClr val="1D2330"/>
                </a:solidFill>
                <a:latin typeface="Calibri"/>
              </a:rPr>
              <a:t>When </a:t>
            </a:r>
            <a:r>
              <a:rPr sz="1800" b="0">
                <a:solidFill>
                  <a:srgbClr val="4B2E83"/>
                </a:solidFill>
                <a:latin typeface="Consolas"/>
              </a:rPr>
              <a:t>size() == capacity()</a:t>
            </a:r>
            <a:r>
              <a:rPr sz="1800" b="0">
                <a:solidFill>
                  <a:srgbClr val="1D2330"/>
                </a:solidFill>
                <a:latin typeface="Calibri"/>
              </a:rPr>
              <a:t>, </a:t>
            </a:r>
            <a:r>
              <a:rPr sz="1800" b="0">
                <a:solidFill>
                  <a:srgbClr val="4B2E83"/>
                </a:solidFill>
                <a:latin typeface="Consolas"/>
              </a:rPr>
              <a:t>push_back</a:t>
            </a:r>
            <a:r>
              <a:rPr sz="1800" b="0">
                <a:solidFill>
                  <a:srgbClr val="1D2330"/>
                </a:solidFill>
                <a:latin typeface="Calibri"/>
              </a:rPr>
              <a:t> reallocates (usually doubling): Lab 3's </a:t>
            </a:r>
            <a:r>
              <a:rPr sz="1800" b="0">
                <a:solidFill>
                  <a:srgbClr val="4B2E83"/>
                </a:solidFill>
                <a:latin typeface="Consolas"/>
              </a:rPr>
              <a:t>grow()</a:t>
            </a:r>
          </a:p>
          <a:p>
            <a:pPr marL="256032" indent="-228600">
              <a:spcAft>
                <a:spcPts val="800"/>
              </a:spcAft>
              <a:buClr>
                <a:srgbClr val="5B6475"/>
              </a:buClr>
              <a:buChar char="•"/>
            </a:pPr>
            <a:r>
              <a:rPr sz="1800" b="0">
                <a:solidFill>
                  <a:srgbClr val="1D2330"/>
                </a:solidFill>
                <a:latin typeface="Calibri"/>
              </a:rPr>
              <a:t>Reallocation invalidates pointers, references, and iterators into it</a:t>
            </a:r>
          </a:p>
          <a:p>
            <a:pPr marL="256032" indent="-228600">
              <a:spcAft>
                <a:spcPts val="800"/>
              </a:spcAft>
              <a:buClr>
                <a:srgbClr val="5B6475"/>
              </a:buClr>
              <a:buChar char="•"/>
            </a:pPr>
            <a:r>
              <a:rPr sz="1800" b="0">
                <a:solidFill>
                  <a:srgbClr val="4B2E83"/>
                </a:solidFill>
                <a:latin typeface="Consolas"/>
              </a:rPr>
              <a:t>v[i]</a:t>
            </a:r>
            <a:r>
              <a:rPr sz="1800" b="0">
                <a:solidFill>
                  <a:srgbClr val="1D2330"/>
                </a:solidFill>
                <a:latin typeface="Calibri"/>
              </a:rPr>
              <a:t> doesn't check; </a:t>
            </a:r>
            <a:r>
              <a:rPr sz="1800" b="0">
                <a:solidFill>
                  <a:srgbClr val="4B2E83"/>
                </a:solidFill>
                <a:latin typeface="Consolas"/>
              </a:rPr>
              <a:t>v.at(i)</a:t>
            </a:r>
            <a:r>
              <a:rPr sz="1800" b="0">
                <a:solidFill>
                  <a:srgbClr val="1D2330"/>
                </a:solidFill>
                <a:latin typeface="Calibri"/>
              </a:rPr>
              <a:t> throws </a:t>
            </a:r>
            <a:r>
              <a:rPr sz="1800" b="0">
                <a:solidFill>
                  <a:srgbClr val="4B2E83"/>
                </a:solidFill>
                <a:latin typeface="Consolas"/>
              </a:rPr>
              <a:t>out_of_range</a:t>
            </a:r>
          </a:p>
          <a:p>
            <a:pPr marL="256032" indent="-228600">
              <a:spcAft>
                <a:spcPts val="800"/>
              </a:spcAft>
              <a:buClr>
                <a:srgbClr val="5B6475"/>
              </a:buClr>
              <a:buChar char="•"/>
            </a:pPr>
            <a:r>
              <a:rPr sz="1800" b="0">
                <a:solidFill>
                  <a:srgbClr val="4B2E83"/>
                </a:solidFill>
                <a:latin typeface="Consolas"/>
              </a:rPr>
              <a:t>size()</a:t>
            </a:r>
            <a:r>
              <a:rPr sz="1800" b="0">
                <a:solidFill>
                  <a:srgbClr val="1D2330"/>
                </a:solidFill>
                <a:latin typeface="Calibri"/>
              </a:rPr>
              <a:t> is unsigned: loop with range-for; pass by </a:t>
            </a:r>
            <a:r>
              <a:rPr sz="1800" b="0">
                <a:solidFill>
                  <a:srgbClr val="4B2E83"/>
                </a:solidFill>
                <a:latin typeface="Consolas"/>
              </a:rPr>
              <a:t>const&amp;</a:t>
            </a:r>
          </a:p>
        </p:txBody>
      </p:sp>
      <p:sp>
        <p:nvSpPr>
          <p:cNvPr id="7" name="Rounded Rectangle 6"/>
          <p:cNvSpPr/>
          <p:nvPr/>
        </p:nvSpPr>
        <p:spPr>
          <a:xfrm>
            <a:off x="5972110" y="1325880"/>
            <a:ext cx="5670944" cy="2971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606040"/>
          </a:xfrm>
          <a:prstGeom prst="rect">
            <a:avLst/>
          </a:prstGeom>
          <a:noFill/>
        </p:spPr>
        <p:txBody>
          <a:bodyPr wrap="none" lIns="0" rIns="0" tIns="0" bIns="0" anchor="t">
            <a:spAutoFit/>
          </a:bodyPr>
          <a:lstStyle/>
          <a:p>
            <a:pPr>
              <a:spcAft>
                <a:spcPts val="0"/>
              </a:spcAft>
            </a:pPr>
            <a:r>
              <a:rPr sz="1400">
                <a:solidFill>
                  <a:srgbClr val="E6E6EF"/>
                </a:solidFill>
                <a:latin typeface="Consolas"/>
              </a:rPr>
              <a:t>vector&lt;int&gt; v = {8, 2, 14, 6, 10};</a:t>
            </a:r>
          </a:p>
          <a:p>
            <a:pPr>
              <a:spcAft>
                <a:spcPts val="0"/>
              </a:spcAft>
            </a:pPr>
            <a:r>
              <a:rPr sz="1400">
                <a:solidFill>
                  <a:srgbClr val="E6E6EF"/>
                </a:solidFill>
                <a:latin typeface="Consolas"/>
              </a:rPr>
              <a:t>v.push_back(13);   </a:t>
            </a:r>
            <a:r>
              <a:rPr sz="1400">
                <a:solidFill>
                  <a:srgbClr val="9AA4B5"/>
                </a:solidFill>
                <a:latin typeface="Consolas"/>
              </a:rPr>
              <a:t>// size 6, capacity 10</a:t>
            </a:r>
          </a:p>
          <a:p>
            <a:pPr>
              <a:spcAft>
                <a:spcPts val="0"/>
              </a:spcAft>
            </a:pPr>
            <a:r>
              <a:rPr sz="1400">
                <a:latin typeface="Consolas"/>
              </a:rPr>
              <a:t> </a:t>
            </a:r>
          </a:p>
          <a:p>
            <a:pPr>
              <a:spcAft>
                <a:spcPts val="0"/>
              </a:spcAft>
            </a:pPr>
            <a:r>
              <a:rPr sz="1400">
                <a:solidFill>
                  <a:srgbClr val="E6E6EF"/>
                </a:solidFill>
                <a:latin typeface="Consolas"/>
              </a:rPr>
              <a:t>for (int n : v) {</a:t>
            </a:r>
          </a:p>
          <a:p>
            <a:pPr>
              <a:spcAft>
                <a:spcPts val="0"/>
              </a:spcAft>
            </a:pPr>
            <a:r>
              <a:rPr sz="1400">
                <a:solidFill>
                  <a:srgbClr val="E6E6EF"/>
                </a:solidFill>
                <a:latin typeface="Consolas"/>
              </a:rPr>
              <a:t>    cout &lt;&lt; n &lt;&lt; " ";</a:t>
            </a:r>
          </a:p>
          <a:p>
            <a:pPr>
              <a:spcAft>
                <a:spcPts val="0"/>
              </a:spcAft>
            </a:pPr>
            <a:r>
              <a:rPr sz="1400">
                <a:solidFill>
                  <a:srgbClr val="E6E6EF"/>
                </a:solidFill>
                <a:latin typeface="Consolas"/>
              </a:rPr>
              <a:t>}</a:t>
            </a:r>
          </a:p>
          <a:p>
            <a:pPr>
              <a:spcAft>
                <a:spcPts val="0"/>
              </a:spcAft>
            </a:pPr>
            <a:r>
              <a:rPr sz="1400">
                <a:latin typeface="Consolas"/>
              </a:rPr>
              <a:t> </a:t>
            </a:r>
          </a:p>
          <a:p>
            <a:pPr>
              <a:spcAft>
                <a:spcPts val="0"/>
              </a:spcAft>
            </a:pPr>
            <a:r>
              <a:rPr sz="1400">
                <a:solidFill>
                  <a:srgbClr val="E6E6EF"/>
                </a:solidFill>
                <a:latin typeface="Consolas"/>
              </a:rPr>
              <a:t>v.at(100);         </a:t>
            </a:r>
            <a:r>
              <a:rPr sz="1400">
                <a:solidFill>
                  <a:srgbClr val="9AA4B5"/>
                </a:solidFill>
                <a:latin typeface="Consolas"/>
              </a:rPr>
              <a:t>// throws out_of_range</a:t>
            </a:r>
          </a:p>
          <a:p>
            <a:pPr>
              <a:spcAft>
                <a:spcPts val="0"/>
              </a:spcAft>
            </a:pPr>
            <a:r>
              <a:rPr sz="1400">
                <a:solidFill>
                  <a:srgbClr val="E6E6EF"/>
                </a:solidFill>
                <a:latin typeface="Consolas"/>
              </a:rPr>
              <a:t>v[100];            </a:t>
            </a:r>
            <a:r>
              <a:rPr sz="1400">
                <a:solidFill>
                  <a:srgbClr val="9AA4B5"/>
                </a:solidFill>
                <a:latin typeface="Consolas"/>
              </a:rPr>
              <a:t>// undefined behavior</a:t>
            </a:r>
          </a:p>
          <a:p>
            <a:pPr>
              <a:spcAft>
                <a:spcPts val="0"/>
              </a:spcAft>
            </a:pPr>
            <a:r>
              <a:rPr sz="1400">
                <a:latin typeface="Consolas"/>
              </a:rPr>
              <a:t> </a:t>
            </a:r>
          </a:p>
          <a:p>
            <a:pPr>
              <a:spcAft>
                <a:spcPts val="0"/>
              </a:spcAft>
            </a:pPr>
            <a:r>
              <a:rPr sz="1400">
                <a:solidFill>
                  <a:srgbClr val="E6E6EF"/>
                </a:solidFill>
                <a:latin typeface="Consolas"/>
              </a:rPr>
              <a:t>vector&lt;vector&lt;int&gt;&gt; table(</a:t>
            </a:r>
          </a:p>
          <a:p>
            <a:pPr>
              <a:spcAft>
                <a:spcPts val="0"/>
              </a:spcAft>
            </a:pPr>
            <a:r>
              <a:rPr sz="1400">
                <a:solidFill>
                  <a:srgbClr val="E6E6EF"/>
                </a:solidFill>
                <a:latin typeface="Consolas"/>
              </a:rPr>
              <a:t>    3, vector&lt;int&gt;(4, 0));        </a:t>
            </a:r>
            <a:r>
              <a:rPr sz="1400">
                <a:solidFill>
                  <a:srgbClr val="9AA4B5"/>
                </a:solidFill>
                <a:latin typeface="Consolas"/>
              </a:rPr>
              <a:t>// 3 x 4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string</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Owns its characters and knows its </a:t>
            </a:r>
            <a:r>
              <a:rPr sz="1800" b="0">
                <a:solidFill>
                  <a:srgbClr val="4B2E83"/>
                </a:solidFill>
                <a:latin typeface="Consolas"/>
              </a:rPr>
              <a:t>size()</a:t>
            </a:r>
            <a:r>
              <a:rPr sz="1800" b="0">
                <a:solidFill>
                  <a:srgbClr val="1D2330"/>
                </a:solidFill>
                <a:latin typeface="Calibri"/>
              </a:rPr>
              <a:t>: no </a:t>
            </a:r>
            <a:r>
              <a:rPr sz="1800" b="0">
                <a:solidFill>
                  <a:srgbClr val="4B2E83"/>
                </a:solidFill>
                <a:latin typeface="Consolas"/>
              </a:rPr>
              <a:t>'\0'</a:t>
            </a:r>
            <a:r>
              <a:rPr sz="1800" b="0">
                <a:solidFill>
                  <a:srgbClr val="1D2330"/>
                </a:solidFill>
                <a:latin typeface="Calibri"/>
              </a:rPr>
              <a:t> to manage</a:t>
            </a:r>
          </a:p>
          <a:p>
            <a:pPr marL="256032" indent="-228600">
              <a:spcAft>
                <a:spcPts val="800"/>
              </a:spcAft>
              <a:buClr>
                <a:srgbClr val="5B6475"/>
              </a:buClr>
              <a:buChar char="•"/>
            </a:pPr>
            <a:r>
              <a:rPr sz="1800" b="0">
                <a:solidFill>
                  <a:srgbClr val="4B2E83"/>
                </a:solidFill>
                <a:latin typeface="Consolas"/>
              </a:rPr>
              <a:t>+</a:t>
            </a:r>
            <a:r>
              <a:rPr sz="1800" b="0">
                <a:solidFill>
                  <a:srgbClr val="1D2330"/>
                </a:solidFill>
                <a:latin typeface="Calibri"/>
              </a:rPr>
              <a:t> and </a:t>
            </a:r>
            <a:r>
              <a:rPr sz="1800" b="0">
                <a:solidFill>
                  <a:srgbClr val="4B2E83"/>
                </a:solidFill>
                <a:latin typeface="Consolas"/>
              </a:rPr>
              <a:t>+=</a:t>
            </a:r>
            <a:r>
              <a:rPr sz="1800" b="0">
                <a:solidFill>
                  <a:srgbClr val="1D2330"/>
                </a:solidFill>
                <a:latin typeface="Calibri"/>
              </a:rPr>
              <a:t> join; </a:t>
            </a:r>
            <a:r>
              <a:rPr sz="1800" b="0">
                <a:solidFill>
                  <a:srgbClr val="4B2E83"/>
                </a:solidFill>
                <a:latin typeface="Consolas"/>
              </a:rPr>
              <a:t>==</a:t>
            </a:r>
            <a:r>
              <a:rPr sz="1800" b="0">
                <a:solidFill>
                  <a:srgbClr val="1D2330"/>
                </a:solidFill>
                <a:latin typeface="Calibri"/>
              </a:rPr>
              <a:t> and </a:t>
            </a:r>
            <a:r>
              <a:rPr sz="1800" b="0">
                <a:solidFill>
                  <a:srgbClr val="4B2E83"/>
                </a:solidFill>
                <a:latin typeface="Consolas"/>
              </a:rPr>
              <a:t>&lt;</a:t>
            </a:r>
            <a:r>
              <a:rPr sz="1800" b="0">
                <a:solidFill>
                  <a:srgbClr val="1D2330"/>
                </a:solidFill>
                <a:latin typeface="Calibri"/>
              </a:rPr>
              <a:t> compare the CONTENTS (unlike </a:t>
            </a:r>
            <a:r>
              <a:rPr sz="1800" b="0">
                <a:solidFill>
                  <a:srgbClr val="4B2E83"/>
                </a:solidFill>
                <a:latin typeface="Consolas"/>
              </a:rPr>
              <a:t>==</a:t>
            </a:r>
            <a:r>
              <a:rPr sz="1800" b="0">
                <a:solidFill>
                  <a:srgbClr val="1D2330"/>
                </a:solidFill>
                <a:latin typeface="Calibri"/>
              </a:rPr>
              <a:t> on Java strings)</a:t>
            </a:r>
          </a:p>
          <a:p>
            <a:pPr marL="256032" indent="-228600">
              <a:spcAft>
                <a:spcPts val="800"/>
              </a:spcAft>
              <a:buClr>
                <a:srgbClr val="5B6475"/>
              </a:buClr>
              <a:buChar char="•"/>
            </a:pPr>
            <a:r>
              <a:rPr sz="1800" b="0">
                <a:solidFill>
                  <a:srgbClr val="4B2E83"/>
                </a:solidFill>
                <a:latin typeface="Consolas"/>
              </a:rPr>
              <a:t>substr(pos, len)</a:t>
            </a:r>
            <a:r>
              <a:rPr sz="1800" b="0">
                <a:solidFill>
                  <a:srgbClr val="1D2330"/>
                </a:solidFill>
                <a:latin typeface="Calibri"/>
              </a:rPr>
              <a:t>; </a:t>
            </a:r>
            <a:r>
              <a:rPr sz="1800" b="0">
                <a:solidFill>
                  <a:srgbClr val="4B2E83"/>
                </a:solidFill>
                <a:latin typeface="Consolas"/>
              </a:rPr>
              <a:t>find</a:t>
            </a:r>
            <a:r>
              <a:rPr sz="1800" b="0">
                <a:solidFill>
                  <a:srgbClr val="1D2330"/>
                </a:solidFill>
                <a:latin typeface="Calibri"/>
              </a:rPr>
              <a:t> returns a position or </a:t>
            </a:r>
            <a:r>
              <a:rPr sz="1800" b="0">
                <a:solidFill>
                  <a:srgbClr val="4B2E83"/>
                </a:solidFill>
                <a:latin typeface="Consolas"/>
              </a:rPr>
              <a:t>string::npos</a:t>
            </a:r>
          </a:p>
          <a:p>
            <a:pPr marL="256032" indent="-228600">
              <a:spcAft>
                <a:spcPts val="800"/>
              </a:spcAft>
              <a:buClr>
                <a:srgbClr val="5B6475"/>
              </a:buClr>
              <a:buChar char="•"/>
            </a:pPr>
            <a:r>
              <a:rPr sz="1800" b="0">
                <a:solidFill>
                  <a:srgbClr val="4B2E83"/>
                </a:solidFill>
                <a:latin typeface="Consolas"/>
              </a:rPr>
              <a:t>to_string(42)</a:t>
            </a:r>
            <a:r>
              <a:rPr sz="1800" b="0">
                <a:solidFill>
                  <a:srgbClr val="1D2330"/>
                </a:solidFill>
                <a:latin typeface="Calibri"/>
              </a:rPr>
              <a:t>; </a:t>
            </a:r>
            <a:r>
              <a:rPr sz="1800" b="0">
                <a:solidFill>
                  <a:srgbClr val="4B2E83"/>
                </a:solidFill>
                <a:latin typeface="Consolas"/>
              </a:rPr>
              <a:t>stoi("42")</a:t>
            </a:r>
            <a:r>
              <a:rPr sz="1800" b="0">
                <a:solidFill>
                  <a:srgbClr val="1D2330"/>
                </a:solidFill>
                <a:latin typeface="Calibri"/>
              </a:rPr>
              <a:t> throws </a:t>
            </a:r>
            <a:r>
              <a:rPr sz="1800" b="0">
                <a:solidFill>
                  <a:srgbClr val="4B2E83"/>
                </a:solidFill>
                <a:latin typeface="Consolas"/>
              </a:rPr>
              <a:t>invalid_argument</a:t>
            </a:r>
            <a:r>
              <a:rPr sz="1800" b="0">
                <a:solidFill>
                  <a:srgbClr val="1D2330"/>
                </a:solidFill>
                <a:latin typeface="Calibri"/>
              </a:rPr>
              <a:t> on </a:t>
            </a:r>
            <a:r>
              <a:rPr sz="1800" b="0">
                <a:solidFill>
                  <a:srgbClr val="4B2E83"/>
                </a:solidFill>
                <a:latin typeface="Consolas"/>
              </a:rPr>
              <a:t>"abc"</a:t>
            </a:r>
          </a:p>
        </p:txBody>
      </p:sp>
      <p:sp>
        <p:nvSpPr>
          <p:cNvPr id="7" name="Rounded Rectangle 6"/>
          <p:cNvSpPr/>
          <p:nvPr/>
        </p:nvSpPr>
        <p:spPr>
          <a:xfrm>
            <a:off x="5972110" y="1325880"/>
            <a:ext cx="5670944" cy="2590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225040"/>
          </a:xfrm>
          <a:prstGeom prst="rect">
            <a:avLst/>
          </a:prstGeom>
          <a:noFill/>
        </p:spPr>
        <p:txBody>
          <a:bodyPr wrap="none" lIns="0" rIns="0" tIns="0" bIns="0" anchor="t">
            <a:spAutoFit/>
          </a:bodyPr>
          <a:lstStyle/>
          <a:p>
            <a:pPr>
              <a:spcAft>
                <a:spcPts val="0"/>
              </a:spcAft>
            </a:pPr>
            <a:r>
              <a:rPr sz="1300">
                <a:solidFill>
                  <a:srgbClr val="E6E6EF"/>
                </a:solidFill>
                <a:latin typeface="Consolas"/>
              </a:rPr>
              <a:t>string fruit = "pear";</a:t>
            </a:r>
          </a:p>
          <a:p>
            <a:pPr>
              <a:spcAft>
                <a:spcPts val="0"/>
              </a:spcAft>
            </a:pPr>
            <a:r>
              <a:rPr sz="1300">
                <a:solidFill>
                  <a:srgbClr val="E6E6EF"/>
                </a:solidFill>
                <a:latin typeface="Consolas"/>
              </a:rPr>
              <a:t>string other = "pe";</a:t>
            </a:r>
          </a:p>
          <a:p>
            <a:pPr>
              <a:spcAft>
                <a:spcPts val="0"/>
              </a:spcAft>
            </a:pPr>
            <a:r>
              <a:rPr sz="1300">
                <a:solidFill>
                  <a:srgbClr val="E6E6EF"/>
                </a:solidFill>
                <a:latin typeface="Consolas"/>
              </a:rPr>
              <a:t>other += "ar";</a:t>
            </a:r>
          </a:p>
          <a:p>
            <a:pPr>
              <a:spcAft>
                <a:spcPts val="0"/>
              </a:spcAft>
            </a:pPr>
            <a:r>
              <a:rPr sz="1300">
                <a:solidFill>
                  <a:srgbClr val="E6E6EF"/>
                </a:solidFill>
                <a:latin typeface="Consolas"/>
              </a:rPr>
              <a:t>cout &lt;&lt; (fruit == other);           </a:t>
            </a:r>
            <a:r>
              <a:rPr sz="1300">
                <a:solidFill>
                  <a:srgbClr val="9AA4B5"/>
                </a:solidFill>
                <a:latin typeface="Consolas"/>
              </a:rPr>
              <a:t>// 1: same characters</a:t>
            </a:r>
          </a:p>
          <a:p>
            <a:pPr>
              <a:spcAft>
                <a:spcPts val="0"/>
              </a:spcAft>
            </a:pPr>
            <a:r>
              <a:rPr sz="1300">
                <a:solidFill>
                  <a:srgbClr val="E6E6EF"/>
                </a:solidFill>
                <a:latin typeface="Consolas"/>
              </a:rPr>
              <a:t>cout &lt;&lt; fruit.substr(1, 2);         </a:t>
            </a:r>
            <a:r>
              <a:rPr sz="1300">
                <a:solidFill>
                  <a:srgbClr val="9AA4B5"/>
                </a:solidFill>
                <a:latin typeface="Consolas"/>
              </a:rPr>
              <a:t>// ea</a:t>
            </a:r>
          </a:p>
          <a:p>
            <a:pPr>
              <a:spcAft>
                <a:spcPts val="0"/>
              </a:spcAft>
            </a:pPr>
            <a:r>
              <a:rPr sz="1300">
                <a:solidFill>
                  <a:srgbClr val="E6E6EF"/>
                </a:solidFill>
                <a:latin typeface="Consolas"/>
              </a:rPr>
              <a:t>cout &lt;&lt; fruit.find("ar");           </a:t>
            </a:r>
            <a:r>
              <a:rPr sz="1300">
                <a:solidFill>
                  <a:srgbClr val="9AA4B5"/>
                </a:solidFill>
                <a:latin typeface="Consolas"/>
              </a:rPr>
              <a:t>// 2</a:t>
            </a:r>
          </a:p>
          <a:p>
            <a:pPr>
              <a:spcAft>
                <a:spcPts val="0"/>
              </a:spcAft>
            </a:pPr>
            <a:r>
              <a:rPr sz="1300">
                <a:solidFill>
                  <a:srgbClr val="E6E6EF"/>
                </a:solidFill>
                <a:latin typeface="Consolas"/>
              </a:rPr>
              <a:t>if (fruit.find("z") == string::npos) {</a:t>
            </a:r>
          </a:p>
          <a:p>
            <a:pPr>
              <a:spcAft>
                <a:spcPts val="0"/>
              </a:spcAft>
            </a:pPr>
            <a:r>
              <a:rPr sz="1300">
                <a:solidFill>
                  <a:srgbClr val="E6E6EF"/>
                </a:solidFill>
                <a:latin typeface="Consolas"/>
              </a:rPr>
              <a:t>    cout &lt;&lt; "no z in " &lt;&lt; fruit;</a:t>
            </a:r>
          </a:p>
          <a:p>
            <a:pPr>
              <a:spcAft>
                <a:spcPts val="0"/>
              </a:spcAft>
            </a:pPr>
            <a:r>
              <a:rPr sz="1300">
                <a:solidFill>
                  <a:srgbClr val="E6E6EF"/>
                </a:solidFill>
                <a:latin typeface="Consolas"/>
              </a:rPr>
              <a:t>}</a:t>
            </a:r>
          </a:p>
          <a:p>
            <a:pPr>
              <a:spcAft>
                <a:spcPts val="0"/>
              </a:spcAft>
            </a:pPr>
            <a:r>
              <a:rPr sz="1300">
                <a:solidFill>
                  <a:srgbClr val="E6E6EF"/>
                </a:solidFill>
                <a:latin typeface="Consolas"/>
              </a:rPr>
              <a:t>string label = "item " + to_string(42);</a:t>
            </a:r>
          </a:p>
          <a:p>
            <a:pPr>
              <a:spcAft>
                <a:spcPts val="0"/>
              </a:spcAft>
            </a:pPr>
            <a:r>
              <a:rPr sz="1300">
                <a:solidFill>
                  <a:srgbClr val="E6E6EF"/>
                </a:solidFill>
                <a:latin typeface="Consolas"/>
              </a:rPr>
              <a:t>int n = stoi("17") + 1;             </a:t>
            </a:r>
            <a:r>
              <a:rPr sz="1300">
                <a:solidFill>
                  <a:srgbClr val="9AA4B5"/>
                </a:solidFill>
                <a:latin typeface="Consolas"/>
              </a:rPr>
              <a:t>// 18</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1.1.string_basics: also stoi("abc") throwing invalid_argument.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6</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Files named on the command line</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main(int argc, char *argv[])</a:t>
            </a:r>
            <a:r>
              <a:rPr sz="1800" b="0">
                <a:solidFill>
                  <a:srgbClr val="1D2330"/>
                </a:solidFill>
                <a:latin typeface="Calibri"/>
              </a:rPr>
              <a:t>: </a:t>
            </a:r>
            <a:r>
              <a:rPr sz="1800" b="0">
                <a:solidFill>
                  <a:srgbClr val="4B2E83"/>
                </a:solidFill>
                <a:latin typeface="Consolas"/>
              </a:rPr>
              <a:t>argv[0]</a:t>
            </a:r>
            <a:r>
              <a:rPr sz="1800" b="0">
                <a:solidFill>
                  <a:srgbClr val="1D2330"/>
                </a:solidFill>
                <a:latin typeface="Calibri"/>
              </a:rPr>
              <a:t> is the program; check </a:t>
            </a:r>
            <a:r>
              <a:rPr sz="1800" b="0">
                <a:solidFill>
                  <a:srgbClr val="4B2E83"/>
                </a:solidFill>
                <a:latin typeface="Consolas"/>
              </a:rPr>
              <a:t>argc</a:t>
            </a:r>
            <a:r>
              <a:rPr sz="1800" b="0">
                <a:solidFill>
                  <a:srgbClr val="1D2330"/>
                </a:solidFill>
                <a:latin typeface="Calibri"/>
              </a:rPr>
              <a:t> first</a:t>
            </a:r>
          </a:p>
          <a:p>
            <a:pPr marL="256032" indent="-228600">
              <a:spcAft>
                <a:spcPts val="800"/>
              </a:spcAft>
              <a:buClr>
                <a:srgbClr val="5B6475"/>
              </a:buClr>
              <a:buChar char="•"/>
            </a:pPr>
            <a:r>
              <a:rPr sz="1800" b="0">
                <a:solidFill>
                  <a:srgbClr val="4B2E83"/>
                </a:solidFill>
                <a:latin typeface="Consolas"/>
              </a:rPr>
              <a:t>ifstream in(argv[1]);</a:t>
            </a:r>
            <a:r>
              <a:rPr sz="1800" b="0">
                <a:solidFill>
                  <a:srgbClr val="1D2330"/>
                </a:solidFill>
                <a:latin typeface="Calibri"/>
              </a:rPr>
              <a:t> then </a:t>
            </a:r>
            <a:r>
              <a:rPr sz="1800" b="0">
                <a:solidFill>
                  <a:srgbClr val="4B2E83"/>
                </a:solidFill>
                <a:latin typeface="Consolas"/>
              </a:rPr>
              <a:t>if (!in)</a:t>
            </a:r>
            <a:r>
              <a:rPr sz="1800" b="0">
                <a:solidFill>
                  <a:srgbClr val="1D2330"/>
                </a:solidFill>
                <a:latin typeface="Calibri"/>
              </a:rPr>
              <a:t>: did it open?</a:t>
            </a:r>
          </a:p>
          <a:p>
            <a:pPr marL="256032" indent="-228600">
              <a:spcAft>
                <a:spcPts val="800"/>
              </a:spcAft>
              <a:buClr>
                <a:srgbClr val="5B6475"/>
              </a:buClr>
              <a:buChar char="•"/>
            </a:pPr>
            <a:r>
              <a:rPr sz="1800" b="0">
                <a:solidFill>
                  <a:srgbClr val="1D2330"/>
                </a:solidFill>
                <a:latin typeface="Calibri"/>
              </a:rPr>
              <a:t>On an error: a message to </a:t>
            </a:r>
            <a:r>
              <a:rPr sz="1800" b="0">
                <a:solidFill>
                  <a:srgbClr val="4B2E83"/>
                </a:solidFill>
                <a:latin typeface="Consolas"/>
              </a:rPr>
              <a:t>cerr</a:t>
            </a:r>
            <a:r>
              <a:rPr sz="1800" b="0">
                <a:solidFill>
                  <a:srgbClr val="1D2330"/>
                </a:solidFill>
                <a:latin typeface="Calibri"/>
              </a:rPr>
              <a:t>, and </a:t>
            </a:r>
            <a:r>
              <a:rPr sz="1800" b="0">
                <a:solidFill>
                  <a:srgbClr val="4B2E83"/>
                </a:solidFill>
                <a:latin typeface="Consolas"/>
              </a:rPr>
              <a:t>return 1;</a:t>
            </a:r>
          </a:p>
          <a:p>
            <a:pPr marL="256032" indent="-228600">
              <a:spcAft>
                <a:spcPts val="800"/>
              </a:spcAft>
              <a:buClr>
                <a:srgbClr val="5B6475"/>
              </a:buClr>
              <a:buChar char="•"/>
            </a:pPr>
            <a:r>
              <a:rPr sz="1800" b="0">
                <a:solidFill>
                  <a:srgbClr val="1D2330"/>
                </a:solidFill>
                <a:latin typeface="Calibri"/>
              </a:rPr>
              <a:t>Loop on the read itself: </a:t>
            </a:r>
            <a:r>
              <a:rPr sz="1800" b="0">
                <a:solidFill>
                  <a:srgbClr val="4B2E83"/>
                </a:solidFill>
                <a:latin typeface="Consolas"/>
              </a:rPr>
              <a:t>while (in &gt;&gt; x)</a:t>
            </a:r>
            <a:r>
              <a:rPr sz="1800" b="0">
                <a:solidFill>
                  <a:srgbClr val="1D2330"/>
                </a:solidFill>
                <a:latin typeface="Calibri"/>
              </a:rPr>
              <a:t>, </a:t>
            </a:r>
            <a:r>
              <a:rPr sz="1800" b="0">
                <a:solidFill>
                  <a:srgbClr val="4B2E83"/>
                </a:solidFill>
                <a:latin typeface="Consolas"/>
              </a:rPr>
              <a:t>while (getline(in, line))</a:t>
            </a:r>
          </a:p>
          <a:p>
            <a:pPr marL="256032" indent="-228600">
              <a:spcAft>
                <a:spcPts val="800"/>
              </a:spcAft>
              <a:buClr>
                <a:srgbClr val="5B6475"/>
              </a:buClr>
              <a:buChar char="•"/>
            </a:pPr>
            <a:r>
              <a:rPr sz="1800" b="0">
                <a:solidFill>
                  <a:srgbClr val="4B2E83"/>
                </a:solidFill>
                <a:latin typeface="Consolas"/>
              </a:rPr>
              <a:t>while (!in.eof())</a:t>
            </a:r>
            <a:r>
              <a:rPr sz="1800" b="0">
                <a:solidFill>
                  <a:srgbClr val="1D2330"/>
                </a:solidFill>
                <a:latin typeface="Calibri"/>
              </a:rPr>
              <a:t> runs once too often: </a:t>
            </a:r>
            <a:r>
              <a:rPr sz="1800" b="0">
                <a:solidFill>
                  <a:srgbClr val="4B2E83"/>
                </a:solidFill>
                <a:latin typeface="Consolas"/>
              </a:rPr>
              <a:t>eof()</a:t>
            </a:r>
            <a:r>
              <a:rPr sz="1800" b="0">
                <a:solidFill>
                  <a:srgbClr val="1D2330"/>
                </a:solidFill>
                <a:latin typeface="Calibri"/>
              </a:rPr>
              <a:t> turns true only AFTER a read fails</a:t>
            </a:r>
          </a:p>
        </p:txBody>
      </p:sp>
      <p:sp>
        <p:nvSpPr>
          <p:cNvPr id="7" name="Rounded Rectangle 6"/>
          <p:cNvSpPr/>
          <p:nvPr/>
        </p:nvSpPr>
        <p:spPr>
          <a:xfrm>
            <a:off x="5972110" y="1325880"/>
            <a:ext cx="5670944" cy="3520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154680"/>
          </a:xfrm>
          <a:prstGeom prst="rect">
            <a:avLst/>
          </a:prstGeom>
          <a:noFill/>
        </p:spPr>
        <p:txBody>
          <a:bodyPr wrap="none" lIns="0" rIns="0" tIns="0" bIns="0" anchor="t">
            <a:spAutoFit/>
          </a:bodyPr>
          <a:lstStyle/>
          <a:p>
            <a:pPr>
              <a:spcAft>
                <a:spcPts val="0"/>
              </a:spcAft>
            </a:pPr>
            <a:r>
              <a:rPr sz="1200">
                <a:solidFill>
                  <a:srgbClr val="E6E6EF"/>
                </a:solidFill>
                <a:latin typeface="Consolas"/>
              </a:rPr>
              <a:t>int main(int argc, char *argv[]) {</a:t>
            </a:r>
          </a:p>
          <a:p>
            <a:pPr>
              <a:spcAft>
                <a:spcPts val="0"/>
              </a:spcAft>
            </a:pPr>
            <a:r>
              <a:rPr sz="1200">
                <a:solidFill>
                  <a:srgbClr val="E6E6EF"/>
                </a:solidFill>
                <a:latin typeface="Consolas"/>
              </a:rPr>
              <a:t>    if (argc != 2) {</a:t>
            </a:r>
          </a:p>
          <a:p>
            <a:pPr>
              <a:spcAft>
                <a:spcPts val="0"/>
              </a:spcAft>
            </a:pPr>
            <a:r>
              <a:rPr sz="1200">
                <a:solidFill>
                  <a:srgbClr val="E6E6EF"/>
                </a:solidFill>
                <a:latin typeface="Consolas"/>
              </a:rPr>
              <a:t>        cerr &lt;&lt; "usage: " &lt;&lt; argv[0] &lt;&lt; " &lt;file&gt;" &lt;&lt; endl;</a:t>
            </a:r>
          </a:p>
          <a:p>
            <a:pPr>
              <a:spcAft>
                <a:spcPts val="0"/>
              </a:spcAft>
            </a:pPr>
            <a:r>
              <a:rPr sz="1200">
                <a:solidFill>
                  <a:srgbClr val="E6E6EF"/>
                </a:solidFill>
                <a:latin typeface="Consolas"/>
              </a:rPr>
              <a:t>        return 1;</a:t>
            </a:r>
          </a:p>
          <a:p>
            <a:pPr>
              <a:spcAft>
                <a:spcPts val="0"/>
              </a:spcAft>
            </a:pPr>
            <a:r>
              <a:rPr sz="1200">
                <a:solidFill>
                  <a:srgbClr val="E6E6EF"/>
                </a:solidFill>
                <a:latin typeface="Consolas"/>
              </a:rPr>
              <a:t>    }</a:t>
            </a:r>
          </a:p>
          <a:p>
            <a:pPr>
              <a:spcAft>
                <a:spcPts val="0"/>
              </a:spcAft>
            </a:pPr>
            <a:r>
              <a:rPr sz="1200">
                <a:solidFill>
                  <a:srgbClr val="E6E6EF"/>
                </a:solidFill>
                <a:latin typeface="Consolas"/>
              </a:rPr>
              <a:t>    ifstream in(argv[1]);</a:t>
            </a:r>
          </a:p>
          <a:p>
            <a:pPr>
              <a:spcAft>
                <a:spcPts val="0"/>
              </a:spcAft>
            </a:pPr>
            <a:r>
              <a:rPr sz="1200">
                <a:solidFill>
                  <a:srgbClr val="E6E6EF"/>
                </a:solidFill>
                <a:latin typeface="Consolas"/>
              </a:rPr>
              <a:t>    if (!in) {</a:t>
            </a:r>
          </a:p>
          <a:p>
            <a:pPr>
              <a:spcAft>
                <a:spcPts val="0"/>
              </a:spcAft>
            </a:pPr>
            <a:r>
              <a:rPr sz="1200">
                <a:solidFill>
                  <a:srgbClr val="E6E6EF"/>
                </a:solidFill>
                <a:latin typeface="Consolas"/>
              </a:rPr>
              <a:t>        cerr &lt;&lt; "cannot open " &lt;&lt; argv[1] &lt;&lt; endl;</a:t>
            </a:r>
          </a:p>
          <a:p>
            <a:pPr>
              <a:spcAft>
                <a:spcPts val="0"/>
              </a:spcAft>
            </a:pPr>
            <a:r>
              <a:rPr sz="1200">
                <a:solidFill>
                  <a:srgbClr val="E6E6EF"/>
                </a:solidFill>
                <a:latin typeface="Consolas"/>
              </a:rPr>
              <a:t>        return 1;</a:t>
            </a:r>
          </a:p>
          <a:p>
            <a:pPr>
              <a:spcAft>
                <a:spcPts val="0"/>
              </a:spcAft>
            </a:pPr>
            <a:r>
              <a:rPr sz="1200">
                <a:solidFill>
                  <a:srgbClr val="E6E6EF"/>
                </a:solidFill>
                <a:latin typeface="Consolas"/>
              </a:rPr>
              <a:t>    }</a:t>
            </a:r>
          </a:p>
          <a:p>
            <a:pPr>
              <a:spcAft>
                <a:spcPts val="0"/>
              </a:spcAft>
            </a:pPr>
            <a:r>
              <a:rPr sz="1200">
                <a:solidFill>
                  <a:srgbClr val="E6E6EF"/>
                </a:solidFill>
                <a:latin typeface="Consolas"/>
              </a:rPr>
              <a:t>    int value;</a:t>
            </a:r>
          </a:p>
          <a:p>
            <a:pPr>
              <a:spcAft>
                <a:spcPts val="0"/>
              </a:spcAft>
            </a:pPr>
            <a:r>
              <a:rPr sz="1200">
                <a:solidFill>
                  <a:srgbClr val="E6E6EF"/>
                </a:solidFill>
                <a:latin typeface="Consolas"/>
              </a:rPr>
              <a:t>    int count = 0;</a:t>
            </a:r>
          </a:p>
          <a:p>
            <a:pPr>
              <a:spcAft>
                <a:spcPts val="0"/>
              </a:spcAft>
            </a:pPr>
            <a:r>
              <a:rPr sz="1200">
                <a:solidFill>
                  <a:srgbClr val="E6E6EF"/>
                </a:solidFill>
                <a:latin typeface="Consolas"/>
              </a:rPr>
              <a:t>    while (in &gt;&gt; value) {      </a:t>
            </a:r>
            <a:r>
              <a:rPr sz="1200">
                <a:solidFill>
                  <a:srgbClr val="9AA4B5"/>
                </a:solidFill>
                <a:latin typeface="Consolas"/>
              </a:rPr>
              <a:t>// RIGHT: the read is the test</a:t>
            </a:r>
          </a:p>
          <a:p>
            <a:pPr>
              <a:spcAft>
                <a:spcPts val="0"/>
              </a:spcAft>
            </a:pPr>
            <a:r>
              <a:rPr sz="1200">
                <a:solidFill>
                  <a:srgbClr val="E6E6EF"/>
                </a:solidFill>
                <a:latin typeface="Consolas"/>
              </a:rPr>
              <a:t>        count++;</a:t>
            </a:r>
          </a:p>
          <a:p>
            <a:pPr>
              <a:spcAft>
                <a:spcPts val="0"/>
              </a:spcAft>
            </a:pPr>
            <a:r>
              <a:rPr sz="1200">
                <a:solidFill>
                  <a:srgbClr val="E6E6EF"/>
                </a:solidFill>
                <a:latin typeface="Consolas"/>
              </a:rPr>
              <a:t>    }</a:t>
            </a:r>
          </a:p>
          <a:p>
            <a:pPr>
              <a:spcAft>
                <a:spcPts val="0"/>
              </a:spcAft>
            </a:pPr>
            <a:r>
              <a:rPr sz="1200">
                <a:solidFill>
                  <a:srgbClr val="E6E6EF"/>
                </a:solidFill>
                <a:latin typeface="Consolas"/>
              </a:rPr>
              <a:t>    ...</a:t>
            </a:r>
          </a:p>
          <a:p>
            <a:pPr>
              <a:spcAft>
                <a:spcPts val="0"/>
              </a:spcAft>
            </a:pPr>
            <a:r>
              <a:rPr sz="12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Examples 1.2.argc_argv and 1.3.read_loop: the same 3-number file counts 3, then 4 with eof().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7</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Taking a line apart</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getline</a:t>
            </a:r>
            <a:r>
              <a:rPr sz="1800" b="0">
                <a:solidFill>
                  <a:srgbClr val="1D2330"/>
                </a:solidFill>
                <a:latin typeface="Calibri"/>
              </a:rPr>
              <a:t> reads a whole line; </a:t>
            </a:r>
            <a:r>
              <a:rPr sz="1800" b="0">
                <a:solidFill>
                  <a:srgbClr val="4B2E83"/>
                </a:solidFill>
                <a:latin typeface="Consolas"/>
              </a:rPr>
              <a:t>istringstream</a:t>
            </a:r>
            <a:r>
              <a:rPr sz="1800" b="0">
                <a:solidFill>
                  <a:srgbClr val="1D2330"/>
                </a:solidFill>
                <a:latin typeface="Calibri"/>
              </a:rPr>
              <a:t> turns it into a stream</a:t>
            </a:r>
          </a:p>
          <a:p>
            <a:pPr marL="256032" indent="-228600">
              <a:spcAft>
                <a:spcPts val="800"/>
              </a:spcAft>
              <a:buClr>
                <a:srgbClr val="5B6475"/>
              </a:buClr>
              <a:buChar char="•"/>
            </a:pPr>
            <a:r>
              <a:rPr sz="1800" b="0">
                <a:solidFill>
                  <a:srgbClr val="4B2E83"/>
                </a:solidFill>
                <a:latin typeface="Consolas"/>
              </a:rPr>
              <a:t>&gt;&gt;</a:t>
            </a:r>
            <a:r>
              <a:rPr sz="1800" b="0">
                <a:solidFill>
                  <a:srgbClr val="1D2330"/>
                </a:solidFill>
                <a:latin typeface="Calibri"/>
              </a:rPr>
              <a:t> then reads each field in its own type, skipping any whitespace</a:t>
            </a:r>
          </a:p>
          <a:p>
            <a:pPr marL="256032" indent="-228600">
              <a:spcAft>
                <a:spcPts val="800"/>
              </a:spcAft>
              <a:buClr>
                <a:srgbClr val="5B6475"/>
              </a:buClr>
              <a:buChar char="•"/>
            </a:pPr>
            <a:r>
              <a:rPr sz="1800" b="0">
                <a:solidFill>
                  <a:srgbClr val="1D2330"/>
                </a:solidFill>
                <a:latin typeface="Calibri"/>
              </a:rPr>
              <a:t>A failed </a:t>
            </a:r>
            <a:r>
              <a:rPr sz="1800" b="0">
                <a:solidFill>
                  <a:srgbClr val="4B2E83"/>
                </a:solidFill>
                <a:latin typeface="Consolas"/>
              </a:rPr>
              <a:t>&gt;&gt;</a:t>
            </a:r>
            <a:r>
              <a:rPr sz="1800" b="0">
                <a:solidFill>
                  <a:srgbClr val="1D2330"/>
                </a:solidFill>
                <a:latin typeface="Calibri"/>
              </a:rPr>
              <a:t> means a bad line: report it and keep going</a:t>
            </a:r>
          </a:p>
          <a:p>
            <a:pPr marL="256032" indent="-228600">
              <a:spcAft>
                <a:spcPts val="800"/>
              </a:spcAft>
              <a:buClr>
                <a:srgbClr val="5B6475"/>
              </a:buClr>
              <a:buChar char="•"/>
            </a:pPr>
            <a:r>
              <a:rPr sz="1800" b="0">
                <a:solidFill>
                  <a:srgbClr val="1D2330"/>
                </a:solidFill>
                <a:latin typeface="Calibri"/>
              </a:rPr>
              <a:t>Windows files end lines in </a:t>
            </a:r>
            <a:r>
              <a:rPr sz="1800" b="0">
                <a:solidFill>
                  <a:srgbClr val="4B2E83"/>
                </a:solidFill>
                <a:latin typeface="Consolas"/>
              </a:rPr>
              <a:t>\r\n</a:t>
            </a:r>
            <a:r>
              <a:rPr sz="1800" b="0">
                <a:solidFill>
                  <a:srgbClr val="1D2330"/>
                </a:solidFill>
                <a:latin typeface="Calibri"/>
              </a:rPr>
              <a:t>: </a:t>
            </a:r>
            <a:r>
              <a:rPr sz="1800" b="0">
                <a:solidFill>
                  <a:srgbClr val="4B2E83"/>
                </a:solidFill>
                <a:latin typeface="Consolas"/>
              </a:rPr>
              <a:t>getline</a:t>
            </a:r>
            <a:r>
              <a:rPr sz="1800" b="0">
                <a:solidFill>
                  <a:srgbClr val="1D2330"/>
                </a:solidFill>
                <a:latin typeface="Calibri"/>
              </a:rPr>
              <a:t> keeps the </a:t>
            </a:r>
            <a:r>
              <a:rPr sz="1800" b="0">
                <a:solidFill>
                  <a:srgbClr val="4B2E83"/>
                </a:solidFill>
                <a:latin typeface="Consolas"/>
              </a:rPr>
              <a:t>\r</a:t>
            </a:r>
            <a:r>
              <a:rPr sz="1800" b="0">
                <a:solidFill>
                  <a:srgbClr val="1D2330"/>
                </a:solidFill>
                <a:latin typeface="Calibri"/>
              </a:rPr>
              <a:t>; </a:t>
            </a:r>
            <a:r>
              <a:rPr sz="1800" b="0">
                <a:solidFill>
                  <a:srgbClr val="4B2E83"/>
                </a:solidFill>
                <a:latin typeface="Consolas"/>
              </a:rPr>
              <a:t>od -c</a:t>
            </a:r>
            <a:r>
              <a:rPr sz="1800" b="0">
                <a:solidFill>
                  <a:srgbClr val="1D2330"/>
                </a:solidFill>
                <a:latin typeface="Calibri"/>
              </a:rPr>
              <a:t> shows it</a:t>
            </a:r>
          </a:p>
        </p:txBody>
      </p:sp>
      <p:sp>
        <p:nvSpPr>
          <p:cNvPr id="7" name="Rounded Rectangle 6"/>
          <p:cNvSpPr/>
          <p:nvPr/>
        </p:nvSpPr>
        <p:spPr>
          <a:xfrm>
            <a:off x="5972110" y="1325880"/>
            <a:ext cx="5670944" cy="278892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423160"/>
          </a:xfrm>
          <a:prstGeom prst="rect">
            <a:avLst/>
          </a:prstGeom>
          <a:noFill/>
        </p:spPr>
        <p:txBody>
          <a:bodyPr wrap="none" lIns="0" rIns="0" tIns="0" bIns="0" anchor="t">
            <a:spAutoFit/>
          </a:bodyPr>
          <a:lstStyle/>
          <a:p>
            <a:pPr>
              <a:spcAft>
                <a:spcPts val="0"/>
              </a:spcAft>
            </a:pPr>
            <a:r>
              <a:rPr sz="1300">
                <a:solidFill>
                  <a:srgbClr val="E6E6EF"/>
                </a:solidFill>
                <a:latin typeface="Consolas"/>
              </a:rPr>
              <a:t>string line;</a:t>
            </a:r>
          </a:p>
          <a:p>
            <a:pPr>
              <a:spcAft>
                <a:spcPts val="0"/>
              </a:spcAft>
            </a:pPr>
            <a:r>
              <a:rPr sz="1300">
                <a:solidFill>
                  <a:srgbClr val="E6E6EF"/>
                </a:solidFill>
                <a:latin typeface="Consolas"/>
              </a:rPr>
              <a:t>while (getline(cin, line)) {</a:t>
            </a:r>
          </a:p>
          <a:p>
            <a:pPr>
              <a:spcAft>
                <a:spcPts val="0"/>
              </a:spcAft>
            </a:pPr>
            <a:r>
              <a:rPr sz="1300">
                <a:solidFill>
                  <a:srgbClr val="E6E6EF"/>
                </a:solidFill>
                <a:latin typeface="Consolas"/>
              </a:rPr>
              <a:t>    istringstream fields(line);</a:t>
            </a:r>
          </a:p>
          <a:p>
            <a:pPr>
              <a:spcAft>
                <a:spcPts val="0"/>
              </a:spcAft>
            </a:pPr>
            <a:r>
              <a:rPr sz="1300">
                <a:solidFill>
                  <a:srgbClr val="E6E6EF"/>
                </a:solidFill>
                <a:latin typeface="Consolas"/>
              </a:rPr>
              <a:t>    string name;</a:t>
            </a:r>
          </a:p>
          <a:p>
            <a:pPr>
              <a:spcAft>
                <a:spcPts val="0"/>
              </a:spcAft>
            </a:pPr>
            <a:r>
              <a:rPr sz="1300">
                <a:solidFill>
                  <a:srgbClr val="E6E6EF"/>
                </a:solidFill>
                <a:latin typeface="Consolas"/>
              </a:rPr>
              <a:t>    int age;</a:t>
            </a:r>
          </a:p>
          <a:p>
            <a:pPr>
              <a:spcAft>
                <a:spcPts val="0"/>
              </a:spcAft>
            </a:pPr>
            <a:r>
              <a:rPr sz="1300">
                <a:solidFill>
                  <a:srgbClr val="E6E6EF"/>
                </a:solidFill>
                <a:latin typeface="Consolas"/>
              </a:rPr>
              <a:t>    double height;</a:t>
            </a:r>
          </a:p>
          <a:p>
            <a:pPr>
              <a:spcAft>
                <a:spcPts val="0"/>
              </a:spcAft>
            </a:pPr>
            <a:r>
              <a:rPr sz="1300">
                <a:solidFill>
                  <a:srgbClr val="E6E6EF"/>
                </a:solidFill>
                <a:latin typeface="Consolas"/>
              </a:rPr>
              <a:t>    if (fields &gt;&gt; name &gt;&gt; age &gt;&gt; height) {</a:t>
            </a:r>
          </a:p>
          <a:p>
            <a:pPr>
              <a:spcAft>
                <a:spcPts val="0"/>
              </a:spcAft>
            </a:pPr>
            <a:r>
              <a:rPr sz="1300">
                <a:solidFill>
                  <a:srgbClr val="E6E6EF"/>
                </a:solidFill>
                <a:latin typeface="Consolas"/>
              </a:rPr>
              <a:t>        cout &lt;&lt; name &lt;&lt; " is " &lt;&lt; age &lt;&lt; endl;</a:t>
            </a:r>
          </a:p>
          <a:p>
            <a:pPr>
              <a:spcAft>
                <a:spcPts val="0"/>
              </a:spcAft>
            </a:pPr>
            <a:r>
              <a:rPr sz="1300">
                <a:solidFill>
                  <a:srgbClr val="E6E6EF"/>
                </a:solidFill>
                <a:latin typeface="Consolas"/>
              </a:rPr>
              <a:t>    } else {</a:t>
            </a:r>
          </a:p>
          <a:p>
            <a:pPr>
              <a:spcAft>
                <a:spcPts val="0"/>
              </a:spcAft>
            </a:pPr>
            <a:r>
              <a:rPr sz="1300">
                <a:solidFill>
                  <a:srgbClr val="E6E6EF"/>
                </a:solidFill>
                <a:latin typeface="Consolas"/>
              </a:rPr>
              <a:t>        cerr &lt;&lt; "bad line: \"" &lt;&lt; line &lt;&lt; "\"" &lt;&lt; endl;</a:t>
            </a:r>
          </a:p>
          <a:p>
            <a:pPr>
              <a:spcAft>
                <a:spcPts val="0"/>
              </a:spcAft>
            </a:pPr>
            <a:r>
              <a:rPr sz="1300">
                <a:solidFill>
                  <a:srgbClr val="E6E6EF"/>
                </a:solidFill>
                <a:latin typeface="Consolas"/>
              </a:rPr>
              <a:t>    }</a:t>
            </a:r>
          </a:p>
          <a:p>
            <a:pPr>
              <a:spcAft>
                <a:spcPts val="0"/>
              </a:spcAft>
            </a:pPr>
            <a:r>
              <a:rPr sz="13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1.4.parse_line: "Grace sixty 1.60" is reported; the other lines print.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8</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1: Vectors, words, and files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Lab5/exercises/ex1-vector/</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./vectors</a:t>
            </a:r>
            <a:r>
              <a:rPr sz="1500" b="0">
                <a:solidFill>
                  <a:srgbClr val="1D2330"/>
                </a:solidFill>
                <a:latin typeface="Calibri"/>
              </a:rPr>
              <a:t> catches </a:t>
            </a:r>
            <a:r>
              <a:rPr sz="1500" b="0">
                <a:solidFill>
                  <a:srgbClr val="4B2E83"/>
                </a:solidFill>
                <a:latin typeface="Consolas"/>
              </a:rPr>
              <a:t>out_of_range</a:t>
            </a:r>
            <a:r>
              <a:rPr sz="1500" b="0">
                <a:solidFill>
                  <a:srgbClr val="1D2330"/>
                </a:solidFill>
                <a:latin typeface="Calibri"/>
              </a:rPr>
              <a:t>, that </a:t>
            </a:r>
            <a:r>
              <a:rPr sz="1500" b="0">
                <a:solidFill>
                  <a:srgbClr val="4B2E83"/>
                </a:solidFill>
                <a:latin typeface="Consolas"/>
              </a:rPr>
              <a:t>./words data/lines.txt</a:t>
            </a:r>
            <a:r>
              <a:rPr sz="1500" b="0">
                <a:solidFill>
                  <a:srgbClr val="1D2330"/>
                </a:solidFill>
                <a:latin typeface="Calibri"/>
              </a:rPr>
              <a:t> prints one line per input line, and that a missing argument or file gives a message and exit code 1.</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vectors.cpp</a:t>
            </a:r>
            <a:r>
              <a:rPr sz="1700" b="0">
                <a:solidFill>
                  <a:srgbClr val="1D2330"/>
                </a:solidFill>
                <a:latin typeface="Calibri"/>
              </a:rPr>
              <a:t> TODOs 1-6: average, print, size vs. capacity, sort, </a:t>
            </a:r>
            <a:r>
              <a:rPr sz="1700" b="0">
                <a:solidFill>
                  <a:srgbClr val="4B2E83"/>
                </a:solidFill>
                <a:latin typeface="Consolas"/>
              </a:rPr>
              <a:t>at</a:t>
            </a:r>
            <a:r>
              <a:rPr sz="1700" b="0">
                <a:solidFill>
                  <a:srgbClr val="1D2330"/>
                </a:solidFill>
                <a:latin typeface="Calibri"/>
              </a:rPr>
              <a:t> vs. </a:t>
            </a:r>
            <a:r>
              <a:rPr sz="1700" b="0">
                <a:solidFill>
                  <a:srgbClr val="4B2E83"/>
                </a:solidFill>
                <a:latin typeface="Consolas"/>
              </a:rPr>
              <a:t>[]</a:t>
            </a:r>
            <a:r>
              <a:rPr sz="1700" b="0">
                <a:solidFill>
                  <a:srgbClr val="1D2330"/>
                </a:solidFill>
                <a:latin typeface="Calibri"/>
              </a:rPr>
              <a:t>, a 2D table</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4B2E83"/>
                </a:solidFill>
                <a:latin typeface="Consolas"/>
              </a:rPr>
              <a:t>words.cpp</a:t>
            </a:r>
            <a:r>
              <a:rPr sz="1700" b="0">
                <a:solidFill>
                  <a:srgbClr val="1D2330"/>
                </a:solidFill>
                <a:latin typeface="Calibri"/>
              </a:rPr>
              <a:t> TODO 1: check </a:t>
            </a:r>
            <a:r>
              <a:rPr sz="1700" b="0">
                <a:solidFill>
                  <a:srgbClr val="4B2E83"/>
                </a:solidFill>
                <a:latin typeface="Consolas"/>
              </a:rPr>
              <a:t>argc</a:t>
            </a:r>
            <a:r>
              <a:rPr sz="1700" b="0">
                <a:solidFill>
                  <a:srgbClr val="1D2330"/>
                </a:solidFill>
                <a:latin typeface="Calibri"/>
              </a:rPr>
              <a:t> and the open file; errors to </a:t>
            </a:r>
            <a:r>
              <a:rPr sz="1700" b="0">
                <a:solidFill>
                  <a:srgbClr val="4B2E83"/>
                </a:solidFill>
                <a:latin typeface="Consolas"/>
              </a:rPr>
              <a:t>cerr</a:t>
            </a:r>
            <a:r>
              <a:rPr sz="1700" b="0">
                <a:solidFill>
                  <a:srgbClr val="1D2330"/>
                </a:solidFill>
                <a:latin typeface="Calibri"/>
              </a:rPr>
              <a:t>, </a:t>
            </a:r>
            <a:r>
              <a:rPr sz="1700" b="0">
                <a:solidFill>
                  <a:srgbClr val="4B2E83"/>
                </a:solidFill>
                <a:latin typeface="Consolas"/>
              </a:rPr>
              <a:t>return 1</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4B2E83"/>
                </a:solidFill>
                <a:latin typeface="Consolas"/>
              </a:rPr>
              <a:t>split</a:t>
            </a:r>
            <a:r>
              <a:rPr sz="1700" b="0">
                <a:solidFill>
                  <a:srgbClr val="1D2330"/>
                </a:solidFill>
                <a:latin typeface="Calibri"/>
              </a:rPr>
              <a:t>, </a:t>
            </a:r>
            <a:r>
              <a:rPr sz="1700" b="0">
                <a:solidFill>
                  <a:srgbClr val="4B2E83"/>
                </a:solidFill>
                <a:latin typeface="Consolas"/>
              </a:rPr>
              <a:t>join</a:t>
            </a:r>
            <a:r>
              <a:rPr sz="1700" b="0">
                <a:solidFill>
                  <a:srgbClr val="1D2330"/>
                </a:solidFill>
                <a:latin typeface="Calibri"/>
              </a:rPr>
              <a:t>, </a:t>
            </a:r>
            <a:r>
              <a:rPr sz="1700" b="0">
                <a:solidFill>
                  <a:srgbClr val="4B2E83"/>
                </a:solidFill>
                <a:latin typeface="Consolas"/>
              </a:rPr>
              <a:t>reversed</a:t>
            </a:r>
            <a:r>
              <a:rPr sz="1700" b="0">
                <a:solidFill>
                  <a:srgbClr val="1D2330"/>
                </a:solidFill>
                <a:latin typeface="Calibri"/>
              </a:rPr>
              <a:t>, and the </a:t>
            </a:r>
            <a:r>
              <a:rPr sz="1700" b="0">
                <a:solidFill>
                  <a:srgbClr val="4B2E83"/>
                </a:solidFill>
                <a:latin typeface="Consolas"/>
              </a:rPr>
              <a:t>getline</a:t>
            </a:r>
            <a:r>
              <a:rPr sz="1700" b="0">
                <a:solidFill>
                  <a:srgbClr val="1D2330"/>
                </a:solidFill>
                <a:latin typeface="Calibri"/>
              </a:rPr>
              <a:t> loop</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4B2E83"/>
                </a:solidFill>
                <a:latin typeface="Consolas"/>
              </a:rPr>
              <a:t>./words data/lines.txt</a:t>
            </a:r>
            <a:r>
              <a:rPr sz="1700" b="0">
                <a:solidFill>
                  <a:srgbClr val="1D2330"/>
                </a:solidFill>
                <a:latin typeface="Calibri"/>
              </a:rPr>
              <a:t>, </a:t>
            </a:r>
            <a:r>
              <a:rPr sz="1700" b="0">
                <a:solidFill>
                  <a:srgbClr val="4B2E83"/>
                </a:solidFill>
                <a:latin typeface="Consolas"/>
              </a:rPr>
              <a:t>./words</a:t>
            </a:r>
            <a:r>
              <a:rPr sz="1700" b="0">
                <a:solidFill>
                  <a:srgbClr val="1D2330"/>
                </a:solidFill>
                <a:latin typeface="Calibri"/>
              </a:rPr>
              <a:t>, </a:t>
            </a:r>
            <a:r>
              <a:rPr sz="1700" b="0">
                <a:solidFill>
                  <a:srgbClr val="4B2E83"/>
                </a:solidFill>
                <a:latin typeface="Consolas"/>
              </a:rPr>
              <a:t>./words nosuch.txt</a:t>
            </a:r>
            <a:r>
              <a:rPr sz="1700" b="0">
                <a:solidFill>
                  <a:srgbClr val="1D2330"/>
                </a:solidFill>
                <a:latin typeface="Calibri"/>
              </a:rPr>
              <a:t>; </a:t>
            </a:r>
            <a:r>
              <a:rPr sz="1700" b="0">
                <a:solidFill>
                  <a:srgbClr val="4B2E83"/>
                </a:solidFill>
                <a:latin typeface="Consolas"/>
              </a:rPr>
              <a:t>echo $?</a:t>
            </a:r>
            <a:r>
              <a:rPr sz="1700" b="0">
                <a:solidFill>
                  <a:srgbClr val="1D2330"/>
                </a:solidFill>
                <a:latin typeface="Calibri"/>
              </a:rPr>
              <a:t> after each</a:t>
            </a:r>
          </a:p>
        </p:txBody>
      </p:sp>
      <p:sp>
        <p:nvSpPr>
          <p:cNvPr id="21" name="Oval 20"/>
          <p:cNvSpPr/>
          <p:nvPr/>
        </p:nvSpPr>
        <p:spPr>
          <a:xfrm>
            <a:off x="4023360" y="486460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72000" y="4846320"/>
            <a:ext cx="7071055" cy="868680"/>
          </a:xfrm>
          <a:prstGeom prst="rect">
            <a:avLst/>
          </a:prstGeom>
          <a:noFill/>
        </p:spPr>
        <p:txBody>
          <a:bodyPr wrap="square" lIns="0" rIns="0" tIns="0" bIns="0" anchor="t">
            <a:spAutoFit/>
          </a:bodyPr>
          <a:lstStyle/>
          <a:p>
            <a:pPr algn="l"/>
            <a:r>
              <a:rPr sz="1700" b="0">
                <a:solidFill>
                  <a:srgbClr val="4B2E83"/>
                </a:solidFill>
                <a:latin typeface="Consolas"/>
              </a:rPr>
              <a:t>./words data/lines_crlf.txt</a:t>
            </a:r>
            <a:r>
              <a:rPr sz="1700" b="0">
                <a:solidFill>
                  <a:srgbClr val="1D2330"/>
                </a:solidFill>
                <a:latin typeface="Calibri"/>
              </a:rPr>
              <a:t> and </a:t>
            </a:r>
            <a:r>
              <a:rPr sz="1700" b="0">
                <a:solidFill>
                  <a:srgbClr val="4B2E83"/>
                </a:solidFill>
                <a:latin typeface="Consolas"/>
              </a:rPr>
              <a:t>od -c data/lines_crlf.txt | head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9</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1</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Capacity 5, then 10 for the next five pushes: Lab 3's </a:t>
            </a:r>
            <a:r>
              <a:rPr sz="2000" b="0">
                <a:solidFill>
                  <a:srgbClr val="4B2E83"/>
                </a:solidFill>
                <a:latin typeface="Consolas"/>
              </a:rPr>
              <a:t>grow()</a:t>
            </a:r>
          </a:p>
          <a:p>
            <a:pPr marL="256032" indent="-228600">
              <a:spcAft>
                <a:spcPts val="800"/>
              </a:spcAft>
              <a:buClr>
                <a:srgbClr val="5B6475"/>
              </a:buClr>
              <a:buChar char="•"/>
            </a:pPr>
            <a:r>
              <a:rPr sz="2000" b="0">
                <a:solidFill>
                  <a:srgbClr val="4B2E83"/>
                </a:solidFill>
                <a:latin typeface="Consolas"/>
              </a:rPr>
              <a:t>v.at(100)</a:t>
            </a:r>
            <a:r>
              <a:rPr sz="2000" b="0">
                <a:solidFill>
                  <a:srgbClr val="1D2330"/>
                </a:solidFill>
                <a:latin typeface="Calibri"/>
              </a:rPr>
              <a:t>: </a:t>
            </a:r>
            <a:r>
              <a:rPr sz="2000" b="0">
                <a:solidFill>
                  <a:srgbClr val="4B2E83"/>
                </a:solidFill>
                <a:latin typeface="Consolas"/>
              </a:rPr>
              <a:t>vector::_M_range_check: __n (which is 100) &gt;= this-&gt;size() (which is 10)</a:t>
            </a:r>
          </a:p>
          <a:p>
            <a:pPr marL="256032" indent="-228600">
              <a:spcAft>
                <a:spcPts val="800"/>
              </a:spcAft>
              <a:buClr>
                <a:srgbClr val="5B6475"/>
              </a:buClr>
              <a:buChar char="•"/>
            </a:pPr>
            <a:r>
              <a:rPr sz="2000" b="0">
                <a:solidFill>
                  <a:srgbClr val="4B2E83"/>
                </a:solidFill>
                <a:latin typeface="Consolas"/>
              </a:rPr>
              <a:t>./words</a:t>
            </a:r>
            <a:r>
              <a:rPr sz="2000" b="0">
                <a:solidFill>
                  <a:srgbClr val="1D2330"/>
                </a:solidFill>
                <a:latin typeface="Calibri"/>
              </a:rPr>
              <a:t> and </a:t>
            </a:r>
            <a:r>
              <a:rPr sz="2000" b="0">
                <a:solidFill>
                  <a:srgbClr val="4B2E83"/>
                </a:solidFill>
                <a:latin typeface="Consolas"/>
              </a:rPr>
              <a:t>./words nosuch.txt</a:t>
            </a:r>
            <a:r>
              <a:rPr sz="2000" b="0">
                <a:solidFill>
                  <a:srgbClr val="1D2330"/>
                </a:solidFill>
                <a:latin typeface="Calibri"/>
              </a:rPr>
              <a:t>: a message on </a:t>
            </a:r>
            <a:r>
              <a:rPr sz="2000" b="0">
                <a:solidFill>
                  <a:srgbClr val="4B2E83"/>
                </a:solidFill>
                <a:latin typeface="Consolas"/>
              </a:rPr>
              <a:t>cerr</a:t>
            </a:r>
            <a:r>
              <a:rPr sz="2000" b="0">
                <a:solidFill>
                  <a:srgbClr val="1D2330"/>
                </a:solidFill>
                <a:latin typeface="Calibri"/>
              </a:rPr>
              <a:t>, exit code 1</a:t>
            </a:r>
          </a:p>
          <a:p>
            <a:pPr marL="256032" indent="-228600">
              <a:spcAft>
                <a:spcPts val="800"/>
              </a:spcAft>
              <a:buClr>
                <a:srgbClr val="5B6475"/>
              </a:buClr>
              <a:buChar char="•"/>
            </a:pPr>
            <a:r>
              <a:rPr sz="2000" b="0">
                <a:solidFill>
                  <a:srgbClr val="4B2E83"/>
                </a:solidFill>
                <a:latin typeface="Consolas"/>
              </a:rPr>
              <a:t>while (!in.eof())</a:t>
            </a:r>
            <a:r>
              <a:rPr sz="2000" b="0">
                <a:solidFill>
                  <a:srgbClr val="1D2330"/>
                </a:solidFill>
                <a:latin typeface="Calibri"/>
              </a:rPr>
              <a:t>: a 5th line, </a:t>
            </a:r>
            <a:r>
              <a:rPr sz="2000" b="0">
                <a:solidFill>
                  <a:srgbClr val="4B2E83"/>
                </a:solidFill>
                <a:latin typeface="Consolas"/>
              </a:rPr>
              <a:t>5 (0 chars): 0 words:</a:t>
            </a:r>
          </a:p>
          <a:p>
            <a:pPr marL="256032" indent="-228600">
              <a:spcAft>
                <a:spcPts val="800"/>
              </a:spcAft>
              <a:buClr>
                <a:srgbClr val="5B6475"/>
              </a:buClr>
              <a:buChar char="•"/>
            </a:pPr>
            <a:r>
              <a:rPr sz="2000" b="0">
                <a:solidFill>
                  <a:srgbClr val="4B2E83"/>
                </a:solidFill>
                <a:latin typeface="Consolas"/>
              </a:rPr>
              <a:t>lines_crlf.txt</a:t>
            </a:r>
            <a:r>
              <a:rPr sz="2000" b="0">
                <a:solidFill>
                  <a:srgbClr val="1D2330"/>
                </a:solidFill>
                <a:latin typeface="Calibri"/>
              </a:rPr>
              <a:t>: every line one char longer; </a:t>
            </a:r>
            <a:r>
              <a:rPr sz="2000" b="0">
                <a:solidFill>
                  <a:srgbClr val="4B2E83"/>
                </a:solidFill>
                <a:latin typeface="Consolas"/>
              </a:rPr>
              <a:t>od -c</a:t>
            </a:r>
            <a:r>
              <a:rPr sz="2000" b="0">
                <a:solidFill>
                  <a:srgbClr val="1D2330"/>
                </a:solidFill>
                <a:latin typeface="Calibri"/>
              </a:rPr>
              <a:t> shows </a:t>
            </a:r>
            <a:r>
              <a:rPr sz="2000" b="0">
                <a:solidFill>
                  <a:srgbClr val="4B2E83"/>
                </a:solidFill>
                <a:latin typeface="Consolas"/>
              </a:rPr>
              <a:t>\r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10</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1</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950976"/>
          </a:xfrm>
          <a:prstGeom prst="rect">
            <a:avLst/>
          </a:prstGeom>
          <a:noFill/>
        </p:spPr>
        <p:txBody>
          <a:bodyPr wrap="square" lIns="0" rIns="0" tIns="0" bIns="0" anchor="t">
            <a:spAutoFit/>
          </a:bodyPr>
          <a:lstStyle/>
          <a:p>
            <a:pPr algn="l"/>
            <a:r>
              <a:rPr sz="1800" b="0">
                <a:solidFill>
                  <a:srgbClr val="1D2330"/>
                </a:solidFill>
                <a:latin typeface="Calibri"/>
              </a:rPr>
              <a:t>What do </a:t>
            </a:r>
            <a:r>
              <a:rPr sz="1800" b="0">
                <a:solidFill>
                  <a:srgbClr val="4B2E83"/>
                </a:solidFill>
                <a:latin typeface="Consolas"/>
              </a:rPr>
              <a:t>vector&lt;int&gt; a(3);</a:t>
            </a:r>
            <a:r>
              <a:rPr sz="1800" b="0">
                <a:solidFill>
                  <a:srgbClr val="1D2330"/>
                </a:solidFill>
                <a:latin typeface="Calibri"/>
              </a:rPr>
              <a:t> and </a:t>
            </a:r>
            <a:r>
              <a:rPr sz="1800" b="0">
                <a:solidFill>
                  <a:srgbClr val="4B2E83"/>
                </a:solidFill>
                <a:latin typeface="Consolas"/>
              </a:rPr>
              <a:t>vector&lt;int&gt; b{3};</a:t>
            </a:r>
            <a:r>
              <a:rPr sz="1800" b="0">
                <a:solidFill>
                  <a:srgbClr val="1D2330"/>
                </a:solidFill>
                <a:latin typeface="Calibri"/>
              </a:rPr>
              <a:t> contain?</a:t>
            </a:r>
          </a:p>
        </p:txBody>
      </p:sp>
      <p:sp>
        <p:nvSpPr>
          <p:cNvPr id="7" name="Oval 6"/>
          <p:cNvSpPr/>
          <p:nvPr/>
        </p:nvSpPr>
        <p:spPr>
          <a:xfrm>
            <a:off x="548640" y="2322576"/>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322576"/>
            <a:ext cx="10408615" cy="950976"/>
          </a:xfrm>
          <a:prstGeom prst="rect">
            <a:avLst/>
          </a:prstGeom>
          <a:noFill/>
        </p:spPr>
        <p:txBody>
          <a:bodyPr wrap="square" lIns="0" rIns="0" tIns="0" bIns="0" anchor="t">
            <a:spAutoFit/>
          </a:bodyPr>
          <a:lstStyle/>
          <a:p>
            <a:pPr algn="l"/>
            <a:r>
              <a:rPr sz="1800" b="0">
                <a:solidFill>
                  <a:srgbClr val="4B2E83"/>
                </a:solidFill>
                <a:latin typeface="Consolas"/>
              </a:rPr>
              <a:t>int *p = &amp;v[0]; v.push_back(7); cout &lt;&lt; *p;</a:t>
            </a:r>
            <a:r>
              <a:rPr sz="1800" b="0">
                <a:solidFill>
                  <a:srgbClr val="1D2330"/>
                </a:solidFill>
                <a:latin typeface="Calibri"/>
              </a:rPr>
              <a:t> What can go wrong?</a:t>
            </a:r>
          </a:p>
        </p:txBody>
      </p:sp>
      <p:sp>
        <p:nvSpPr>
          <p:cNvPr id="9" name="Oval 8"/>
          <p:cNvSpPr/>
          <p:nvPr/>
        </p:nvSpPr>
        <p:spPr>
          <a:xfrm>
            <a:off x="548640" y="3273552"/>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273552"/>
            <a:ext cx="10408615" cy="950976"/>
          </a:xfrm>
          <a:prstGeom prst="rect">
            <a:avLst/>
          </a:prstGeom>
          <a:noFill/>
        </p:spPr>
        <p:txBody>
          <a:bodyPr wrap="square" lIns="0" rIns="0" tIns="0" bIns="0" anchor="t">
            <a:spAutoFit/>
          </a:bodyPr>
          <a:lstStyle/>
          <a:p>
            <a:pPr algn="l"/>
            <a:r>
              <a:rPr sz="1800" b="0">
                <a:solidFill>
                  <a:srgbClr val="1D2330"/>
                </a:solidFill>
                <a:latin typeface="Calibri"/>
              </a:rPr>
              <a:t>What does </a:t>
            </a:r>
            <a:r>
              <a:rPr sz="1800" b="0">
                <a:solidFill>
                  <a:srgbClr val="4B2E83"/>
                </a:solidFill>
                <a:latin typeface="Consolas"/>
              </a:rPr>
              <a:t>argc</a:t>
            </a:r>
            <a:r>
              <a:rPr sz="1800" b="0">
                <a:solidFill>
                  <a:srgbClr val="1D2330"/>
                </a:solidFill>
                <a:latin typeface="Calibri"/>
              </a:rPr>
              <a:t> equal for </a:t>
            </a:r>
            <a:r>
              <a:rPr sz="1800" b="0">
                <a:solidFill>
                  <a:srgbClr val="4B2E83"/>
                </a:solidFill>
                <a:latin typeface="Consolas"/>
              </a:rPr>
              <a:t>./words data/a.txt data/b.txt</a:t>
            </a:r>
            <a:r>
              <a:rPr sz="1800" b="0">
                <a:solidFill>
                  <a:srgbClr val="1D2330"/>
                </a:solidFill>
                <a:latin typeface="Calibri"/>
              </a:rPr>
              <a:t>, and what is </a:t>
            </a:r>
            <a:r>
              <a:rPr sz="1800" b="0">
                <a:solidFill>
                  <a:srgbClr val="4B2E83"/>
                </a:solidFill>
                <a:latin typeface="Consolas"/>
              </a:rPr>
              <a:t>argv[2]</a:t>
            </a:r>
            <a:r>
              <a:rPr sz="1800" b="0">
                <a:solidFill>
                  <a:srgbClr val="1D2330"/>
                </a:solidFill>
                <a:latin typeface="Calibri"/>
              </a:rPr>
              <a:t>?</a:t>
            </a:r>
          </a:p>
        </p:txBody>
      </p:sp>
      <p:sp>
        <p:nvSpPr>
          <p:cNvPr id="11" name="Oval 10"/>
          <p:cNvSpPr/>
          <p:nvPr/>
        </p:nvSpPr>
        <p:spPr>
          <a:xfrm>
            <a:off x="548640" y="4224528"/>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224528"/>
            <a:ext cx="10408615" cy="950976"/>
          </a:xfrm>
          <a:prstGeom prst="rect">
            <a:avLst/>
          </a:prstGeom>
          <a:noFill/>
        </p:spPr>
        <p:txBody>
          <a:bodyPr wrap="square" lIns="0" rIns="0" tIns="0" bIns="0" anchor="t">
            <a:spAutoFit/>
          </a:bodyPr>
          <a:lstStyle/>
          <a:p>
            <a:pPr algn="l"/>
            <a:r>
              <a:rPr sz="1800" b="0">
                <a:solidFill>
                  <a:srgbClr val="1D2330"/>
                </a:solidFill>
                <a:latin typeface="Calibri"/>
              </a:rPr>
              <a:t>A file contains </a:t>
            </a:r>
            <a:r>
              <a:rPr sz="1800" b="0">
                <a:solidFill>
                  <a:srgbClr val="4B2E83"/>
                </a:solidFill>
                <a:latin typeface="Consolas"/>
              </a:rPr>
              <a:t>10 20 abc 30</a:t>
            </a:r>
            <a:r>
              <a:rPr sz="1800" b="0">
                <a:solidFill>
                  <a:srgbClr val="1D2330"/>
                </a:solidFill>
                <a:latin typeface="Calibri"/>
              </a:rPr>
              <a:t>. What does </a:t>
            </a:r>
            <a:r>
              <a:rPr sz="1800" b="0">
                <a:solidFill>
                  <a:srgbClr val="4B2E83"/>
                </a:solidFill>
                <a:latin typeface="Consolas"/>
              </a:rPr>
              <a:t>while (in &gt;&gt; x)</a:t>
            </a:r>
            <a:r>
              <a:rPr sz="1800" b="0">
                <a:solidFill>
                  <a:srgbClr val="1D2330"/>
                </a:solidFill>
                <a:latin typeface="Calibri"/>
              </a:rPr>
              <a:t> read?</a:t>
            </a:r>
          </a:p>
        </p:txBody>
      </p:sp>
      <p:sp>
        <p:nvSpPr>
          <p:cNvPr id="13" name="Oval 12"/>
          <p:cNvSpPr/>
          <p:nvPr/>
        </p:nvSpPr>
        <p:spPr>
          <a:xfrm>
            <a:off x="548640" y="5175504"/>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Q5</a:t>
            </a:r>
          </a:p>
        </p:txBody>
      </p:sp>
      <p:sp>
        <p:nvSpPr>
          <p:cNvPr id="14" name="TextBox 13"/>
          <p:cNvSpPr txBox="1"/>
          <p:nvPr/>
        </p:nvSpPr>
        <p:spPr>
          <a:xfrm>
            <a:off x="1234440" y="5175504"/>
            <a:ext cx="10408615" cy="950976"/>
          </a:xfrm>
          <a:prstGeom prst="rect">
            <a:avLst/>
          </a:prstGeom>
          <a:noFill/>
        </p:spPr>
        <p:txBody>
          <a:bodyPr wrap="square" lIns="0" rIns="0" tIns="0" bIns="0" anchor="t">
            <a:spAutoFit/>
          </a:bodyPr>
          <a:lstStyle/>
          <a:p>
            <a:pPr algn="l"/>
            <a:r>
              <a:rPr sz="1800" b="0">
                <a:solidFill>
                  <a:srgbClr val="4B2E83"/>
                </a:solidFill>
                <a:latin typeface="Consolas"/>
              </a:rPr>
              <a:t>line == "END"</a:t>
            </a:r>
            <a:r>
              <a:rPr sz="1800" b="0">
                <a:solidFill>
                  <a:srgbClr val="1D2330"/>
                </a:solidFill>
                <a:latin typeface="Calibri"/>
              </a:rPr>
              <a:t> matches on Windows but never on Linux, same file. Why?</a:t>
            </a:r>
          </a:p>
        </p:txBody>
      </p:sp>
      <p:sp>
        <p:nvSpPr>
          <p:cNvPr id="15" name="TextBox 14"/>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11</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5 Exercise 1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1</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2</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Iterators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One loop, and the same algorithms, for every container: an array, a chain of nodes, or a tree</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Loop over any container with iterators</a:t>
            </a:r>
          </a:p>
          <a:p>
            <a:pPr marL="256032" indent="-228600">
              <a:spcAft>
                <a:spcPts val="600"/>
              </a:spcAft>
              <a:buClr>
                <a:srgbClr val="5B6475"/>
              </a:buClr>
              <a:buChar char="›"/>
            </a:pPr>
            <a:r>
              <a:rPr sz="2000" b="0">
                <a:solidFill>
                  <a:srgbClr val="FFFFFF"/>
                </a:solidFill>
                <a:latin typeface="Calibri"/>
              </a:rPr>
              <a:t>Erase elements safely while iterating</a:t>
            </a:r>
          </a:p>
          <a:p>
            <a:pPr marL="256032" indent="-228600">
              <a:spcAft>
                <a:spcPts val="600"/>
              </a:spcAft>
              <a:buClr>
                <a:srgbClr val="5B6475"/>
              </a:buClr>
              <a:buChar char="›"/>
            </a:pPr>
            <a:r>
              <a:rPr sz="2000" b="0">
                <a:solidFill>
                  <a:srgbClr val="FFFFFF"/>
                </a:solidFill>
                <a:latin typeface="Calibri"/>
              </a:rPr>
              <a:t>Write an iterator for your own linked container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13</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Using iterators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*it</a:t>
            </a:r>
            <a:r>
              <a:rPr sz="1800" b="0">
                <a:solidFill>
                  <a:srgbClr val="1D2330"/>
                </a:solidFill>
                <a:latin typeface="Calibri"/>
              </a:rPr>
              <a:t> is the element; </a:t>
            </a:r>
            <a:r>
              <a:rPr sz="1800" b="0">
                <a:solidFill>
                  <a:srgbClr val="4B2E83"/>
                </a:solidFill>
                <a:latin typeface="Consolas"/>
              </a:rPr>
              <a:t>++it</a:t>
            </a:r>
            <a:r>
              <a:rPr sz="1800" b="0">
                <a:solidFill>
                  <a:srgbClr val="1D2330"/>
                </a:solidFill>
                <a:latin typeface="Calibri"/>
              </a:rPr>
              <a:t> moves on</a:t>
            </a:r>
          </a:p>
          <a:p>
            <a:pPr marL="256032" indent="-228600">
              <a:spcAft>
                <a:spcPts val="800"/>
              </a:spcAft>
              <a:buClr>
                <a:srgbClr val="5B6475"/>
              </a:buClr>
              <a:buChar char="•"/>
            </a:pPr>
            <a:r>
              <a:rPr sz="1800" b="0">
                <a:solidFill>
                  <a:srgbClr val="4B2E83"/>
                </a:solidFill>
                <a:latin typeface="Consolas"/>
              </a:rPr>
              <a:t>begin()</a:t>
            </a:r>
            <a:r>
              <a:rPr sz="1800" b="0">
                <a:solidFill>
                  <a:srgbClr val="1D2330"/>
                </a:solidFill>
                <a:latin typeface="Calibri"/>
              </a:rPr>
              <a:t> is the first element; </a:t>
            </a:r>
            <a:r>
              <a:rPr sz="1800" b="0">
                <a:solidFill>
                  <a:srgbClr val="4B2E83"/>
                </a:solidFill>
                <a:latin typeface="Consolas"/>
              </a:rPr>
              <a:t>end()</a:t>
            </a:r>
            <a:r>
              <a:rPr sz="1800" b="0">
                <a:solidFill>
                  <a:srgbClr val="1D2330"/>
                </a:solidFill>
                <a:latin typeface="Calibri"/>
              </a:rPr>
              <a:t> is ONE PAST the last: never dereference it</a:t>
            </a:r>
          </a:p>
          <a:p>
            <a:pPr marL="256032" indent="-228600">
              <a:spcAft>
                <a:spcPts val="800"/>
              </a:spcAft>
              <a:buClr>
                <a:srgbClr val="5B6475"/>
              </a:buClr>
              <a:buChar char="•"/>
            </a:pPr>
            <a:r>
              <a:rPr sz="1800" b="0">
                <a:solidFill>
                  <a:srgbClr val="1D2330"/>
                </a:solidFill>
                <a:latin typeface="Calibri"/>
              </a:rPr>
              <a:t>The same loop works on a vector, a list, a string, a map</a:t>
            </a:r>
          </a:p>
          <a:p>
            <a:pPr marL="256032" indent="-228600">
              <a:spcAft>
                <a:spcPts val="800"/>
              </a:spcAft>
              <a:buClr>
                <a:srgbClr val="5B6475"/>
              </a:buClr>
              <a:buChar char="•"/>
            </a:pPr>
            <a:r>
              <a:rPr sz="1800" b="0">
                <a:solidFill>
                  <a:srgbClr val="4B2E83"/>
                </a:solidFill>
                <a:latin typeface="Consolas"/>
              </a:rPr>
              <a:t>auto it = v.begin();</a:t>
            </a:r>
            <a:r>
              <a:rPr sz="1800" b="0">
                <a:solidFill>
                  <a:srgbClr val="1D2330"/>
                </a:solidFill>
                <a:latin typeface="Calibri"/>
              </a:rPr>
              <a:t>: the compiler fills in </a:t>
            </a:r>
            <a:r>
              <a:rPr sz="1800" b="0">
                <a:solidFill>
                  <a:srgbClr val="4B2E83"/>
                </a:solidFill>
                <a:latin typeface="Consolas"/>
              </a:rPr>
              <a:t>vector&lt;int&gt;::iterator</a:t>
            </a:r>
            <a:r>
              <a:rPr sz="1800" b="0">
                <a:solidFill>
                  <a:srgbClr val="1D2330"/>
                </a:solidFill>
                <a:latin typeface="Calibri"/>
              </a:rPr>
              <a:t>; still one fixed type, so it must be initialized</a:t>
            </a:r>
          </a:p>
          <a:p>
            <a:pPr marL="256032" indent="-228600">
              <a:spcAft>
                <a:spcPts val="800"/>
              </a:spcAft>
              <a:buClr>
                <a:srgbClr val="5B6475"/>
              </a:buClr>
              <a:buChar char="•"/>
            </a:pPr>
            <a:r>
              <a:rPr sz="1800" b="0">
                <a:solidFill>
                  <a:srgbClr val="1D2330"/>
                </a:solidFill>
                <a:latin typeface="Calibri"/>
              </a:rPr>
              <a:t>Range-for is shorthand for it: </a:t>
            </a:r>
            <a:r>
              <a:rPr sz="1800" b="0">
                <a:solidFill>
                  <a:srgbClr val="4B2E83"/>
                </a:solidFill>
                <a:latin typeface="Consolas"/>
              </a:rPr>
              <a:t>begin()</a:t>
            </a:r>
            <a:r>
              <a:rPr sz="1800" b="0">
                <a:solidFill>
                  <a:srgbClr val="1D2330"/>
                </a:solidFill>
                <a:latin typeface="Calibri"/>
              </a:rPr>
              <a:t>, </a:t>
            </a:r>
            <a:r>
              <a:rPr sz="1800" b="0">
                <a:solidFill>
                  <a:srgbClr val="4B2E83"/>
                </a:solidFill>
                <a:latin typeface="Consolas"/>
              </a:rPr>
              <a:t>!=</a:t>
            </a:r>
            <a:r>
              <a:rPr sz="1800" b="0">
                <a:solidFill>
                  <a:srgbClr val="1D2330"/>
                </a:solidFill>
                <a:latin typeface="Calibri"/>
              </a:rPr>
              <a:t>, </a:t>
            </a:r>
            <a:r>
              <a:rPr sz="1800" b="0">
                <a:solidFill>
                  <a:srgbClr val="4B2E83"/>
                </a:solidFill>
                <a:latin typeface="Consolas"/>
              </a:rPr>
              <a:t>++</a:t>
            </a:r>
            <a:r>
              <a:rPr sz="1800" b="0">
                <a:solidFill>
                  <a:srgbClr val="1D2330"/>
                </a:solidFill>
                <a:latin typeface="Calibri"/>
              </a:rPr>
              <a:t>, </a:t>
            </a:r>
            <a:r>
              <a:rPr sz="1800" b="0">
                <a:solidFill>
                  <a:srgbClr val="4B2E83"/>
                </a:solidFill>
                <a:latin typeface="Consolas"/>
              </a:rPr>
              <a:t>*</a:t>
            </a:r>
          </a:p>
          <a:p>
            <a:pPr marL="256032" indent="-228600">
              <a:spcAft>
                <a:spcPts val="800"/>
              </a:spcAft>
              <a:buClr>
                <a:srgbClr val="5B6475"/>
              </a:buClr>
              <a:buChar char="•"/>
            </a:pPr>
            <a:r>
              <a:rPr sz="1800" b="0">
                <a:solidFill>
                  <a:srgbClr val="4B2E83"/>
                </a:solidFill>
                <a:latin typeface="Consolas"/>
              </a:rPr>
              <a:t>erase</a:t>
            </a:r>
            <a:r>
              <a:rPr sz="1800" b="0">
                <a:solidFill>
                  <a:srgbClr val="1D2330"/>
                </a:solidFill>
                <a:latin typeface="Calibri"/>
              </a:rPr>
              <a:t> returns the next valid iterator: </a:t>
            </a:r>
            <a:r>
              <a:rPr sz="1800" b="0">
                <a:solidFill>
                  <a:srgbClr val="4B2E83"/>
                </a:solidFill>
                <a:latin typeface="Consolas"/>
              </a:rPr>
              <a:t>++it</a:t>
            </a:r>
            <a:r>
              <a:rPr sz="1800" b="0">
                <a:solidFill>
                  <a:srgbClr val="1D2330"/>
                </a:solidFill>
                <a:latin typeface="Calibri"/>
              </a:rPr>
              <a:t> only when you didn't erase</a:t>
            </a:r>
          </a:p>
          <a:p>
            <a:pPr marL="256032" indent="-228600">
              <a:spcAft>
                <a:spcPts val="800"/>
              </a:spcAft>
              <a:buClr>
                <a:srgbClr val="5B6475"/>
              </a:buClr>
              <a:buChar char="•"/>
            </a:pPr>
            <a:r>
              <a:rPr sz="1800" b="0">
                <a:solidFill>
                  <a:srgbClr val="4B2E83"/>
                </a:solidFill>
                <a:latin typeface="Consolas"/>
              </a:rPr>
              <a:t>const_iterator</a:t>
            </a:r>
            <a:r>
              <a:rPr sz="1800" b="0">
                <a:solidFill>
                  <a:srgbClr val="1D2330"/>
                </a:solidFill>
                <a:latin typeface="Calibri"/>
              </a:rPr>
              <a:t> is read-only</a:t>
            </a:r>
          </a:p>
        </p:txBody>
      </p:sp>
      <p:sp>
        <p:nvSpPr>
          <p:cNvPr id="7" name="Rounded Rectangle 6"/>
          <p:cNvSpPr/>
          <p:nvPr/>
        </p:nvSpPr>
        <p:spPr>
          <a:xfrm>
            <a:off x="5972110" y="1325880"/>
            <a:ext cx="5670944" cy="35814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215640"/>
          </a:xfrm>
          <a:prstGeom prst="rect">
            <a:avLst/>
          </a:prstGeom>
          <a:noFill/>
        </p:spPr>
        <p:txBody>
          <a:bodyPr wrap="none" lIns="0" rIns="0" tIns="0" bIns="0" anchor="t">
            <a:spAutoFit/>
          </a:bodyPr>
          <a:lstStyle/>
          <a:p>
            <a:pPr>
              <a:spcAft>
                <a:spcPts val="0"/>
              </a:spcAft>
            </a:pPr>
            <a:r>
              <a:rPr sz="1300">
                <a:solidFill>
                  <a:srgbClr val="E6E6EF"/>
                </a:solidFill>
                <a:latin typeface="Consolas"/>
              </a:rPr>
              <a:t>vector&lt;int&gt; v = {3, 1, 4};</a:t>
            </a:r>
          </a:p>
          <a:p>
            <a:pPr>
              <a:spcAft>
                <a:spcPts val="0"/>
              </a:spcAft>
            </a:pPr>
            <a:r>
              <a:rPr sz="1300">
                <a:solidFill>
                  <a:srgbClr val="E6E6EF"/>
                </a:solidFill>
                <a:latin typeface="Consolas"/>
              </a:rPr>
              <a:t>list&lt;int&gt; l = {1, 5, 9};</a:t>
            </a:r>
          </a:p>
          <a:p>
            <a:pPr>
              <a:spcAft>
                <a:spcPts val="0"/>
              </a:spcAft>
            </a:pPr>
            <a:r>
              <a:rPr sz="1300">
                <a:solidFill>
                  <a:srgbClr val="E6E6EF"/>
                </a:solidFill>
                <a:latin typeface="Consolas"/>
              </a:rPr>
              <a:t>string s = "abc";</a:t>
            </a:r>
          </a:p>
          <a:p>
            <a:pPr>
              <a:spcAft>
                <a:spcPts val="0"/>
              </a:spcAft>
            </a:pPr>
            <a:r>
              <a:rPr sz="1300">
                <a:latin typeface="Consolas"/>
              </a:rPr>
              <a:t> </a:t>
            </a:r>
          </a:p>
          <a:p>
            <a:pPr>
              <a:spcAft>
                <a:spcPts val="0"/>
              </a:spcAft>
            </a:pPr>
            <a:r>
              <a:rPr sz="1300">
                <a:solidFill>
                  <a:srgbClr val="E6E6EF"/>
                </a:solidFill>
                <a:latin typeface="Consolas"/>
              </a:rPr>
              <a:t>for (auto it = v.begin(); it != v.end(); ++it) {</a:t>
            </a:r>
          </a:p>
          <a:p>
            <a:pPr>
              <a:spcAft>
                <a:spcPts val="0"/>
              </a:spcAft>
            </a:pPr>
            <a:r>
              <a:rPr sz="1300">
                <a:solidFill>
                  <a:srgbClr val="E6E6EF"/>
                </a:solidFill>
                <a:latin typeface="Consolas"/>
              </a:rPr>
              <a:t>    cout &lt;&lt; *it &lt;&lt; " ";              </a:t>
            </a:r>
            <a:r>
              <a:rPr sz="1300">
                <a:solidFill>
                  <a:srgbClr val="9AA4B5"/>
                </a:solidFill>
                <a:latin typeface="Consolas"/>
              </a:rPr>
              <a:t>// 3 1 4</a:t>
            </a:r>
          </a:p>
          <a:p>
            <a:pPr>
              <a:spcAft>
                <a:spcPts val="0"/>
              </a:spcAft>
            </a:pPr>
            <a:r>
              <a:rPr sz="1300">
                <a:solidFill>
                  <a:srgbClr val="E6E6EF"/>
                </a:solidFill>
                <a:latin typeface="Consolas"/>
              </a:rPr>
              <a:t>}</a:t>
            </a:r>
          </a:p>
          <a:p>
            <a:pPr>
              <a:spcAft>
                <a:spcPts val="0"/>
              </a:spcAft>
            </a:pPr>
            <a:r>
              <a:rPr sz="1300">
                <a:solidFill>
                  <a:srgbClr val="E6E6EF"/>
                </a:solidFill>
                <a:latin typeface="Consolas"/>
              </a:rPr>
              <a:t>for (auto it = l.begin(); it != l.end(); ++it) {</a:t>
            </a:r>
          </a:p>
          <a:p>
            <a:pPr>
              <a:spcAft>
                <a:spcPts val="0"/>
              </a:spcAft>
            </a:pPr>
            <a:r>
              <a:rPr sz="1300">
                <a:solidFill>
                  <a:srgbClr val="E6E6EF"/>
                </a:solidFill>
                <a:latin typeface="Consolas"/>
              </a:rPr>
              <a:t>    *it = *it * 10;                  </a:t>
            </a:r>
            <a:r>
              <a:rPr sz="1300">
                <a:solidFill>
                  <a:srgbClr val="9AA4B5"/>
                </a:solidFill>
                <a:latin typeface="Consolas"/>
              </a:rPr>
              <a:t>// write through it</a:t>
            </a:r>
          </a:p>
          <a:p>
            <a:pPr>
              <a:spcAft>
                <a:spcPts val="0"/>
              </a:spcAft>
            </a:pPr>
            <a:r>
              <a:rPr sz="1300">
                <a:solidFill>
                  <a:srgbClr val="E6E6EF"/>
                </a:solidFill>
                <a:latin typeface="Consolas"/>
              </a:rPr>
              <a:t>}</a:t>
            </a:r>
          </a:p>
          <a:p>
            <a:pPr>
              <a:spcAft>
                <a:spcPts val="0"/>
              </a:spcAft>
            </a:pPr>
            <a:r>
              <a:rPr sz="1300">
                <a:solidFill>
                  <a:srgbClr val="E6E6EF"/>
                </a:solidFill>
                <a:latin typeface="Consolas"/>
              </a:rPr>
              <a:t>for (int n : l) {                    </a:t>
            </a:r>
            <a:r>
              <a:rPr sz="1300">
                <a:solidFill>
                  <a:srgbClr val="9AA4B5"/>
                </a:solidFill>
                <a:latin typeface="Consolas"/>
              </a:rPr>
              <a:t>// range-for</a:t>
            </a:r>
          </a:p>
          <a:p>
            <a:pPr>
              <a:spcAft>
                <a:spcPts val="0"/>
              </a:spcAft>
            </a:pPr>
            <a:r>
              <a:rPr sz="1300">
                <a:solidFill>
                  <a:srgbClr val="E6E6EF"/>
                </a:solidFill>
                <a:latin typeface="Consolas"/>
              </a:rPr>
              <a:t>    cout &lt;&lt; n &lt;&lt; " ";                </a:t>
            </a:r>
            <a:r>
              <a:rPr sz="1300">
                <a:solidFill>
                  <a:srgbClr val="9AA4B5"/>
                </a:solidFill>
                <a:latin typeface="Consolas"/>
              </a:rPr>
              <a:t>// 10 50 90</a:t>
            </a:r>
          </a:p>
          <a:p>
            <a:pPr>
              <a:spcAft>
                <a:spcPts val="0"/>
              </a:spcAft>
            </a:pPr>
            <a:r>
              <a:rPr sz="1300">
                <a:solidFill>
                  <a:srgbClr val="E6E6EF"/>
                </a:solidFill>
                <a:latin typeface="Consolas"/>
              </a:rPr>
              <a:t>}</a:t>
            </a:r>
          </a:p>
          <a:p>
            <a:pPr>
              <a:spcAft>
                <a:spcPts val="0"/>
              </a:spcAft>
            </a:pPr>
            <a:r>
              <a:rPr sz="1300">
                <a:solidFill>
                  <a:srgbClr val="E6E6EF"/>
                </a:solidFill>
                <a:latin typeface="Consolas"/>
              </a:rPr>
              <a:t>for (auto it = s.rbegin(); it != s.rend(); ++it) {</a:t>
            </a:r>
          </a:p>
          <a:p>
            <a:pPr>
              <a:spcAft>
                <a:spcPts val="0"/>
              </a:spcAft>
            </a:pPr>
            <a:r>
              <a:rPr sz="1300">
                <a:solidFill>
                  <a:srgbClr val="E6E6EF"/>
                </a:solidFill>
                <a:latin typeface="Consolas"/>
              </a:rPr>
              <a:t>    cout &lt;&lt; *it;                     </a:t>
            </a:r>
            <a:r>
              <a:rPr sz="1300">
                <a:solidFill>
                  <a:srgbClr val="9AA4B5"/>
                </a:solidFill>
                <a:latin typeface="Consolas"/>
              </a:rPr>
              <a:t>// cba</a:t>
            </a:r>
          </a:p>
          <a:p>
            <a:pPr>
              <a:spcAft>
                <a:spcPts val="0"/>
              </a:spcAft>
            </a:pPr>
            <a:r>
              <a:rPr sz="13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2.1.same_loop_any_container.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 before and after: what each returns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An iterator for your own container: a small class holding a </a:t>
            </a:r>
            <a:r>
              <a:rPr sz="1800" b="0">
                <a:solidFill>
                  <a:srgbClr val="4B2E83"/>
                </a:solidFill>
                <a:latin typeface="Consolas"/>
              </a:rPr>
              <a:t>Node *</a:t>
            </a:r>
          </a:p>
          <a:p>
            <a:pPr marL="256032" indent="-228600">
              <a:spcAft>
                <a:spcPts val="800"/>
              </a:spcAft>
              <a:buClr>
                <a:srgbClr val="5B6475"/>
              </a:buClr>
              <a:buChar char="•"/>
            </a:pPr>
            <a:r>
              <a:rPr sz="1800" b="0">
                <a:solidFill>
                  <a:srgbClr val="1D2330"/>
                </a:solidFill>
                <a:latin typeface="Calibri"/>
              </a:rPr>
              <a:t>It needs </a:t>
            </a:r>
            <a:r>
              <a:rPr sz="1800" b="0">
                <a:solidFill>
                  <a:srgbClr val="4B2E83"/>
                </a:solidFill>
                <a:latin typeface="Consolas"/>
              </a:rPr>
              <a:t>*</a:t>
            </a:r>
            <a:r>
              <a:rPr sz="1800" b="0">
                <a:solidFill>
                  <a:srgbClr val="1D2330"/>
                </a:solidFill>
                <a:latin typeface="Calibri"/>
              </a:rPr>
              <a:t>, pre- and post-</a:t>
            </a:r>
            <a:r>
              <a:rPr sz="1800" b="0">
                <a:solidFill>
                  <a:srgbClr val="4B2E83"/>
                </a:solidFill>
                <a:latin typeface="Consolas"/>
              </a:rPr>
              <a:t>++</a:t>
            </a:r>
            <a:r>
              <a:rPr sz="1800" b="0">
                <a:solidFill>
                  <a:srgbClr val="1D2330"/>
                </a:solidFill>
                <a:latin typeface="Calibri"/>
              </a:rPr>
              <a:t>, </a:t>
            </a:r>
            <a:r>
              <a:rPr sz="1800" b="0">
                <a:solidFill>
                  <a:srgbClr val="4B2E83"/>
                </a:solidFill>
                <a:latin typeface="Consolas"/>
              </a:rPr>
              <a:t>==</a:t>
            </a:r>
            <a:r>
              <a:rPr sz="1800" b="0">
                <a:solidFill>
                  <a:srgbClr val="1D2330"/>
                </a:solidFill>
                <a:latin typeface="Calibri"/>
              </a:rPr>
              <a:t>, and </a:t>
            </a:r>
            <a:r>
              <a:rPr sz="1800" b="0">
                <a:solidFill>
                  <a:srgbClr val="4B2E83"/>
                </a:solidFill>
                <a:latin typeface="Consolas"/>
              </a:rPr>
              <a:t>!=</a:t>
            </a:r>
            <a:r>
              <a:rPr sz="1800" b="0">
                <a:solidFill>
                  <a:srgbClr val="1D2330"/>
                </a:solidFill>
                <a:latin typeface="Calibri"/>
              </a:rPr>
              <a:t>; the container needs </a:t>
            </a:r>
            <a:r>
              <a:rPr sz="1800" b="0">
                <a:solidFill>
                  <a:srgbClr val="4B2E83"/>
                </a:solidFill>
                <a:latin typeface="Consolas"/>
              </a:rPr>
              <a:t>begin()</a:t>
            </a:r>
            <a:r>
              <a:rPr sz="1800" b="0">
                <a:solidFill>
                  <a:srgbClr val="1D2330"/>
                </a:solidFill>
                <a:latin typeface="Calibri"/>
              </a:rPr>
              <a:t> and </a:t>
            </a:r>
            <a:r>
              <a:rPr sz="1800" b="0">
                <a:solidFill>
                  <a:srgbClr val="4B2E83"/>
                </a:solidFill>
                <a:latin typeface="Consolas"/>
              </a:rPr>
              <a:t>end()</a:t>
            </a:r>
          </a:p>
          <a:p>
            <a:pPr marL="256032" indent="-228600">
              <a:spcAft>
                <a:spcPts val="800"/>
              </a:spcAft>
              <a:buClr>
                <a:srgbClr val="5B6475"/>
              </a:buClr>
              <a:buChar char="•"/>
            </a:pPr>
            <a:r>
              <a:rPr sz="1800" b="0">
                <a:solidFill>
                  <a:srgbClr val="1D2330"/>
                </a:solidFill>
                <a:latin typeface="Calibri"/>
              </a:rPr>
              <a:t>Pre (</a:t>
            </a:r>
            <a:r>
              <a:rPr sz="1800" b="0">
                <a:solidFill>
                  <a:srgbClr val="4B2E83"/>
                </a:solidFill>
                <a:latin typeface="Consolas"/>
              </a:rPr>
              <a:t>++x</a:t>
            </a:r>
            <a:r>
              <a:rPr sz="1800" b="0">
                <a:solidFill>
                  <a:srgbClr val="1D2330"/>
                </a:solidFill>
                <a:latin typeface="Calibri"/>
              </a:rPr>
              <a:t>): move, return </a:t>
            </a:r>
            <a:r>
              <a:rPr sz="1800" b="0">
                <a:solidFill>
                  <a:srgbClr val="4B2E83"/>
                </a:solidFill>
                <a:latin typeface="Consolas"/>
              </a:rPr>
              <a:t>*this</a:t>
            </a:r>
            <a:r>
              <a:rPr sz="1800" b="0">
                <a:solidFill>
                  <a:srgbClr val="1D2330"/>
                </a:solidFill>
                <a:latin typeface="Calibri"/>
              </a:rPr>
              <a:t> by reference</a:t>
            </a:r>
          </a:p>
          <a:p>
            <a:pPr marL="256032" indent="-228600">
              <a:spcAft>
                <a:spcPts val="800"/>
              </a:spcAft>
              <a:buClr>
                <a:srgbClr val="5B6475"/>
              </a:buClr>
              <a:buChar char="•"/>
            </a:pPr>
            <a:r>
              <a:rPr sz="1800" b="0">
                <a:solidFill>
                  <a:srgbClr val="1D2330"/>
                </a:solidFill>
                <a:latin typeface="Calibri"/>
              </a:rPr>
              <a:t>Post (</a:t>
            </a:r>
            <a:r>
              <a:rPr sz="1800" b="0">
                <a:solidFill>
                  <a:srgbClr val="4B2E83"/>
                </a:solidFill>
                <a:latin typeface="Consolas"/>
              </a:rPr>
              <a:t>x++</a:t>
            </a:r>
            <a:r>
              <a:rPr sz="1800" b="0">
                <a:solidFill>
                  <a:srgbClr val="1D2330"/>
                </a:solidFill>
                <a:latin typeface="Calibri"/>
              </a:rPr>
              <a:t>): the unused </a:t>
            </a:r>
            <a:r>
              <a:rPr sz="1800" b="0">
                <a:solidFill>
                  <a:srgbClr val="4B2E83"/>
                </a:solidFill>
                <a:latin typeface="Consolas"/>
              </a:rPr>
              <a:t>int</a:t>
            </a:r>
            <a:r>
              <a:rPr sz="1800" b="0">
                <a:solidFill>
                  <a:srgbClr val="1D2330"/>
                </a:solidFill>
                <a:latin typeface="Calibri"/>
              </a:rPr>
              <a:t> marks it; save, move, return the OLD copy</a:t>
            </a:r>
          </a:p>
          <a:p>
            <a:pPr marL="256032" indent="-228600">
              <a:spcAft>
                <a:spcPts val="800"/>
              </a:spcAft>
              <a:buClr>
                <a:srgbClr val="5B6475"/>
              </a:buClr>
              <a:buChar char="•"/>
            </a:pPr>
            <a:r>
              <a:rPr sz="1800" b="0">
                <a:solidFill>
                  <a:srgbClr val="1D2330"/>
                </a:solidFill>
                <a:latin typeface="Calibri"/>
              </a:rPr>
              <a:t>An iterator's </a:t>
            </a:r>
            <a:r>
              <a:rPr sz="1800" b="0">
                <a:solidFill>
                  <a:srgbClr val="4B2E83"/>
                </a:solidFill>
                <a:latin typeface="Consolas"/>
              </a:rPr>
              <a:t>++</a:t>
            </a:r>
            <a:r>
              <a:rPr sz="1800" b="0">
                <a:solidFill>
                  <a:srgbClr val="1D2330"/>
                </a:solidFill>
                <a:latin typeface="Calibri"/>
              </a:rPr>
              <a:t> is written the same way</a:t>
            </a:r>
          </a:p>
        </p:txBody>
      </p:sp>
      <p:sp>
        <p:nvSpPr>
          <p:cNvPr id="7" name="Rounded Rectangle 6"/>
          <p:cNvSpPr/>
          <p:nvPr/>
        </p:nvSpPr>
        <p:spPr>
          <a:xfrm>
            <a:off x="5972110" y="1325880"/>
            <a:ext cx="5670944" cy="43738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4008120"/>
          </a:xfrm>
          <a:prstGeom prst="rect">
            <a:avLst/>
          </a:prstGeom>
          <a:noFill/>
        </p:spPr>
        <p:txBody>
          <a:bodyPr wrap="none" lIns="0" rIns="0" tIns="0" bIns="0" anchor="t">
            <a:spAutoFit/>
          </a:bodyPr>
          <a:lstStyle/>
          <a:p>
            <a:pPr>
              <a:spcAft>
                <a:spcPts val="0"/>
              </a:spcAft>
            </a:pPr>
            <a:r>
              <a:rPr sz="1300">
                <a:solidFill>
                  <a:srgbClr val="E6E6EF"/>
                </a:solidFill>
                <a:latin typeface="Consolas"/>
              </a:rPr>
              <a:t>class Counter {</a:t>
            </a:r>
          </a:p>
          <a:p>
            <a:pPr>
              <a:spcAft>
                <a:spcPts val="0"/>
              </a:spcAft>
            </a:pPr>
            <a:r>
              <a:rPr sz="1300">
                <a:solidFill>
                  <a:srgbClr val="E6E6EF"/>
                </a:solidFill>
                <a:latin typeface="Consolas"/>
              </a:rPr>
              <a:t>public:</a:t>
            </a:r>
          </a:p>
          <a:p>
            <a:pPr>
              <a:spcAft>
                <a:spcPts val="0"/>
              </a:spcAft>
            </a:pPr>
            <a:r>
              <a:rPr sz="1300">
                <a:solidFill>
                  <a:srgbClr val="E6E6EF"/>
                </a:solidFill>
                <a:latin typeface="Consolas"/>
              </a:rPr>
              <a:t>    explicit Counter(int start) : n_(start) {}</a:t>
            </a:r>
          </a:p>
          <a:p>
            <a:pPr>
              <a:spcAft>
                <a:spcPts val="0"/>
              </a:spcAft>
            </a:pPr>
            <a:r>
              <a:rPr sz="1300">
                <a:solidFill>
                  <a:srgbClr val="E6E6EF"/>
                </a:solidFill>
                <a:latin typeface="Consolas"/>
              </a:rPr>
              <a:t>    int value() const { return n_; }</a:t>
            </a:r>
          </a:p>
          <a:p>
            <a:pPr>
              <a:spcAft>
                <a:spcPts val="0"/>
              </a:spcAft>
            </a:pPr>
            <a:r>
              <a:rPr sz="1300">
                <a:solidFill>
                  <a:srgbClr val="E6E6EF"/>
                </a:solidFill>
                <a:latin typeface="Consolas"/>
              </a:rPr>
              <a:t>    Counter &amp;operator++() {     </a:t>
            </a:r>
            <a:r>
              <a:rPr sz="1300">
                <a:solidFill>
                  <a:srgbClr val="9AA4B5"/>
                </a:solidFill>
                <a:latin typeface="Consolas"/>
              </a:rPr>
              <a:t>// ++c</a:t>
            </a:r>
          </a:p>
          <a:p>
            <a:pPr>
              <a:spcAft>
                <a:spcPts val="0"/>
              </a:spcAft>
            </a:pPr>
            <a:r>
              <a:rPr sz="1300">
                <a:solidFill>
                  <a:srgbClr val="E6E6EF"/>
                </a:solidFill>
                <a:latin typeface="Consolas"/>
              </a:rPr>
              <a:t>        n_++;</a:t>
            </a:r>
          </a:p>
          <a:p>
            <a:pPr>
              <a:spcAft>
                <a:spcPts val="0"/>
              </a:spcAft>
            </a:pPr>
            <a:r>
              <a:rPr sz="1300">
                <a:solidFill>
                  <a:srgbClr val="E6E6EF"/>
                </a:solidFill>
                <a:latin typeface="Consolas"/>
              </a:rPr>
              <a:t>        return *this;</a:t>
            </a:r>
          </a:p>
          <a:p>
            <a:pPr>
              <a:spcAft>
                <a:spcPts val="0"/>
              </a:spcAft>
            </a:pPr>
            <a:r>
              <a:rPr sz="1300">
                <a:solidFill>
                  <a:srgbClr val="E6E6EF"/>
                </a:solidFill>
                <a:latin typeface="Consolas"/>
              </a:rPr>
              <a:t>    }</a:t>
            </a:r>
          </a:p>
          <a:p>
            <a:pPr>
              <a:spcAft>
                <a:spcPts val="0"/>
              </a:spcAft>
            </a:pPr>
            <a:r>
              <a:rPr sz="1300">
                <a:solidFill>
                  <a:srgbClr val="E6E6EF"/>
                </a:solidFill>
                <a:latin typeface="Consolas"/>
              </a:rPr>
              <a:t>    Counter operator++(int) {   </a:t>
            </a:r>
            <a:r>
              <a:rPr sz="1300">
                <a:solidFill>
                  <a:srgbClr val="9AA4B5"/>
                </a:solidFill>
                <a:latin typeface="Consolas"/>
              </a:rPr>
              <a:t>// c++</a:t>
            </a:r>
          </a:p>
          <a:p>
            <a:pPr>
              <a:spcAft>
                <a:spcPts val="0"/>
              </a:spcAft>
            </a:pPr>
            <a:r>
              <a:rPr sz="1300">
                <a:solidFill>
                  <a:srgbClr val="E6E6EF"/>
                </a:solidFill>
                <a:latin typeface="Consolas"/>
              </a:rPr>
              <a:t>        Counter old = *this;</a:t>
            </a:r>
          </a:p>
          <a:p>
            <a:pPr>
              <a:spcAft>
                <a:spcPts val="0"/>
              </a:spcAft>
            </a:pPr>
            <a:r>
              <a:rPr sz="1300">
                <a:solidFill>
                  <a:srgbClr val="E6E6EF"/>
                </a:solidFill>
                <a:latin typeface="Consolas"/>
              </a:rPr>
              <a:t>        n_++;</a:t>
            </a:r>
          </a:p>
          <a:p>
            <a:pPr>
              <a:spcAft>
                <a:spcPts val="0"/>
              </a:spcAft>
            </a:pPr>
            <a:r>
              <a:rPr sz="1300">
                <a:solidFill>
                  <a:srgbClr val="E6E6EF"/>
                </a:solidFill>
                <a:latin typeface="Consolas"/>
              </a:rPr>
              <a:t>        return old;</a:t>
            </a:r>
          </a:p>
          <a:p>
            <a:pPr>
              <a:spcAft>
                <a:spcPts val="0"/>
              </a:spcAft>
            </a:pPr>
            <a:r>
              <a:rPr sz="1300">
                <a:solidFill>
                  <a:srgbClr val="E6E6EF"/>
                </a:solidFill>
                <a:latin typeface="Consolas"/>
              </a:rPr>
              <a:t>    }</a:t>
            </a:r>
          </a:p>
          <a:p>
            <a:pPr>
              <a:spcAft>
                <a:spcPts val="0"/>
              </a:spcAft>
            </a:pPr>
            <a:r>
              <a:rPr sz="1300">
                <a:solidFill>
                  <a:srgbClr val="E6E6EF"/>
                </a:solidFill>
                <a:latin typeface="Consolas"/>
              </a:rPr>
              <a:t>private:</a:t>
            </a:r>
          </a:p>
          <a:p>
            <a:pPr>
              <a:spcAft>
                <a:spcPts val="0"/>
              </a:spcAft>
            </a:pPr>
            <a:r>
              <a:rPr sz="1300">
                <a:solidFill>
                  <a:srgbClr val="E6E6EF"/>
                </a:solidFill>
                <a:latin typeface="Consolas"/>
              </a:rPr>
              <a:t>    int n_;</a:t>
            </a:r>
          </a:p>
          <a:p>
            <a:pPr>
              <a:spcAft>
                <a:spcPts val="0"/>
              </a:spcAft>
            </a:pPr>
            <a:r>
              <a:rPr sz="1300">
                <a:solidFill>
                  <a:srgbClr val="E6E6EF"/>
                </a:solidFill>
                <a:latin typeface="Consolas"/>
              </a:rPr>
              <a:t>};</a:t>
            </a:r>
          </a:p>
          <a:p>
            <a:pPr>
              <a:spcAft>
                <a:spcPts val="0"/>
              </a:spcAft>
            </a:pPr>
            <a:r>
              <a:rPr sz="1300">
                <a:latin typeface="Consolas"/>
              </a:rPr>
              <a:t> </a:t>
            </a:r>
          </a:p>
          <a:p>
            <a:pPr>
              <a:spcAft>
                <a:spcPts val="0"/>
              </a:spcAft>
            </a:pPr>
            <a:r>
              <a:rPr sz="1300">
                <a:solidFill>
                  <a:srgbClr val="E6E6EF"/>
                </a:solidFill>
                <a:latin typeface="Consolas"/>
              </a:rPr>
              <a:t>Counter c(5);</a:t>
            </a:r>
          </a:p>
          <a:p>
            <a:pPr>
              <a:spcAft>
                <a:spcPts val="0"/>
              </a:spcAft>
            </a:pPr>
            <a:r>
              <a:rPr sz="1300">
                <a:solidFill>
                  <a:srgbClr val="E6E6EF"/>
                </a:solidFill>
                <a:latin typeface="Consolas"/>
              </a:rPr>
              <a:t>Counter a = ++c;    </a:t>
            </a:r>
            <a:r>
              <a:rPr sz="1300">
                <a:solidFill>
                  <a:srgbClr val="9AA4B5"/>
                </a:solidFill>
                <a:latin typeface="Consolas"/>
              </a:rPr>
              <a:t>// a 6, c 6</a:t>
            </a:r>
          </a:p>
          <a:p>
            <a:pPr>
              <a:spcAft>
                <a:spcPts val="0"/>
              </a:spcAft>
            </a:pPr>
            <a:r>
              <a:rPr sz="1300">
                <a:solidFill>
                  <a:srgbClr val="E6E6EF"/>
                </a:solidFill>
                <a:latin typeface="Consolas"/>
              </a:rPr>
              <a:t>Counter b = c++;    </a:t>
            </a:r>
            <a:r>
              <a:rPr sz="1300">
                <a:solidFill>
                  <a:srgbClr val="9AA4B5"/>
                </a:solidFill>
                <a:latin typeface="Consolas"/>
              </a:rPr>
              <a:t>// b 6, c 7</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2.2.pre_post_increment.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15</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2: Iterators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Lab5/exercises/ex2-iterators/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./iterate</a:t>
            </a:r>
            <a:r>
              <a:rPr sz="1500" b="0">
                <a:solidFill>
                  <a:srgbClr val="1D2330"/>
                </a:solidFill>
                <a:latin typeface="Calibri"/>
              </a:rPr>
              <a:t> prints what you expect, and that </a:t>
            </a:r>
            <a:r>
              <a:rPr sz="1500" b="0">
                <a:solidFill>
                  <a:srgbClr val="4B2E83"/>
                </a:solidFill>
                <a:latin typeface="Consolas"/>
              </a:rPr>
              <a:t>./list_test</a:t>
            </a:r>
            <a:r>
              <a:rPr sz="1500" b="0">
                <a:solidFill>
                  <a:srgbClr val="1D2330"/>
                </a:solidFill>
                <a:latin typeface="Calibri"/>
              </a:rPr>
              <a:t> matches its comments with a clean </a:t>
            </a:r>
            <a:r>
              <a:rPr sz="1500" b="0">
                <a:solidFill>
                  <a:srgbClr val="4B2E83"/>
                </a:solidFill>
                <a:latin typeface="Consolas"/>
              </a:rPr>
              <a:t>make check</a:t>
            </a:r>
            <a:r>
              <a:rPr sz="1500" b="0">
                <a:solidFill>
                  <a:srgbClr val="1D2330"/>
                </a:solidFill>
                <a:latin typeface="Calibri"/>
              </a:rPr>
              <a:t>.</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iterate.cpp</a:t>
            </a:r>
            <a:r>
              <a:rPr sz="1700" b="0">
                <a:solidFill>
                  <a:srgbClr val="1D2330"/>
                </a:solidFill>
                <a:latin typeface="Calibri"/>
              </a:rPr>
              <a:t> TODOs 1-5: an iterator loop, writing through </a:t>
            </a:r>
            <a:r>
              <a:rPr sz="1700" b="0">
                <a:solidFill>
                  <a:srgbClr val="4B2E83"/>
                </a:solidFill>
                <a:latin typeface="Consolas"/>
              </a:rPr>
              <a:t>*it</a:t>
            </a:r>
            <a:r>
              <a:rPr sz="1700" b="0">
                <a:solidFill>
                  <a:srgbClr val="1D2330"/>
                </a:solidFill>
                <a:latin typeface="Calibri"/>
              </a:rPr>
              <a:t>, reverse, erase, </a:t>
            </a:r>
            <a:r>
              <a:rPr sz="1700" b="0">
                <a:solidFill>
                  <a:srgbClr val="4B2E83"/>
                </a:solidFill>
                <a:latin typeface="Consolas"/>
              </a:rPr>
              <a:t>const_iterator</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For TODO 4, also try the wrong loop (always </a:t>
            </a:r>
            <a:r>
              <a:rPr sz="1700" b="0">
                <a:solidFill>
                  <a:srgbClr val="4B2E83"/>
                </a:solidFill>
                <a:latin typeface="Consolas"/>
              </a:rPr>
              <a:t>++it</a:t>
            </a:r>
            <a:r>
              <a:rPr sz="1700" b="0">
                <a:solidFill>
                  <a:srgbClr val="1D2330"/>
                </a:solidFill>
                <a:latin typeface="Calibri"/>
              </a:rPr>
              <a:t>) and compare</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4B2E83"/>
                </a:solidFill>
                <a:latin typeface="Consolas"/>
              </a:rPr>
              <a:t>make list_test</a:t>
            </a:r>
            <a:r>
              <a:rPr sz="1700" b="0">
                <a:solidFill>
                  <a:srgbClr val="1D2330"/>
                </a:solidFill>
                <a:latin typeface="Calibri"/>
              </a:rPr>
              <a:t>: it doesn't link; read which functions are undefined</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Write </a:t>
            </a:r>
            <a:r>
              <a:rPr sz="1700" b="0">
                <a:solidFill>
                  <a:srgbClr val="4B2E83"/>
                </a:solidFill>
                <a:latin typeface="Consolas"/>
              </a:rPr>
              <a:t>Iterator</a:t>
            </a:r>
            <a:r>
              <a:rPr sz="1700" b="0">
                <a:solidFill>
                  <a:srgbClr val="1D2330"/>
                </a:solidFill>
                <a:latin typeface="Calibri"/>
              </a:rPr>
              <a:t>'s pre- and post-increment, </a:t>
            </a:r>
            <a:r>
              <a:rPr sz="1700" b="0">
                <a:solidFill>
                  <a:srgbClr val="4B2E83"/>
                </a:solidFill>
                <a:latin typeface="Consolas"/>
              </a:rPr>
              <a:t>==</a:t>
            </a:r>
            <a:r>
              <a:rPr sz="1700" b="0">
                <a:solidFill>
                  <a:srgbClr val="1D2330"/>
                </a:solidFill>
                <a:latin typeface="Calibri"/>
              </a:rPr>
              <a:t>, and </a:t>
            </a:r>
            <a:r>
              <a:rPr sz="1700" b="0">
                <a:solidFill>
                  <a:srgbClr val="4B2E83"/>
                </a:solidFill>
                <a:latin typeface="Consolas"/>
              </a:rPr>
              <a:t>!=</a:t>
            </a:r>
          </a:p>
        </p:txBody>
      </p:sp>
      <p:sp>
        <p:nvSpPr>
          <p:cNvPr id="21" name="Oval 20"/>
          <p:cNvSpPr/>
          <p:nvPr/>
        </p:nvSpPr>
        <p:spPr>
          <a:xfrm>
            <a:off x="4023360" y="486460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72000" y="4846320"/>
            <a:ext cx="7071055" cy="868680"/>
          </a:xfrm>
          <a:prstGeom prst="rect">
            <a:avLst/>
          </a:prstGeom>
          <a:noFill/>
        </p:spPr>
        <p:txBody>
          <a:bodyPr wrap="square" lIns="0" rIns="0" tIns="0" bIns="0" anchor="t">
            <a:spAutoFit/>
          </a:bodyPr>
          <a:lstStyle/>
          <a:p>
            <a:pPr algn="l"/>
            <a:r>
              <a:rPr sz="1700" b="0">
                <a:solidFill>
                  <a:srgbClr val="4B2E83"/>
                </a:solidFill>
                <a:latin typeface="Consolas"/>
              </a:rPr>
              <a:t>./list_test</a:t>
            </a:r>
            <a:r>
              <a:rPr sz="1700" b="0">
                <a:solidFill>
                  <a:srgbClr val="1D2330"/>
                </a:solidFill>
                <a:latin typeface="Calibri"/>
              </a:rPr>
              <a:t> and </a:t>
            </a:r>
            <a:r>
              <a:rPr sz="1700" b="0">
                <a:solidFill>
                  <a:srgbClr val="4B2E83"/>
                </a:solidFill>
                <a:latin typeface="Consolas"/>
              </a:rPr>
              <a:t>make check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16</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2</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Right erase loop: </a:t>
            </a:r>
            <a:r>
              <a:rPr sz="2000" b="0">
                <a:solidFill>
                  <a:srgbClr val="4B2E83"/>
                </a:solidFill>
                <a:latin typeface="Consolas"/>
              </a:rPr>
              <a:t>6 2 4</a:t>
            </a:r>
            <a:r>
              <a:rPr sz="2000" b="0">
                <a:solidFill>
                  <a:srgbClr val="1D2330"/>
                </a:solidFill>
                <a:latin typeface="Calibri"/>
              </a:rPr>
              <a:t>. Always </a:t>
            </a:r>
            <a:r>
              <a:rPr sz="2000" b="0">
                <a:solidFill>
                  <a:srgbClr val="4B2E83"/>
                </a:solidFill>
                <a:latin typeface="Consolas"/>
              </a:rPr>
              <a:t>++it</a:t>
            </a:r>
            <a:r>
              <a:rPr sz="2000" b="0">
                <a:solidFill>
                  <a:srgbClr val="1D2330"/>
                </a:solidFill>
                <a:latin typeface="Calibri"/>
              </a:rPr>
              <a:t>: </a:t>
            </a:r>
            <a:r>
              <a:rPr sz="2000" b="0">
                <a:solidFill>
                  <a:srgbClr val="4B2E83"/>
                </a:solidFill>
                <a:latin typeface="Consolas"/>
              </a:rPr>
              <a:t>6 2 18 4</a:t>
            </a:r>
            <a:r>
              <a:rPr sz="2000" b="0">
                <a:solidFill>
                  <a:srgbClr val="1D2330"/>
                </a:solidFill>
                <a:latin typeface="Calibri"/>
              </a:rPr>
              <a:t>: the element after each erase is skipped</a:t>
            </a:r>
          </a:p>
          <a:p>
            <a:pPr marL="256032" indent="-228600">
              <a:spcAft>
                <a:spcPts val="800"/>
              </a:spcAft>
              <a:buClr>
                <a:srgbClr val="5B6475"/>
              </a:buClr>
              <a:buChar char="•"/>
            </a:pPr>
            <a:r>
              <a:rPr sz="2000" b="0">
                <a:solidFill>
                  <a:srgbClr val="1D2330"/>
                </a:solidFill>
                <a:latin typeface="Calibri"/>
              </a:rPr>
              <a:t>If the last element is erased, </a:t>
            </a:r>
            <a:r>
              <a:rPr sz="2000" b="0">
                <a:solidFill>
                  <a:srgbClr val="4B2E83"/>
                </a:solidFill>
                <a:latin typeface="Consolas"/>
              </a:rPr>
              <a:t>++it</a:t>
            </a:r>
            <a:r>
              <a:rPr sz="2000" b="0">
                <a:solidFill>
                  <a:srgbClr val="1D2330"/>
                </a:solidFill>
                <a:latin typeface="Calibri"/>
              </a:rPr>
              <a:t> steps past </a:t>
            </a:r>
            <a:r>
              <a:rPr sz="2000" b="0">
                <a:solidFill>
                  <a:srgbClr val="4B2E83"/>
                </a:solidFill>
                <a:latin typeface="Consolas"/>
              </a:rPr>
              <a:t>end()</a:t>
            </a:r>
            <a:r>
              <a:rPr sz="2000" b="0">
                <a:solidFill>
                  <a:srgbClr val="1D2330"/>
                </a:solidFill>
                <a:latin typeface="Calibri"/>
              </a:rPr>
              <a:t>: undefined behavior</a:t>
            </a:r>
          </a:p>
          <a:p>
            <a:pPr marL="256032" indent="-228600">
              <a:spcAft>
                <a:spcPts val="800"/>
              </a:spcAft>
              <a:buClr>
                <a:srgbClr val="5B6475"/>
              </a:buClr>
              <a:buChar char="•"/>
            </a:pPr>
            <a:r>
              <a:rPr sz="2000" b="0">
                <a:solidFill>
                  <a:srgbClr val="4B2E83"/>
                </a:solidFill>
                <a:latin typeface="Consolas"/>
              </a:rPr>
              <a:t>for (int n : numbers)</a:t>
            </a:r>
            <a:r>
              <a:rPr sz="2000" b="0">
                <a:solidFill>
                  <a:srgbClr val="1D2330"/>
                </a:solidFill>
                <a:latin typeface="Calibri"/>
              </a:rPr>
              <a:t> expands into </a:t>
            </a:r>
            <a:r>
              <a:rPr sz="2000" b="0">
                <a:solidFill>
                  <a:srgbClr val="4B2E83"/>
                </a:solidFill>
                <a:latin typeface="Consolas"/>
              </a:rPr>
              <a:t>begin()</a:t>
            </a:r>
            <a:r>
              <a:rPr sz="2000" b="0">
                <a:solidFill>
                  <a:srgbClr val="1D2330"/>
                </a:solidFill>
                <a:latin typeface="Calibri"/>
              </a:rPr>
              <a:t>, </a:t>
            </a:r>
            <a:r>
              <a:rPr sz="2000" b="0">
                <a:solidFill>
                  <a:srgbClr val="4B2E83"/>
                </a:solidFill>
                <a:latin typeface="Consolas"/>
              </a:rPr>
              <a:t>end()</a:t>
            </a:r>
            <a:r>
              <a:rPr sz="2000" b="0">
                <a:solidFill>
                  <a:srgbClr val="1D2330"/>
                </a:solidFill>
                <a:latin typeface="Calibri"/>
              </a:rPr>
              <a:t>, </a:t>
            </a:r>
            <a:r>
              <a:rPr sz="2000" b="0">
                <a:solidFill>
                  <a:srgbClr val="4B2E83"/>
                </a:solidFill>
                <a:latin typeface="Consolas"/>
              </a:rPr>
              <a:t>!=</a:t>
            </a:r>
            <a:r>
              <a:rPr sz="2000" b="0">
                <a:solidFill>
                  <a:srgbClr val="1D2330"/>
                </a:solidFill>
                <a:latin typeface="Calibri"/>
              </a:rPr>
              <a:t>, </a:t>
            </a:r>
            <a:r>
              <a:rPr sz="2000" b="0">
                <a:solidFill>
                  <a:srgbClr val="4B2E83"/>
                </a:solidFill>
                <a:latin typeface="Consolas"/>
              </a:rPr>
              <a:t>++</a:t>
            </a:r>
            <a:r>
              <a:rPr sz="2000" b="0">
                <a:solidFill>
                  <a:srgbClr val="1D2330"/>
                </a:solidFill>
                <a:latin typeface="Calibri"/>
              </a:rPr>
              <a:t>, and </a:t>
            </a:r>
            <a:r>
              <a:rPr sz="2000" b="0">
                <a:solidFill>
                  <a:srgbClr val="4B2E83"/>
                </a:solidFill>
                <a:latin typeface="Consolas"/>
              </a:rPr>
              <a:t>*</a:t>
            </a:r>
          </a:p>
          <a:p>
            <a:pPr marL="256032" indent="-228600">
              <a:spcAft>
                <a:spcPts val="800"/>
              </a:spcAft>
              <a:buClr>
                <a:srgbClr val="5B6475"/>
              </a:buClr>
              <a:buChar char="•"/>
            </a:pPr>
            <a:r>
              <a:rPr sz="2000" b="0">
                <a:solidFill>
                  <a:srgbClr val="1D2330"/>
                </a:solidFill>
                <a:latin typeface="Calibri"/>
              </a:rPr>
              <a:t>Assigning through a </a:t>
            </a:r>
            <a:r>
              <a:rPr sz="2000" b="0">
                <a:solidFill>
                  <a:srgbClr val="4B2E83"/>
                </a:solidFill>
                <a:latin typeface="Consolas"/>
              </a:rPr>
              <a:t>const_iterator</a:t>
            </a:r>
            <a:r>
              <a:rPr sz="2000" b="0">
                <a:solidFill>
                  <a:srgbClr val="1D2330"/>
                </a:solidFill>
                <a:latin typeface="Calibri"/>
              </a:rPr>
              <a:t>: "assignment of read-only location"</a:t>
            </a:r>
          </a:p>
          <a:p>
            <a:pPr marL="256032" indent="-228600">
              <a:spcAft>
                <a:spcPts val="800"/>
              </a:spcAft>
              <a:buClr>
                <a:srgbClr val="5B6475"/>
              </a:buClr>
              <a:buChar char="•"/>
            </a:pPr>
            <a:r>
              <a:rPr sz="2000" b="0">
                <a:solidFill>
                  <a:srgbClr val="4B2E83"/>
                </a:solidFill>
                <a:latin typeface="Consolas"/>
              </a:rPr>
              <a:t>find</a:t>
            </a:r>
            <a:r>
              <a:rPr sz="2000" b="0">
                <a:solidFill>
                  <a:srgbClr val="1D2330"/>
                </a:solidFill>
                <a:latin typeface="Calibri"/>
              </a:rPr>
              <a:t> and </a:t>
            </a:r>
            <a:r>
              <a:rPr sz="2000" b="0">
                <a:solidFill>
                  <a:srgbClr val="4B2E83"/>
                </a:solidFill>
                <a:latin typeface="Consolas"/>
              </a:rPr>
              <a:t>count</a:t>
            </a:r>
            <a:r>
              <a:rPr sz="2000" b="0">
                <a:solidFill>
                  <a:srgbClr val="1D2330"/>
                </a:solidFill>
                <a:latin typeface="Calibri"/>
              </a:rPr>
              <a:t> work on </a:t>
            </a:r>
            <a:r>
              <a:rPr sz="2000" b="0">
                <a:solidFill>
                  <a:srgbClr val="4B2E83"/>
                </a:solidFill>
                <a:latin typeface="Consolas"/>
              </a:rPr>
              <a:t>SimpleList</a:t>
            </a:r>
            <a:r>
              <a:rPr sz="2000" b="0">
                <a:solidFill>
                  <a:srgbClr val="1D2330"/>
                </a:solidFill>
                <a:latin typeface="Calibri"/>
              </a:rPr>
              <a:t>: algorithms only need iterators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17</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2</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Why do generic loops test </a:t>
            </a:r>
            <a:r>
              <a:rPr sz="1800" b="0">
                <a:solidFill>
                  <a:srgbClr val="4B2E83"/>
                </a:solidFill>
                <a:latin typeface="Consolas"/>
              </a:rPr>
              <a:t>it != c.end()</a:t>
            </a:r>
            <a:r>
              <a:rPr sz="1800" b="0">
                <a:solidFill>
                  <a:srgbClr val="1D2330"/>
                </a:solidFill>
                <a:latin typeface="Calibri"/>
              </a:rPr>
              <a:t> rather than </a:t>
            </a:r>
            <a:r>
              <a:rPr sz="1800" b="0">
                <a:solidFill>
                  <a:srgbClr val="4B2E83"/>
                </a:solidFill>
                <a:latin typeface="Consolas"/>
              </a:rPr>
              <a:t>it &lt; c.end()</a:t>
            </a:r>
            <a:r>
              <a:rPr sz="1800" b="0">
                <a:solidFill>
                  <a:srgbClr val="1D2330"/>
                </a:solidFill>
                <a:latin typeface="Calibri"/>
              </a:rPr>
              <a:t>?</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A loop calls </a:t>
            </a:r>
            <a:r>
              <a:rPr sz="1800" b="0">
                <a:solidFill>
                  <a:srgbClr val="4B2E83"/>
                </a:solidFill>
                <a:latin typeface="Consolas"/>
              </a:rPr>
              <a:t>v.push_back(1)</a:t>
            </a:r>
            <a:r>
              <a:rPr sz="1800" b="0">
                <a:solidFill>
                  <a:srgbClr val="1D2330"/>
                </a:solidFill>
                <a:latin typeface="Calibri"/>
              </a:rPr>
              <a:t> while iterating over </a:t>
            </a:r>
            <a:r>
              <a:rPr sz="1800" b="0">
                <a:solidFill>
                  <a:srgbClr val="4B2E83"/>
                </a:solidFill>
                <a:latin typeface="Consolas"/>
              </a:rPr>
              <a:t>v</a:t>
            </a:r>
            <a:r>
              <a:rPr sz="1800" b="0">
                <a:solidFill>
                  <a:srgbClr val="1D2330"/>
                </a:solidFill>
                <a:latin typeface="Calibri"/>
              </a:rPr>
              <a:t>. What's wrong?</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Write the declaration of post-increment for an </a:t>
            </a:r>
            <a:r>
              <a:rPr sz="1800" b="0">
                <a:solidFill>
                  <a:srgbClr val="4B2E83"/>
                </a:solidFill>
                <a:latin typeface="Consolas"/>
              </a:rPr>
              <a:t>Iterator</a:t>
            </a:r>
            <a:r>
              <a:rPr sz="1800" b="0">
                <a:solidFill>
                  <a:srgbClr val="1D2330"/>
                </a:solidFill>
                <a:latin typeface="Calibri"/>
              </a:rPr>
              <a:t> class</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does </a:t>
            </a:r>
            <a:r>
              <a:rPr sz="1800" b="0">
                <a:solidFill>
                  <a:srgbClr val="4B2E83"/>
                </a:solidFill>
                <a:latin typeface="Consolas"/>
              </a:rPr>
              <a:t>*v.end()</a:t>
            </a:r>
            <a:r>
              <a:rPr sz="1800" b="0">
                <a:solidFill>
                  <a:srgbClr val="1D2330"/>
                </a:solidFill>
                <a:latin typeface="Calibri"/>
              </a:rPr>
              <a:t> do?</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18</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5 Exercise 2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2</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3</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list and map</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No one container is best at everything: choose the right one, and know its traps</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Use </a:t>
            </a:r>
            <a:r>
              <a:rPr sz="2000" b="0">
                <a:solidFill>
                  <a:srgbClr val="C5B4E3"/>
                </a:solidFill>
                <a:latin typeface="Consolas"/>
              </a:rPr>
              <a:t>list</a:t>
            </a:r>
            <a:r>
              <a:rPr sz="2000" b="0">
                <a:solidFill>
                  <a:srgbClr val="FFFFFF"/>
                </a:solidFill>
                <a:latin typeface="Calibri"/>
              </a:rPr>
              <a:t> and its member algorithms</a:t>
            </a:r>
          </a:p>
          <a:p>
            <a:pPr marL="256032" indent="-228600">
              <a:spcAft>
                <a:spcPts val="600"/>
              </a:spcAft>
              <a:buClr>
                <a:srgbClr val="5B6475"/>
              </a:buClr>
              <a:buChar char="›"/>
            </a:pPr>
            <a:r>
              <a:rPr sz="2000" b="0">
                <a:solidFill>
                  <a:srgbClr val="FFFFFF"/>
                </a:solidFill>
                <a:latin typeface="Calibri"/>
              </a:rPr>
              <a:t>Count and look up with </a:t>
            </a:r>
            <a:r>
              <a:rPr sz="2000" b="0">
                <a:solidFill>
                  <a:srgbClr val="C5B4E3"/>
                </a:solidFill>
                <a:latin typeface="Consolas"/>
              </a:rPr>
              <a:t>map</a:t>
            </a:r>
            <a:r>
              <a:rPr sz="2000" b="0">
                <a:solidFill>
                  <a:srgbClr val="FFFFFF"/>
                </a:solidFill>
                <a:latin typeface="Calibri"/>
              </a:rPr>
              <a:t>, without accidental inserts</a:t>
            </a:r>
          </a:p>
          <a:p>
            <a:pPr marL="256032" indent="-228600">
              <a:spcAft>
                <a:spcPts val="600"/>
              </a:spcAft>
              <a:buClr>
                <a:srgbClr val="5B6475"/>
              </a:buClr>
              <a:buChar char="›"/>
            </a:pPr>
            <a:r>
              <a:rPr sz="2000" b="0">
                <a:solidFill>
                  <a:srgbClr val="FFFFFF"/>
                </a:solidFill>
                <a:latin typeface="Calibri"/>
              </a:rPr>
              <a:t>Choose the right container for a job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20</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map: look up by key</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list</a:t>
            </a:r>
            <a:r>
              <a:rPr sz="1800" b="0">
                <a:solidFill>
                  <a:srgbClr val="1D2330"/>
                </a:solidFill>
                <a:latin typeface="Calibri"/>
              </a:rPr>
              <a:t>: doubly linked; fast insert/erase anywhere; no </a:t>
            </a:r>
            <a:r>
              <a:rPr sz="1800" b="0">
                <a:solidFill>
                  <a:srgbClr val="4B2E83"/>
                </a:solidFill>
                <a:latin typeface="Consolas"/>
              </a:rPr>
              <a:t>[]</a:t>
            </a:r>
            <a:r>
              <a:rPr sz="1800" b="0">
                <a:solidFill>
                  <a:srgbClr val="1D2330"/>
                </a:solidFill>
                <a:latin typeface="Calibri"/>
              </a:rPr>
              <a:t>; its own </a:t>
            </a:r>
            <a:r>
              <a:rPr sz="1800" b="0">
                <a:solidFill>
                  <a:srgbClr val="4B2E83"/>
                </a:solidFill>
                <a:latin typeface="Consolas"/>
              </a:rPr>
              <a:t>sort()</a:t>
            </a:r>
            <a:r>
              <a:rPr sz="1800" b="0">
                <a:solidFill>
                  <a:srgbClr val="1D2330"/>
                </a:solidFill>
                <a:latin typeface="Calibri"/>
              </a:rPr>
              <a:t> and </a:t>
            </a:r>
            <a:r>
              <a:rPr sz="1800" b="0">
                <a:solidFill>
                  <a:srgbClr val="4B2E83"/>
                </a:solidFill>
                <a:latin typeface="Consolas"/>
              </a:rPr>
              <a:t>remove_if()</a:t>
            </a:r>
          </a:p>
          <a:p>
            <a:pPr marL="256032" indent="-228600">
              <a:spcAft>
                <a:spcPts val="800"/>
              </a:spcAft>
              <a:buClr>
                <a:srgbClr val="5B6475"/>
              </a:buClr>
              <a:buChar char="•"/>
            </a:pPr>
            <a:r>
              <a:rPr sz="1800" b="0">
                <a:solidFill>
                  <a:srgbClr val="4B2E83"/>
                </a:solidFill>
                <a:latin typeface="Consolas"/>
              </a:rPr>
              <a:t>map&lt;Key, Value&gt;</a:t>
            </a:r>
            <a:r>
              <a:rPr sz="1800" b="0">
                <a:solidFill>
                  <a:srgbClr val="1D2330"/>
                </a:solidFill>
                <a:latin typeface="Calibri"/>
              </a:rPr>
              <a:t>: pairs kept sorted by key (a balanced BST, CSS 343)</a:t>
            </a:r>
          </a:p>
          <a:p>
            <a:pPr marL="256032" indent="-228600">
              <a:spcAft>
                <a:spcPts val="800"/>
              </a:spcAft>
              <a:buClr>
                <a:srgbClr val="5B6475"/>
              </a:buClr>
              <a:buChar char="•"/>
            </a:pPr>
            <a:r>
              <a:rPr sz="1800" b="0">
                <a:solidFill>
                  <a:srgbClr val="1D2330"/>
                </a:solidFill>
                <a:latin typeface="Calibri"/>
              </a:rPr>
              <a:t>Each element is a </a:t>
            </a:r>
            <a:r>
              <a:rPr sz="1800" b="0">
                <a:solidFill>
                  <a:srgbClr val="4B2E83"/>
                </a:solidFill>
                <a:latin typeface="Consolas"/>
              </a:rPr>
              <a:t>pair</a:t>
            </a:r>
            <a:r>
              <a:rPr sz="1800" b="0">
                <a:solidFill>
                  <a:srgbClr val="1D2330"/>
                </a:solidFill>
                <a:latin typeface="Calibri"/>
              </a:rPr>
              <a:t>: </a:t>
            </a:r>
            <a:r>
              <a:rPr sz="1800" b="0">
                <a:solidFill>
                  <a:srgbClr val="4B2E83"/>
                </a:solidFill>
                <a:latin typeface="Consolas"/>
              </a:rPr>
              <a:t>.first</a:t>
            </a:r>
            <a:r>
              <a:rPr sz="1800" b="0">
                <a:solidFill>
                  <a:srgbClr val="1D2330"/>
                </a:solidFill>
                <a:latin typeface="Calibri"/>
              </a:rPr>
              <a:t> the key, </a:t>
            </a:r>
            <a:r>
              <a:rPr sz="1800" b="0">
                <a:solidFill>
                  <a:srgbClr val="4B2E83"/>
                </a:solidFill>
                <a:latin typeface="Consolas"/>
              </a:rPr>
              <a:t>.second</a:t>
            </a:r>
            <a:r>
              <a:rPr sz="1800" b="0">
                <a:solidFill>
                  <a:srgbClr val="1D2330"/>
                </a:solidFill>
                <a:latin typeface="Calibri"/>
              </a:rPr>
              <a:t> the value</a:t>
            </a:r>
          </a:p>
          <a:p>
            <a:pPr marL="256032" indent="-228600">
              <a:spcAft>
                <a:spcPts val="800"/>
              </a:spcAft>
              <a:buClr>
                <a:srgbClr val="5B6475"/>
              </a:buClr>
              <a:buChar char="•"/>
            </a:pPr>
            <a:r>
              <a:rPr sz="1800" b="0">
                <a:solidFill>
                  <a:srgbClr val="4B2E83"/>
                </a:solidFill>
                <a:latin typeface="Consolas"/>
              </a:rPr>
              <a:t>m[key]</a:t>
            </a:r>
            <a:r>
              <a:rPr sz="1800" b="0">
                <a:solidFill>
                  <a:srgbClr val="1D2330"/>
                </a:solidFill>
                <a:latin typeface="Calibri"/>
              </a:rPr>
              <a:t> ADDS a missing key (value 0); </a:t>
            </a:r>
            <a:r>
              <a:rPr sz="1800" b="0">
                <a:solidFill>
                  <a:srgbClr val="4B2E83"/>
                </a:solidFill>
                <a:latin typeface="Consolas"/>
              </a:rPr>
              <a:t>m.find(key)</a:t>
            </a:r>
            <a:r>
              <a:rPr sz="1800" b="0">
                <a:solidFill>
                  <a:srgbClr val="1D2330"/>
                </a:solidFill>
                <a:latin typeface="Calibri"/>
              </a:rPr>
              <a:t> only looks</a:t>
            </a:r>
          </a:p>
          <a:p>
            <a:pPr marL="256032" indent="-228600">
              <a:spcAft>
                <a:spcPts val="800"/>
              </a:spcAft>
              <a:buClr>
                <a:srgbClr val="5B6475"/>
              </a:buClr>
              <a:buChar char="•"/>
            </a:pPr>
            <a:r>
              <a:rPr sz="1800" b="0">
                <a:solidFill>
                  <a:srgbClr val="4B2E83"/>
                </a:solidFill>
                <a:latin typeface="Consolas"/>
              </a:rPr>
              <a:t>insert</a:t>
            </a:r>
            <a:r>
              <a:rPr sz="1800" b="0">
                <a:solidFill>
                  <a:srgbClr val="1D2330"/>
                </a:solidFill>
                <a:latin typeface="Calibri"/>
              </a:rPr>
              <a:t> doesn't overwrite an existing key</a:t>
            </a:r>
          </a:p>
        </p:txBody>
      </p:sp>
      <p:sp>
        <p:nvSpPr>
          <p:cNvPr id="7" name="Rounded Rectangle 6"/>
          <p:cNvSpPr/>
          <p:nvPr/>
        </p:nvSpPr>
        <p:spPr>
          <a:xfrm>
            <a:off x="5972110" y="1325880"/>
            <a:ext cx="5670944" cy="33832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017520"/>
          </a:xfrm>
          <a:prstGeom prst="rect">
            <a:avLst/>
          </a:prstGeom>
          <a:noFill/>
        </p:spPr>
        <p:txBody>
          <a:bodyPr wrap="none" lIns="0" rIns="0" tIns="0" bIns="0" anchor="t">
            <a:spAutoFit/>
          </a:bodyPr>
          <a:lstStyle/>
          <a:p>
            <a:pPr>
              <a:spcAft>
                <a:spcPts val="0"/>
              </a:spcAft>
            </a:pPr>
            <a:r>
              <a:rPr sz="1300">
                <a:solidFill>
                  <a:srgbClr val="E6E6EF"/>
                </a:solidFill>
                <a:latin typeface="Consolas"/>
              </a:rPr>
              <a:t>map&lt;string, int&gt; ext;</a:t>
            </a:r>
          </a:p>
          <a:p>
            <a:pPr>
              <a:spcAft>
                <a:spcPts val="0"/>
              </a:spcAft>
            </a:pPr>
            <a:r>
              <a:rPr sz="1300">
                <a:solidFill>
                  <a:srgbClr val="E6E6EF"/>
                </a:solidFill>
                <a:latin typeface="Consolas"/>
              </a:rPr>
              <a:t>ext["Zoe"] = 4410;</a:t>
            </a:r>
          </a:p>
          <a:p>
            <a:pPr>
              <a:spcAft>
                <a:spcPts val="0"/>
              </a:spcAft>
            </a:pPr>
            <a:r>
              <a:rPr sz="1300">
                <a:solidFill>
                  <a:srgbClr val="E6E6EF"/>
                </a:solidFill>
                <a:latin typeface="Consolas"/>
              </a:rPr>
              <a:t>ext["Amir"] = 4102;</a:t>
            </a:r>
          </a:p>
          <a:p>
            <a:pPr>
              <a:spcAft>
                <a:spcPts val="0"/>
              </a:spcAft>
            </a:pPr>
            <a:r>
              <a:rPr sz="1300">
                <a:solidFill>
                  <a:srgbClr val="E6E6EF"/>
                </a:solidFill>
                <a:latin typeface="Consolas"/>
              </a:rPr>
              <a:t>ext.insert({"Mei", 4307});</a:t>
            </a:r>
          </a:p>
          <a:p>
            <a:pPr>
              <a:spcAft>
                <a:spcPts val="0"/>
              </a:spcAft>
            </a:pPr>
            <a:r>
              <a:rPr sz="1300">
                <a:solidFill>
                  <a:srgbClr val="E6E6EF"/>
                </a:solidFill>
                <a:latin typeface="Consolas"/>
              </a:rPr>
              <a:t>ext.insert({"Mei", 9999});     </a:t>
            </a:r>
            <a:r>
              <a:rPr sz="1300">
                <a:solidFill>
                  <a:srgbClr val="9AA4B5"/>
                </a:solidFill>
                <a:latin typeface="Consolas"/>
              </a:rPr>
              <a:t>// exists: no change</a:t>
            </a:r>
          </a:p>
          <a:p>
            <a:pPr>
              <a:spcAft>
                <a:spcPts val="0"/>
              </a:spcAft>
            </a:pPr>
            <a:r>
              <a:rPr sz="1300">
                <a:latin typeface="Consolas"/>
              </a:rPr>
              <a:t> </a:t>
            </a:r>
          </a:p>
          <a:p>
            <a:pPr>
              <a:spcAft>
                <a:spcPts val="0"/>
              </a:spcAft>
            </a:pPr>
            <a:r>
              <a:rPr sz="1300">
                <a:solidFill>
                  <a:srgbClr val="E6E6EF"/>
                </a:solidFill>
                <a:latin typeface="Consolas"/>
              </a:rPr>
              <a:t>auto found = ext.find("Ravi"); </a:t>
            </a:r>
            <a:r>
              <a:rPr sz="1300">
                <a:solidFill>
                  <a:srgbClr val="9AA4B5"/>
                </a:solidFill>
                <a:latin typeface="Consolas"/>
              </a:rPr>
              <a:t>// just looks</a:t>
            </a:r>
          </a:p>
          <a:p>
            <a:pPr>
              <a:spcAft>
                <a:spcPts val="0"/>
              </a:spcAft>
            </a:pPr>
            <a:r>
              <a:rPr sz="1300">
                <a:solidFill>
                  <a:srgbClr val="E6E6EF"/>
                </a:solidFill>
                <a:latin typeface="Consolas"/>
              </a:rPr>
              <a:t>if (found == ext.end()) {</a:t>
            </a:r>
          </a:p>
          <a:p>
            <a:pPr>
              <a:spcAft>
                <a:spcPts val="0"/>
              </a:spcAft>
            </a:pPr>
            <a:r>
              <a:rPr sz="1300">
                <a:solidFill>
                  <a:srgbClr val="E6E6EF"/>
                </a:solidFill>
                <a:latin typeface="Consolas"/>
              </a:rPr>
              <a:t>    cout &lt;&lt; "Ravi not found";  </a:t>
            </a:r>
            <a:r>
              <a:rPr sz="1300">
                <a:solidFill>
                  <a:srgbClr val="9AA4B5"/>
                </a:solidFill>
                <a:latin typeface="Consolas"/>
              </a:rPr>
              <a:t>// size still 3</a:t>
            </a:r>
          </a:p>
          <a:p>
            <a:pPr>
              <a:spcAft>
                <a:spcPts val="0"/>
              </a:spcAft>
            </a:pPr>
            <a:r>
              <a:rPr sz="1300">
                <a:solidFill>
                  <a:srgbClr val="E6E6EF"/>
                </a:solidFill>
                <a:latin typeface="Consolas"/>
              </a:rPr>
              <a:t>}</a:t>
            </a:r>
          </a:p>
          <a:p>
            <a:pPr>
              <a:spcAft>
                <a:spcPts val="0"/>
              </a:spcAft>
            </a:pPr>
            <a:r>
              <a:rPr sz="1300">
                <a:solidFill>
                  <a:srgbClr val="E6E6EF"/>
                </a:solidFill>
                <a:latin typeface="Consolas"/>
              </a:rPr>
              <a:t>cout &lt;&lt; ext["Ravi"];           </a:t>
            </a:r>
            <a:r>
              <a:rPr sz="1300">
                <a:solidFill>
                  <a:srgbClr val="9AA4B5"/>
                </a:solidFill>
                <a:latin typeface="Consolas"/>
              </a:rPr>
              <a:t>// 0: ADDS Ravi</a:t>
            </a:r>
          </a:p>
          <a:p>
            <a:pPr>
              <a:spcAft>
                <a:spcPts val="0"/>
              </a:spcAft>
            </a:pPr>
            <a:r>
              <a:rPr sz="1300">
                <a:solidFill>
                  <a:srgbClr val="E6E6EF"/>
                </a:solidFill>
                <a:latin typeface="Consolas"/>
              </a:rPr>
              <a:t>                               </a:t>
            </a:r>
            <a:r>
              <a:rPr sz="1300">
                <a:solidFill>
                  <a:srgbClr val="9AA4B5"/>
                </a:solidFill>
                <a:latin typeface="Consolas"/>
              </a:rPr>
              <a:t>// size now 4</a:t>
            </a:r>
          </a:p>
          <a:p>
            <a:pPr>
              <a:spcAft>
                <a:spcPts val="0"/>
              </a:spcAft>
            </a:pPr>
            <a:r>
              <a:rPr sz="1300">
                <a:solidFill>
                  <a:srgbClr val="E6E6EF"/>
                </a:solidFill>
                <a:latin typeface="Consolas"/>
              </a:rPr>
              <a:t>for (const auto &amp;entry : ext) {</a:t>
            </a:r>
          </a:p>
          <a:p>
            <a:pPr>
              <a:spcAft>
                <a:spcPts val="0"/>
              </a:spcAft>
            </a:pPr>
            <a:r>
              <a:rPr sz="1300">
                <a:solidFill>
                  <a:srgbClr val="E6E6EF"/>
                </a:solidFill>
                <a:latin typeface="Consolas"/>
              </a:rPr>
              <a:t>    cout &lt;&lt; entry.first &lt;&lt; ": " &lt;&lt; entry.second;</a:t>
            </a:r>
          </a:p>
          <a:p>
            <a:pPr>
              <a:spcAft>
                <a:spcPts val="0"/>
              </a:spcAft>
            </a:pPr>
            <a:r>
              <a:rPr sz="1300">
                <a:solidFill>
                  <a:srgbClr val="E6E6EF"/>
                </a:solidFill>
                <a:latin typeface="Consolas"/>
              </a:rPr>
              <a:t>}                              </a:t>
            </a:r>
            <a:r>
              <a:rPr sz="1300">
                <a:solidFill>
                  <a:srgbClr val="9AA4B5"/>
                </a:solidFill>
                <a:latin typeface="Consolas"/>
              </a:rPr>
              <a:t>// Amir, Mei, Ravi, Zoe</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3.1.map_lookup: phone extensions.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21</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Choosing a container</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Default to...</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vector</a:t>
            </a:r>
            <a:r>
              <a:rPr sz="1700" b="0">
                <a:solidFill>
                  <a:srgbClr val="1D2330"/>
                </a:solidFill>
                <a:latin typeface="Calibri"/>
              </a:rPr>
              <a:t>: compact, fast, indexable</a:t>
            </a:r>
          </a:p>
          <a:p>
            <a:pPr marL="256032" indent="-228600">
              <a:spcAft>
                <a:spcPts val="800"/>
              </a:spcAft>
              <a:buClr>
                <a:srgbClr val="5B6475"/>
              </a:buClr>
              <a:buChar char="•"/>
            </a:pPr>
            <a:r>
              <a:rPr sz="1700" b="0">
                <a:solidFill>
                  <a:srgbClr val="4B2E83"/>
                </a:solidFill>
                <a:latin typeface="Consolas"/>
              </a:rPr>
              <a:t>string</a:t>
            </a:r>
            <a:r>
              <a:rPr sz="1700" b="0">
                <a:solidFill>
                  <a:srgbClr val="1D2330"/>
                </a:solidFill>
                <a:latin typeface="Calibri"/>
              </a:rPr>
              <a:t> for text</a:t>
            </a:r>
          </a:p>
          <a:p>
            <a:pPr marL="256032" indent="-228600">
              <a:spcAft>
                <a:spcPts val="800"/>
              </a:spcAft>
              <a:buClr>
                <a:srgbClr val="5B6475"/>
              </a:buClr>
              <a:buChar char="•"/>
            </a:pPr>
            <a:r>
              <a:rPr sz="1700" b="0">
                <a:solidFill>
                  <a:srgbClr val="4B2E83"/>
                </a:solidFill>
                <a:latin typeface="Consolas"/>
              </a:rPr>
              <a:t>map</a:t>
            </a:r>
            <a:r>
              <a:rPr sz="1700" b="0">
                <a:solidFill>
                  <a:srgbClr val="1D2330"/>
                </a:solidFill>
                <a:latin typeface="Calibri"/>
              </a:rPr>
              <a:t> to look things up by key, in sorted order</a:t>
            </a:r>
          </a:p>
          <a:p>
            <a:pPr marL="256032" indent="-228600">
              <a:spcAft>
                <a:spcPts val="800"/>
              </a:spcAft>
              <a:buClr>
                <a:srgbClr val="5B6475"/>
              </a:buClr>
              <a:buChar char="•"/>
            </a:pPr>
            <a:r>
              <a:rPr sz="1700" b="0">
                <a:solidFill>
                  <a:srgbClr val="4B2E83"/>
                </a:solidFill>
                <a:latin typeface="Consolas"/>
              </a:rPr>
              <a:t>unordered_map</a:t>
            </a:r>
            <a:r>
              <a:rPr sz="1700" b="0">
                <a:solidFill>
                  <a:srgbClr val="1D2330"/>
                </a:solidFill>
                <a:latin typeface="Calibri"/>
              </a:rPr>
              <a:t> for faster lookup when order doesn't matter</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...and reach for</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list</a:t>
            </a:r>
            <a:r>
              <a:rPr sz="1700" b="0">
                <a:solidFill>
                  <a:srgbClr val="1D2330"/>
                </a:solidFill>
                <a:latin typeface="Calibri"/>
              </a:rPr>
              <a:t> for many inserts/erases in the middle, with no indexing</a:t>
            </a:r>
          </a:p>
          <a:p>
            <a:pPr marL="256032" indent="-228600">
              <a:spcAft>
                <a:spcPts val="800"/>
              </a:spcAft>
              <a:buClr>
                <a:srgbClr val="5B6475"/>
              </a:buClr>
              <a:buChar char="•"/>
            </a:pPr>
            <a:r>
              <a:rPr sz="1700" b="0">
                <a:solidFill>
                  <a:srgbClr val="4B2E83"/>
                </a:solidFill>
                <a:latin typeface="Consolas"/>
              </a:rPr>
              <a:t>set</a:t>
            </a:r>
            <a:r>
              <a:rPr sz="1700" b="0">
                <a:solidFill>
                  <a:srgbClr val="1D2330"/>
                </a:solidFill>
                <a:latin typeface="Calibri"/>
              </a:rPr>
              <a:t> for sorted keys with no values</a:t>
            </a:r>
          </a:p>
          <a:p>
            <a:pPr marL="256032" indent="-228600">
              <a:spcAft>
                <a:spcPts val="800"/>
              </a:spcAft>
              <a:buClr>
                <a:srgbClr val="5B6475"/>
              </a:buClr>
              <a:buChar char="•"/>
            </a:pPr>
            <a:r>
              <a:rPr sz="1700" b="0">
                <a:solidFill>
                  <a:srgbClr val="4B2E83"/>
                </a:solidFill>
                <a:latin typeface="Consolas"/>
              </a:rPr>
              <a:t>stack</a:t>
            </a:r>
            <a:r>
              <a:rPr sz="1700" b="0">
                <a:solidFill>
                  <a:srgbClr val="1D2330"/>
                </a:solidFill>
                <a:latin typeface="Calibri"/>
              </a:rPr>
              <a:t> / </a:t>
            </a:r>
            <a:r>
              <a:rPr sz="1700" b="0">
                <a:solidFill>
                  <a:srgbClr val="4B2E83"/>
                </a:solidFill>
                <a:latin typeface="Consolas"/>
              </a:rPr>
              <a:t>queue</a:t>
            </a:r>
            <a:r>
              <a:rPr sz="1700" b="0">
                <a:solidFill>
                  <a:srgbClr val="1D2330"/>
                </a:solidFill>
                <a:latin typeface="Calibri"/>
              </a:rPr>
              <a:t> when only those operations are allowed</a:t>
            </a:r>
          </a:p>
          <a:p>
            <a:pPr marL="256032" indent="-228600">
              <a:spcAft>
                <a:spcPts val="800"/>
              </a:spcAft>
              <a:buClr>
                <a:srgbClr val="5B6475"/>
              </a:buClr>
              <a:buChar char="•"/>
            </a:pPr>
            <a:r>
              <a:rPr sz="1700" b="0">
                <a:solidFill>
                  <a:srgbClr val="1D2330"/>
                </a:solidFill>
                <a:latin typeface="Calibri"/>
              </a:rPr>
              <a:t>Your own class when the CSS 342 assignment says so: most 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22</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3: list and word count</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25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Lab5/exercises/ex3-containers/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./lists</a:t>
            </a:r>
            <a:r>
              <a:rPr sz="1500" b="0">
                <a:solidFill>
                  <a:srgbClr val="1D2330"/>
                </a:solidFill>
                <a:latin typeface="Calibri"/>
              </a:rPr>
              <a:t> ends with </a:t>
            </a:r>
            <a:r>
              <a:rPr sz="1500" b="0">
                <a:solidFill>
                  <a:srgbClr val="4B2E83"/>
                </a:solidFill>
                <a:latin typeface="Consolas"/>
              </a:rPr>
              <a:t>2 4 5 6 8 10</a:t>
            </a:r>
            <a:r>
              <a:rPr sz="1500" b="0">
                <a:solidFill>
                  <a:srgbClr val="1D2330"/>
                </a:solidFill>
                <a:latin typeface="Calibri"/>
              </a:rPr>
              <a:t>, and that the word counts look right.</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lists.cpp</a:t>
            </a:r>
            <a:r>
              <a:rPr sz="1700" b="0">
                <a:solidFill>
                  <a:srgbClr val="1D2330"/>
                </a:solidFill>
                <a:latin typeface="Calibri"/>
              </a:rPr>
              <a:t> TODOs 1-7</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TODO 5: try </a:t>
            </a:r>
            <a:r>
              <a:rPr sz="1700" b="0">
                <a:solidFill>
                  <a:srgbClr val="4B2E83"/>
                </a:solidFill>
                <a:latin typeface="Consolas"/>
              </a:rPr>
              <a:t>sort(numbers.begin(), numbers.end())</a:t>
            </a:r>
            <a:r>
              <a:rPr sz="1700" b="0">
                <a:solidFill>
                  <a:srgbClr val="1D2330"/>
                </a:solidFill>
                <a:latin typeface="Calibri"/>
              </a:rPr>
              <a:t> on the list, read the error, remove it</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4B2E83"/>
                </a:solidFill>
                <a:latin typeface="Consolas"/>
              </a:rPr>
              <a:t>wordcount.cpp</a:t>
            </a:r>
            <a:r>
              <a:rPr sz="1700" b="0">
                <a:solidFill>
                  <a:srgbClr val="1D2330"/>
                </a:solidFill>
                <a:latin typeface="Calibri"/>
              </a:rPr>
              <a:t> TODOs 1-5</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Run </a:t>
            </a:r>
            <a:r>
              <a:rPr sz="1700" b="0">
                <a:solidFill>
                  <a:srgbClr val="4B2E83"/>
                </a:solidFill>
                <a:latin typeface="Consolas"/>
              </a:rPr>
              <a:t>./wordcount data/sample.txt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23</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3</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sort(begin, end)</a:t>
            </a:r>
            <a:r>
              <a:rPr sz="2000" b="0">
                <a:solidFill>
                  <a:srgbClr val="1D2330"/>
                </a:solidFill>
                <a:latin typeface="Calibri"/>
              </a:rPr>
              <a:t> on a list: "no match for 'operator-'": it needs random-access iterators</a:t>
            </a:r>
          </a:p>
          <a:p>
            <a:pPr marL="256032" indent="-228600">
              <a:spcAft>
                <a:spcPts val="800"/>
              </a:spcAft>
              <a:buClr>
                <a:srgbClr val="5B6475"/>
              </a:buClr>
              <a:buChar char="•"/>
            </a:pPr>
            <a:r>
              <a:rPr sz="2000" b="0">
                <a:solidFill>
                  <a:srgbClr val="1D2330"/>
                </a:solidFill>
                <a:latin typeface="Calibri"/>
              </a:rPr>
              <a:t>So </a:t>
            </a:r>
            <a:r>
              <a:rPr sz="2000" b="0">
                <a:solidFill>
                  <a:srgbClr val="4B2E83"/>
                </a:solidFill>
                <a:latin typeface="Consolas"/>
              </a:rPr>
              <a:t>list</a:t>
            </a:r>
            <a:r>
              <a:rPr sz="2000" b="0">
                <a:solidFill>
                  <a:srgbClr val="1D2330"/>
                </a:solidFill>
                <a:latin typeface="Calibri"/>
              </a:rPr>
              <a:t> has its own </a:t>
            </a:r>
            <a:r>
              <a:rPr sz="2000" b="0">
                <a:solidFill>
                  <a:srgbClr val="4B2E83"/>
                </a:solidFill>
                <a:latin typeface="Consolas"/>
              </a:rPr>
              <a:t>sort()</a:t>
            </a:r>
            <a:r>
              <a:rPr sz="2000" b="0">
                <a:solidFill>
                  <a:srgbClr val="1D2330"/>
                </a:solidFill>
                <a:latin typeface="Calibri"/>
              </a:rPr>
              <a:t>, which relinks nodes</a:t>
            </a:r>
          </a:p>
          <a:p>
            <a:pPr marL="256032" indent="-228600">
              <a:spcAft>
                <a:spcPts val="800"/>
              </a:spcAft>
              <a:buClr>
                <a:srgbClr val="5B6475"/>
              </a:buClr>
              <a:buChar char="•"/>
            </a:pPr>
            <a:r>
              <a:rPr sz="2000" b="0">
                <a:solidFill>
                  <a:srgbClr val="4B2E83"/>
                </a:solidFill>
                <a:latin typeface="Consolas"/>
              </a:rPr>
              <a:t>counts[w]++</a:t>
            </a:r>
            <a:r>
              <a:rPr sz="2000" b="0">
                <a:solidFill>
                  <a:srgbClr val="1D2330"/>
                </a:solidFill>
                <a:latin typeface="Calibri"/>
              </a:rPr>
              <a:t> works for a new word: </a:t>
            </a:r>
            <a:r>
              <a:rPr sz="2000" b="0">
                <a:solidFill>
                  <a:srgbClr val="4B2E83"/>
                </a:solidFill>
                <a:latin typeface="Consolas"/>
              </a:rPr>
              <a:t>[]</a:t>
            </a:r>
            <a:r>
              <a:rPr sz="2000" b="0">
                <a:solidFill>
                  <a:srgbClr val="1D2330"/>
                </a:solidFill>
                <a:latin typeface="Calibri"/>
              </a:rPr>
              <a:t> inserts 0, then </a:t>
            </a:r>
            <a:r>
              <a:rPr sz="2000" b="0">
                <a:solidFill>
                  <a:srgbClr val="4B2E83"/>
                </a:solidFill>
                <a:latin typeface="Consolas"/>
              </a:rPr>
              <a:t>++</a:t>
            </a:r>
          </a:p>
          <a:p>
            <a:pPr marL="256032" indent="-228600">
              <a:spcAft>
                <a:spcPts val="800"/>
              </a:spcAft>
              <a:buClr>
                <a:srgbClr val="5B6475"/>
              </a:buClr>
              <a:buChar char="•"/>
            </a:pPr>
            <a:r>
              <a:rPr sz="2000" b="0">
                <a:solidFill>
                  <a:srgbClr val="1D2330"/>
                </a:solidFill>
                <a:latin typeface="Calibri"/>
              </a:rPr>
              <a:t>Words print alphabetically: a map is sorted by key</a:t>
            </a:r>
          </a:p>
          <a:p>
            <a:pPr marL="256032" indent="-228600">
              <a:spcAft>
                <a:spcPts val="800"/>
              </a:spcAft>
              <a:buClr>
                <a:srgbClr val="5B6475"/>
              </a:buClr>
              <a:buChar char="•"/>
            </a:pPr>
            <a:r>
              <a:rPr sz="2000" b="0">
                <a:solidFill>
                  <a:srgbClr val="1D2330"/>
                </a:solidFill>
                <a:latin typeface="Calibri"/>
              </a:rPr>
              <a:t>27 different words, before and after </a:t>
            </a:r>
            <a:r>
              <a:rPr sz="2000" b="0">
                <a:solidFill>
                  <a:srgbClr val="4B2E83"/>
                </a:solidFill>
                <a:latin typeface="Consolas"/>
              </a:rPr>
              <a:t>find</a:t>
            </a:r>
            <a:r>
              <a:rPr sz="2000" b="0">
                <a:solidFill>
                  <a:srgbClr val="1D2330"/>
                </a:solidFill>
                <a:latin typeface="Calibri"/>
              </a:rPr>
              <a:t>: no accidental inserts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24</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3</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4B2E83"/>
                </a:solidFill>
                <a:latin typeface="Consolas"/>
              </a:rPr>
              <a:t>map&lt;string, int&gt; m; if (m["x"] == 0) {}</a:t>
            </a:r>
            <a:r>
              <a:rPr sz="1800" b="0">
                <a:solidFill>
                  <a:srgbClr val="1D2330"/>
                </a:solidFill>
                <a:latin typeface="Calibri"/>
              </a:rPr>
              <a:t> What is </a:t>
            </a:r>
            <a:r>
              <a:rPr sz="1800" b="0">
                <a:solidFill>
                  <a:srgbClr val="4B2E83"/>
                </a:solidFill>
                <a:latin typeface="Consolas"/>
              </a:rPr>
              <a:t>m.size()</a:t>
            </a:r>
            <a:r>
              <a:rPr sz="1800" b="0">
                <a:solidFill>
                  <a:srgbClr val="1D2330"/>
                </a:solidFill>
                <a:latin typeface="Calibri"/>
              </a:rPr>
              <a:t> afterward?</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type is each element of a </a:t>
            </a:r>
            <a:r>
              <a:rPr sz="1800" b="0">
                <a:solidFill>
                  <a:srgbClr val="4B2E83"/>
                </a:solidFill>
                <a:latin typeface="Consolas"/>
              </a:rPr>
              <a:t>map&lt;string, int&gt;</a:t>
            </a:r>
            <a:r>
              <a:rPr sz="1800" b="0">
                <a:solidFill>
                  <a:srgbClr val="1D2330"/>
                </a:solidFill>
                <a:latin typeface="Calibri"/>
              </a:rPr>
              <a:t>? Can you change the key?</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4B2E83"/>
                </a:solidFill>
                <a:latin typeface="Consolas"/>
              </a:rPr>
              <a:t>m.insert({"a", 5})</a:t>
            </a:r>
            <a:r>
              <a:rPr sz="1800" b="0">
                <a:solidFill>
                  <a:srgbClr val="1D2330"/>
                </a:solidFill>
                <a:latin typeface="Calibri"/>
              </a:rPr>
              <a:t> when </a:t>
            </a:r>
            <a:r>
              <a:rPr sz="1800" b="0">
                <a:solidFill>
                  <a:srgbClr val="4B2E83"/>
                </a:solidFill>
                <a:latin typeface="Consolas"/>
              </a:rPr>
              <a:t>"a"</a:t>
            </a:r>
            <a:r>
              <a:rPr sz="1800" b="0">
                <a:solidFill>
                  <a:srgbClr val="1D2330"/>
                </a:solidFill>
                <a:latin typeface="Calibri"/>
              </a:rPr>
              <a:t> maps to 1. What is </a:t>
            </a:r>
            <a:r>
              <a:rPr sz="1800" b="0">
                <a:solidFill>
                  <a:srgbClr val="4B2E83"/>
                </a:solidFill>
                <a:latin typeface="Consolas"/>
              </a:rPr>
              <a:t>m["a"]</a:t>
            </a:r>
            <a:r>
              <a:rPr sz="1800" b="0">
                <a:solidFill>
                  <a:srgbClr val="1D2330"/>
                </a:solidFill>
                <a:latin typeface="Calibri"/>
              </a:rPr>
              <a:t> afterward?</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Why does </a:t>
            </a:r>
            <a:r>
              <a:rPr sz="1800" b="0">
                <a:solidFill>
                  <a:srgbClr val="4B2E83"/>
                </a:solidFill>
                <a:latin typeface="Consolas"/>
              </a:rPr>
              <a:t>list</a:t>
            </a:r>
            <a:r>
              <a:rPr sz="1800" b="0">
                <a:solidFill>
                  <a:srgbClr val="1D2330"/>
                </a:solidFill>
                <a:latin typeface="Calibri"/>
              </a:rPr>
              <a:t> have a </a:t>
            </a:r>
            <a:r>
              <a:rPr sz="1800" b="0">
                <a:solidFill>
                  <a:srgbClr val="4B2E83"/>
                </a:solidFill>
                <a:latin typeface="Consolas"/>
              </a:rPr>
              <a:t>remove_if</a:t>
            </a:r>
            <a:r>
              <a:rPr sz="1800" b="0">
                <a:solidFill>
                  <a:srgbClr val="1D2330"/>
                </a:solidFill>
                <a:latin typeface="Calibri"/>
              </a:rPr>
              <a:t> member when the general </a:t>
            </a:r>
            <a:r>
              <a:rPr sz="1800" b="0">
                <a:solidFill>
                  <a:srgbClr val="4B2E83"/>
                </a:solidFill>
                <a:latin typeface="Consolas"/>
              </a:rPr>
              <a:t>remove_if</a:t>
            </a:r>
            <a:r>
              <a:rPr sz="1800" b="0">
                <a:solidFill>
                  <a:srgbClr val="1D2330"/>
                </a:solidFill>
                <a:latin typeface="Calibri"/>
              </a:rPr>
              <a:t> exists?</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25</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5 Exercise 3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3</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4</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Algorithms and lambdas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The loops are already written: pass in the rule (by name, or as a lambda right at the call)</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Customize </a:t>
            </a:r>
            <a:r>
              <a:rPr sz="2000" b="0">
                <a:solidFill>
                  <a:srgbClr val="C5B4E3"/>
                </a:solidFill>
                <a:latin typeface="Consolas"/>
              </a:rPr>
              <a:t>sort</a:t>
            </a:r>
            <a:r>
              <a:rPr sz="2000" b="0">
                <a:solidFill>
                  <a:srgbClr val="FFFFFF"/>
                </a:solidFill>
                <a:latin typeface="Calibri"/>
              </a:rPr>
              <a:t>, </a:t>
            </a:r>
            <a:r>
              <a:rPr sz="2000" b="0">
                <a:solidFill>
                  <a:srgbClr val="C5B4E3"/>
                </a:solidFill>
                <a:latin typeface="Consolas"/>
              </a:rPr>
              <a:t>find_if</a:t>
            </a:r>
            <a:r>
              <a:rPr sz="2000" b="0">
                <a:solidFill>
                  <a:srgbClr val="FFFFFF"/>
                </a:solidFill>
                <a:latin typeface="Calibri"/>
              </a:rPr>
              <a:t>, </a:t>
            </a:r>
            <a:r>
              <a:rPr sz="2000" b="0">
                <a:solidFill>
                  <a:srgbClr val="C5B4E3"/>
                </a:solidFill>
                <a:latin typeface="Consolas"/>
              </a:rPr>
              <a:t>count_if</a:t>
            </a:r>
            <a:r>
              <a:rPr sz="2000" b="0">
                <a:solidFill>
                  <a:srgbClr val="FFFFFF"/>
                </a:solidFill>
                <a:latin typeface="Calibri"/>
              </a:rPr>
              <a:t>, and </a:t>
            </a:r>
            <a:r>
              <a:rPr sz="2000" b="0">
                <a:solidFill>
                  <a:srgbClr val="C5B4E3"/>
                </a:solidFill>
                <a:latin typeface="Consolas"/>
              </a:rPr>
              <a:t>accumulate</a:t>
            </a:r>
          </a:p>
          <a:p>
            <a:pPr marL="256032" indent="-228600">
              <a:spcAft>
                <a:spcPts val="600"/>
              </a:spcAft>
              <a:buClr>
                <a:srgbClr val="5B6475"/>
              </a:buClr>
              <a:buChar char="›"/>
            </a:pPr>
            <a:r>
              <a:rPr sz="2000" b="0">
                <a:solidFill>
                  <a:srgbClr val="FFFFFF"/>
                </a:solidFill>
                <a:latin typeface="Calibri"/>
              </a:rPr>
              <a:t>Pass behavior with function pointers and lambdas</a:t>
            </a:r>
          </a:p>
          <a:p>
            <a:pPr marL="256032" indent="-228600">
              <a:spcAft>
                <a:spcPts val="600"/>
              </a:spcAft>
              <a:buClr>
                <a:srgbClr val="5B6475"/>
              </a:buClr>
              <a:buChar char="›"/>
            </a:pPr>
            <a:r>
              <a:rPr sz="2000" b="0">
                <a:solidFill>
                  <a:srgbClr val="FFFFFF"/>
                </a:solidFill>
                <a:latin typeface="Calibri"/>
              </a:rPr>
              <a:t>Remove elements with the erase-remove idiom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27</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Function pointers and lambdas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A comparator returns true when </a:t>
            </a:r>
            <a:r>
              <a:rPr sz="1800" b="0">
                <a:solidFill>
                  <a:srgbClr val="4B2E83"/>
                </a:solidFill>
                <a:latin typeface="Consolas"/>
              </a:rPr>
              <a:t>a</a:t>
            </a:r>
            <a:r>
              <a:rPr sz="1800" b="0">
                <a:solidFill>
                  <a:srgbClr val="1D2330"/>
                </a:solidFill>
                <a:latin typeface="Calibri"/>
              </a:rPr>
              <a:t> comes BEFORE </a:t>
            </a:r>
            <a:r>
              <a:rPr sz="1800" b="0">
                <a:solidFill>
                  <a:srgbClr val="4B2E83"/>
                </a:solidFill>
                <a:latin typeface="Consolas"/>
              </a:rPr>
              <a:t>b</a:t>
            </a:r>
            <a:r>
              <a:rPr sz="1800" b="0">
                <a:solidFill>
                  <a:srgbClr val="1D2330"/>
                </a:solidFill>
                <a:latin typeface="Calibri"/>
              </a:rPr>
              <a:t>; use </a:t>
            </a:r>
            <a:r>
              <a:rPr sz="1800" b="0">
                <a:solidFill>
                  <a:srgbClr val="4B2E83"/>
                </a:solidFill>
                <a:latin typeface="Consolas"/>
              </a:rPr>
              <a:t>&lt;</a:t>
            </a:r>
            <a:r>
              <a:rPr sz="1800" b="0">
                <a:solidFill>
                  <a:srgbClr val="1D2330"/>
                </a:solidFill>
                <a:latin typeface="Calibri"/>
              </a:rPr>
              <a:t>, never </a:t>
            </a:r>
            <a:r>
              <a:rPr sz="1800" b="0">
                <a:solidFill>
                  <a:srgbClr val="4B2E83"/>
                </a:solidFill>
                <a:latin typeface="Consolas"/>
              </a:rPr>
              <a:t>&lt;=</a:t>
            </a:r>
          </a:p>
          <a:p>
            <a:pPr marL="256032" indent="-228600">
              <a:spcAft>
                <a:spcPts val="800"/>
              </a:spcAft>
              <a:buClr>
                <a:srgbClr val="5B6475"/>
              </a:buClr>
              <a:buChar char="•"/>
            </a:pPr>
            <a:r>
              <a:rPr sz="1800" b="0">
                <a:solidFill>
                  <a:srgbClr val="1D2330"/>
                </a:solidFill>
                <a:latin typeface="Calibri"/>
              </a:rPr>
              <a:t>A function's name converts to a pointer to it</a:t>
            </a:r>
          </a:p>
          <a:p>
            <a:pPr marL="256032" indent="-228600">
              <a:spcAft>
                <a:spcPts val="800"/>
              </a:spcAft>
              <a:buClr>
                <a:srgbClr val="5B6475"/>
              </a:buClr>
              <a:buChar char="•"/>
            </a:pPr>
            <a:r>
              <a:rPr sz="1800" b="0">
                <a:solidFill>
                  <a:srgbClr val="1D2330"/>
                </a:solidFill>
                <a:latin typeface="Calibri"/>
              </a:rPr>
              <a:t>A lambda is an unnamed function written in place</a:t>
            </a:r>
          </a:p>
          <a:p>
            <a:pPr marL="256032" indent="-228600">
              <a:spcAft>
                <a:spcPts val="800"/>
              </a:spcAft>
              <a:buClr>
                <a:srgbClr val="5B6475"/>
              </a:buClr>
              <a:buChar char="•"/>
            </a:pPr>
            <a:r>
              <a:rPr sz="1800" b="0">
                <a:solidFill>
                  <a:srgbClr val="4B2E83"/>
                </a:solidFill>
                <a:latin typeface="Consolas"/>
              </a:rPr>
              <a:t>[minLength]</a:t>
            </a:r>
            <a:r>
              <a:rPr sz="1800" b="0">
                <a:solidFill>
                  <a:srgbClr val="1D2330"/>
                </a:solidFill>
                <a:latin typeface="Calibri"/>
              </a:rPr>
              <a:t> copies a local in; </a:t>
            </a:r>
            <a:r>
              <a:rPr sz="1800" b="0">
                <a:solidFill>
                  <a:srgbClr val="4B2E83"/>
                </a:solidFill>
                <a:latin typeface="Consolas"/>
              </a:rPr>
              <a:t>[&amp;x]</a:t>
            </a:r>
            <a:r>
              <a:rPr sz="1800" b="0">
                <a:solidFill>
                  <a:srgbClr val="1D2330"/>
                </a:solidFill>
                <a:latin typeface="Calibri"/>
              </a:rPr>
              <a:t> refers to it</a:t>
            </a:r>
          </a:p>
          <a:p>
            <a:pPr marL="256032" indent="-228600">
              <a:spcAft>
                <a:spcPts val="800"/>
              </a:spcAft>
              <a:buClr>
                <a:srgbClr val="5B6475"/>
              </a:buClr>
              <a:buChar char="•"/>
            </a:pPr>
            <a:r>
              <a:rPr sz="1800" b="0">
                <a:solidFill>
                  <a:srgbClr val="1D2330"/>
                </a:solidFill>
                <a:latin typeface="Calibri"/>
              </a:rPr>
              <a:t>Like Java's </a:t>
            </a:r>
            <a:r>
              <a:rPr sz="1800" b="0">
                <a:solidFill>
                  <a:srgbClr val="4B2E83"/>
                </a:solidFill>
                <a:latin typeface="Consolas"/>
              </a:rPr>
              <a:t>(a, b) -&gt; ...</a:t>
            </a:r>
            <a:r>
              <a:rPr sz="1800" b="0">
                <a:solidFill>
                  <a:srgbClr val="1D2330"/>
                </a:solidFill>
                <a:latin typeface="Calibri"/>
              </a:rPr>
              <a:t>, but you choose how locals are captured</a:t>
            </a:r>
          </a:p>
        </p:txBody>
      </p:sp>
      <p:sp>
        <p:nvSpPr>
          <p:cNvPr id="7" name="Rounded Rectangle 6"/>
          <p:cNvSpPr/>
          <p:nvPr/>
        </p:nvSpPr>
        <p:spPr>
          <a:xfrm>
            <a:off x="5972110" y="1325880"/>
            <a:ext cx="5670944" cy="30022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636520"/>
          </a:xfrm>
          <a:prstGeom prst="rect">
            <a:avLst/>
          </a:prstGeom>
          <a:noFill/>
        </p:spPr>
        <p:txBody>
          <a:bodyPr wrap="none" lIns="0" rIns="0" tIns="0" bIns="0" anchor="t">
            <a:spAutoFit/>
          </a:bodyPr>
          <a:lstStyle/>
          <a:p>
            <a:pPr>
              <a:spcAft>
                <a:spcPts val="0"/>
              </a:spcAft>
            </a:pPr>
            <a:r>
              <a:rPr sz="1000">
                <a:solidFill>
                  <a:srgbClr val="E6E6EF"/>
                </a:solidFill>
                <a:latin typeface="Consolas"/>
              </a:rPr>
              <a:t>bool shorterFirst(const string &amp;a, const string &amp;b) {</a:t>
            </a:r>
          </a:p>
          <a:p>
            <a:pPr>
              <a:spcAft>
                <a:spcPts val="0"/>
              </a:spcAft>
            </a:pPr>
            <a:r>
              <a:rPr sz="1000">
                <a:solidFill>
                  <a:srgbClr val="E6E6EF"/>
                </a:solidFill>
                <a:latin typeface="Consolas"/>
              </a:rPr>
              <a:t>    return a.size() &lt; b.size();</a:t>
            </a:r>
          </a:p>
          <a:p>
            <a:pPr>
              <a:spcAft>
                <a:spcPts val="0"/>
              </a:spcAft>
            </a:pPr>
            <a:r>
              <a:rPr sz="1000">
                <a:solidFill>
                  <a:srgbClr val="E6E6EF"/>
                </a:solidFill>
                <a:latin typeface="Consolas"/>
              </a:rPr>
              <a:t>}</a:t>
            </a:r>
          </a:p>
          <a:p>
            <a:pPr>
              <a:spcAft>
                <a:spcPts val="0"/>
              </a:spcAft>
            </a:pPr>
            <a:r>
              <a:rPr sz="1000">
                <a:latin typeface="Consolas"/>
              </a:rPr>
              <a:t> </a:t>
            </a:r>
          </a:p>
          <a:p>
            <a:pPr>
              <a:spcAft>
                <a:spcPts val="0"/>
              </a:spcAft>
            </a:pPr>
            <a:r>
              <a:rPr sz="1000">
                <a:solidFill>
                  <a:srgbClr val="E6E6EF"/>
                </a:solidFill>
                <a:latin typeface="Consolas"/>
              </a:rPr>
              <a:t>sort(words.begin(), words.end(), shorterFirst);</a:t>
            </a:r>
          </a:p>
          <a:p>
            <a:pPr>
              <a:spcAft>
                <a:spcPts val="0"/>
              </a:spcAft>
            </a:pPr>
            <a:r>
              <a:rPr sz="1000">
                <a:solidFill>
                  <a:srgbClr val="E6E6EF"/>
                </a:solidFill>
                <a:latin typeface="Consolas"/>
              </a:rPr>
              <a:t>sort(words.begin(), words.end(),</a:t>
            </a:r>
          </a:p>
          <a:p>
            <a:pPr>
              <a:spcAft>
                <a:spcPts val="0"/>
              </a:spcAft>
            </a:pPr>
            <a:r>
              <a:rPr sz="1000">
                <a:solidFill>
                  <a:srgbClr val="E6E6EF"/>
                </a:solidFill>
                <a:latin typeface="Consolas"/>
              </a:rPr>
              <a:t>     [](const string &amp;a, const string &amp;b) { return a &gt; b; });</a:t>
            </a:r>
          </a:p>
          <a:p>
            <a:pPr>
              <a:spcAft>
                <a:spcPts val="0"/>
              </a:spcAft>
            </a:pPr>
            <a:r>
              <a:rPr sz="1000">
                <a:latin typeface="Consolas"/>
              </a:rPr>
              <a:t> </a:t>
            </a:r>
          </a:p>
          <a:p>
            <a:pPr>
              <a:spcAft>
                <a:spcPts val="0"/>
              </a:spcAft>
            </a:pPr>
            <a:r>
              <a:rPr sz="1000">
                <a:solidFill>
                  <a:srgbClr val="E6E6EF"/>
                </a:solidFill>
                <a:latin typeface="Consolas"/>
              </a:rPr>
              <a:t>size_t minLength = 4;</a:t>
            </a:r>
          </a:p>
          <a:p>
            <a:pPr>
              <a:spcAft>
                <a:spcPts val="0"/>
              </a:spcAft>
            </a:pPr>
            <a:r>
              <a:rPr sz="1000">
                <a:solidFill>
                  <a:srgbClr val="E6E6EF"/>
                </a:solidFill>
                <a:latin typeface="Consolas"/>
              </a:rPr>
              <a:t>auto longOnes = count_if(words.begin(), words.end(),</a:t>
            </a:r>
          </a:p>
          <a:p>
            <a:pPr>
              <a:spcAft>
                <a:spcPts val="0"/>
              </a:spcAft>
            </a:pPr>
            <a:r>
              <a:rPr sz="1000">
                <a:solidFill>
                  <a:srgbClr val="E6E6EF"/>
                </a:solidFill>
                <a:latin typeface="Consolas"/>
              </a:rPr>
              <a:t>    [minLength](const string &amp;w) { return w.size() &gt;= minLength; });</a:t>
            </a:r>
          </a:p>
          <a:p>
            <a:pPr>
              <a:spcAft>
                <a:spcPts val="0"/>
              </a:spcAft>
            </a:pPr>
            <a:r>
              <a:rPr sz="1000">
                <a:latin typeface="Consolas"/>
              </a:rPr>
              <a:t> </a:t>
            </a:r>
          </a:p>
          <a:p>
            <a:pPr>
              <a:spcAft>
                <a:spcPts val="0"/>
              </a:spcAft>
            </a:pPr>
            <a:r>
              <a:rPr sz="1000">
                <a:solidFill>
                  <a:srgbClr val="E6E6EF"/>
                </a:solidFill>
                <a:latin typeface="Consolas"/>
              </a:rPr>
              <a:t>int x = 1;</a:t>
            </a:r>
          </a:p>
          <a:p>
            <a:pPr>
              <a:spcAft>
                <a:spcPts val="0"/>
              </a:spcAft>
            </a:pPr>
            <a:r>
              <a:rPr sz="1000">
                <a:solidFill>
                  <a:srgbClr val="E6E6EF"/>
                </a:solidFill>
                <a:latin typeface="Consolas"/>
              </a:rPr>
              <a:t>auto byCopy = [x]() { return x; };</a:t>
            </a:r>
          </a:p>
          <a:p>
            <a:pPr>
              <a:spcAft>
                <a:spcPts val="0"/>
              </a:spcAft>
            </a:pPr>
            <a:r>
              <a:rPr sz="1000">
                <a:solidFill>
                  <a:srgbClr val="E6E6EF"/>
                </a:solidFill>
                <a:latin typeface="Consolas"/>
              </a:rPr>
              <a:t>auto byRef = [&amp;x]() { return x; };</a:t>
            </a:r>
          </a:p>
          <a:p>
            <a:pPr>
              <a:spcAft>
                <a:spcPts val="0"/>
              </a:spcAft>
            </a:pPr>
            <a:r>
              <a:rPr sz="1000">
                <a:solidFill>
                  <a:srgbClr val="E6E6EF"/>
                </a:solidFill>
                <a:latin typeface="Consolas"/>
              </a:rPr>
              <a:t>x = 5;</a:t>
            </a:r>
          </a:p>
          <a:p>
            <a:pPr>
              <a:spcAft>
                <a:spcPts val="0"/>
              </a:spcAft>
            </a:pPr>
            <a:r>
              <a:rPr sz="1000">
                <a:solidFill>
                  <a:srgbClr val="E6E6EF"/>
                </a:solidFill>
                <a:latin typeface="Consolas"/>
              </a:rPr>
              <a:t>cout &lt;&lt; byCopy() &lt;&lt; " " &lt;&lt; byRef();   </a:t>
            </a:r>
            <a:r>
              <a:rPr sz="1000">
                <a:solidFill>
                  <a:srgbClr val="9AA4B5"/>
                </a:solidFill>
                <a:latin typeface="Consolas"/>
              </a:rPr>
              <a:t>// 1 5</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4.1.lambdas: words sorted shortest first, then Z to 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28</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Algorithm traps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find_if</a:t>
            </a:r>
            <a:r>
              <a:rPr sz="1800" b="0">
                <a:solidFill>
                  <a:srgbClr val="1D2330"/>
                </a:solidFill>
                <a:latin typeface="Calibri"/>
              </a:rPr>
              <a:t> returns </a:t>
            </a:r>
            <a:r>
              <a:rPr sz="1800" b="0">
                <a:solidFill>
                  <a:srgbClr val="4B2E83"/>
                </a:solidFill>
                <a:latin typeface="Consolas"/>
              </a:rPr>
              <a:t>end()</a:t>
            </a:r>
            <a:r>
              <a:rPr sz="1800" b="0">
                <a:solidFill>
                  <a:srgbClr val="1D2330"/>
                </a:solidFill>
                <a:latin typeface="Calibri"/>
              </a:rPr>
              <a:t> when nothing matches: check before using it</a:t>
            </a:r>
          </a:p>
          <a:p>
            <a:pPr marL="256032" indent="-228600">
              <a:spcAft>
                <a:spcPts val="800"/>
              </a:spcAft>
              <a:buClr>
                <a:srgbClr val="5B6475"/>
              </a:buClr>
              <a:buChar char="•"/>
            </a:pPr>
            <a:r>
              <a:rPr sz="1800" b="0">
                <a:solidFill>
                  <a:srgbClr val="4B2E83"/>
                </a:solidFill>
                <a:latin typeface="Consolas"/>
              </a:rPr>
              <a:t>accumulate</a:t>
            </a:r>
            <a:r>
              <a:rPr sz="1800" b="0">
                <a:solidFill>
                  <a:srgbClr val="1D2330"/>
                </a:solidFill>
                <a:latin typeface="Calibri"/>
              </a:rPr>
              <a:t>'s result has the type of its start value: </a:t>
            </a:r>
            <a:r>
              <a:rPr sz="1800" b="0">
                <a:solidFill>
                  <a:srgbClr val="4B2E83"/>
                </a:solidFill>
                <a:latin typeface="Consolas"/>
              </a:rPr>
              <a:t>0</a:t>
            </a:r>
            <a:r>
              <a:rPr sz="1800" b="0">
                <a:solidFill>
                  <a:srgbClr val="1D2330"/>
                </a:solidFill>
                <a:latin typeface="Calibri"/>
              </a:rPr>
              <a:t> truncates doubles</a:t>
            </a:r>
          </a:p>
          <a:p>
            <a:pPr marL="256032" indent="-228600">
              <a:spcAft>
                <a:spcPts val="800"/>
              </a:spcAft>
              <a:buClr>
                <a:srgbClr val="5B6475"/>
              </a:buClr>
              <a:buChar char="•"/>
            </a:pPr>
            <a:r>
              <a:rPr sz="1800" b="0">
                <a:solidFill>
                  <a:srgbClr val="4B2E83"/>
                </a:solidFill>
                <a:latin typeface="Consolas"/>
              </a:rPr>
              <a:t>remove_if</a:t>
            </a:r>
            <a:r>
              <a:rPr sz="1800" b="0">
                <a:solidFill>
                  <a:srgbClr val="1D2330"/>
                </a:solidFill>
                <a:latin typeface="Calibri"/>
              </a:rPr>
              <a:t> doesn't shrink the vector: it moves the kept elements forward</a:t>
            </a:r>
          </a:p>
          <a:p>
            <a:pPr marL="256032" indent="-228600">
              <a:spcAft>
                <a:spcPts val="800"/>
              </a:spcAft>
              <a:buClr>
                <a:srgbClr val="5B6475"/>
              </a:buClr>
              <a:buChar char="•"/>
            </a:pPr>
            <a:r>
              <a:rPr sz="1800" b="0">
                <a:solidFill>
                  <a:srgbClr val="1D2330"/>
                </a:solidFill>
                <a:latin typeface="Calibri"/>
              </a:rPr>
              <a:t>Then </a:t>
            </a:r>
            <a:r>
              <a:rPr sz="1800" b="0">
                <a:solidFill>
                  <a:srgbClr val="4B2E83"/>
                </a:solidFill>
                <a:latin typeface="Consolas"/>
              </a:rPr>
              <a:t>erase</a:t>
            </a:r>
            <a:r>
              <a:rPr sz="1800" b="0">
                <a:solidFill>
                  <a:srgbClr val="1D2330"/>
                </a:solidFill>
                <a:latin typeface="Calibri"/>
              </a:rPr>
              <a:t> from the returned iterator to </a:t>
            </a:r>
            <a:r>
              <a:rPr sz="1800" b="0">
                <a:solidFill>
                  <a:srgbClr val="4B2E83"/>
                </a:solidFill>
                <a:latin typeface="Consolas"/>
              </a:rPr>
              <a:t>end()</a:t>
            </a:r>
            <a:r>
              <a:rPr sz="1800" b="0">
                <a:solidFill>
                  <a:srgbClr val="1D2330"/>
                </a:solidFill>
                <a:latin typeface="Calibri"/>
              </a:rPr>
              <a:t>: the erase-remove idiom</a:t>
            </a:r>
          </a:p>
        </p:txBody>
      </p:sp>
      <p:sp>
        <p:nvSpPr>
          <p:cNvPr id="7" name="Rounded Rectangle 6"/>
          <p:cNvSpPr/>
          <p:nvPr/>
        </p:nvSpPr>
        <p:spPr>
          <a:xfrm>
            <a:off x="5972110" y="1325880"/>
            <a:ext cx="5670944" cy="22402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1874520"/>
          </a:xfrm>
          <a:prstGeom prst="rect">
            <a:avLst/>
          </a:prstGeom>
          <a:noFill/>
        </p:spPr>
        <p:txBody>
          <a:bodyPr wrap="none" lIns="0" rIns="0" tIns="0" bIns="0" anchor="t">
            <a:spAutoFit/>
          </a:bodyPr>
          <a:lstStyle/>
          <a:p>
            <a:pPr>
              <a:spcAft>
                <a:spcPts val="0"/>
              </a:spcAft>
            </a:pPr>
            <a:r>
              <a:rPr sz="1200">
                <a:solidFill>
                  <a:srgbClr val="E6E6EF"/>
                </a:solidFill>
                <a:latin typeface="Consolas"/>
              </a:rPr>
              <a:t>vector&lt;int&gt; v = {1, 2, 3, 4, 5, 6};</a:t>
            </a:r>
          </a:p>
          <a:p>
            <a:pPr>
              <a:spcAft>
                <a:spcPts val="0"/>
              </a:spcAft>
            </a:pPr>
            <a:r>
              <a:rPr sz="1200">
                <a:solidFill>
                  <a:srgbClr val="E6E6EF"/>
                </a:solidFill>
                <a:latin typeface="Consolas"/>
              </a:rPr>
              <a:t>auto newEnd = remove_if(v.begin(), v.end(),</a:t>
            </a:r>
          </a:p>
          <a:p>
            <a:pPr>
              <a:spcAft>
                <a:spcPts val="0"/>
              </a:spcAft>
            </a:pPr>
            <a:r>
              <a:rPr sz="1200">
                <a:solidFill>
                  <a:srgbClr val="E6E6EF"/>
                </a:solidFill>
                <a:latin typeface="Consolas"/>
              </a:rPr>
              <a:t>                        [](int n) { return n % 2 == 0; });</a:t>
            </a:r>
          </a:p>
          <a:p>
            <a:pPr>
              <a:spcAft>
                <a:spcPts val="0"/>
              </a:spcAft>
            </a:pPr>
            <a:r>
              <a:rPr sz="1200">
                <a:solidFill>
                  <a:srgbClr val="9AA4B5"/>
                </a:solidFill>
                <a:latin typeface="Consolas"/>
              </a:rPr>
              <a:t>// v: 1 3 5 4 5 6   (size 6: leftovers at the end)</a:t>
            </a:r>
          </a:p>
          <a:p>
            <a:pPr>
              <a:spcAft>
                <a:spcPts val="0"/>
              </a:spcAft>
            </a:pPr>
            <a:r>
              <a:rPr sz="1200">
                <a:solidFill>
                  <a:srgbClr val="E6E6EF"/>
                </a:solidFill>
                <a:latin typeface="Consolas"/>
              </a:rPr>
              <a:t>v.erase(newEnd, v.end());</a:t>
            </a:r>
          </a:p>
          <a:p>
            <a:pPr>
              <a:spcAft>
                <a:spcPts val="0"/>
              </a:spcAft>
            </a:pPr>
            <a:r>
              <a:rPr sz="1200">
                <a:solidFill>
                  <a:srgbClr val="9AA4B5"/>
                </a:solidFill>
                <a:latin typeface="Consolas"/>
              </a:rPr>
              <a:t>// v: 1 3 5         (size 3)</a:t>
            </a:r>
          </a:p>
          <a:p>
            <a:pPr>
              <a:spcAft>
                <a:spcPts val="0"/>
              </a:spcAft>
            </a:pPr>
            <a:r>
              <a:rPr sz="1200">
                <a:latin typeface="Consolas"/>
              </a:rPr>
              <a:t> </a:t>
            </a:r>
          </a:p>
          <a:p>
            <a:pPr>
              <a:spcAft>
                <a:spcPts val="0"/>
              </a:spcAft>
            </a:pPr>
            <a:r>
              <a:rPr sz="1200">
                <a:solidFill>
                  <a:srgbClr val="E6E6EF"/>
                </a:solidFill>
                <a:latin typeface="Consolas"/>
              </a:rPr>
              <a:t>vector&lt;double&gt; g = {3.6, 2.9};</a:t>
            </a:r>
          </a:p>
          <a:p>
            <a:pPr>
              <a:spcAft>
                <a:spcPts val="0"/>
              </a:spcAft>
            </a:pPr>
            <a:r>
              <a:rPr sz="1200">
                <a:solidFill>
                  <a:srgbClr val="E6E6EF"/>
                </a:solidFill>
                <a:latin typeface="Consolas"/>
              </a:rPr>
              <a:t>accumulate(g.begin(), g.end(), 0);     </a:t>
            </a:r>
            <a:r>
              <a:rPr sz="1200">
                <a:solidFill>
                  <a:srgbClr val="9AA4B5"/>
                </a:solidFill>
                <a:latin typeface="Consolas"/>
              </a:rPr>
              <a:t>// 5</a:t>
            </a:r>
          </a:p>
          <a:p>
            <a:pPr>
              <a:spcAft>
                <a:spcPts val="0"/>
              </a:spcAft>
            </a:pPr>
            <a:r>
              <a:rPr sz="1200">
                <a:solidFill>
                  <a:srgbClr val="E6E6EF"/>
                </a:solidFill>
                <a:latin typeface="Consolas"/>
              </a:rPr>
              <a:t>accumulate(g.begin(), g.end(), 0.0);   </a:t>
            </a:r>
            <a:r>
              <a:rPr sz="1200">
                <a:solidFill>
                  <a:srgbClr val="9AA4B5"/>
                </a:solidFill>
                <a:latin typeface="Consolas"/>
              </a:rPr>
              <a:t>// 6.5</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4.2.erase_remove prints the vector after remove_if alone, and after erase.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29</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4: Students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Lab5/exercises/ex4-algorithms/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./students</a:t>
            </a:r>
            <a:r>
              <a:rPr sz="1500" b="0">
                <a:solidFill>
                  <a:srgbClr val="1D2330"/>
                </a:solidFill>
                <a:latin typeface="Calibri"/>
              </a:rPr>
              <a:t> runs to the end and finishes with the four remaining students.</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Write </a:t>
            </a:r>
            <a:r>
              <a:rPr sz="1700" b="0">
                <a:solidFill>
                  <a:srgbClr val="4B2E83"/>
                </a:solidFill>
                <a:latin typeface="Consolas"/>
              </a:rPr>
              <a:t>byId</a:t>
            </a:r>
            <a:r>
              <a:rPr sz="1700" b="0">
                <a:solidFill>
                  <a:srgbClr val="1D2330"/>
                </a:solidFill>
                <a:latin typeface="Calibri"/>
              </a:rPr>
              <a:t> and </a:t>
            </a:r>
            <a:r>
              <a:rPr sz="1700" b="0">
                <a:solidFill>
                  <a:srgbClr val="4B2E83"/>
                </a:solidFill>
                <a:latin typeface="Consolas"/>
              </a:rPr>
              <a:t>sortBy</a:t>
            </a:r>
            <a:r>
              <a:rPr sz="1700" b="0">
                <a:solidFill>
                  <a:srgbClr val="1D2330"/>
                </a:solidFill>
                <a:latin typeface="Calibri"/>
              </a:rPr>
              <a:t> (TODOs 1-2); sort by name and by id (TODO 3)</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Sort by GPA, highest first, with a lambda (TODO 4)</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4B2E83"/>
                </a:solidFill>
                <a:latin typeface="Consolas"/>
              </a:rPr>
              <a:t>find_if</a:t>
            </a:r>
            <a:r>
              <a:rPr sz="1700" b="0">
                <a:solidFill>
                  <a:srgbClr val="1D2330"/>
                </a:solidFill>
                <a:latin typeface="Calibri"/>
              </a:rPr>
              <a:t>, </a:t>
            </a:r>
            <a:r>
              <a:rPr sz="1700" b="0">
                <a:solidFill>
                  <a:srgbClr val="4B2E83"/>
                </a:solidFill>
                <a:latin typeface="Consolas"/>
              </a:rPr>
              <a:t>count_if</a:t>
            </a:r>
            <a:r>
              <a:rPr sz="1700" b="0">
                <a:solidFill>
                  <a:srgbClr val="1D2330"/>
                </a:solidFill>
                <a:latin typeface="Calibri"/>
              </a:rPr>
              <a:t>, </a:t>
            </a:r>
            <a:r>
              <a:rPr sz="1700" b="0">
                <a:solidFill>
                  <a:srgbClr val="4B2E83"/>
                </a:solidFill>
                <a:latin typeface="Consolas"/>
              </a:rPr>
              <a:t>accumulate</a:t>
            </a:r>
            <a:r>
              <a:rPr sz="1700" b="0">
                <a:solidFill>
                  <a:srgbClr val="1D2330"/>
                </a:solidFill>
                <a:latin typeface="Calibri"/>
              </a:rPr>
              <a:t> (TODOs 5-7): try starting at </a:t>
            </a:r>
            <a:r>
              <a:rPr sz="1700" b="0">
                <a:solidFill>
                  <a:srgbClr val="4B2E83"/>
                </a:solidFill>
                <a:latin typeface="Consolas"/>
              </a:rPr>
              <a:t>0</a:t>
            </a:r>
            <a:r>
              <a:rPr sz="1700" b="0">
                <a:solidFill>
                  <a:srgbClr val="1D2330"/>
                </a:solidFill>
                <a:latin typeface="Calibri"/>
              </a:rPr>
              <a:t> and at </a:t>
            </a:r>
            <a:r>
              <a:rPr sz="1700" b="0">
                <a:solidFill>
                  <a:srgbClr val="4B2E83"/>
                </a:solidFill>
                <a:latin typeface="Consolas"/>
              </a:rPr>
              <a:t>0.0</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A capturing lambda (TODO 8), then erase-remove (TODO 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30</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4</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Same </a:t>
            </a:r>
            <a:r>
              <a:rPr sz="2000" b="0">
                <a:solidFill>
                  <a:srgbClr val="4B2E83"/>
                </a:solidFill>
                <a:latin typeface="Consolas"/>
              </a:rPr>
              <a:t>sort</a:t>
            </a:r>
            <a:r>
              <a:rPr sz="2000" b="0">
                <a:solidFill>
                  <a:srgbClr val="1D2330"/>
                </a:solidFill>
                <a:latin typeface="Calibri"/>
              </a:rPr>
              <a:t>, two ways to pass the comparison: a function pointer and a lambda</a:t>
            </a:r>
          </a:p>
          <a:p>
            <a:pPr marL="256032" indent="-228600">
              <a:spcAft>
                <a:spcPts val="800"/>
              </a:spcAft>
              <a:buClr>
                <a:srgbClr val="5B6475"/>
              </a:buClr>
              <a:buChar char="•"/>
            </a:pPr>
            <a:r>
              <a:rPr sz="2000" b="0">
                <a:solidFill>
                  <a:srgbClr val="1D2330"/>
                </a:solidFill>
                <a:latin typeface="Calibri"/>
              </a:rPr>
              <a:t>Captures: </a:t>
            </a:r>
            <a:r>
              <a:rPr sz="2000" b="0">
                <a:solidFill>
                  <a:srgbClr val="4B2E83"/>
                </a:solidFill>
                <a:latin typeface="Consolas"/>
              </a:rPr>
              <a:t>[minId]</a:t>
            </a:r>
            <a:r>
              <a:rPr sz="2000" b="0">
                <a:solidFill>
                  <a:srgbClr val="1D2330"/>
                </a:solidFill>
                <a:latin typeface="Calibri"/>
              </a:rPr>
              <a:t> copies the local; </a:t>
            </a:r>
            <a:r>
              <a:rPr sz="2000" b="0">
                <a:solidFill>
                  <a:srgbClr val="4B2E83"/>
                </a:solidFill>
                <a:latin typeface="Consolas"/>
              </a:rPr>
              <a:t>[&amp;total]</a:t>
            </a:r>
            <a:r>
              <a:rPr sz="2000" b="0">
                <a:solidFill>
                  <a:srgbClr val="1D2330"/>
                </a:solidFill>
                <a:latin typeface="Calibri"/>
              </a:rPr>
              <a:t> refers to it</a:t>
            </a:r>
          </a:p>
          <a:p>
            <a:pPr marL="256032" indent="-228600">
              <a:spcAft>
                <a:spcPts val="800"/>
              </a:spcAft>
              <a:buClr>
                <a:srgbClr val="5B6475"/>
              </a:buClr>
              <a:buChar char="•"/>
            </a:pPr>
            <a:r>
              <a:rPr sz="2000" b="0">
                <a:solidFill>
                  <a:srgbClr val="1D2330"/>
                </a:solidFill>
                <a:latin typeface="Calibri"/>
              </a:rPr>
              <a:t>Erase-remove drawn on the vector: Kai, Mina, Lee, Ari remain</a:t>
            </a:r>
          </a:p>
          <a:p>
            <a:pPr marL="256032" indent="-228600">
              <a:spcAft>
                <a:spcPts val="800"/>
              </a:spcAft>
              <a:buClr>
                <a:srgbClr val="5B6475"/>
              </a:buClr>
              <a:buChar char="•"/>
            </a:pPr>
            <a:r>
              <a:rPr sz="2000" b="0">
                <a:solidFill>
                  <a:srgbClr val="4B2E83"/>
                </a:solidFill>
                <a:latin typeface="Consolas"/>
              </a:rPr>
              <a:t>accumulate(..., 0)</a:t>
            </a:r>
            <a:r>
              <a:rPr sz="2000" b="0">
                <a:solidFill>
                  <a:srgbClr val="1D2330"/>
                </a:solidFill>
                <a:latin typeface="Calibri"/>
              </a:rPr>
              <a:t> gave 5 for 3.6 + 2.9: Lab 1's operand-type rule again</a:t>
            </a:r>
          </a:p>
          <a:p>
            <a:pPr marL="256032" indent="-228600">
              <a:spcAft>
                <a:spcPts val="800"/>
              </a:spcAft>
              <a:buClr>
                <a:srgbClr val="5B6475"/>
              </a:buClr>
              <a:buChar char="•"/>
            </a:pPr>
            <a:r>
              <a:rPr sz="2000" b="0">
                <a:solidFill>
                  <a:srgbClr val="1D2330"/>
                </a:solidFill>
                <a:latin typeface="Calibri"/>
              </a:rPr>
              <a:t>Five labs: build, types, classes, pointers, memory, templates, copying, exceptions, and the library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31</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4</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Write a lambda that returns </a:t>
            </a:r>
            <a:r>
              <a:rPr sz="1800" b="0">
                <a:solidFill>
                  <a:srgbClr val="4B2E83"/>
                </a:solidFill>
                <a:latin typeface="Consolas"/>
              </a:rPr>
              <a:t>true</a:t>
            </a:r>
            <a:r>
              <a:rPr sz="1800" b="0">
                <a:solidFill>
                  <a:srgbClr val="1D2330"/>
                </a:solidFill>
                <a:latin typeface="Calibri"/>
              </a:rPr>
              <a:t> for even </a:t>
            </a:r>
            <a:r>
              <a:rPr sz="1800" b="0">
                <a:solidFill>
                  <a:srgbClr val="4B2E83"/>
                </a:solidFill>
                <a:latin typeface="Consolas"/>
              </a:rPr>
              <a:t>int</a:t>
            </a:r>
            <a:r>
              <a:rPr sz="1800" b="0">
                <a:solidFill>
                  <a:srgbClr val="1D2330"/>
                </a:solidFill>
                <a:latin typeface="Calibri"/>
              </a:rPr>
              <a:t>s</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4B2E83"/>
                </a:solidFill>
                <a:latin typeface="Consolas"/>
              </a:rPr>
              <a:t>int x = 1; auto c = [x]() { return x; }; auto r = [&amp;x]() { return x; }; x = 5;</a:t>
            </a:r>
            <a:r>
              <a:rPr sz="1800" b="0">
                <a:solidFill>
                  <a:srgbClr val="1D2330"/>
                </a:solidFill>
                <a:latin typeface="Calibri"/>
              </a:rPr>
              <a:t> What do </a:t>
            </a:r>
            <a:r>
              <a:rPr sz="1800" b="0">
                <a:solidFill>
                  <a:srgbClr val="4B2E83"/>
                </a:solidFill>
                <a:latin typeface="Consolas"/>
              </a:rPr>
              <a:t>c()</a:t>
            </a:r>
            <a:r>
              <a:rPr sz="1800" b="0">
                <a:solidFill>
                  <a:srgbClr val="1D2330"/>
                </a:solidFill>
                <a:latin typeface="Calibri"/>
              </a:rPr>
              <a:t> and </a:t>
            </a:r>
            <a:r>
              <a:rPr sz="1800" b="0">
                <a:solidFill>
                  <a:srgbClr val="4B2E83"/>
                </a:solidFill>
                <a:latin typeface="Consolas"/>
              </a:rPr>
              <a:t>r()</a:t>
            </a:r>
            <a:r>
              <a:rPr sz="1800" b="0">
                <a:solidFill>
                  <a:srgbClr val="1D2330"/>
                </a:solidFill>
                <a:latin typeface="Calibri"/>
              </a:rPr>
              <a:t> return?</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How do you sort a </a:t>
            </a:r>
            <a:r>
              <a:rPr sz="1800" b="0">
                <a:solidFill>
                  <a:srgbClr val="4B2E83"/>
                </a:solidFill>
                <a:latin typeface="Consolas"/>
              </a:rPr>
              <a:t>vector&lt;int&gt;</a:t>
            </a:r>
            <a:r>
              <a:rPr sz="1800" b="0">
                <a:solidFill>
                  <a:srgbClr val="1D2330"/>
                </a:solidFill>
                <a:latin typeface="Calibri"/>
              </a:rPr>
              <a:t> descending without writing a lambda?</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After </a:t>
            </a:r>
            <a:r>
              <a:rPr sz="1800" b="0">
                <a:solidFill>
                  <a:srgbClr val="4B2E83"/>
                </a:solidFill>
                <a:latin typeface="Consolas"/>
              </a:rPr>
              <a:t>remove(v.begin(), v.end(), 3);</a:t>
            </a:r>
            <a:r>
              <a:rPr sz="1800" b="0">
                <a:solidFill>
                  <a:srgbClr val="1D2330"/>
                </a:solidFill>
                <a:latin typeface="Calibri"/>
              </a:rPr>
              <a:t> alone, has </a:t>
            </a:r>
            <a:r>
              <a:rPr sz="1800" b="0">
                <a:solidFill>
                  <a:srgbClr val="4B2E83"/>
                </a:solidFill>
                <a:latin typeface="Consolas"/>
              </a:rPr>
              <a:t>v.size()</a:t>
            </a:r>
            <a:r>
              <a:rPr sz="1800" b="0">
                <a:solidFill>
                  <a:srgbClr val="1D2330"/>
                </a:solidFill>
                <a:latin typeface="Calibri"/>
              </a:rPr>
              <a:t> changed?</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32</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5 Exercise 4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4</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5: Iterators and the Standard Library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33</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What to submit: one zip, once</a:t>
            </a:r>
          </a:p>
        </p:txBody>
      </p:sp>
      <p:sp>
        <p:nvSpPr>
          <p:cNvPr id="5" name="Oval 4"/>
          <p:cNvSpPr/>
          <p:nvPr/>
        </p:nvSpPr>
        <p:spPr>
          <a:xfrm>
            <a:off x="548640" y="13716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097280" y="1353312"/>
            <a:ext cx="4998567" cy="914400"/>
          </a:xfrm>
          <a:prstGeom prst="rect">
            <a:avLst/>
          </a:prstGeom>
          <a:noFill/>
        </p:spPr>
        <p:txBody>
          <a:bodyPr wrap="square" lIns="0" rIns="0" tIns="0" bIns="0" anchor="t">
            <a:spAutoFit/>
          </a:bodyPr>
          <a:lstStyle/>
          <a:p>
            <a:pPr algn="l"/>
            <a:r>
              <a:rPr sz="1700" b="0">
                <a:solidFill>
                  <a:srgbClr val="1D2330"/>
                </a:solidFill>
                <a:latin typeface="Calibri"/>
              </a:rPr>
              <a:t>Your work is in </a:t>
            </a:r>
            <a:r>
              <a:rPr sz="1700" b="0">
                <a:solidFill>
                  <a:srgbClr val="4B2E83"/>
                </a:solidFill>
                <a:latin typeface="Consolas"/>
              </a:rPr>
              <a:t>Lab5/exercises</a:t>
            </a:r>
            <a:r>
              <a:rPr sz="1700" b="0">
                <a:solidFill>
                  <a:srgbClr val="1D2330"/>
                </a:solidFill>
                <a:latin typeface="Calibri"/>
              </a:rPr>
              <a:t>, with subfolders named like the starter folders</a:t>
            </a:r>
          </a:p>
        </p:txBody>
      </p:sp>
      <p:sp>
        <p:nvSpPr>
          <p:cNvPr id="7" name="Oval 6"/>
          <p:cNvSpPr/>
          <p:nvPr/>
        </p:nvSpPr>
        <p:spPr>
          <a:xfrm>
            <a:off x="548640" y="22860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267712"/>
            <a:ext cx="4998567" cy="914400"/>
          </a:xfrm>
          <a:prstGeom prst="rect">
            <a:avLst/>
          </a:prstGeom>
          <a:noFill/>
        </p:spPr>
        <p:txBody>
          <a:bodyPr wrap="square" lIns="0" rIns="0" tIns="0" bIns="0" anchor="t">
            <a:spAutoFit/>
          </a:bodyPr>
          <a:lstStyle/>
          <a:p>
            <a:pPr algn="l"/>
            <a:r>
              <a:rPr sz="1700" b="0">
                <a:solidFill>
                  <a:srgbClr val="1D2330"/>
                </a:solidFill>
                <a:latin typeface="Calibri"/>
              </a:rPr>
              <a:t>Run </a:t>
            </a:r>
            <a:r>
              <a:rPr sz="1700" b="0">
                <a:solidFill>
                  <a:srgbClr val="4B2E83"/>
                </a:solidFill>
                <a:latin typeface="Consolas"/>
              </a:rPr>
              <a:t>make clean</a:t>
            </a:r>
            <a:r>
              <a:rPr sz="1700" b="0">
                <a:solidFill>
                  <a:srgbClr val="1D2330"/>
                </a:solidFill>
                <a:latin typeface="Calibri"/>
              </a:rPr>
              <a:t> in each; delete executables; delete the </a:t>
            </a:r>
            <a:r>
              <a:rPr sz="1700" b="0">
                <a:solidFill>
                  <a:srgbClr val="4B2E83"/>
                </a:solidFill>
                <a:latin typeface="Consolas"/>
              </a:rPr>
              <a:t>examples</a:t>
            </a:r>
            <a:r>
              <a:rPr sz="1700" b="0">
                <a:solidFill>
                  <a:srgbClr val="1D2330"/>
                </a:solidFill>
                <a:latin typeface="Calibri"/>
              </a:rPr>
              <a:t> folder</a:t>
            </a:r>
          </a:p>
        </p:txBody>
      </p:sp>
      <p:sp>
        <p:nvSpPr>
          <p:cNvPr id="9" name="Oval 8"/>
          <p:cNvSpPr/>
          <p:nvPr/>
        </p:nvSpPr>
        <p:spPr>
          <a:xfrm>
            <a:off x="548640" y="32004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0" name="TextBox 9"/>
          <p:cNvSpPr txBox="1"/>
          <p:nvPr/>
        </p:nvSpPr>
        <p:spPr>
          <a:xfrm>
            <a:off x="1097280" y="3182112"/>
            <a:ext cx="4998567" cy="914400"/>
          </a:xfrm>
          <a:prstGeom prst="rect">
            <a:avLst/>
          </a:prstGeom>
          <a:noFill/>
        </p:spPr>
        <p:txBody>
          <a:bodyPr wrap="square" lIns="0" rIns="0" tIns="0" bIns="0" anchor="t">
            <a:spAutoFit/>
          </a:bodyPr>
          <a:lstStyle/>
          <a:p>
            <a:pPr algn="l"/>
            <a:r>
              <a:rPr sz="1700" b="0">
                <a:solidFill>
                  <a:srgbClr val="1D2330"/>
                </a:solidFill>
                <a:latin typeface="Calibri"/>
              </a:rPr>
              <a:t>Check: no warnings; </a:t>
            </a:r>
            <a:r>
              <a:rPr sz="1700" b="0">
                <a:solidFill>
                  <a:srgbClr val="4B2E83"/>
                </a:solidFill>
                <a:latin typeface="Consolas"/>
              </a:rPr>
              <a:t>make check</a:t>
            </a:r>
            <a:r>
              <a:rPr sz="1700" b="0">
                <a:solidFill>
                  <a:srgbClr val="1D2330"/>
                </a:solidFill>
                <a:latin typeface="Calibri"/>
              </a:rPr>
              <a:t> clean for </a:t>
            </a:r>
            <a:r>
              <a:rPr sz="1700" b="0">
                <a:solidFill>
                  <a:srgbClr val="4B2E83"/>
                </a:solidFill>
                <a:latin typeface="Consolas"/>
              </a:rPr>
              <a:t>list_test</a:t>
            </a:r>
          </a:p>
        </p:txBody>
      </p:sp>
      <p:sp>
        <p:nvSpPr>
          <p:cNvPr id="11" name="Oval 10"/>
          <p:cNvSpPr/>
          <p:nvPr/>
        </p:nvSpPr>
        <p:spPr>
          <a:xfrm>
            <a:off x="548640" y="41148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2" name="TextBox 11"/>
          <p:cNvSpPr txBox="1"/>
          <p:nvPr/>
        </p:nvSpPr>
        <p:spPr>
          <a:xfrm>
            <a:off x="1097280" y="4096512"/>
            <a:ext cx="4998567" cy="914400"/>
          </a:xfrm>
          <a:prstGeom prst="rect">
            <a:avLst/>
          </a:prstGeom>
          <a:noFill/>
        </p:spPr>
        <p:txBody>
          <a:bodyPr wrap="square" lIns="0" rIns="0" tIns="0" bIns="0" anchor="t">
            <a:spAutoFit/>
          </a:bodyPr>
          <a:lstStyle/>
          <a:p>
            <a:pPr algn="l"/>
            <a:r>
              <a:rPr sz="1700" b="0">
                <a:solidFill>
                  <a:srgbClr val="1D2330"/>
                </a:solidFill>
                <a:latin typeface="Calibri"/>
              </a:rPr>
              <a:t>Zip the whole folder: </a:t>
            </a:r>
            <a:r>
              <a:rPr sz="1700" b="0">
                <a:solidFill>
                  <a:srgbClr val="4B2E83"/>
                </a:solidFill>
                <a:latin typeface="Consolas"/>
              </a:rPr>
              <a:t>zip -r Lab5-netid.zip Lab5</a:t>
            </a:r>
          </a:p>
        </p:txBody>
      </p:sp>
      <p:sp>
        <p:nvSpPr>
          <p:cNvPr id="13" name="Oval 12"/>
          <p:cNvSpPr/>
          <p:nvPr/>
        </p:nvSpPr>
        <p:spPr>
          <a:xfrm>
            <a:off x="548640" y="50292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4" name="TextBox 13"/>
          <p:cNvSpPr txBox="1"/>
          <p:nvPr/>
        </p:nvSpPr>
        <p:spPr>
          <a:xfrm>
            <a:off x="1097280" y="5010912"/>
            <a:ext cx="4998567" cy="914400"/>
          </a:xfrm>
          <a:prstGeom prst="rect">
            <a:avLst/>
          </a:prstGeom>
          <a:noFill/>
        </p:spPr>
        <p:txBody>
          <a:bodyPr wrap="square" lIns="0" rIns="0" tIns="0" bIns="0" anchor="t">
            <a:spAutoFit/>
          </a:bodyPr>
          <a:lstStyle/>
          <a:p>
            <a:pPr algn="l"/>
            <a:r>
              <a:rPr sz="1700" b="0">
                <a:solidFill>
                  <a:srgbClr val="1D2330"/>
                </a:solidFill>
                <a:latin typeface="Calibri"/>
              </a:rPr>
              <a:t>Upload that one zip to the Lab 5 assignment on Canvas</a:t>
            </a:r>
          </a:p>
        </p:txBody>
      </p:sp>
      <p:sp>
        <p:nvSpPr>
          <p:cNvPr id="15" name="Rounded Rectangle 14"/>
          <p:cNvSpPr/>
          <p:nvPr/>
        </p:nvSpPr>
        <p:spPr>
          <a:xfrm>
            <a:off x="6415887" y="1325880"/>
            <a:ext cx="5227167" cy="339852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4487" y="1508760"/>
            <a:ext cx="4769967" cy="3032760"/>
          </a:xfrm>
          <a:prstGeom prst="rect">
            <a:avLst/>
          </a:prstGeom>
          <a:noFill/>
        </p:spPr>
        <p:txBody>
          <a:bodyPr wrap="none" lIns="0" rIns="0" tIns="0" bIns="0" anchor="t">
            <a:spAutoFit/>
          </a:bodyPr>
          <a:lstStyle/>
          <a:p>
            <a:pPr>
              <a:spcAft>
                <a:spcPts val="0"/>
              </a:spcAft>
            </a:pPr>
            <a:r>
              <a:rPr sz="1400">
                <a:solidFill>
                  <a:srgbClr val="E6E6EF"/>
                </a:solidFill>
                <a:latin typeface="Consolas"/>
              </a:rPr>
              <a:t>Lab5/</a:t>
            </a:r>
          </a:p>
          <a:p>
            <a:pPr>
              <a:spcAft>
                <a:spcPts val="0"/>
              </a:spcAft>
            </a:pPr>
            <a:r>
              <a:rPr sz="1400">
                <a:solidFill>
                  <a:srgbClr val="E6E6EF"/>
                </a:solidFill>
                <a:latin typeface="Consolas"/>
              </a:rPr>
              <a:t>└── exercises/</a:t>
            </a:r>
          </a:p>
          <a:p>
            <a:pPr>
              <a:spcAft>
                <a:spcPts val="0"/>
              </a:spcAft>
            </a:pPr>
            <a:r>
              <a:rPr sz="1400">
                <a:solidFill>
                  <a:srgbClr val="E6E6EF"/>
                </a:solidFill>
                <a:latin typeface="Consolas"/>
              </a:rPr>
              <a:t>    ├── ex1-vector/</a:t>
            </a:r>
          </a:p>
          <a:p>
            <a:pPr>
              <a:spcAft>
                <a:spcPts val="0"/>
              </a:spcAft>
            </a:pPr>
            <a:r>
              <a:rPr sz="1400">
                <a:solidFill>
                  <a:srgbClr val="E6E6EF"/>
                </a:solidFill>
                <a:latin typeface="Consolas"/>
              </a:rPr>
              <a:t>    │     vectors.cpp words.cpp</a:t>
            </a:r>
          </a:p>
          <a:p>
            <a:pPr>
              <a:spcAft>
                <a:spcPts val="0"/>
              </a:spcAft>
            </a:pPr>
            <a:r>
              <a:rPr sz="1400">
                <a:solidFill>
                  <a:srgbClr val="E6E6EF"/>
                </a:solidFill>
                <a:latin typeface="Consolas"/>
              </a:rPr>
              <a:t>    │     Makefile</a:t>
            </a:r>
          </a:p>
          <a:p>
            <a:pPr>
              <a:spcAft>
                <a:spcPts val="0"/>
              </a:spcAft>
            </a:pPr>
            <a:r>
              <a:rPr sz="1400">
                <a:solidFill>
                  <a:srgbClr val="E6E6EF"/>
                </a:solidFill>
                <a:latin typeface="Consolas"/>
              </a:rPr>
              <a:t>    │     data/ lines.txt lines_crlf.txt</a:t>
            </a:r>
          </a:p>
          <a:p>
            <a:pPr>
              <a:spcAft>
                <a:spcPts val="0"/>
              </a:spcAft>
            </a:pPr>
            <a:r>
              <a:rPr sz="1400">
                <a:solidFill>
                  <a:srgbClr val="E6E6EF"/>
                </a:solidFill>
                <a:latin typeface="Consolas"/>
              </a:rPr>
              <a:t>    ├── ex2-iterators/</a:t>
            </a:r>
          </a:p>
          <a:p>
            <a:pPr>
              <a:spcAft>
                <a:spcPts val="0"/>
              </a:spcAft>
            </a:pPr>
            <a:r>
              <a:rPr sz="1400">
                <a:solidFill>
                  <a:srgbClr val="E6E6EF"/>
                </a:solidFill>
                <a:latin typeface="Consolas"/>
              </a:rPr>
              <a:t>    │     iterate.cpp SimpleList.h</a:t>
            </a:r>
          </a:p>
          <a:p>
            <a:pPr>
              <a:spcAft>
                <a:spcPts val="0"/>
              </a:spcAft>
            </a:pPr>
            <a:r>
              <a:rPr sz="1400">
                <a:solidFill>
                  <a:srgbClr val="E6E6EF"/>
                </a:solidFill>
                <a:latin typeface="Consolas"/>
              </a:rPr>
              <a:t>    │     list_test.cpp Makefile</a:t>
            </a:r>
          </a:p>
          <a:p>
            <a:pPr>
              <a:spcAft>
                <a:spcPts val="0"/>
              </a:spcAft>
            </a:pPr>
            <a:r>
              <a:rPr sz="1400">
                <a:solidFill>
                  <a:srgbClr val="E6E6EF"/>
                </a:solidFill>
                <a:latin typeface="Consolas"/>
              </a:rPr>
              <a:t>    ├── ex3-containers/</a:t>
            </a:r>
          </a:p>
          <a:p>
            <a:pPr>
              <a:spcAft>
                <a:spcPts val="0"/>
              </a:spcAft>
            </a:pPr>
            <a:r>
              <a:rPr sz="1400">
                <a:solidFill>
                  <a:srgbClr val="E6E6EF"/>
                </a:solidFill>
                <a:latin typeface="Consolas"/>
              </a:rPr>
              <a:t>    │     lists.cpp wordcount.cpp</a:t>
            </a:r>
          </a:p>
          <a:p>
            <a:pPr>
              <a:spcAft>
                <a:spcPts val="0"/>
              </a:spcAft>
            </a:pPr>
            <a:r>
              <a:rPr sz="1400">
                <a:solidFill>
                  <a:srgbClr val="E6E6EF"/>
                </a:solidFill>
                <a:latin typeface="Consolas"/>
              </a:rPr>
              <a:t>    │     Makefile  data/</a:t>
            </a:r>
          </a:p>
          <a:p>
            <a:pPr>
              <a:spcAft>
                <a:spcPts val="0"/>
              </a:spcAft>
            </a:pPr>
            <a:r>
              <a:rPr sz="1400">
                <a:solidFill>
                  <a:srgbClr val="E6E6EF"/>
                </a:solidFill>
                <a:latin typeface="Consolas"/>
              </a:rPr>
              <a:t>    └── ex4-algorithms/</a:t>
            </a:r>
          </a:p>
          <a:p>
            <a:pPr>
              <a:spcAft>
                <a:spcPts val="0"/>
              </a:spcAft>
            </a:pPr>
            <a:r>
              <a:rPr sz="1400">
                <a:solidFill>
                  <a:srgbClr val="E6E6EF"/>
                </a:solidFill>
                <a:latin typeface="Consolas"/>
              </a:rPr>
              <a:t>          students.cpp Makefile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TextBox 1"/>
          <p:cNvSpPr txBox="1"/>
          <p:nvPr/>
        </p:nvSpPr>
        <p:spPr>
          <a:xfrm>
            <a:off x="548640" y="548640"/>
            <a:ext cx="10972800" cy="822960"/>
          </a:xfrm>
          <a:prstGeom prst="rect">
            <a:avLst/>
          </a:prstGeom>
          <a:noFill/>
        </p:spPr>
        <p:txBody>
          <a:bodyPr wrap="square" lIns="0" rIns="0" tIns="0" bIns="0" anchor="t">
            <a:spAutoFit/>
          </a:bodyPr>
          <a:lstStyle/>
          <a:p>
            <a:pPr algn="l"/>
            <a:r>
              <a:rPr sz="4000" b="1">
                <a:solidFill>
                  <a:srgbClr val="FFFFFF"/>
                </a:solidFill>
                <a:latin typeface="Calibri"/>
              </a:rPr>
              <a:t>Takeaways</a:t>
            </a:r>
          </a:p>
        </p:txBody>
      </p:sp>
      <p:sp>
        <p:nvSpPr>
          <p:cNvPr id="3" name="Rounded Rectangle 2"/>
          <p:cNvSpPr/>
          <p:nvPr/>
        </p:nvSpPr>
        <p:spPr>
          <a:xfrm>
            <a:off x="548640"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1</a:t>
            </a:r>
          </a:p>
        </p:txBody>
      </p:sp>
      <p:sp>
        <p:nvSpPr>
          <p:cNvPr id="5" name="TextBox 4"/>
          <p:cNvSpPr txBox="1"/>
          <p:nvPr/>
        </p:nvSpPr>
        <p:spPr>
          <a:xfrm>
            <a:off x="1463040" y="1783080"/>
            <a:ext cx="4175607" cy="1691640"/>
          </a:xfrm>
          <a:prstGeom prst="rect">
            <a:avLst/>
          </a:prstGeom>
          <a:noFill/>
        </p:spPr>
        <p:txBody>
          <a:bodyPr wrap="square" lIns="0" rIns="0" tIns="0" bIns="0" anchor="ctr">
            <a:spAutoFit/>
          </a:bodyPr>
          <a:lstStyle/>
          <a:p>
            <a:r>
              <a:rPr sz="2200" b="0">
                <a:solidFill>
                  <a:srgbClr val="C5B4E3"/>
                </a:solidFill>
                <a:latin typeface="Consolas"/>
              </a:rPr>
              <a:t>vector</a:t>
            </a:r>
            <a:r>
              <a:rPr sz="2200" b="0">
                <a:solidFill>
                  <a:srgbClr val="FFFFFF"/>
                </a:solidFill>
                <a:latin typeface="Calibri"/>
              </a:rPr>
              <a:t> and </a:t>
            </a:r>
            <a:r>
              <a:rPr sz="2200" b="0">
                <a:solidFill>
                  <a:srgbClr val="C5B4E3"/>
                </a:solidFill>
                <a:latin typeface="Consolas"/>
              </a:rPr>
              <a:t>string</a:t>
            </a:r>
            <a:r>
              <a:rPr sz="2200" b="0">
                <a:solidFill>
                  <a:srgbClr val="FFFFFF"/>
                </a:solidFill>
                <a:latin typeface="Calibri"/>
              </a:rPr>
              <a:t> by default. Pass by </a:t>
            </a:r>
            <a:r>
              <a:rPr sz="2200" b="0">
                <a:solidFill>
                  <a:srgbClr val="C5B4E3"/>
                </a:solidFill>
                <a:latin typeface="Consolas"/>
              </a:rPr>
              <a:t>const&amp;</a:t>
            </a:r>
            <a:r>
              <a:rPr sz="2200" b="0">
                <a:solidFill>
                  <a:srgbClr val="FFFFFF"/>
                </a:solidFill>
                <a:latin typeface="Calibri"/>
              </a:rPr>
              <a:t>; growing invalidates pointers.</a:t>
            </a:r>
          </a:p>
        </p:txBody>
      </p:sp>
      <p:sp>
        <p:nvSpPr>
          <p:cNvPr id="6" name="Rounded Rectangle 5"/>
          <p:cNvSpPr/>
          <p:nvPr/>
        </p:nvSpPr>
        <p:spPr>
          <a:xfrm>
            <a:off x="6278727"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53047"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2</a:t>
            </a:r>
          </a:p>
        </p:txBody>
      </p:sp>
      <p:sp>
        <p:nvSpPr>
          <p:cNvPr id="8" name="TextBox 7"/>
          <p:cNvSpPr txBox="1"/>
          <p:nvPr/>
        </p:nvSpPr>
        <p:spPr>
          <a:xfrm>
            <a:off x="7193127" y="1783080"/>
            <a:ext cx="4175607" cy="1691640"/>
          </a:xfrm>
          <a:prstGeom prst="rect">
            <a:avLst/>
          </a:prstGeom>
          <a:noFill/>
        </p:spPr>
        <p:txBody>
          <a:bodyPr wrap="square" lIns="0" rIns="0" tIns="0" bIns="0" anchor="ctr">
            <a:spAutoFit/>
          </a:bodyPr>
          <a:lstStyle/>
          <a:p>
            <a:r>
              <a:rPr sz="2200" b="0">
                <a:solidFill>
                  <a:srgbClr val="FFFFFF"/>
                </a:solidFill>
                <a:latin typeface="Calibri"/>
              </a:rPr>
              <a:t>Files: check </a:t>
            </a:r>
            <a:r>
              <a:rPr sz="2200" b="0">
                <a:solidFill>
                  <a:srgbClr val="C5B4E3"/>
                </a:solidFill>
                <a:latin typeface="Consolas"/>
              </a:rPr>
              <a:t>argc</a:t>
            </a:r>
            <a:r>
              <a:rPr sz="2200" b="0">
                <a:solidFill>
                  <a:srgbClr val="FFFFFF"/>
                </a:solidFill>
                <a:latin typeface="Calibri"/>
              </a:rPr>
              <a:t>, check the open, loop on the read (never </a:t>
            </a:r>
            <a:r>
              <a:rPr sz="2200" b="0">
                <a:solidFill>
                  <a:srgbClr val="C5B4E3"/>
                </a:solidFill>
                <a:latin typeface="Consolas"/>
              </a:rPr>
              <a:t>eof()</a:t>
            </a:r>
            <a:r>
              <a:rPr sz="2200" b="0">
                <a:solidFill>
                  <a:srgbClr val="FFFFFF"/>
                </a:solidFill>
                <a:latin typeface="Calibri"/>
              </a:rPr>
              <a:t>), report on </a:t>
            </a:r>
            <a:r>
              <a:rPr sz="2200" b="0">
                <a:solidFill>
                  <a:srgbClr val="C5B4E3"/>
                </a:solidFill>
                <a:latin typeface="Consolas"/>
              </a:rPr>
              <a:t>cerr</a:t>
            </a:r>
            <a:r>
              <a:rPr sz="2200" b="0">
                <a:solidFill>
                  <a:srgbClr val="FFFFFF"/>
                </a:solidFill>
                <a:latin typeface="Calibri"/>
              </a:rPr>
              <a:t>, </a:t>
            </a:r>
            <a:r>
              <a:rPr sz="2200" b="0">
                <a:solidFill>
                  <a:srgbClr val="C5B4E3"/>
                </a:solidFill>
                <a:latin typeface="Consolas"/>
              </a:rPr>
              <a:t>return 1</a:t>
            </a:r>
            <a:r>
              <a:rPr sz="2200" b="0">
                <a:solidFill>
                  <a:srgbClr val="FFFFFF"/>
                </a:solidFill>
                <a:latin typeface="Calibri"/>
              </a:rPr>
              <a:t>.</a:t>
            </a:r>
          </a:p>
        </p:txBody>
      </p:sp>
      <p:sp>
        <p:nvSpPr>
          <p:cNvPr id="9" name="Rounded Rectangle 8"/>
          <p:cNvSpPr/>
          <p:nvPr/>
        </p:nvSpPr>
        <p:spPr>
          <a:xfrm>
            <a:off x="548640"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3</a:t>
            </a:r>
          </a:p>
        </p:txBody>
      </p:sp>
      <p:sp>
        <p:nvSpPr>
          <p:cNvPr id="11" name="TextBox 10"/>
          <p:cNvSpPr txBox="1"/>
          <p:nvPr/>
        </p:nvSpPr>
        <p:spPr>
          <a:xfrm>
            <a:off x="1463040" y="4206240"/>
            <a:ext cx="4175607" cy="1691640"/>
          </a:xfrm>
          <a:prstGeom prst="rect">
            <a:avLst/>
          </a:prstGeom>
          <a:noFill/>
        </p:spPr>
        <p:txBody>
          <a:bodyPr wrap="square" lIns="0" rIns="0" tIns="0" bIns="0" anchor="ctr">
            <a:spAutoFit/>
          </a:bodyPr>
          <a:lstStyle/>
          <a:p>
            <a:r>
              <a:rPr sz="2200" b="0">
                <a:solidFill>
                  <a:srgbClr val="FFFFFF"/>
                </a:solidFill>
                <a:latin typeface="Calibri"/>
              </a:rPr>
              <a:t>Iterators make every container look alike. </a:t>
            </a:r>
            <a:r>
              <a:rPr sz="2200" b="0">
                <a:solidFill>
                  <a:srgbClr val="C5B4E3"/>
                </a:solidFill>
                <a:latin typeface="Consolas"/>
              </a:rPr>
              <a:t>list</a:t>
            </a:r>
            <a:r>
              <a:rPr sz="2200" b="0">
                <a:solidFill>
                  <a:srgbClr val="FFFFFF"/>
                </a:solidFill>
                <a:latin typeface="Calibri"/>
              </a:rPr>
              <a:t> for linked behavior; </a:t>
            </a:r>
            <a:r>
              <a:rPr sz="2200" b="0">
                <a:solidFill>
                  <a:srgbClr val="C5B4E3"/>
                </a:solidFill>
                <a:latin typeface="Consolas"/>
              </a:rPr>
              <a:t>map</a:t>
            </a:r>
            <a:r>
              <a:rPr sz="2200" b="0">
                <a:solidFill>
                  <a:srgbClr val="FFFFFF"/>
                </a:solidFill>
                <a:latin typeface="Calibri"/>
              </a:rPr>
              <a:t> for sorted lookup.</a:t>
            </a:r>
          </a:p>
        </p:txBody>
      </p:sp>
      <p:sp>
        <p:nvSpPr>
          <p:cNvPr id="12" name="Rounded Rectangle 11"/>
          <p:cNvSpPr/>
          <p:nvPr/>
        </p:nvSpPr>
        <p:spPr>
          <a:xfrm>
            <a:off x="6278727"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53047"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4</a:t>
            </a:r>
          </a:p>
        </p:txBody>
      </p:sp>
      <p:sp>
        <p:nvSpPr>
          <p:cNvPr id="14" name="TextBox 13"/>
          <p:cNvSpPr txBox="1"/>
          <p:nvPr/>
        </p:nvSpPr>
        <p:spPr>
          <a:xfrm>
            <a:off x="7193127" y="4206240"/>
            <a:ext cx="4175607" cy="1691640"/>
          </a:xfrm>
          <a:prstGeom prst="rect">
            <a:avLst/>
          </a:prstGeom>
          <a:noFill/>
        </p:spPr>
        <p:txBody>
          <a:bodyPr wrap="square" lIns="0" rIns="0" tIns="0" bIns="0" anchor="ctr">
            <a:spAutoFit/>
          </a:bodyPr>
          <a:lstStyle/>
          <a:p>
            <a:r>
              <a:rPr sz="2200" b="0">
                <a:solidFill>
                  <a:srgbClr val="FFFFFF"/>
                </a:solidFill>
                <a:latin typeface="Calibri"/>
              </a:rPr>
              <a:t>Pass behavior with function pointers or lambdas. Comparators use </a:t>
            </a:r>
            <a:r>
              <a:rPr sz="2200" b="0">
                <a:solidFill>
                  <a:srgbClr val="C5B4E3"/>
                </a:solidFill>
                <a:latin typeface="Consolas"/>
              </a:rPr>
              <a:t>&lt;</a:t>
            </a:r>
            <a:r>
              <a:rPr sz="2200" b="0">
                <a:solidFill>
                  <a:srgbClr val="FFFFFF"/>
                </a:solidFill>
                <a:latin typeface="Calibri"/>
              </a:rPr>
              <a:t>. Erase-remove.</a:t>
            </a:r>
          </a:p>
        </p:txBody>
      </p:sp>
      <p:sp>
        <p:nvSpPr>
          <p:cNvPr id="15" name="TextBox 14"/>
          <p:cNvSpPr txBox="1"/>
          <p:nvPr/>
        </p:nvSpPr>
        <p:spPr>
          <a:xfrm>
            <a:off x="548640" y="6263640"/>
            <a:ext cx="10972800" cy="365760"/>
          </a:xfrm>
          <a:prstGeom prst="rect">
            <a:avLst/>
          </a:prstGeom>
          <a:noFill/>
        </p:spPr>
        <p:txBody>
          <a:bodyPr wrap="square" lIns="0" rIns="0" tIns="0" bIns="0" anchor="t">
            <a:spAutoFit/>
          </a:bodyPr>
          <a:lstStyle/>
          <a:p>
            <a:pPr algn="l"/>
            <a:r>
              <a:rPr sz="1400" b="0">
                <a:solidFill>
                  <a:srgbClr val="C5B4E3"/>
                </a:solidFill>
                <a:latin typeface="Calibri"/>
              </a:rPr>
              <a:t>That's all five labs. Good luck with your CSS 342 assignments!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